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972032" cy="10799064"/>
  <p:notesSz cx="10799064" cy="139720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hyperlink" Target="https://rpkgs.datanovia.com/rstatix/" TargetMode="External"/><Relationship Id="rId1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hyperlink" Target="https://rpkgs.datanovia.com/rstatix/" TargetMode="Externa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4B2C82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Statistical tests with rstatix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rstatix runs the everyday tests of base R with one pipe-friendly grammar and returns tidy data frames, ready to report and plot.</a:t>
            </a:r>
            <a:endParaRPr lang="en-US" sz="1300" dirty="0"/>
          </a:p>
        </p:txBody>
      </p:sp>
      <p:pic>
        <p:nvPicPr>
          <p:cNvPr id="5" name="Image 0" descr="/home/claude/sheets/rstatix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Choose the test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</a:t>
            </a:r>
            <a:pPr indent="0" marL="0">
              <a:buNone/>
            </a:pPr>
            <a:r>
              <a:rPr lang="en-US" sz="1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design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picks the row; the </a:t>
            </a:r>
            <a:pPr indent="0" marL="0">
              <a:buNone/>
            </a:pPr>
            <a:r>
              <a:rPr lang="en-US" sz="1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assumptions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(section 3) pick the column. Grey: effect size or key option.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651760"/>
            <a:ext cx="1549908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34540" y="2651760"/>
            <a:ext cx="1549908" cy="237744"/>
          </a:xfrm>
          <a:prstGeom prst="rect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2651760"/>
            <a:ext cx="1549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ASSUMPTIONS MET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2034540" y="2651760"/>
            <a:ext cx="15499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 MET / SMALL 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29626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independent groups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31638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31638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034540" y="31638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34540" y="31638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wilcox_test()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" y="34107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cohens_d()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2034540" y="34107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wilcox_effsize()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36484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paired groups</a:t>
            </a:r>
            <a:pPr indent="0" marL="0">
              <a:buNone/>
            </a:pPr>
            <a:r>
              <a:rPr lang="en-US" sz="850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paired = TRUE, id =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8496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38496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34540" y="38496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34540" y="38496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wilcox_test()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40965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cohens_d()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2034540" y="40965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wilcox_effsize()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" y="43342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3+ independent groups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11480" y="45354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1480" y="45354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anova_test()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34540" y="45354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034540" y="45354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kruskal_test()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7823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 column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2034540" y="4782312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kruskal_effsize()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50200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 hoc pairs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1480" y="5221224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11480" y="52212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tukey_hsd()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034540" y="5221224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34540" y="5221224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dunn_test()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55138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3+ repeated</a:t>
            </a:r>
            <a:pPr indent="0" marL="0">
              <a:buNone/>
            </a:pPr>
            <a:r>
              <a:rPr lang="en-US" sz="850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wid = , within =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11480" y="57150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11480" y="57150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anova_test()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2034540" y="57150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34540" y="57150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friedman_test()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411480" y="59618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 column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2034540" y="59618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friedman_effsize()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411480" y="61996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numeric variables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64008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11480" y="64008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cor_test()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034540" y="64008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34540" y="64008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cor_test()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411480" y="66476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= "pearson"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2034540" y="66476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= "spearman"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411480" y="68854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categorical variables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11480" y="70866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11480" y="70866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chisq_test()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034540" y="7086600"/>
            <a:ext cx="1549908" cy="228600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034540" y="70866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45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fisher_test()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411480" y="73334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cramer_v()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2034540" y="7333488"/>
            <a:ext cx="15499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expected counts &lt; 5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757123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paired categorical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11480" y="7772400"/>
            <a:ext cx="1549908" cy="228600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11480" y="7772400"/>
            <a:ext cx="1549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mcnemar_test()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11480" y="8119872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02920" y="818388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is a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test by default (var.equal = FALSE). With 3+ groups and unequal variances use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welch_anova_test()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+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games_howell_test()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411480" y="90708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MULTIPLE TESTING  p.adjust.method =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411480" y="931773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"holm"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default for pairwise tests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411480" y="953719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simplest, most conservative</a:t>
            </a:r>
            <a:endParaRPr lang="en-US" sz="1100" dirty="0"/>
          </a:p>
        </p:txBody>
      </p:sp>
      <p:sp>
        <p:nvSpPr>
          <p:cNvPr id="69" name="Text 66"/>
          <p:cNvSpPr txBox="1"/>
          <p:nvPr/>
        </p:nvSpPr>
        <p:spPr>
          <a:xfrm>
            <a:off x="411480" y="975664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"BH"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false discovery rate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411480" y="997610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only for one planned test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73" name="Text 70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 grammar for all</a:t>
            </a:r>
            <a:endParaRPr lang="en-US" sz="2000" dirty="0"/>
          </a:p>
        </p:txBody>
      </p:sp>
      <p:sp>
        <p:nvSpPr>
          <p:cNvPr id="74" name="Shape 71"/>
          <p:cNvSpPr/>
          <p:nvPr/>
        </p:nvSpPr>
        <p:spPr>
          <a:xfrm>
            <a:off x="3767328" y="219456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840480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(rstatix)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ToothGrowth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len, supp, dose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df$dose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(df$dose)</a:t>
            </a:r>
            <a:endParaRPr lang="en-US" sz="1100" dirty="0"/>
          </a:p>
        </p:txBody>
      </p:sp>
      <p:sp>
        <p:nvSpPr>
          <p:cNvPr id="76" name="Text 73"/>
          <p:cNvSpPr txBox="1"/>
          <p:nvPr/>
        </p:nvSpPr>
        <p:spPr>
          <a:xfrm>
            <a:off x="3813048" y="2939796"/>
            <a:ext cx="308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4139336" y="2939796"/>
            <a:ext cx="417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4574388" y="2939796"/>
            <a:ext cx="74401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endParaRPr lang="en-US" sz="1400" dirty="0"/>
          </a:p>
        </p:txBody>
      </p:sp>
      <p:sp>
        <p:nvSpPr>
          <p:cNvPr id="79" name="Text 76"/>
          <p:cNvSpPr txBox="1"/>
          <p:nvPr/>
        </p:nvSpPr>
        <p:spPr>
          <a:xfrm>
            <a:off x="5226964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</p:txBody>
      </p:sp>
      <p:sp>
        <p:nvSpPr>
          <p:cNvPr id="80" name="Text 77"/>
          <p:cNvSpPr txBox="1"/>
          <p:nvPr/>
        </p:nvSpPr>
        <p:spPr>
          <a:xfrm>
            <a:off x="5335727" y="2939796"/>
            <a:ext cx="417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endParaRPr lang="en-US" sz="1400" dirty="0"/>
          </a:p>
        </p:txBody>
      </p:sp>
      <p:sp>
        <p:nvSpPr>
          <p:cNvPr id="81" name="Text 78"/>
          <p:cNvSpPr txBox="1"/>
          <p:nvPr/>
        </p:nvSpPr>
        <p:spPr>
          <a:xfrm>
            <a:off x="5770778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endParaRPr lang="en-US" sz="1400" dirty="0"/>
          </a:p>
        </p:txBody>
      </p:sp>
      <p:sp>
        <p:nvSpPr>
          <p:cNvPr id="82" name="Text 79"/>
          <p:cNvSpPr txBox="1"/>
          <p:nvPr/>
        </p:nvSpPr>
        <p:spPr>
          <a:xfrm>
            <a:off x="5988304" y="2939796"/>
            <a:ext cx="526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5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1400" dirty="0"/>
          </a:p>
        </p:txBody>
      </p:sp>
      <p:sp>
        <p:nvSpPr>
          <p:cNvPr id="83" name="Text 80"/>
          <p:cNvSpPr txBox="1"/>
          <p:nvPr/>
        </p:nvSpPr>
        <p:spPr>
          <a:xfrm>
            <a:off x="6423355" y="2939796"/>
            <a:ext cx="200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3813048" y="3250692"/>
            <a:ext cx="217526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921811" y="3250692"/>
            <a:ext cx="0" cy="54864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3876091" y="37627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comes first → pipes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574388" y="3250692"/>
            <a:ext cx="652577" cy="0"/>
          </a:xfrm>
          <a:prstGeom prst="line">
            <a:avLst/>
          </a:prstGeom>
          <a:noFill/>
          <a:ln w="19050">
            <a:solidFill>
              <a:srgbClr val="4B2C82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900676" y="3250692"/>
            <a:ext cx="0" cy="329184"/>
          </a:xfrm>
          <a:prstGeom prst="line">
            <a:avLst/>
          </a:prstGeom>
          <a:noFill/>
          <a:ln w="9525">
            <a:solidFill>
              <a:srgbClr val="4B2C82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854956" y="35433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function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5335727" y="3250692"/>
            <a:ext cx="326288" cy="0"/>
          </a:xfrm>
          <a:prstGeom prst="line">
            <a:avLst/>
          </a:prstGeom>
          <a:noFill/>
          <a:ln w="19050">
            <a:solidFill>
              <a:srgbClr val="D9731E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498871" y="3250692"/>
            <a:ext cx="0" cy="109728"/>
          </a:xfrm>
          <a:prstGeom prst="line">
            <a:avLst/>
          </a:prstGeom>
          <a:noFill/>
          <a:ln w="9525">
            <a:solidFill>
              <a:srgbClr val="D9731E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453151" y="33238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outcome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5988304" y="3250692"/>
            <a:ext cx="435051" cy="0"/>
          </a:xfrm>
          <a:prstGeom prst="line">
            <a:avLst/>
          </a:prstGeom>
          <a:noFill/>
          <a:ln w="19050">
            <a:solidFill>
              <a:srgbClr val="7A5DB5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205830" y="3250692"/>
            <a:ext cx="0" cy="329184"/>
          </a:xfrm>
          <a:prstGeom prst="line">
            <a:avLst/>
          </a:prstGeom>
          <a:noFill/>
          <a:ln w="9525">
            <a:solidFill>
              <a:srgbClr val="7A5DB5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6160110" y="35433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A5DB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3767328" y="400050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3794760" y="40005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.y.</a:t>
            </a:r>
            <a:endParaRPr lang="en-US" sz="850" dirty="0"/>
          </a:p>
        </p:txBody>
      </p:sp>
      <p:sp>
        <p:nvSpPr>
          <p:cNvPr id="98" name="Text 95"/>
          <p:cNvSpPr txBox="1"/>
          <p:nvPr/>
        </p:nvSpPr>
        <p:spPr>
          <a:xfrm>
            <a:off x="4087368" y="40005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group1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4544568" y="400050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group2</a:t>
            </a:r>
            <a:endParaRPr lang="en-US" sz="850" dirty="0"/>
          </a:p>
        </p:txBody>
      </p:sp>
      <p:sp>
        <p:nvSpPr>
          <p:cNvPr id="100" name="Text 97"/>
          <p:cNvSpPr txBox="1"/>
          <p:nvPr/>
        </p:nvSpPr>
        <p:spPr>
          <a:xfrm>
            <a:off x="5001768" y="4000500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n1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5248656" y="4000500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n2</a:t>
            </a:r>
            <a:endParaRPr lang="en-US" sz="850" dirty="0"/>
          </a:p>
        </p:txBody>
      </p:sp>
      <p:sp>
        <p:nvSpPr>
          <p:cNvPr id="102" name="Text 99"/>
          <p:cNvSpPr txBox="1"/>
          <p:nvPr/>
        </p:nvSpPr>
        <p:spPr>
          <a:xfrm>
            <a:off x="5495544" y="40005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statistic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6080760" y="400050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</a:t>
            </a:r>
            <a:endParaRPr lang="en-US" sz="850" dirty="0"/>
          </a:p>
        </p:txBody>
      </p:sp>
      <p:sp>
        <p:nvSpPr>
          <p:cNvPr id="104" name="Text 101"/>
          <p:cNvSpPr txBox="1"/>
          <p:nvPr/>
        </p:nvSpPr>
        <p:spPr>
          <a:xfrm>
            <a:off x="6492240" y="4000500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3794760" y="421995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850" dirty="0"/>
          </a:p>
        </p:txBody>
      </p:sp>
      <p:sp>
        <p:nvSpPr>
          <p:cNvPr id="106" name="Text 103"/>
          <p:cNvSpPr txBox="1"/>
          <p:nvPr/>
        </p:nvSpPr>
        <p:spPr>
          <a:xfrm>
            <a:off x="4087368" y="42199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4544568" y="42199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850" dirty="0"/>
          </a:p>
        </p:txBody>
      </p:sp>
      <p:sp>
        <p:nvSpPr>
          <p:cNvPr id="108" name="Text 105"/>
          <p:cNvSpPr txBox="1"/>
          <p:nvPr/>
        </p:nvSpPr>
        <p:spPr>
          <a:xfrm>
            <a:off x="5001768" y="4219956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5248656" y="4219956"/>
            <a:ext cx="192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50" dirty="0"/>
          </a:p>
        </p:txBody>
      </p:sp>
      <p:sp>
        <p:nvSpPr>
          <p:cNvPr id="110" name="Text 107"/>
          <p:cNvSpPr txBox="1"/>
          <p:nvPr/>
        </p:nvSpPr>
        <p:spPr>
          <a:xfrm>
            <a:off x="5495544" y="421995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1.92</a:t>
            </a:r>
            <a:endParaRPr lang="en-US" sz="850" dirty="0"/>
          </a:p>
        </p:txBody>
      </p:sp>
      <p:sp>
        <p:nvSpPr>
          <p:cNvPr id="111" name="Text 108"/>
          <p:cNvSpPr txBox="1"/>
          <p:nvPr/>
        </p:nvSpPr>
        <p:spPr>
          <a:xfrm>
            <a:off x="6080760" y="4219956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55.3</a:t>
            </a:r>
            <a:endParaRPr lang="en-US" sz="850" dirty="0"/>
          </a:p>
        </p:txBody>
      </p:sp>
      <p:sp>
        <p:nvSpPr>
          <p:cNvPr id="112" name="Text 109"/>
          <p:cNvSpPr txBox="1"/>
          <p:nvPr/>
        </p:nvSpPr>
        <p:spPr>
          <a:xfrm>
            <a:off x="6492240" y="42199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0.061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3767328" y="449427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tibble, never a printout: filter, join, export or format it like any table.</a:t>
            </a:r>
            <a:endParaRPr lang="en-US" sz="900" dirty="0"/>
          </a:p>
        </p:txBody>
      </p:sp>
      <p:sp>
        <p:nvSpPr>
          <p:cNvPr id="114" name="Text 111"/>
          <p:cNvSpPr txBox="1"/>
          <p:nvPr/>
        </p:nvSpPr>
        <p:spPr>
          <a:xfrm>
            <a:off x="3767328" y="48234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SUBGROUP → ADJUST → STARS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3767328" y="5070348"/>
            <a:ext cx="3172968" cy="749808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3840480" y="5134356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adjust_pvalue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add_significance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7" name="Shape 114"/>
          <p:cNvSpPr/>
          <p:nvPr/>
        </p:nvSpPr>
        <p:spPr>
          <a:xfrm>
            <a:off x="3767328" y="5893308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3794760" y="589330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</a:t>
            </a:r>
            <a:endParaRPr lang="en-US" sz="900" dirty="0"/>
          </a:p>
        </p:txBody>
      </p:sp>
      <p:sp>
        <p:nvSpPr>
          <p:cNvPr id="119" name="Text 116"/>
          <p:cNvSpPr txBox="1"/>
          <p:nvPr/>
        </p:nvSpPr>
        <p:spPr>
          <a:xfrm>
            <a:off x="4343400" y="589330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5074920" y="589330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p.adj</a:t>
            </a:r>
            <a:endParaRPr lang="en-US" sz="900" dirty="0"/>
          </a:p>
        </p:txBody>
      </p:sp>
      <p:sp>
        <p:nvSpPr>
          <p:cNvPr id="121" name="Text 118"/>
          <p:cNvSpPr txBox="1"/>
          <p:nvPr/>
        </p:nvSpPr>
        <p:spPr>
          <a:xfrm>
            <a:off x="5806440" y="589330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p.adj.signif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3794760" y="61127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4343400" y="61127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0.006</a:t>
            </a:r>
            <a:endParaRPr lang="en-US" sz="900" dirty="0"/>
          </a:p>
        </p:txBody>
      </p:sp>
      <p:sp>
        <p:nvSpPr>
          <p:cNvPr id="124" name="Text 121"/>
          <p:cNvSpPr txBox="1"/>
          <p:nvPr/>
        </p:nvSpPr>
        <p:spPr>
          <a:xfrm>
            <a:off x="5074920" y="61127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0.019</a:t>
            </a:r>
            <a:endParaRPr lang="en-US" sz="900" dirty="0"/>
          </a:p>
        </p:txBody>
      </p:sp>
      <p:sp>
        <p:nvSpPr>
          <p:cNvPr id="125" name="Text 122"/>
          <p:cNvSpPr txBox="1"/>
          <p:nvPr/>
        </p:nvSpPr>
        <p:spPr>
          <a:xfrm>
            <a:off x="5806440" y="611276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3767328" y="6332220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27" name="Text 124"/>
          <p:cNvSpPr txBox="1"/>
          <p:nvPr/>
        </p:nvSpPr>
        <p:spPr>
          <a:xfrm>
            <a:off x="3794760" y="633222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00" dirty="0"/>
          </a:p>
        </p:txBody>
      </p:sp>
      <p:sp>
        <p:nvSpPr>
          <p:cNvPr id="128" name="Text 125"/>
          <p:cNvSpPr txBox="1"/>
          <p:nvPr/>
        </p:nvSpPr>
        <p:spPr>
          <a:xfrm>
            <a:off x="4343400" y="63322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0.001</a:t>
            </a:r>
            <a:endParaRPr lang="en-US" sz="900" dirty="0"/>
          </a:p>
        </p:txBody>
      </p:sp>
      <p:sp>
        <p:nvSpPr>
          <p:cNvPr id="129" name="Text 126"/>
          <p:cNvSpPr txBox="1"/>
          <p:nvPr/>
        </p:nvSpPr>
        <p:spPr>
          <a:xfrm>
            <a:off x="5074920" y="63322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0.003</a:t>
            </a:r>
            <a:endParaRPr lang="en-US" sz="900" dirty="0"/>
          </a:p>
        </p:txBody>
      </p:sp>
      <p:sp>
        <p:nvSpPr>
          <p:cNvPr id="130" name="Text 127"/>
          <p:cNvSpPr txBox="1"/>
          <p:nvPr/>
        </p:nvSpPr>
        <p:spPr>
          <a:xfrm>
            <a:off x="5806440" y="6332220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</a:t>
            </a:r>
            <a:endParaRPr lang="en-US" sz="900" dirty="0"/>
          </a:p>
        </p:txBody>
      </p:sp>
      <p:sp>
        <p:nvSpPr>
          <p:cNvPr id="131" name="Text 128"/>
          <p:cNvSpPr txBox="1"/>
          <p:nvPr/>
        </p:nvSpPr>
        <p:spPr>
          <a:xfrm>
            <a:off x="3794760" y="655167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32" name="Text 129"/>
          <p:cNvSpPr txBox="1"/>
          <p:nvPr/>
        </p:nvSpPr>
        <p:spPr>
          <a:xfrm>
            <a:off x="4343400" y="65516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0.964</a:t>
            </a:r>
            <a:endParaRPr lang="en-US" sz="900" dirty="0"/>
          </a:p>
        </p:txBody>
      </p:sp>
      <p:sp>
        <p:nvSpPr>
          <p:cNvPr id="133" name="Text 130"/>
          <p:cNvSpPr txBox="1"/>
          <p:nvPr/>
        </p:nvSpPr>
        <p:spPr>
          <a:xfrm>
            <a:off x="5074920" y="65516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1.000</a:t>
            </a:r>
            <a:endParaRPr lang="en-US" sz="900" dirty="0"/>
          </a:p>
        </p:txBody>
      </p:sp>
      <p:sp>
        <p:nvSpPr>
          <p:cNvPr id="134" name="Text 131"/>
          <p:cNvSpPr txBox="1"/>
          <p:nvPr/>
        </p:nvSpPr>
        <p:spPr>
          <a:xfrm>
            <a:off x="5806440" y="6551676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ns</a:t>
            </a:r>
            <a:endParaRPr lang="en-US" sz="900" dirty="0"/>
          </a:p>
        </p:txBody>
      </p:sp>
      <p:sp>
        <p:nvSpPr>
          <p:cNvPr id="135" name="Text 132"/>
          <p:cNvSpPr txBox="1"/>
          <p:nvPr/>
        </p:nvSpPr>
        <p:spPr>
          <a:xfrm>
            <a:off x="3767328" y="68259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Stars: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 &lt; 0.0001 · *** &lt; 0.001 · ** &lt; 0.01 · * &lt; 0.05 · ns</a:t>
            </a:r>
            <a:endParaRPr lang="en-US" sz="900" dirty="0"/>
          </a:p>
        </p:txBody>
      </p:sp>
      <p:sp>
        <p:nvSpPr>
          <p:cNvPr id="136" name="Text 133"/>
          <p:cNvSpPr txBox="1"/>
          <p:nvPr/>
        </p:nvSpPr>
        <p:spPr>
          <a:xfrm>
            <a:off x="3767328" y="71551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WHICH COMPARISONS?</a:t>
            </a:r>
            <a:endParaRPr lang="en-US" sz="1000" dirty="0"/>
          </a:p>
        </p:txBody>
      </p:sp>
      <p:sp>
        <p:nvSpPr>
          <p:cNvPr id="137" name="Text 134"/>
          <p:cNvSpPr txBox="1"/>
          <p:nvPr/>
        </p:nvSpPr>
        <p:spPr>
          <a:xfrm>
            <a:off x="3767328" y="74020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~ dose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all pairs (Holm-adjusted)</a:t>
            </a:r>
            <a:endParaRPr lang="en-US" sz="950" dirty="0"/>
          </a:p>
        </p:txBody>
      </p:sp>
      <p:sp>
        <p:nvSpPr>
          <p:cNvPr id="138" name="Text 135"/>
          <p:cNvSpPr txBox="1"/>
          <p:nvPr/>
        </p:nvSpPr>
        <p:spPr>
          <a:xfrm>
            <a:off x="3767328" y="76489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ref.group = "0.5"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each level vs a reference</a:t>
            </a:r>
            <a:endParaRPr lang="en-US" sz="950" dirty="0"/>
          </a:p>
        </p:txBody>
      </p:sp>
      <p:sp>
        <p:nvSpPr>
          <p:cNvPr id="139" name="Text 136"/>
          <p:cNvSpPr txBox="1"/>
          <p:nvPr/>
        </p:nvSpPr>
        <p:spPr>
          <a:xfrm>
            <a:off x="3767328" y="789584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comparisons = list(c("0.5", "2"))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only the pairs you planned</a:t>
            </a:r>
            <a:endParaRPr lang="en-US" sz="950" dirty="0"/>
          </a:p>
        </p:txBody>
      </p:sp>
      <p:sp>
        <p:nvSpPr>
          <p:cNvPr id="140" name="Text 137"/>
          <p:cNvSpPr txBox="1"/>
          <p:nvPr/>
        </p:nvSpPr>
        <p:spPr>
          <a:xfrm>
            <a:off x="3767328" y="832561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effect.size = TRUE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adds Cohen's d: 0.49, small</a:t>
            </a:r>
            <a:endParaRPr lang="en-US" sz="950" dirty="0"/>
          </a:p>
        </p:txBody>
      </p:sp>
      <p:sp>
        <p:nvSpPr>
          <p:cNvPr id="141" name="Text 138"/>
          <p:cNvSpPr txBox="1"/>
          <p:nvPr/>
        </p:nvSpPr>
        <p:spPr>
          <a:xfrm>
            <a:off x="3767328" y="85725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 = TRUE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adds estimate, 95% CI, method: OJ − VC = 3.7 (−0.17 to 7.57)</a:t>
            </a:r>
            <a:endParaRPr lang="en-US" sz="950" dirty="0"/>
          </a:p>
        </p:txBody>
      </p:sp>
      <p:sp>
        <p:nvSpPr>
          <p:cNvPr id="142" name="Text 139"/>
          <p:cNvSpPr txBox="1"/>
          <p:nvPr/>
        </p:nvSpPr>
        <p:spPr>
          <a:xfrm>
            <a:off x="3767328" y="909370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 IN TEXT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3767328" y="9340596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44" name="Text 141"/>
          <p:cNvSpPr txBox="1"/>
          <p:nvPr/>
        </p:nvSpPr>
        <p:spPr>
          <a:xfrm>
            <a:off x="3840480" y="9404604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get_test_label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(res, detailed = TRUE,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45" name="Text 142"/>
          <p:cNvSpPr txBox="1"/>
          <p:nvPr/>
        </p:nvSpPr>
        <p:spPr>
          <a:xfrm>
            <a:off x="3767328" y="999439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 test, t(55.31) = 1.92, p = 0.061, n = 60</a:t>
            </a:r>
            <a:endParaRPr lang="en-US" sz="950" dirty="0"/>
          </a:p>
        </p:txBody>
      </p:sp>
      <p:sp>
        <p:nvSpPr>
          <p:cNvPr id="146" name="Text 143"/>
          <p:cNvSpPr txBox="1"/>
          <p:nvPr/>
        </p:nvSpPr>
        <p:spPr>
          <a:xfrm>
            <a:off x="3767328" y="1021384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default type returns a plot subtitle.</a:t>
            </a:r>
            <a:endParaRPr lang="en-US" sz="900" dirty="0"/>
          </a:p>
        </p:txBody>
      </p:sp>
      <p:sp>
        <p:nvSpPr>
          <p:cNvPr id="147" name="Shape 144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48" name="Text 145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149" name="Text 146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 assumptions</a:t>
            </a:r>
            <a:endParaRPr lang="en-US" sz="2000" dirty="0"/>
          </a:p>
        </p:txBody>
      </p:sp>
      <p:sp>
        <p:nvSpPr>
          <p:cNvPr id="150" name="Text 147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NORMALITY  (SHAPIRO–WILK)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7123176" y="24414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7196328" y="25054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(supp, 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(len)</a:t>
            </a:r>
            <a:endParaRPr lang="en-US" sz="1100" dirty="0"/>
          </a:p>
        </p:txBody>
      </p:sp>
      <p:sp>
        <p:nvSpPr>
          <p:cNvPr id="153" name="Text 150"/>
          <p:cNvSpPr txBox="1"/>
          <p:nvPr/>
        </p:nvSpPr>
        <p:spPr>
          <a:xfrm>
            <a:off x="7123176" y="294436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 cells, smallest p = 0.17 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evidence against normality.</a:t>
            </a:r>
            <a:endParaRPr lang="en-US" sz="950" dirty="0"/>
          </a:p>
        </p:txBody>
      </p:sp>
      <p:sp>
        <p:nvSpPr>
          <p:cNvPr id="154" name="Text 151"/>
          <p:cNvSpPr txBox="1"/>
          <p:nvPr/>
        </p:nvSpPr>
        <p:spPr>
          <a:xfrm>
            <a:off x="7123176" y="318211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 the groups you compare.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pooled over doses gives p = 0.024: pooling mixes three doses.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7123176" y="3621024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7196328" y="368503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dose, data = df)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(fit))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= 0.67</a:t>
            </a:r>
            <a:endParaRPr lang="en-US" sz="1100" dirty="0"/>
          </a:p>
        </p:txBody>
      </p:sp>
      <p:sp>
        <p:nvSpPr>
          <p:cNvPr id="157" name="Text 154"/>
          <p:cNvSpPr txBox="1"/>
          <p:nvPr/>
        </p:nvSpPr>
        <p:spPr>
          <a:xfrm>
            <a:off x="7123176" y="410565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 ANOVA designs, check the model residuals.</a:t>
            </a:r>
            <a:endParaRPr lang="en-US" sz="900" dirty="0"/>
          </a:p>
        </p:txBody>
      </p:sp>
      <p:sp>
        <p:nvSpPr>
          <p:cNvPr id="158" name="Shape 155"/>
          <p:cNvSpPr/>
          <p:nvPr/>
        </p:nvSpPr>
        <p:spPr>
          <a:xfrm>
            <a:off x="7123176" y="436168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7196328" y="442569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ggqqplot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facet.by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 = normal</a:t>
            </a:r>
            <a:endParaRPr lang="en-US" sz="1100" dirty="0"/>
          </a:p>
        </p:txBody>
      </p:sp>
      <p:sp>
        <p:nvSpPr>
          <p:cNvPr id="160" name="Text 157"/>
          <p:cNvSpPr txBox="1"/>
          <p:nvPr/>
        </p:nvSpPr>
        <p:spPr>
          <a:xfrm>
            <a:off x="7123176" y="495604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EQUAL VARIANCES  (LEVENE)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7123176" y="5202936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7196328" y="526694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levene_test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dose)</a:t>
            </a:r>
            <a:endParaRPr lang="en-US" sz="1100" dirty="0"/>
          </a:p>
        </p:txBody>
      </p:sp>
      <p:sp>
        <p:nvSpPr>
          <p:cNvPr id="163" name="Text 160"/>
          <p:cNvSpPr txBox="1"/>
          <p:nvPr/>
        </p:nvSpPr>
        <p:spPr>
          <a:xfrm>
            <a:off x="7123176" y="555498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F(5, 54) = 1.71, p = 0.15 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evidence of unequal variances.</a:t>
            </a:r>
            <a:endParaRPr lang="en-US" sz="950" dirty="0"/>
          </a:p>
        </p:txBody>
      </p:sp>
      <p:sp>
        <p:nvSpPr>
          <p:cNvPr id="164" name="Text 161"/>
          <p:cNvSpPr txBox="1"/>
          <p:nvPr/>
        </p:nvSpPr>
        <p:spPr>
          <a:xfrm>
            <a:off x="7123176" y="58841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OUTLIERS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7123176" y="6131052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7196328" y="6195060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identify_outliers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(len)</a:t>
            </a:r>
            <a:endParaRPr lang="en-US" sz="1100" dirty="0"/>
          </a:p>
        </p:txBody>
      </p:sp>
      <p:sp>
        <p:nvSpPr>
          <p:cNvPr id="167" name="Shape 164"/>
          <p:cNvSpPr/>
          <p:nvPr/>
        </p:nvSpPr>
        <p:spPr>
          <a:xfrm>
            <a:off x="7123176" y="665226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68" name="Text 165"/>
          <p:cNvSpPr txBox="1"/>
          <p:nvPr/>
        </p:nvSpPr>
        <p:spPr>
          <a:xfrm>
            <a:off x="71506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</a:t>
            </a:r>
            <a:endParaRPr lang="en-US" sz="900" dirty="0"/>
          </a:p>
        </p:txBody>
      </p:sp>
      <p:sp>
        <p:nvSpPr>
          <p:cNvPr id="169" name="Text 166"/>
          <p:cNvSpPr txBox="1"/>
          <p:nvPr/>
        </p:nvSpPr>
        <p:spPr>
          <a:xfrm>
            <a:off x="76078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endParaRPr lang="en-US" sz="900" dirty="0"/>
          </a:p>
        </p:txBody>
      </p:sp>
      <p:sp>
        <p:nvSpPr>
          <p:cNvPr id="170" name="Text 167"/>
          <p:cNvSpPr txBox="1"/>
          <p:nvPr/>
        </p:nvSpPr>
        <p:spPr>
          <a:xfrm>
            <a:off x="8065008" y="665226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900" dirty="0"/>
          </a:p>
        </p:txBody>
      </p:sp>
      <p:sp>
        <p:nvSpPr>
          <p:cNvPr id="171" name="Text 168"/>
          <p:cNvSpPr txBox="1"/>
          <p:nvPr/>
        </p:nvSpPr>
        <p:spPr>
          <a:xfrm>
            <a:off x="8522208" y="6652260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is.outlier</a:t>
            </a:r>
            <a:endParaRPr lang="en-US" sz="900" dirty="0"/>
          </a:p>
        </p:txBody>
      </p:sp>
      <p:sp>
        <p:nvSpPr>
          <p:cNvPr id="172" name="Text 169"/>
          <p:cNvSpPr txBox="1"/>
          <p:nvPr/>
        </p:nvSpPr>
        <p:spPr>
          <a:xfrm>
            <a:off x="9409176" y="66522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is.extreme</a:t>
            </a:r>
            <a:endParaRPr lang="en-US" sz="900" dirty="0"/>
          </a:p>
        </p:txBody>
      </p:sp>
      <p:sp>
        <p:nvSpPr>
          <p:cNvPr id="173" name="Text 170"/>
          <p:cNvSpPr txBox="1"/>
          <p:nvPr/>
        </p:nvSpPr>
        <p:spPr>
          <a:xfrm>
            <a:off x="71506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00" dirty="0"/>
          </a:p>
        </p:txBody>
      </p:sp>
      <p:sp>
        <p:nvSpPr>
          <p:cNvPr id="174" name="Text 171"/>
          <p:cNvSpPr txBox="1"/>
          <p:nvPr/>
        </p:nvSpPr>
        <p:spPr>
          <a:xfrm>
            <a:off x="76078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21.5</a:t>
            </a:r>
            <a:endParaRPr lang="en-US" sz="900" dirty="0"/>
          </a:p>
        </p:txBody>
      </p:sp>
      <p:sp>
        <p:nvSpPr>
          <p:cNvPr id="175" name="Text 172"/>
          <p:cNvSpPr txBox="1"/>
          <p:nvPr/>
        </p:nvSpPr>
        <p:spPr>
          <a:xfrm>
            <a:off x="8065008" y="687171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OJ</a:t>
            </a:r>
            <a:endParaRPr lang="en-US" sz="900" dirty="0"/>
          </a:p>
        </p:txBody>
      </p:sp>
      <p:sp>
        <p:nvSpPr>
          <p:cNvPr id="176" name="Text 173"/>
          <p:cNvSpPr txBox="1"/>
          <p:nvPr/>
        </p:nvSpPr>
        <p:spPr>
          <a:xfrm>
            <a:off x="8522208" y="6871716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9409176" y="68717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7260336" y="7219188"/>
            <a:ext cx="434797" cy="347472"/>
          </a:xfrm>
          <a:prstGeom prst="rect">
            <a:avLst/>
          </a:prstGeom>
          <a:solidFill>
            <a:srgbClr val="F6D3D0"/>
          </a:solidFill>
          <a:ln w="12700">
            <a:solidFill>
              <a:srgbClr val="F6D3D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9724187" y="7219188"/>
            <a:ext cx="434797" cy="347472"/>
          </a:xfrm>
          <a:prstGeom prst="rect">
            <a:avLst/>
          </a:prstGeom>
          <a:solidFill>
            <a:srgbClr val="F6D3D0"/>
          </a:solidFill>
          <a:ln w="12700">
            <a:solidFill>
              <a:srgbClr val="F6D3D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695133" y="7219188"/>
            <a:ext cx="434797" cy="347472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9289390" y="7219188"/>
            <a:ext cx="434797" cy="347472"/>
          </a:xfrm>
          <a:prstGeom prst="rect">
            <a:avLst/>
          </a:prstGeom>
          <a:solidFill>
            <a:srgbClr val="FCEEDF"/>
          </a:solidFill>
          <a:ln w="12700">
            <a:solidFill>
              <a:srgbClr val="FCEED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8129930" y="7392924"/>
            <a:ext cx="1159459" cy="0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564728" y="7292340"/>
            <a:ext cx="289865" cy="201168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84" name="Text 181"/>
          <p:cNvSpPr txBox="1"/>
          <p:nvPr/>
        </p:nvSpPr>
        <p:spPr>
          <a:xfrm>
            <a:off x="8564728" y="7292340"/>
            <a:ext cx="289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Q1–Q3</a:t>
            </a:r>
            <a:endParaRPr lang="en-US" sz="750" dirty="0"/>
          </a:p>
        </p:txBody>
      </p:sp>
      <p:sp>
        <p:nvSpPr>
          <p:cNvPr id="185" name="Text 182"/>
          <p:cNvSpPr txBox="1"/>
          <p:nvPr/>
        </p:nvSpPr>
        <p:spPr>
          <a:xfrm>
            <a:off x="7695133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outlier</a:t>
            </a:r>
            <a:endParaRPr lang="en-US" sz="800" dirty="0"/>
          </a:p>
        </p:txBody>
      </p:sp>
      <p:sp>
        <p:nvSpPr>
          <p:cNvPr id="186" name="Text 183"/>
          <p:cNvSpPr txBox="1"/>
          <p:nvPr/>
        </p:nvSpPr>
        <p:spPr>
          <a:xfrm>
            <a:off x="9289390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outlier</a:t>
            </a:r>
            <a:endParaRPr lang="en-US" sz="800" dirty="0"/>
          </a:p>
        </p:txBody>
      </p:sp>
      <p:sp>
        <p:nvSpPr>
          <p:cNvPr id="187" name="Text 184"/>
          <p:cNvSpPr txBox="1"/>
          <p:nvPr/>
        </p:nvSpPr>
        <p:spPr>
          <a:xfrm>
            <a:off x="7260336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A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extreme</a:t>
            </a:r>
            <a:endParaRPr lang="en-US" sz="800" dirty="0"/>
          </a:p>
        </p:txBody>
      </p:sp>
      <p:sp>
        <p:nvSpPr>
          <p:cNvPr id="188" name="Text 185"/>
          <p:cNvSpPr txBox="1"/>
          <p:nvPr/>
        </p:nvSpPr>
        <p:spPr>
          <a:xfrm>
            <a:off x="9724187" y="7584948"/>
            <a:ext cx="4347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3A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extreme</a:t>
            </a:r>
            <a:endParaRPr lang="en-US" sz="800" dirty="0"/>
          </a:p>
        </p:txBody>
      </p:sp>
      <p:sp>
        <p:nvSpPr>
          <p:cNvPr id="189" name="Text 186"/>
          <p:cNvSpPr txBox="1"/>
          <p:nvPr/>
        </p:nvSpPr>
        <p:spPr>
          <a:xfrm>
            <a:off x="7123176" y="778611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Outlier: beyond 1.5 × IQR from Q1 or Q3. Extreme: beyond 3 × IQR. Investigate before removing.</a:t>
            </a:r>
            <a:endParaRPr lang="en-US" sz="900" dirty="0"/>
          </a:p>
        </p:txBody>
      </p:sp>
      <p:sp>
        <p:nvSpPr>
          <p:cNvPr id="190" name="Shape 187"/>
          <p:cNvSpPr/>
          <p:nvPr/>
        </p:nvSpPr>
        <p:spPr>
          <a:xfrm>
            <a:off x="7123176" y="8243316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191" name="Text 188"/>
          <p:cNvSpPr txBox="1"/>
          <p:nvPr/>
        </p:nvSpPr>
        <p:spPr>
          <a:xfrm>
            <a:off x="7214616" y="830732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Shapiro–Wilk flags trivial departures in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samples and misses big ones in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small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samples: read it next to the QQ plot.</a:t>
            </a:r>
            <a:endParaRPr lang="en-US" sz="950" dirty="0"/>
          </a:p>
        </p:txBody>
      </p:sp>
      <p:sp>
        <p:nvSpPr>
          <p:cNvPr id="192" name="Text 189"/>
          <p:cNvSpPr txBox="1"/>
          <p:nvPr/>
        </p:nvSpPr>
        <p:spPr>
          <a:xfrm>
            <a:off x="7123176" y="90297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PAIRED DATA: TEST THE DIFFERENCES</a:t>
            </a:r>
            <a:endParaRPr lang="en-US" sz="1000" dirty="0"/>
          </a:p>
        </p:txBody>
      </p:sp>
      <p:sp>
        <p:nvSpPr>
          <p:cNvPr id="193" name="Shape 190"/>
          <p:cNvSpPr/>
          <p:nvPr/>
        </p:nvSpPr>
        <p:spPr>
          <a:xfrm>
            <a:off x="7123176" y="9276588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4" name="Text 191"/>
          <p:cNvSpPr txBox="1"/>
          <p:nvPr/>
        </p:nvSpPr>
        <p:spPr>
          <a:xfrm>
            <a:off x="7196328" y="934059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(sleep, extra[group == 2] -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extra[group == 1])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= 0.033</a:t>
            </a:r>
            <a:endParaRPr lang="en-US" sz="1100" dirty="0"/>
          </a:p>
        </p:txBody>
      </p:sp>
      <p:sp>
        <p:nvSpPr>
          <p:cNvPr id="195" name="Text 192"/>
          <p:cNvSpPr txBox="1"/>
          <p:nvPr/>
        </p:nvSpPr>
        <p:spPr>
          <a:xfrm>
            <a:off x="7123176" y="993038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Not normal: use the paired Wilcoxon (p = 0.009).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Several outcomes at once: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mshapiro_test()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box_m()</a:t>
            </a:r>
            <a:endParaRPr lang="en-US" sz="950" dirty="0"/>
          </a:p>
        </p:txBody>
      </p:sp>
      <p:sp>
        <p:nvSpPr>
          <p:cNvPr id="196" name="Shape 193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198" name="Text 195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Describe and plot</a:t>
            </a:r>
            <a:endParaRPr lang="en-US" sz="2000" dirty="0"/>
          </a:p>
        </p:txBody>
      </p:sp>
      <p:sp>
        <p:nvSpPr>
          <p:cNvPr id="199" name="Text 196"/>
          <p:cNvSpPr txBox="1"/>
          <p:nvPr/>
        </p:nvSpPr>
        <p:spPr>
          <a:xfrm>
            <a:off x="10479024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SUMMARY STATISTICS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10479024" y="24414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1" name="Text 198"/>
          <p:cNvSpPr txBox="1"/>
          <p:nvPr/>
        </p:nvSpPr>
        <p:spPr>
          <a:xfrm>
            <a:off x="10552176" y="25054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get_summary_stats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(len, 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02" name="Shape 199"/>
          <p:cNvSpPr/>
          <p:nvPr/>
        </p:nvSpPr>
        <p:spPr>
          <a:xfrm>
            <a:off x="10479024" y="2962656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03" name="Text 200"/>
          <p:cNvSpPr txBox="1"/>
          <p:nvPr/>
        </p:nvSpPr>
        <p:spPr>
          <a:xfrm>
            <a:off x="10506456" y="29626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</a:t>
            </a:r>
            <a:endParaRPr lang="en-US" sz="900" dirty="0"/>
          </a:p>
        </p:txBody>
      </p:sp>
      <p:sp>
        <p:nvSpPr>
          <p:cNvPr id="204" name="Text 201"/>
          <p:cNvSpPr txBox="1"/>
          <p:nvPr/>
        </p:nvSpPr>
        <p:spPr>
          <a:xfrm>
            <a:off x="11055096" y="296265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</a:t>
            </a:r>
            <a:endParaRPr lang="en-US" sz="900" dirty="0"/>
          </a:p>
        </p:txBody>
      </p:sp>
      <p:sp>
        <p:nvSpPr>
          <p:cNvPr id="205" name="Text 202"/>
          <p:cNvSpPr txBox="1"/>
          <p:nvPr/>
        </p:nvSpPr>
        <p:spPr>
          <a:xfrm>
            <a:off x="11832336" y="29626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900" dirty="0"/>
          </a:p>
        </p:txBody>
      </p:sp>
      <p:sp>
        <p:nvSpPr>
          <p:cNvPr id="206" name="Text 203"/>
          <p:cNvSpPr txBox="1"/>
          <p:nvPr/>
        </p:nvSpPr>
        <p:spPr>
          <a:xfrm>
            <a:off x="12289536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900" dirty="0"/>
          </a:p>
        </p:txBody>
      </p:sp>
      <p:sp>
        <p:nvSpPr>
          <p:cNvPr id="207" name="Text 204"/>
          <p:cNvSpPr txBox="1"/>
          <p:nvPr/>
        </p:nvSpPr>
        <p:spPr>
          <a:xfrm>
            <a:off x="12984480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</a:t>
            </a:r>
            <a:endParaRPr lang="en-US" sz="900" dirty="0"/>
          </a:p>
        </p:txBody>
      </p:sp>
      <p:sp>
        <p:nvSpPr>
          <p:cNvPr id="208" name="Text 205"/>
          <p:cNvSpPr txBox="1"/>
          <p:nvPr/>
        </p:nvSpPr>
        <p:spPr>
          <a:xfrm>
            <a:off x="10506456" y="31821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900" dirty="0"/>
          </a:p>
        </p:txBody>
      </p:sp>
      <p:sp>
        <p:nvSpPr>
          <p:cNvPr id="209" name="Text 206"/>
          <p:cNvSpPr txBox="1"/>
          <p:nvPr/>
        </p:nvSpPr>
        <p:spPr>
          <a:xfrm>
            <a:off x="11055096" y="318211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900" dirty="0"/>
          </a:p>
        </p:txBody>
      </p:sp>
      <p:sp>
        <p:nvSpPr>
          <p:cNvPr id="210" name="Text 207"/>
          <p:cNvSpPr txBox="1"/>
          <p:nvPr/>
        </p:nvSpPr>
        <p:spPr>
          <a:xfrm>
            <a:off x="11832336" y="31821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00" dirty="0"/>
          </a:p>
        </p:txBody>
      </p:sp>
      <p:sp>
        <p:nvSpPr>
          <p:cNvPr id="211" name="Text 208"/>
          <p:cNvSpPr txBox="1"/>
          <p:nvPr/>
        </p:nvSpPr>
        <p:spPr>
          <a:xfrm>
            <a:off x="12289536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20.66</a:t>
            </a:r>
            <a:endParaRPr lang="en-US" sz="900" dirty="0"/>
          </a:p>
        </p:txBody>
      </p:sp>
      <p:sp>
        <p:nvSpPr>
          <p:cNvPr id="212" name="Text 209"/>
          <p:cNvSpPr txBox="1"/>
          <p:nvPr/>
        </p:nvSpPr>
        <p:spPr>
          <a:xfrm>
            <a:off x="12984480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6.61</a:t>
            </a:r>
            <a:endParaRPr lang="en-US" sz="900" dirty="0"/>
          </a:p>
        </p:txBody>
      </p:sp>
      <p:sp>
        <p:nvSpPr>
          <p:cNvPr id="213" name="Shape 210"/>
          <p:cNvSpPr/>
          <p:nvPr/>
        </p:nvSpPr>
        <p:spPr>
          <a:xfrm>
            <a:off x="10479024" y="3401568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214" name="Text 211"/>
          <p:cNvSpPr txBox="1"/>
          <p:nvPr/>
        </p:nvSpPr>
        <p:spPr>
          <a:xfrm>
            <a:off x="10506456" y="340156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900" dirty="0"/>
          </a:p>
        </p:txBody>
      </p:sp>
      <p:sp>
        <p:nvSpPr>
          <p:cNvPr id="215" name="Text 212"/>
          <p:cNvSpPr txBox="1"/>
          <p:nvPr/>
        </p:nvSpPr>
        <p:spPr>
          <a:xfrm>
            <a:off x="11055096" y="340156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11832336" y="340156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00" dirty="0"/>
          </a:p>
        </p:txBody>
      </p:sp>
      <p:sp>
        <p:nvSpPr>
          <p:cNvPr id="217" name="Text 214"/>
          <p:cNvSpPr txBox="1"/>
          <p:nvPr/>
        </p:nvSpPr>
        <p:spPr>
          <a:xfrm>
            <a:off x="12289536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16.96</a:t>
            </a:r>
            <a:endParaRPr lang="en-US" sz="900" dirty="0"/>
          </a:p>
        </p:txBody>
      </p:sp>
      <p:sp>
        <p:nvSpPr>
          <p:cNvPr id="218" name="Text 215"/>
          <p:cNvSpPr txBox="1"/>
          <p:nvPr/>
        </p:nvSpPr>
        <p:spPr>
          <a:xfrm>
            <a:off x="12984480" y="3401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8.27</a:t>
            </a:r>
            <a:endParaRPr lang="en-US" sz="900" dirty="0"/>
          </a:p>
        </p:txBody>
      </p:sp>
      <p:sp>
        <p:nvSpPr>
          <p:cNvPr id="219" name="Text 216"/>
          <p:cNvSpPr txBox="1"/>
          <p:nvPr/>
        </p:nvSpPr>
        <p:spPr>
          <a:xfrm>
            <a:off x="10479024" y="371246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</a:t>
            </a:r>
            <a:endParaRPr lang="en-US" sz="1100" dirty="0"/>
          </a:p>
        </p:txBody>
      </p:sp>
      <p:sp>
        <p:nvSpPr>
          <p:cNvPr id="220" name="Shape 217"/>
          <p:cNvSpPr/>
          <p:nvPr/>
        </p:nvSpPr>
        <p:spPr>
          <a:xfrm>
            <a:off x="10479024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1" name="Text 218"/>
          <p:cNvSpPr txBox="1"/>
          <p:nvPr/>
        </p:nvSpPr>
        <p:spPr>
          <a:xfrm>
            <a:off x="10479024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"full"</a:t>
            </a:r>
            <a:endParaRPr lang="en-US" sz="850" dirty="0"/>
          </a:p>
        </p:txBody>
      </p:sp>
      <p:sp>
        <p:nvSpPr>
          <p:cNvPr id="222" name="Shape 219"/>
          <p:cNvSpPr/>
          <p:nvPr/>
        </p:nvSpPr>
        <p:spPr>
          <a:xfrm>
            <a:off x="11551920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3" name="Text 220"/>
          <p:cNvSpPr txBox="1"/>
          <p:nvPr/>
        </p:nvSpPr>
        <p:spPr>
          <a:xfrm>
            <a:off x="11551920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"common"</a:t>
            </a:r>
            <a:endParaRPr lang="en-US" sz="850" dirty="0"/>
          </a:p>
        </p:txBody>
      </p:sp>
      <p:sp>
        <p:nvSpPr>
          <p:cNvPr id="224" name="Shape 221"/>
          <p:cNvSpPr/>
          <p:nvPr/>
        </p:nvSpPr>
        <p:spPr>
          <a:xfrm>
            <a:off x="12624816" y="3931920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5" name="Text 222"/>
          <p:cNvSpPr txBox="1"/>
          <p:nvPr/>
        </p:nvSpPr>
        <p:spPr>
          <a:xfrm>
            <a:off x="12624816" y="3931920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"robust"</a:t>
            </a:r>
            <a:endParaRPr lang="en-US" sz="850" dirty="0"/>
          </a:p>
        </p:txBody>
      </p:sp>
      <p:sp>
        <p:nvSpPr>
          <p:cNvPr id="226" name="Shape 223"/>
          <p:cNvSpPr/>
          <p:nvPr/>
        </p:nvSpPr>
        <p:spPr>
          <a:xfrm>
            <a:off x="10479024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7" name="Text 224"/>
          <p:cNvSpPr txBox="1"/>
          <p:nvPr/>
        </p:nvSpPr>
        <p:spPr>
          <a:xfrm>
            <a:off x="10479024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"five_number"</a:t>
            </a:r>
            <a:endParaRPr lang="en-US" sz="850" dirty="0"/>
          </a:p>
        </p:txBody>
      </p:sp>
      <p:sp>
        <p:nvSpPr>
          <p:cNvPr id="228" name="Shape 225"/>
          <p:cNvSpPr/>
          <p:nvPr/>
        </p:nvSpPr>
        <p:spPr>
          <a:xfrm>
            <a:off x="11551920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29" name="Text 226"/>
          <p:cNvSpPr txBox="1"/>
          <p:nvPr/>
        </p:nvSpPr>
        <p:spPr>
          <a:xfrm>
            <a:off x="11551920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"mean_sd"</a:t>
            </a:r>
            <a:endParaRPr lang="en-US" sz="850" dirty="0"/>
          </a:p>
        </p:txBody>
      </p:sp>
      <p:sp>
        <p:nvSpPr>
          <p:cNvPr id="230" name="Shape 227"/>
          <p:cNvSpPr/>
          <p:nvPr/>
        </p:nvSpPr>
        <p:spPr>
          <a:xfrm>
            <a:off x="12624816" y="4178808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1" name="Text 228"/>
          <p:cNvSpPr txBox="1"/>
          <p:nvPr/>
        </p:nvSpPr>
        <p:spPr>
          <a:xfrm>
            <a:off x="12624816" y="4178808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"mean_se"</a:t>
            </a:r>
            <a:endParaRPr lang="en-US" sz="850" dirty="0"/>
          </a:p>
        </p:txBody>
      </p:sp>
      <p:sp>
        <p:nvSpPr>
          <p:cNvPr id="232" name="Shape 229"/>
          <p:cNvSpPr/>
          <p:nvPr/>
        </p:nvSpPr>
        <p:spPr>
          <a:xfrm>
            <a:off x="10479024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3" name="Text 230"/>
          <p:cNvSpPr txBox="1"/>
          <p:nvPr/>
        </p:nvSpPr>
        <p:spPr>
          <a:xfrm>
            <a:off x="10479024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"mean_ci"</a:t>
            </a:r>
            <a:endParaRPr lang="en-US" sz="850" dirty="0"/>
          </a:p>
        </p:txBody>
      </p:sp>
      <p:sp>
        <p:nvSpPr>
          <p:cNvPr id="234" name="Shape 231"/>
          <p:cNvSpPr/>
          <p:nvPr/>
        </p:nvSpPr>
        <p:spPr>
          <a:xfrm>
            <a:off x="11551920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5" name="Text 232"/>
          <p:cNvSpPr txBox="1"/>
          <p:nvPr/>
        </p:nvSpPr>
        <p:spPr>
          <a:xfrm>
            <a:off x="11551920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"median_iqr"</a:t>
            </a:r>
            <a:endParaRPr lang="en-US" sz="850" dirty="0"/>
          </a:p>
        </p:txBody>
      </p:sp>
      <p:sp>
        <p:nvSpPr>
          <p:cNvPr id="236" name="Shape 233"/>
          <p:cNvSpPr/>
          <p:nvPr/>
        </p:nvSpPr>
        <p:spPr>
          <a:xfrm>
            <a:off x="12624816" y="4425696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7" name="Text 234"/>
          <p:cNvSpPr txBox="1"/>
          <p:nvPr/>
        </p:nvSpPr>
        <p:spPr>
          <a:xfrm>
            <a:off x="12624816" y="4425696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"median_mad"</a:t>
            </a:r>
            <a:endParaRPr lang="en-US" sz="850" dirty="0"/>
          </a:p>
        </p:txBody>
      </p:sp>
      <p:sp>
        <p:nvSpPr>
          <p:cNvPr id="238" name="Shape 235"/>
          <p:cNvSpPr/>
          <p:nvPr/>
        </p:nvSpPr>
        <p:spPr>
          <a:xfrm>
            <a:off x="10479024" y="4672584"/>
            <a:ext cx="1027176" cy="210312"/>
          </a:xfrm>
          <a:prstGeom prst="roundRect">
            <a:avLst>
              <a:gd name="adj" fmla="val 21739"/>
            </a:avLst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39" name="Text 236"/>
          <p:cNvSpPr txBox="1"/>
          <p:nvPr/>
        </p:nvSpPr>
        <p:spPr>
          <a:xfrm>
            <a:off x="10479024" y="4672584"/>
            <a:ext cx="1027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"quantile"</a:t>
            </a:r>
            <a:endParaRPr lang="en-US" sz="850" dirty="0"/>
          </a:p>
        </p:txBody>
      </p:sp>
      <p:sp>
        <p:nvSpPr>
          <p:cNvPr id="240" name="Text 237"/>
          <p:cNvSpPr txBox="1"/>
          <p:nvPr/>
        </p:nvSpPr>
        <p:spPr>
          <a:xfrm>
            <a:off x="10479024" y="495604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pick columns: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= c("mean", "sd", "median", "iqr")</a:t>
            </a:r>
            <a:endParaRPr lang="en-US" sz="950" dirty="0"/>
          </a:p>
        </p:txBody>
      </p:sp>
      <p:sp>
        <p:nvSpPr>
          <p:cNvPr id="241" name="Text 238"/>
          <p:cNvSpPr txBox="1"/>
          <p:nvPr/>
        </p:nvSpPr>
        <p:spPr>
          <a:xfrm>
            <a:off x="10479024" y="53766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COUNTS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10479024" y="562356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3" name="Text 240"/>
          <p:cNvSpPr txBox="1"/>
          <p:nvPr/>
        </p:nvSpPr>
        <p:spPr>
          <a:xfrm>
            <a:off x="10552176" y="56875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(supp, dose)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n, prop</a:t>
            </a:r>
            <a:endParaRPr lang="en-US" sz="1100" dirty="0"/>
          </a:p>
        </p:txBody>
      </p:sp>
      <p:sp>
        <p:nvSpPr>
          <p:cNvPr id="244" name="Text 241"/>
          <p:cNvSpPr txBox="1"/>
          <p:nvPr/>
        </p:nvSpPr>
        <p:spPr>
          <a:xfrm>
            <a:off x="10479024" y="60670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FROM TEST TO PLOT</a:t>
            </a:r>
            <a:endParaRPr lang="en-US" sz="1000" dirty="0"/>
          </a:p>
        </p:txBody>
      </p:sp>
      <p:sp>
        <p:nvSpPr>
          <p:cNvPr id="245" name="Shape 242"/>
          <p:cNvSpPr/>
          <p:nvPr/>
        </p:nvSpPr>
        <p:spPr>
          <a:xfrm>
            <a:off x="10479024" y="6313932"/>
            <a:ext cx="3172968" cy="900684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6" name="Text 243"/>
          <p:cNvSpPr txBox="1"/>
          <p:nvPr/>
        </p:nvSpPr>
        <p:spPr>
          <a:xfrm>
            <a:off x="10552176" y="6377940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&lt;- 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add_xy_position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ggboxplot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ggpubr::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stat_pvalue_manual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"p.adj.signif"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47" name="Shape 244"/>
          <p:cNvSpPr/>
          <p:nvPr/>
        </p:nvSpPr>
        <p:spPr>
          <a:xfrm>
            <a:off x="10863072" y="908913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48" name="Text 245"/>
          <p:cNvSpPr txBox="1"/>
          <p:nvPr/>
        </p:nvSpPr>
        <p:spPr>
          <a:xfrm>
            <a:off x="10533888" y="9006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249" name="Shape 246"/>
          <p:cNvSpPr/>
          <p:nvPr/>
        </p:nvSpPr>
        <p:spPr>
          <a:xfrm>
            <a:off x="10863072" y="865479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0533888" y="85725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</a:t>
            </a:r>
            <a:endParaRPr lang="en-US" sz="800" dirty="0"/>
          </a:p>
        </p:txBody>
      </p:sp>
      <p:sp>
        <p:nvSpPr>
          <p:cNvPr id="251" name="Shape 248"/>
          <p:cNvSpPr/>
          <p:nvPr/>
        </p:nvSpPr>
        <p:spPr>
          <a:xfrm>
            <a:off x="10863072" y="822045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2" name="Text 249"/>
          <p:cNvSpPr txBox="1"/>
          <p:nvPr/>
        </p:nvSpPr>
        <p:spPr>
          <a:xfrm>
            <a:off x="10533888" y="81381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</a:t>
            </a:r>
            <a:endParaRPr lang="en-US" sz="800" dirty="0"/>
          </a:p>
        </p:txBody>
      </p:sp>
      <p:sp>
        <p:nvSpPr>
          <p:cNvPr id="253" name="Shape 250"/>
          <p:cNvSpPr/>
          <p:nvPr/>
        </p:nvSpPr>
        <p:spPr>
          <a:xfrm>
            <a:off x="10863072" y="778611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4" name="Text 251"/>
          <p:cNvSpPr txBox="1"/>
          <p:nvPr/>
        </p:nvSpPr>
        <p:spPr>
          <a:xfrm>
            <a:off x="10533888" y="77038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800" dirty="0"/>
          </a:p>
        </p:txBody>
      </p:sp>
      <p:sp>
        <p:nvSpPr>
          <p:cNvPr id="255" name="Shape 252"/>
          <p:cNvSpPr/>
          <p:nvPr/>
        </p:nvSpPr>
        <p:spPr>
          <a:xfrm>
            <a:off x="10863072" y="7351776"/>
            <a:ext cx="267004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256" name="Text 253"/>
          <p:cNvSpPr txBox="1"/>
          <p:nvPr/>
        </p:nvSpPr>
        <p:spPr>
          <a:xfrm>
            <a:off x="10533888" y="72694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</a:t>
            </a:r>
            <a:endParaRPr lang="en-US" sz="800" dirty="0"/>
          </a:p>
        </p:txBody>
      </p:sp>
      <p:sp>
        <p:nvSpPr>
          <p:cNvPr id="257" name="Shape 254"/>
          <p:cNvSpPr/>
          <p:nvPr/>
        </p:nvSpPr>
        <p:spPr>
          <a:xfrm>
            <a:off x="11308080" y="8324698"/>
            <a:ext cx="0" cy="232372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1308080" y="8775325"/>
            <a:ext cx="0" cy="131388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1116056" y="8557070"/>
            <a:ext cx="384048" cy="218256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1116056" y="8661311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1262360" y="8109585"/>
            <a:ext cx="91440" cy="91440"/>
          </a:xfrm>
          <a:prstGeom prst="ellips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262" name="Text 259"/>
          <p:cNvSpPr txBox="1"/>
          <p:nvPr/>
        </p:nvSpPr>
        <p:spPr>
          <a:xfrm>
            <a:off x="11033760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50" dirty="0"/>
          </a:p>
        </p:txBody>
      </p:sp>
      <p:sp>
        <p:nvSpPr>
          <p:cNvPr id="263" name="Shape 260"/>
          <p:cNvSpPr/>
          <p:nvPr/>
        </p:nvSpPr>
        <p:spPr>
          <a:xfrm>
            <a:off x="12198096" y="7903388"/>
            <a:ext cx="0" cy="170478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2198096" y="8383334"/>
            <a:ext cx="0" cy="115100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2006072" y="8073866"/>
            <a:ext cx="384048" cy="309467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2006072" y="8253032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67" name="Text 264"/>
          <p:cNvSpPr txBox="1"/>
          <p:nvPr/>
        </p:nvSpPr>
        <p:spPr>
          <a:xfrm>
            <a:off x="11923776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268" name="Shape 265"/>
          <p:cNvSpPr/>
          <p:nvPr/>
        </p:nvSpPr>
        <p:spPr>
          <a:xfrm>
            <a:off x="13088112" y="7616723"/>
            <a:ext cx="0" cy="263862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3088112" y="8067351"/>
            <a:ext cx="0" cy="218256"/>
          </a:xfrm>
          <a:prstGeom prst="line">
            <a:avLst/>
          </a:prstGeom>
          <a:noFill/>
          <a:ln w="12700">
            <a:solidFill>
              <a:srgbClr val="4B2C82"/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2896088" y="7880585"/>
            <a:ext cx="384048" cy="186766"/>
          </a:xfrm>
          <a:prstGeom prst="rect">
            <a:avLst/>
          </a:prstGeom>
          <a:solidFill>
            <a:srgbClr val="EEE9F7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2896088" y="7962024"/>
            <a:ext cx="384048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72" name="Text 269"/>
          <p:cNvSpPr txBox="1"/>
          <p:nvPr/>
        </p:nvSpPr>
        <p:spPr>
          <a:xfrm>
            <a:off x="12813792" y="91074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273" name="Text 270"/>
          <p:cNvSpPr txBox="1"/>
          <p:nvPr/>
        </p:nvSpPr>
        <p:spPr>
          <a:xfrm>
            <a:off x="11381232" y="807300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21.5 (outlier)</a:t>
            </a:r>
            <a:endParaRPr lang="en-US" sz="800" dirty="0"/>
          </a:p>
        </p:txBody>
      </p:sp>
      <p:sp>
        <p:nvSpPr>
          <p:cNvPr id="274" name="Shape 271"/>
          <p:cNvSpPr/>
          <p:nvPr/>
        </p:nvSpPr>
        <p:spPr>
          <a:xfrm>
            <a:off x="11308080" y="7552094"/>
            <a:ext cx="890016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1308080" y="755209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2198096" y="755209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7" name="Text 274"/>
          <p:cNvSpPr txBox="1"/>
          <p:nvPr/>
        </p:nvSpPr>
        <p:spPr>
          <a:xfrm>
            <a:off x="11478768" y="739664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78" name="Shape 275"/>
          <p:cNvSpPr/>
          <p:nvPr/>
        </p:nvSpPr>
        <p:spPr>
          <a:xfrm>
            <a:off x="11308080" y="7487464"/>
            <a:ext cx="178003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308080" y="748746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3088112" y="748746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1" name="Text 278"/>
          <p:cNvSpPr txBox="1"/>
          <p:nvPr/>
        </p:nvSpPr>
        <p:spPr>
          <a:xfrm>
            <a:off x="11923776" y="733201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82" name="Shape 279"/>
          <p:cNvSpPr/>
          <p:nvPr/>
        </p:nvSpPr>
        <p:spPr>
          <a:xfrm>
            <a:off x="12198096" y="7422834"/>
            <a:ext cx="890016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2198096" y="742283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3088112" y="7422834"/>
            <a:ext cx="0" cy="4572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85" name="Text 282"/>
          <p:cNvSpPr txBox="1"/>
          <p:nvPr/>
        </p:nvSpPr>
        <p:spPr>
          <a:xfrm>
            <a:off x="12368784" y="726738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850" dirty="0"/>
          </a:p>
        </p:txBody>
      </p:sp>
      <p:sp>
        <p:nvSpPr>
          <p:cNvPr id="286" name="Shape 283"/>
          <p:cNvSpPr/>
          <p:nvPr/>
        </p:nvSpPr>
        <p:spPr>
          <a:xfrm>
            <a:off x="10863072" y="9089136"/>
            <a:ext cx="267004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287" name="Text 284"/>
          <p:cNvSpPr txBox="1"/>
          <p:nvPr/>
        </p:nvSpPr>
        <p:spPr>
          <a:xfrm>
            <a:off x="10460736" y="73334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len</a:t>
            </a:r>
            <a:endParaRPr lang="en-US" sz="850" dirty="0"/>
          </a:p>
        </p:txBody>
      </p:sp>
      <p:sp>
        <p:nvSpPr>
          <p:cNvPr id="288" name="Text 285"/>
          <p:cNvSpPr txBox="1"/>
          <p:nvPr/>
        </p:nvSpPr>
        <p:spPr>
          <a:xfrm>
            <a:off x="10863072" y="925372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dose (mg/day)</a:t>
            </a:r>
            <a:endParaRPr lang="en-US" sz="800" dirty="0"/>
          </a:p>
        </p:txBody>
      </p:sp>
      <p:sp>
        <p:nvSpPr>
          <p:cNvPr id="289" name="Shape 286"/>
          <p:cNvSpPr/>
          <p:nvPr/>
        </p:nvSpPr>
        <p:spPr>
          <a:xfrm>
            <a:off x="10479024" y="9509760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90" name="Text 287"/>
          <p:cNvSpPr txBox="1"/>
          <p:nvPr/>
        </p:nvSpPr>
        <p:spPr>
          <a:xfrm>
            <a:off x="10570464" y="957376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WATCH OUT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Paired tests match rows by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order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Add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= "ID"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to match by subject. With the rows of sleep shuffled once: p = 0.12 without it, p = 0.003 with it.</a:t>
            </a:r>
            <a:endParaRPr lang="en-US" sz="950" dirty="0"/>
          </a:p>
        </p:txBody>
      </p:sp>
      <p:sp>
        <p:nvSpPr>
          <p:cNvPr id="291" name="Text 288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rpkgs.datanovia.com/rstatix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rstatix version 1.1.0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4B2C82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Statistical tests with rstatix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Compare groups, find which ones differ, size the effect, then move to factorial designs, counts and correlations.</a:t>
            </a:r>
            <a:endParaRPr lang="en-US" sz="1300" dirty="0"/>
          </a:p>
        </p:txBody>
      </p:sp>
      <p:pic>
        <p:nvPicPr>
          <p:cNvPr id="5" name="Image 0" descr="/home/claude/sheets/rstatix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4" y="182880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 groups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11480" y="219456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22585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 detailed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detailed = TRUE)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884932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8912" y="288493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test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216152" y="2884932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− VC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901952" y="2884932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95% CI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88493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" y="310438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 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216152" y="3104388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3.7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901952" y="3104388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−0.17 to 7.57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063240" y="310438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0.061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1480" y="3323844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8912" y="332384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Wilcoxon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216152" y="332384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901952" y="3323844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−0.10 to 8.50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063240" y="332384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0.064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92708" y="3616452"/>
            <a:ext cx="0" cy="566928"/>
          </a:xfrm>
          <a:prstGeom prst="line">
            <a:avLst/>
          </a:prstGeom>
          <a:noFill/>
          <a:ln w="12700">
            <a:solidFill>
              <a:srgbClr val="D9731E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1054235" y="3762756"/>
            <a:ext cx="1751670" cy="0"/>
          </a:xfrm>
          <a:prstGeom prst="line">
            <a:avLst/>
          </a:prstGeom>
          <a:noFill/>
          <a:ln w="25400">
            <a:solidFill>
              <a:srgbClr val="4B2C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75206" y="3707892"/>
            <a:ext cx="109728" cy="109728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60769" y="36804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 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1070077" y="4000500"/>
            <a:ext cx="1946300" cy="0"/>
          </a:xfrm>
          <a:prstGeom prst="line">
            <a:avLst/>
          </a:prstGeom>
          <a:noFill/>
          <a:ln w="25400">
            <a:solidFill>
              <a:srgbClr val="A48FC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43100" y="3945636"/>
            <a:ext cx="109728" cy="109728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071241" y="39182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48FC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Wilcoxon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55548" y="41650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347972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Both intervals include 0: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clear difference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but the data are compatible with a sizeable one. Report the CI, not just p.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491490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Wilcoxon estimate = Hodges–Lehmann shift, not a difference of medians.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52806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 SIZE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5527548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" y="5591556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601218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= 0.49 · r = 0.24, both small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6377940"/>
            <a:ext cx="513588" cy="219456"/>
          </a:xfrm>
          <a:prstGeom prst="rect">
            <a:avLst/>
          </a:prstGeom>
          <a:solidFill>
            <a:srgbClr val="F1E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6377940"/>
            <a:ext cx="5135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negligible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70788" y="6377940"/>
            <a:ext cx="770382" cy="219456"/>
          </a:xfrm>
          <a:prstGeom prst="rect">
            <a:avLst/>
          </a:prstGeom>
          <a:solidFill>
            <a:srgbClr val="DC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70788" y="6377940"/>
            <a:ext cx="770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small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741170" y="6377940"/>
            <a:ext cx="770382" cy="219456"/>
          </a:xfrm>
          <a:prstGeom prst="rect">
            <a:avLst/>
          </a:prstGeom>
          <a:solidFill>
            <a:srgbClr val="B9A8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741170" y="6377940"/>
            <a:ext cx="7703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moderate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511552" y="6377940"/>
            <a:ext cx="1027176" cy="219456"/>
          </a:xfrm>
          <a:prstGeom prst="rect">
            <a:avLst/>
          </a:prstGeom>
          <a:solidFill>
            <a:srgbClr val="7A5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511552" y="6377940"/>
            <a:ext cx="102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large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833628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604010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2374392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0.8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 flipV="1">
            <a:off x="1651483" y="6259068"/>
            <a:ext cx="128016" cy="100584"/>
          </a:xfrm>
          <a:prstGeom prst="triangle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64408" y="660654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|d|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411480" y="683514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Cohen (1992) labels, added in the magnitude column. Or pass effect.size = TRUE to the test.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" y="72557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PAIRED  (sleep: same 10 people, two drugs)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11480" y="7502652"/>
            <a:ext cx="3172968" cy="749808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84632" y="756666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paired = TRUE, id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detailed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cohens_d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paired = TRUE, id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411480" y="83073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Mean difference −1.58 (−2.46 to −0.70), t(9) = −4.06, p = 0.003;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= −1.28, large.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8764524"/>
            <a:ext cx="3172968" cy="694944"/>
          </a:xfrm>
          <a:prstGeom prst="roundRect">
            <a:avLst>
              <a:gd name="adj" fmla="val 7895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02920" y="8828532"/>
            <a:ext cx="2990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 = "greater"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gives a one-sided test (OJ &gt; VC: p = 0.030). Choose the direction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before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seeing the data, never to rescue a p-value.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61" name="Text 58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Three or more groups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3767328" y="2194560"/>
            <a:ext cx="1449324" cy="475488"/>
          </a:xfrm>
          <a:prstGeom prst="roundRect">
            <a:avLst>
              <a:gd name="adj" fmla="val 11538"/>
            </a:avLst>
          </a:prstGeom>
          <a:solidFill>
            <a:srgbClr val="EEE9F7"/>
          </a:solidFill>
          <a:ln w="9525">
            <a:solidFill>
              <a:srgbClr val="4B2C8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767328" y="2231136"/>
            <a:ext cx="1449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OMNIBUS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3767328" y="2414016"/>
            <a:ext cx="1449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Does any group differ?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5490972" y="2194560"/>
            <a:ext cx="1449324" cy="475488"/>
          </a:xfrm>
          <a:prstGeom prst="roundRect">
            <a:avLst>
              <a:gd name="adj" fmla="val 1153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490972" y="2231136"/>
            <a:ext cx="1449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 HOC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490972" y="2414016"/>
            <a:ext cx="14493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Which pairs differ?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5216652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3767328" y="27980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ONE-WAY ANOVA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3767328" y="3044952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840480" y="3108960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3767328" y="3415284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794760" y="3415284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4389120" y="34152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DFn</a:t>
            </a:r>
            <a:endParaRPr lang="en-US" sz="900" dirty="0"/>
          </a:p>
        </p:txBody>
      </p:sp>
      <p:sp>
        <p:nvSpPr>
          <p:cNvPr id="75" name="Text 72"/>
          <p:cNvSpPr txBox="1"/>
          <p:nvPr/>
        </p:nvSpPr>
        <p:spPr>
          <a:xfrm>
            <a:off x="4800600" y="3415284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DFd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5212080" y="341528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endParaRPr lang="en-US" sz="900" dirty="0"/>
          </a:p>
        </p:txBody>
      </p:sp>
      <p:sp>
        <p:nvSpPr>
          <p:cNvPr id="77" name="Text 74"/>
          <p:cNvSpPr txBox="1"/>
          <p:nvPr/>
        </p:nvSpPr>
        <p:spPr>
          <a:xfrm>
            <a:off x="5760720" y="341528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6419088" y="341528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3794760" y="3634740"/>
            <a:ext cx="539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dose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363474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81" name="Text 78"/>
          <p:cNvSpPr txBox="1"/>
          <p:nvPr/>
        </p:nvSpPr>
        <p:spPr>
          <a:xfrm>
            <a:off x="4800600" y="3634740"/>
            <a:ext cx="356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57</a:t>
            </a:r>
            <a:endParaRPr lang="en-US" sz="900" dirty="0"/>
          </a:p>
        </p:txBody>
      </p:sp>
      <p:sp>
        <p:nvSpPr>
          <p:cNvPr id="82" name="Text 79"/>
          <p:cNvSpPr txBox="1"/>
          <p:nvPr/>
        </p:nvSpPr>
        <p:spPr>
          <a:xfrm>
            <a:off x="5212080" y="36347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67.4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5760720" y="363474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84" name="Text 81"/>
          <p:cNvSpPr txBox="1"/>
          <p:nvPr/>
        </p:nvSpPr>
        <p:spPr>
          <a:xfrm>
            <a:off x="6419088" y="36347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0.70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3767328" y="39090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generalized eta², the share of variance due to dose.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effect.size = "pes"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gives partial eta².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3767328" y="436626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840480" y="44302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tukey_hsd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67328" y="4736592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3794760" y="4736592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4480560" y="47365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difference</a:t>
            </a:r>
            <a:endParaRPr lang="en-US" sz="900" dirty="0"/>
          </a:p>
        </p:txBody>
      </p:sp>
      <p:sp>
        <p:nvSpPr>
          <p:cNvPr id="91" name="Text 88"/>
          <p:cNvSpPr txBox="1"/>
          <p:nvPr/>
        </p:nvSpPr>
        <p:spPr>
          <a:xfrm>
            <a:off x="5212080" y="4736592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95% CI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473659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p.adj</a:t>
            </a:r>
            <a:endParaRPr lang="en-US" sz="900" dirty="0"/>
          </a:p>
        </p:txBody>
      </p:sp>
      <p:sp>
        <p:nvSpPr>
          <p:cNvPr id="93" name="Text 90"/>
          <p:cNvSpPr txBox="1"/>
          <p:nvPr/>
        </p:nvSpPr>
        <p:spPr>
          <a:xfrm>
            <a:off x="3794760" y="4956048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1 − 0.5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4480560" y="4956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9.1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5212080" y="495604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5.9 to 12.4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6190488" y="495604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3767328" y="5175504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3794760" y="517550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2 − 0.5</a:t>
            </a:r>
            <a:endParaRPr lang="en-US" sz="900" dirty="0"/>
          </a:p>
        </p:txBody>
      </p:sp>
      <p:sp>
        <p:nvSpPr>
          <p:cNvPr id="99" name="Text 96"/>
          <p:cNvSpPr txBox="1"/>
          <p:nvPr/>
        </p:nvSpPr>
        <p:spPr>
          <a:xfrm>
            <a:off x="4480560" y="517550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15.5</a:t>
            </a:r>
            <a:endParaRPr lang="en-US" sz="900" dirty="0"/>
          </a:p>
        </p:txBody>
      </p:sp>
      <p:sp>
        <p:nvSpPr>
          <p:cNvPr id="100" name="Text 97"/>
          <p:cNvSpPr txBox="1"/>
          <p:nvPr/>
        </p:nvSpPr>
        <p:spPr>
          <a:xfrm>
            <a:off x="5212080" y="5175504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12.3 to 18.7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6190488" y="517550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02" name="Text 99"/>
          <p:cNvSpPr txBox="1"/>
          <p:nvPr/>
        </p:nvSpPr>
        <p:spPr>
          <a:xfrm>
            <a:off x="3794760" y="539496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2 − 1</a:t>
            </a:r>
            <a:endParaRPr lang="en-US" sz="900" dirty="0"/>
          </a:p>
        </p:txBody>
      </p:sp>
      <p:sp>
        <p:nvSpPr>
          <p:cNvPr id="103" name="Text 100"/>
          <p:cNvSpPr txBox="1"/>
          <p:nvPr/>
        </p:nvSpPr>
        <p:spPr>
          <a:xfrm>
            <a:off x="4480560" y="539496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6.4</a:t>
            </a:r>
            <a:endParaRPr lang="en-US" sz="900" dirty="0"/>
          </a:p>
        </p:txBody>
      </p:sp>
      <p:sp>
        <p:nvSpPr>
          <p:cNvPr id="104" name="Text 101"/>
          <p:cNvSpPr txBox="1"/>
          <p:nvPr/>
        </p:nvSpPr>
        <p:spPr>
          <a:xfrm>
            <a:off x="5212080" y="5394960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3.1 to 9.6</a:t>
            </a:r>
            <a:endParaRPr lang="en-US" sz="900" dirty="0"/>
          </a:p>
        </p:txBody>
      </p:sp>
      <p:sp>
        <p:nvSpPr>
          <p:cNvPr id="105" name="Text 102"/>
          <p:cNvSpPr txBox="1"/>
          <p:nvPr/>
        </p:nvSpPr>
        <p:spPr>
          <a:xfrm>
            <a:off x="6190488" y="539496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06" name="Text 103"/>
          <p:cNvSpPr txBox="1"/>
          <p:nvPr/>
        </p:nvSpPr>
        <p:spPr>
          <a:xfrm>
            <a:off x="3767328" y="566928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Each extra 0.5 → 1 → 2 mg/day adds length.</a:t>
            </a:r>
            <a:endParaRPr lang="en-US" sz="900" dirty="0"/>
          </a:p>
        </p:txBody>
      </p:sp>
      <p:sp>
        <p:nvSpPr>
          <p:cNvPr id="107" name="Text 104"/>
          <p:cNvSpPr txBox="1"/>
          <p:nvPr/>
        </p:nvSpPr>
        <p:spPr>
          <a:xfrm>
            <a:off x="3767328" y="59801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UNEQUAL VARIANCES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767328" y="6227064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3840480" y="629107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welch_anova_test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games_howell_test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</p:txBody>
      </p:sp>
      <p:sp>
        <p:nvSpPr>
          <p:cNvPr id="110" name="Text 107"/>
          <p:cNvSpPr txBox="1"/>
          <p:nvPr/>
        </p:nvSpPr>
        <p:spPr>
          <a:xfrm>
            <a:off x="3767328" y="67116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Welch F(2, 37.7) = 68.4, then Games–Howell pairs.</a:t>
            </a:r>
            <a:endParaRPr lang="en-US" sz="900" dirty="0"/>
          </a:p>
        </p:txBody>
      </p:sp>
      <p:sp>
        <p:nvSpPr>
          <p:cNvPr id="111" name="Text 108"/>
          <p:cNvSpPr txBox="1"/>
          <p:nvPr/>
        </p:nvSpPr>
        <p:spPr>
          <a:xfrm>
            <a:off x="3767328" y="700430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RANK-BASED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767328" y="7251192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3840480" y="731520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kruskal_effsize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dose)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Holm</a:t>
            </a:r>
            <a:endParaRPr lang="en-US" sz="1100" dirty="0"/>
          </a:p>
        </p:txBody>
      </p:sp>
      <p:sp>
        <p:nvSpPr>
          <p:cNvPr id="114" name="Text 111"/>
          <p:cNvSpPr txBox="1"/>
          <p:nvPr/>
        </p:nvSpPr>
        <p:spPr>
          <a:xfrm>
            <a:off x="3767328" y="788670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H(2) = 40.7, p &lt; 0.001; eta²[H] = 0.68, large.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3767328" y="8124444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16" name="Text 113"/>
          <p:cNvSpPr txBox="1"/>
          <p:nvPr/>
        </p:nvSpPr>
        <p:spPr>
          <a:xfrm>
            <a:off x="3794760" y="8124444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pair</a:t>
            </a:r>
            <a:endParaRPr lang="en-US" sz="900" dirty="0"/>
          </a:p>
        </p:txBody>
      </p:sp>
      <p:sp>
        <p:nvSpPr>
          <p:cNvPr id="117" name="Text 114"/>
          <p:cNvSpPr txBox="1"/>
          <p:nvPr/>
        </p:nvSpPr>
        <p:spPr>
          <a:xfrm>
            <a:off x="4480560" y="81244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 vs 1</a:t>
            </a:r>
            <a:endParaRPr lang="en-US" sz="900" dirty="0"/>
          </a:p>
        </p:txBody>
      </p:sp>
      <p:sp>
        <p:nvSpPr>
          <p:cNvPr id="118" name="Text 115"/>
          <p:cNvSpPr txBox="1"/>
          <p:nvPr/>
        </p:nvSpPr>
        <p:spPr>
          <a:xfrm>
            <a:off x="5303520" y="812444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 vs 2</a:t>
            </a:r>
            <a:endParaRPr lang="en-US" sz="900" dirty="0"/>
          </a:p>
        </p:txBody>
      </p:sp>
      <p:sp>
        <p:nvSpPr>
          <p:cNvPr id="119" name="Text 116"/>
          <p:cNvSpPr txBox="1"/>
          <p:nvPr/>
        </p:nvSpPr>
        <p:spPr>
          <a:xfrm>
            <a:off x="6144768" y="81244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vs 2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3794760" y="834390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p.adj</a:t>
            </a:r>
            <a:endParaRPr lang="en-US" sz="900" dirty="0"/>
          </a:p>
        </p:txBody>
      </p:sp>
      <p:sp>
        <p:nvSpPr>
          <p:cNvPr id="121" name="Text 118"/>
          <p:cNvSpPr txBox="1"/>
          <p:nvPr/>
        </p:nvSpPr>
        <p:spPr>
          <a:xfrm>
            <a:off x="4480560" y="83439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0.0008</a:t>
            </a:r>
            <a:endParaRPr lang="en-US" sz="900" dirty="0"/>
          </a:p>
        </p:txBody>
      </p:sp>
      <p:sp>
        <p:nvSpPr>
          <p:cNvPr id="122" name="Text 119"/>
          <p:cNvSpPr txBox="1"/>
          <p:nvPr/>
        </p:nvSpPr>
        <p:spPr>
          <a:xfrm>
            <a:off x="5303520" y="83439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0.0001</a:t>
            </a:r>
            <a:endParaRPr lang="en-US" sz="900" dirty="0"/>
          </a:p>
        </p:txBody>
      </p:sp>
      <p:sp>
        <p:nvSpPr>
          <p:cNvPr id="123" name="Text 120"/>
          <p:cNvSpPr txBox="1"/>
          <p:nvPr/>
        </p:nvSpPr>
        <p:spPr>
          <a:xfrm>
            <a:off x="6144768" y="83439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0.005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3767328" y="8563356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25" name="Text 122"/>
          <p:cNvSpPr txBox="1"/>
          <p:nvPr/>
        </p:nvSpPr>
        <p:spPr>
          <a:xfrm>
            <a:off x="3794760" y="8563356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signif</a:t>
            </a:r>
            <a:endParaRPr lang="en-US" sz="900" dirty="0"/>
          </a:p>
        </p:txBody>
      </p:sp>
      <p:sp>
        <p:nvSpPr>
          <p:cNvPr id="126" name="Text 123"/>
          <p:cNvSpPr txBox="1"/>
          <p:nvPr/>
        </p:nvSpPr>
        <p:spPr>
          <a:xfrm>
            <a:off x="4480560" y="85633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</a:t>
            </a:r>
            <a:endParaRPr lang="en-US" sz="900" dirty="0"/>
          </a:p>
        </p:txBody>
      </p:sp>
      <p:sp>
        <p:nvSpPr>
          <p:cNvPr id="127" name="Text 124"/>
          <p:cNvSpPr txBox="1"/>
          <p:nvPr/>
        </p:nvSpPr>
        <p:spPr>
          <a:xfrm>
            <a:off x="5303520" y="856335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****</a:t>
            </a:r>
            <a:endParaRPr lang="en-US" sz="900" dirty="0"/>
          </a:p>
        </p:txBody>
      </p:sp>
      <p:sp>
        <p:nvSpPr>
          <p:cNvPr id="128" name="Text 125"/>
          <p:cNvSpPr txBox="1"/>
          <p:nvPr/>
        </p:nvSpPr>
        <p:spPr>
          <a:xfrm>
            <a:off x="6144768" y="856335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**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3767328" y="8910828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3858768" y="89748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 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pairwise_t_test(pool.sd = TRUE)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pools the SD of all groups, as the ANOVA does.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32" name="Text 129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133" name="Text 130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Factorial &amp; repeated</a:t>
            </a:r>
            <a:endParaRPr lang="en-US" sz="2000" dirty="0"/>
          </a:p>
        </p:txBody>
      </p:sp>
      <p:sp>
        <p:nvSpPr>
          <p:cNvPr id="134" name="Text 131"/>
          <p:cNvSpPr txBox="1"/>
          <p:nvPr/>
        </p:nvSpPr>
        <p:spPr>
          <a:xfrm>
            <a:off x="7123176" y="21945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TWO-WAY ANOVA</a:t>
            </a:r>
            <a:endParaRPr lang="en-US" sz="1000" dirty="0"/>
          </a:p>
        </p:txBody>
      </p:sp>
      <p:sp>
        <p:nvSpPr>
          <p:cNvPr id="135" name="Shape 132"/>
          <p:cNvSpPr/>
          <p:nvPr/>
        </p:nvSpPr>
        <p:spPr>
          <a:xfrm>
            <a:off x="7123176" y="2441448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7196328" y="250545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 * dose)</a:t>
            </a:r>
            <a:endParaRPr lang="en-US" sz="1100" dirty="0"/>
          </a:p>
        </p:txBody>
      </p:sp>
      <p:sp>
        <p:nvSpPr>
          <p:cNvPr id="137" name="Shape 134"/>
          <p:cNvSpPr/>
          <p:nvPr/>
        </p:nvSpPr>
        <p:spPr>
          <a:xfrm>
            <a:off x="7123176" y="2811780"/>
            <a:ext cx="3172968" cy="219456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7150608" y="2811780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</a:t>
            </a:r>
            <a:endParaRPr lang="en-US" sz="900" dirty="0"/>
          </a:p>
        </p:txBody>
      </p:sp>
      <p:sp>
        <p:nvSpPr>
          <p:cNvPr id="139" name="Text 136"/>
          <p:cNvSpPr txBox="1"/>
          <p:nvPr/>
        </p:nvSpPr>
        <p:spPr>
          <a:xfrm>
            <a:off x="7927848" y="28117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DFn</a:t>
            </a:r>
            <a:endParaRPr lang="en-US" sz="900" dirty="0"/>
          </a:p>
        </p:txBody>
      </p:sp>
      <p:sp>
        <p:nvSpPr>
          <p:cNvPr id="140" name="Text 137"/>
          <p:cNvSpPr txBox="1"/>
          <p:nvPr/>
        </p:nvSpPr>
        <p:spPr>
          <a:xfrm>
            <a:off x="8311896" y="281178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DFd</a:t>
            </a:r>
            <a:endParaRPr lang="en-US" sz="900" dirty="0"/>
          </a:p>
        </p:txBody>
      </p:sp>
      <p:sp>
        <p:nvSpPr>
          <p:cNvPr id="141" name="Text 138"/>
          <p:cNvSpPr txBox="1"/>
          <p:nvPr/>
        </p:nvSpPr>
        <p:spPr>
          <a:xfrm>
            <a:off x="8695944" y="2811780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</a:t>
            </a:r>
            <a:endParaRPr lang="en-US" sz="900" dirty="0"/>
          </a:p>
        </p:txBody>
      </p:sp>
      <p:sp>
        <p:nvSpPr>
          <p:cNvPr id="142" name="Text 139"/>
          <p:cNvSpPr txBox="1"/>
          <p:nvPr/>
        </p:nvSpPr>
        <p:spPr>
          <a:xfrm>
            <a:off x="9198864" y="28117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</a:t>
            </a:r>
            <a:endParaRPr lang="en-US" sz="900" dirty="0"/>
          </a:p>
        </p:txBody>
      </p:sp>
      <p:sp>
        <p:nvSpPr>
          <p:cNvPr id="143" name="Text 140"/>
          <p:cNvSpPr txBox="1"/>
          <p:nvPr/>
        </p:nvSpPr>
        <p:spPr>
          <a:xfrm>
            <a:off x="9838944" y="2811780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ges</a:t>
            </a:r>
            <a:endParaRPr lang="en-US" sz="900" dirty="0"/>
          </a:p>
        </p:txBody>
      </p:sp>
      <p:sp>
        <p:nvSpPr>
          <p:cNvPr id="144" name="Text 141"/>
          <p:cNvSpPr txBox="1"/>
          <p:nvPr/>
        </p:nvSpPr>
        <p:spPr>
          <a:xfrm>
            <a:off x="7150608" y="3031236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</a:t>
            </a:r>
            <a:endParaRPr lang="en-US" sz="900" dirty="0"/>
          </a:p>
        </p:txBody>
      </p:sp>
      <p:sp>
        <p:nvSpPr>
          <p:cNvPr id="145" name="Text 142"/>
          <p:cNvSpPr txBox="1"/>
          <p:nvPr/>
        </p:nvSpPr>
        <p:spPr>
          <a:xfrm>
            <a:off x="7927848" y="30312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900" dirty="0"/>
          </a:p>
        </p:txBody>
      </p:sp>
      <p:sp>
        <p:nvSpPr>
          <p:cNvPr id="146" name="Text 143"/>
          <p:cNvSpPr txBox="1"/>
          <p:nvPr/>
        </p:nvSpPr>
        <p:spPr>
          <a:xfrm>
            <a:off x="8311896" y="303123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47" name="Text 144"/>
          <p:cNvSpPr txBox="1"/>
          <p:nvPr/>
        </p:nvSpPr>
        <p:spPr>
          <a:xfrm>
            <a:off x="8695944" y="30312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15.6</a:t>
            </a:r>
            <a:endParaRPr lang="en-US" sz="900" dirty="0"/>
          </a:p>
        </p:txBody>
      </p:sp>
      <p:sp>
        <p:nvSpPr>
          <p:cNvPr id="148" name="Text 145"/>
          <p:cNvSpPr txBox="1"/>
          <p:nvPr/>
        </p:nvSpPr>
        <p:spPr>
          <a:xfrm>
            <a:off x="9198864" y="303123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149" name="Text 146"/>
          <p:cNvSpPr txBox="1"/>
          <p:nvPr/>
        </p:nvSpPr>
        <p:spPr>
          <a:xfrm>
            <a:off x="9838944" y="3031236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0.22</a:t>
            </a:r>
            <a:endParaRPr lang="en-US" sz="900" dirty="0"/>
          </a:p>
        </p:txBody>
      </p:sp>
      <p:sp>
        <p:nvSpPr>
          <p:cNvPr id="150" name="Shape 147"/>
          <p:cNvSpPr/>
          <p:nvPr/>
        </p:nvSpPr>
        <p:spPr>
          <a:xfrm>
            <a:off x="7123176" y="3250692"/>
            <a:ext cx="3172968" cy="219456"/>
          </a:xfrm>
          <a:prstGeom prst="rect">
            <a:avLst/>
          </a:prstGeom>
          <a:solidFill>
            <a:srgbClr val="F7F5FB"/>
          </a:solidFill>
          <a:ln w="12700">
            <a:solidFill>
              <a:srgbClr val="F7F5FB"/>
            </a:solidFill>
            <a:prstDash val="solid"/>
          </a:ln>
        </p:spPr>
      </p:sp>
      <p:sp>
        <p:nvSpPr>
          <p:cNvPr id="151" name="Text 148"/>
          <p:cNvSpPr txBox="1"/>
          <p:nvPr/>
        </p:nvSpPr>
        <p:spPr>
          <a:xfrm>
            <a:off x="7150608" y="325069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dose</a:t>
            </a:r>
            <a:endParaRPr lang="en-US" sz="900" dirty="0"/>
          </a:p>
        </p:txBody>
      </p:sp>
      <p:sp>
        <p:nvSpPr>
          <p:cNvPr id="152" name="Text 149"/>
          <p:cNvSpPr txBox="1"/>
          <p:nvPr/>
        </p:nvSpPr>
        <p:spPr>
          <a:xfrm>
            <a:off x="7927848" y="32506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53" name="Text 150"/>
          <p:cNvSpPr txBox="1"/>
          <p:nvPr/>
        </p:nvSpPr>
        <p:spPr>
          <a:xfrm>
            <a:off x="8311896" y="325069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54" name="Text 151"/>
          <p:cNvSpPr txBox="1"/>
          <p:nvPr/>
        </p:nvSpPr>
        <p:spPr>
          <a:xfrm>
            <a:off x="8695944" y="325069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92.0</a:t>
            </a:r>
            <a:endParaRPr lang="en-US" sz="900" dirty="0"/>
          </a:p>
        </p:txBody>
      </p:sp>
      <p:sp>
        <p:nvSpPr>
          <p:cNvPr id="155" name="Text 152"/>
          <p:cNvSpPr txBox="1"/>
          <p:nvPr/>
        </p:nvSpPr>
        <p:spPr>
          <a:xfrm>
            <a:off x="9198864" y="325069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 0.001</a:t>
            </a:r>
            <a:endParaRPr lang="en-US" sz="900" dirty="0"/>
          </a:p>
        </p:txBody>
      </p:sp>
      <p:sp>
        <p:nvSpPr>
          <p:cNvPr id="156" name="Text 153"/>
          <p:cNvSpPr txBox="1"/>
          <p:nvPr/>
        </p:nvSpPr>
        <p:spPr>
          <a:xfrm>
            <a:off x="9838944" y="3250692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900" dirty="0"/>
          </a:p>
        </p:txBody>
      </p:sp>
      <p:sp>
        <p:nvSpPr>
          <p:cNvPr id="157" name="Text 154"/>
          <p:cNvSpPr txBox="1"/>
          <p:nvPr/>
        </p:nvSpPr>
        <p:spPr>
          <a:xfrm>
            <a:off x="7150608" y="3470148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supp:dose</a:t>
            </a:r>
            <a:endParaRPr lang="en-US" sz="900" dirty="0"/>
          </a:p>
        </p:txBody>
      </p:sp>
      <p:sp>
        <p:nvSpPr>
          <p:cNvPr id="158" name="Text 155"/>
          <p:cNvSpPr txBox="1"/>
          <p:nvPr/>
        </p:nvSpPr>
        <p:spPr>
          <a:xfrm>
            <a:off x="7927848" y="34701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8311896" y="347014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8695944" y="347014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4.1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9198864" y="347014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0.022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9838944" y="3470148"/>
            <a:ext cx="429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7123176" y="37444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Type II sums of squares by default; type = 3 for type III.</a:t>
            </a:r>
            <a:endParaRPr lang="en-US" sz="900" dirty="0"/>
          </a:p>
        </p:txBody>
      </p:sp>
      <p:sp>
        <p:nvSpPr>
          <p:cNvPr id="164" name="Shape 161"/>
          <p:cNvSpPr/>
          <p:nvPr/>
        </p:nvSpPr>
        <p:spPr>
          <a:xfrm>
            <a:off x="7488936" y="5116068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7178040" y="50337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00" dirty="0"/>
          </a:p>
        </p:txBody>
      </p:sp>
      <p:sp>
        <p:nvSpPr>
          <p:cNvPr id="166" name="Shape 163"/>
          <p:cNvSpPr/>
          <p:nvPr/>
        </p:nvSpPr>
        <p:spPr>
          <a:xfrm>
            <a:off x="7488936" y="4695444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7" name="Text 164"/>
          <p:cNvSpPr txBox="1"/>
          <p:nvPr/>
        </p:nvSpPr>
        <p:spPr>
          <a:xfrm>
            <a:off x="7178040" y="46131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</a:t>
            </a:r>
            <a:endParaRPr lang="en-US" sz="800" dirty="0"/>
          </a:p>
        </p:txBody>
      </p:sp>
      <p:sp>
        <p:nvSpPr>
          <p:cNvPr id="168" name="Shape 165"/>
          <p:cNvSpPr/>
          <p:nvPr/>
        </p:nvSpPr>
        <p:spPr>
          <a:xfrm>
            <a:off x="7488936" y="4274820"/>
            <a:ext cx="2121408" cy="0"/>
          </a:xfrm>
          <a:prstGeom prst="line">
            <a:avLst/>
          </a:prstGeom>
          <a:noFill/>
          <a:ln w="6350">
            <a:solidFill>
              <a:srgbClr val="ECE8F3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7178040" y="41925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</a:t>
            </a:r>
            <a:endParaRPr lang="en-US" sz="800" dirty="0"/>
          </a:p>
        </p:txBody>
      </p:sp>
      <p:sp>
        <p:nvSpPr>
          <p:cNvPr id="170" name="Shape 167"/>
          <p:cNvSpPr/>
          <p:nvPr/>
        </p:nvSpPr>
        <p:spPr>
          <a:xfrm>
            <a:off x="7488936" y="4064508"/>
            <a:ext cx="2121408" cy="1051560"/>
          </a:xfrm>
          <a:custGeom>
            <a:avLst/>
            <a:gdLst/>
            <a:ahLst/>
            <a:cxnLst/>
            <a:rect l="l" t="t" r="r" b="b"/>
            <a:pathLst>
              <a:path w="2121408" h="1051560">
                <a:moveTo>
                  <a:pt x="137160" y="706648"/>
                </a:moveTo>
                <a:lnTo>
                  <a:pt x="1060704" y="307056"/>
                </a:lnTo>
                <a:lnTo>
                  <a:pt x="1984248" y="164043"/>
                </a:lnTo>
              </a:path>
            </a:pathLst>
          </a:custGeom>
          <a:ln w="25400">
            <a:solidFill>
              <a:srgbClr val="4B2C82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7580376" y="4725436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8503920" y="4325844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9427464" y="4182831"/>
            <a:ext cx="91440" cy="91440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7488936" y="4064508"/>
            <a:ext cx="2121408" cy="1051560"/>
          </a:xfrm>
          <a:custGeom>
            <a:avLst/>
            <a:gdLst/>
            <a:ahLst/>
            <a:cxnLst/>
            <a:rect l="l" t="t" r="r" b="b"/>
            <a:pathLst>
              <a:path w="2121408" h="1051560">
                <a:moveTo>
                  <a:pt x="137160" y="925373"/>
                </a:moveTo>
                <a:lnTo>
                  <a:pt x="1060704" y="555224"/>
                </a:lnTo>
                <a:lnTo>
                  <a:pt x="1984248" y="164043"/>
                </a:lnTo>
              </a:path>
            </a:pathLst>
          </a:custGeom>
          <a:ln w="25400">
            <a:solidFill>
              <a:srgbClr val="A48FCF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7580376" y="4944161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8503920" y="4574012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9427464" y="4182831"/>
            <a:ext cx="91440" cy="91440"/>
          </a:xfrm>
          <a:prstGeom prst="ellipse">
            <a:avLst/>
          </a:prstGeom>
          <a:solidFill>
            <a:srgbClr val="A48FCF"/>
          </a:solidFill>
          <a:ln w="12700">
            <a:solidFill>
              <a:srgbClr val="A48FCF"/>
            </a:solidFill>
            <a:prstDash val="solid"/>
          </a:ln>
        </p:spPr>
      </p:sp>
      <p:sp>
        <p:nvSpPr>
          <p:cNvPr id="178" name="Text 175"/>
          <p:cNvSpPr txBox="1"/>
          <p:nvPr/>
        </p:nvSpPr>
        <p:spPr>
          <a:xfrm>
            <a:off x="9683496" y="43388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48FC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VC</a:t>
            </a:r>
            <a:endParaRPr lang="en-US" sz="900" dirty="0"/>
          </a:p>
        </p:txBody>
      </p:sp>
      <p:sp>
        <p:nvSpPr>
          <p:cNvPr id="179" name="Text 176"/>
          <p:cNvSpPr txBox="1"/>
          <p:nvPr/>
        </p:nvSpPr>
        <p:spPr>
          <a:xfrm>
            <a:off x="8513064" y="400141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lines converge at 2 mg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7488936" y="5116068"/>
            <a:ext cx="212140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7443216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00" dirty="0"/>
          </a:p>
        </p:txBody>
      </p:sp>
      <p:sp>
        <p:nvSpPr>
          <p:cNvPr id="182" name="Text 179"/>
          <p:cNvSpPr txBox="1"/>
          <p:nvPr/>
        </p:nvSpPr>
        <p:spPr>
          <a:xfrm>
            <a:off x="8366760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00" dirty="0"/>
          </a:p>
        </p:txBody>
      </p:sp>
      <p:sp>
        <p:nvSpPr>
          <p:cNvPr id="183" name="Text 180"/>
          <p:cNvSpPr txBox="1"/>
          <p:nvPr/>
        </p:nvSpPr>
        <p:spPr>
          <a:xfrm>
            <a:off x="9290304" y="513435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00" dirty="0"/>
          </a:p>
        </p:txBody>
      </p:sp>
      <p:sp>
        <p:nvSpPr>
          <p:cNvPr id="184" name="Text 181"/>
          <p:cNvSpPr txBox="1"/>
          <p:nvPr/>
        </p:nvSpPr>
        <p:spPr>
          <a:xfrm>
            <a:off x="7104888" y="389991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mean len</a:t>
            </a:r>
            <a:endParaRPr lang="en-US" sz="800" dirty="0"/>
          </a:p>
        </p:txBody>
      </p:sp>
      <p:sp>
        <p:nvSpPr>
          <p:cNvPr id="185" name="Text 182"/>
          <p:cNvSpPr txBox="1"/>
          <p:nvPr/>
        </p:nvSpPr>
        <p:spPr>
          <a:xfrm>
            <a:off x="7123176" y="53538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INTERACTION? TEST SIMPLE EFFECTS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7123176" y="5600700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7" name="Text 184"/>
          <p:cNvSpPr txBox="1"/>
          <p:nvPr/>
        </p:nvSpPr>
        <p:spPr>
          <a:xfrm>
            <a:off x="7196328" y="566470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(dose)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emmeans_test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 ~ supp,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p.adjust.method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"bonferroni"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8" name="Text 185"/>
          <p:cNvSpPr txBox="1"/>
          <p:nvPr/>
        </p:nvSpPr>
        <p:spPr>
          <a:xfrm>
            <a:off x="7123176" y="625449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OJ &gt; VC at 0.5 mg (p = 0.002) and 1 mg (p &lt; 0.001),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 at 2 mg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(p = 0.96).</a:t>
            </a:r>
            <a:endParaRPr lang="en-US" sz="950" dirty="0"/>
          </a:p>
        </p:txBody>
      </p:sp>
      <p:sp>
        <p:nvSpPr>
          <p:cNvPr id="189" name="Text 186"/>
          <p:cNvSpPr txBox="1"/>
          <p:nvPr/>
        </p:nvSpPr>
        <p:spPr>
          <a:xfrm>
            <a:off x="7123176" y="67299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REPEATED MEASURES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7123176" y="6976872"/>
            <a:ext cx="3172968" cy="598932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1" name="Text 188"/>
          <p:cNvSpPr txBox="1"/>
          <p:nvPr/>
        </p:nvSpPr>
        <p:spPr>
          <a:xfrm>
            <a:off x="7196328" y="704088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(dv = extra,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 = ID, within = group)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get_anova_table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(res)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F(1, 9) = 16.5</a:t>
            </a:r>
            <a:endParaRPr lang="en-US" sz="1100" dirty="0"/>
          </a:p>
        </p:txBody>
      </p:sp>
      <p:sp>
        <p:nvSpPr>
          <p:cNvPr id="192" name="Text 189"/>
          <p:cNvSpPr txBox="1"/>
          <p:nvPr/>
        </p:nvSpPr>
        <p:spPr>
          <a:xfrm>
            <a:off x="7123176" y="76306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Sphericity: Mauchly test and Greenhouse–Geisser correction applied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automatically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when needed (3+ levels). Mixed design: add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=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Rank-based:</a:t>
            </a:r>
            <a:endParaRPr lang="en-US" sz="950" dirty="0"/>
          </a:p>
        </p:txBody>
      </p:sp>
      <p:sp>
        <p:nvSpPr>
          <p:cNvPr id="193" name="Shape 190"/>
          <p:cNvSpPr/>
          <p:nvPr/>
        </p:nvSpPr>
        <p:spPr>
          <a:xfrm>
            <a:off x="7123176" y="821588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4" name="Text 191"/>
          <p:cNvSpPr txBox="1"/>
          <p:nvPr/>
        </p:nvSpPr>
        <p:spPr>
          <a:xfrm>
            <a:off x="7196328" y="827989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(extra ~ group | ID)</a:t>
            </a:r>
            <a:endParaRPr lang="en-US" sz="1100" dirty="0"/>
          </a:p>
        </p:txBody>
      </p:sp>
      <p:sp>
        <p:nvSpPr>
          <p:cNvPr id="195" name="Text 192"/>
          <p:cNvSpPr txBox="1"/>
          <p:nvPr/>
        </p:nvSpPr>
        <p:spPr>
          <a:xfrm>
            <a:off x="7123176" y="864108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MANY OUTCOMES AT ONCE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7123176" y="8887968"/>
            <a:ext cx="3172968" cy="900684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7196328" y="8951976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%&gt;% tidyr::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pivot_longer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(-Species,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names_to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"measure"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(measure)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 ~ Species)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adjust_pvalue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"holm"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98" name="Text 195"/>
          <p:cNvSpPr txBox="1"/>
          <p:nvPr/>
        </p:nvSpPr>
        <p:spPr>
          <a:xfrm>
            <a:off x="7123176" y="984351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Don't name the column “variable”: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get_summary_stats()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then fails.</a:t>
            </a:r>
            <a:endParaRPr lang="en-US" sz="950" dirty="0"/>
          </a:p>
        </p:txBody>
      </p:sp>
      <p:sp>
        <p:nvSpPr>
          <p:cNvPr id="199" name="Shape 196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00" name="Text 197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201" name="Text 198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Counts &amp; correlation</a:t>
            </a:r>
            <a:endParaRPr lang="en-US" sz="2000" dirty="0"/>
          </a:p>
        </p:txBody>
      </p:sp>
      <p:sp>
        <p:nvSpPr>
          <p:cNvPr id="202" name="Shape 199"/>
          <p:cNvSpPr/>
          <p:nvPr/>
        </p:nvSpPr>
        <p:spPr>
          <a:xfrm>
            <a:off x="10479024" y="2194560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3" name="Text 200"/>
          <p:cNvSpPr txBox="1"/>
          <p:nvPr/>
        </p:nvSpPr>
        <p:spPr>
          <a:xfrm>
            <a:off x="10552176" y="225856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 &lt;- MASS::birthwt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xtabs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(~ smoke + low, data = bw)</a:t>
            </a:r>
            <a:endParaRPr lang="en-US" sz="1100" dirty="0"/>
          </a:p>
        </p:txBody>
      </p:sp>
      <p:sp>
        <p:nvSpPr>
          <p:cNvPr id="204" name="Text 201"/>
          <p:cNvSpPr txBox="1"/>
          <p:nvPr/>
        </p:nvSpPr>
        <p:spPr>
          <a:xfrm>
            <a:off x="11301984" y="27340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low birth weight</a:t>
            </a:r>
            <a:endParaRPr lang="en-US" sz="850" dirty="0"/>
          </a:p>
        </p:txBody>
      </p:sp>
      <p:sp>
        <p:nvSpPr>
          <p:cNvPr id="205" name="Shape 202"/>
          <p:cNvSpPr/>
          <p:nvPr/>
        </p:nvSpPr>
        <p:spPr>
          <a:xfrm>
            <a:off x="11301984" y="2916936"/>
            <a:ext cx="822960" cy="246888"/>
          </a:xfrm>
          <a:prstGeom prst="rect">
            <a:avLst/>
          </a:prstGeom>
          <a:solidFill>
            <a:srgbClr val="4B2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6" name="Text 203"/>
          <p:cNvSpPr txBox="1"/>
          <p:nvPr/>
        </p:nvSpPr>
        <p:spPr>
          <a:xfrm>
            <a:off x="11301984" y="2916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</a:t>
            </a:r>
            <a:endParaRPr lang="en-US" sz="900" dirty="0"/>
          </a:p>
        </p:txBody>
      </p:sp>
      <p:sp>
        <p:nvSpPr>
          <p:cNvPr id="207" name="Shape 204"/>
          <p:cNvSpPr/>
          <p:nvPr/>
        </p:nvSpPr>
        <p:spPr>
          <a:xfrm>
            <a:off x="12124944" y="2916936"/>
            <a:ext cx="822960" cy="246888"/>
          </a:xfrm>
          <a:prstGeom prst="rect">
            <a:avLst/>
          </a:prstGeom>
          <a:solidFill>
            <a:srgbClr val="4B2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Text 205"/>
          <p:cNvSpPr txBox="1"/>
          <p:nvPr/>
        </p:nvSpPr>
        <p:spPr>
          <a:xfrm>
            <a:off x="12124944" y="29169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yes</a:t>
            </a:r>
            <a:endParaRPr lang="en-US" sz="900" dirty="0"/>
          </a:p>
        </p:txBody>
      </p:sp>
      <p:sp>
        <p:nvSpPr>
          <p:cNvPr id="209" name="Text 206"/>
          <p:cNvSpPr txBox="1"/>
          <p:nvPr/>
        </p:nvSpPr>
        <p:spPr>
          <a:xfrm>
            <a:off x="10479024" y="316382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non-smoker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11301984" y="3163824"/>
            <a:ext cx="822960" cy="246888"/>
          </a:xfrm>
          <a:prstGeom prst="rect">
            <a:avLst/>
          </a:prstGeom>
          <a:solidFill>
            <a:srgbClr val="F7F5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1" name="Text 208"/>
          <p:cNvSpPr txBox="1"/>
          <p:nvPr/>
        </p:nvSpPr>
        <p:spPr>
          <a:xfrm>
            <a:off x="11301984" y="3163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86</a:t>
            </a:r>
            <a:endParaRPr lang="en-US" sz="950" dirty="0"/>
          </a:p>
        </p:txBody>
      </p:sp>
      <p:sp>
        <p:nvSpPr>
          <p:cNvPr id="212" name="Shape 209"/>
          <p:cNvSpPr/>
          <p:nvPr/>
        </p:nvSpPr>
        <p:spPr>
          <a:xfrm>
            <a:off x="12124944" y="3163824"/>
            <a:ext cx="822960" cy="246888"/>
          </a:xfrm>
          <a:prstGeom prst="rect">
            <a:avLst/>
          </a:prstGeom>
          <a:solidFill>
            <a:srgbClr val="FC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3" name="Text 210"/>
          <p:cNvSpPr txBox="1"/>
          <p:nvPr/>
        </p:nvSpPr>
        <p:spPr>
          <a:xfrm>
            <a:off x="12124944" y="31638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</a:t>
            </a:r>
            <a:endParaRPr lang="en-US" sz="950" dirty="0"/>
          </a:p>
        </p:txBody>
      </p:sp>
      <p:sp>
        <p:nvSpPr>
          <p:cNvPr id="214" name="Text 211"/>
          <p:cNvSpPr txBox="1"/>
          <p:nvPr/>
        </p:nvSpPr>
        <p:spPr>
          <a:xfrm>
            <a:off x="12993624" y="3163824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25.2%</a:t>
            </a:r>
            <a:endParaRPr lang="en-US" sz="950" dirty="0"/>
          </a:p>
        </p:txBody>
      </p:sp>
      <p:sp>
        <p:nvSpPr>
          <p:cNvPr id="215" name="Text 212"/>
          <p:cNvSpPr txBox="1"/>
          <p:nvPr/>
        </p:nvSpPr>
        <p:spPr>
          <a:xfrm>
            <a:off x="10479024" y="34107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smoker</a:t>
            </a:r>
            <a:endParaRPr lang="en-US" sz="900" dirty="0"/>
          </a:p>
        </p:txBody>
      </p:sp>
      <p:sp>
        <p:nvSpPr>
          <p:cNvPr id="216" name="Shape 213"/>
          <p:cNvSpPr/>
          <p:nvPr/>
        </p:nvSpPr>
        <p:spPr>
          <a:xfrm>
            <a:off x="11301984" y="3410712"/>
            <a:ext cx="822960" cy="246888"/>
          </a:xfrm>
          <a:prstGeom prst="rect">
            <a:avLst/>
          </a:prstGeom>
          <a:solidFill>
            <a:srgbClr val="F7F5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7" name="Text 214"/>
          <p:cNvSpPr txBox="1"/>
          <p:nvPr/>
        </p:nvSpPr>
        <p:spPr>
          <a:xfrm>
            <a:off x="11301984" y="3410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44</a:t>
            </a:r>
            <a:endParaRPr lang="en-US" sz="950" dirty="0"/>
          </a:p>
        </p:txBody>
      </p:sp>
      <p:sp>
        <p:nvSpPr>
          <p:cNvPr id="218" name="Shape 215"/>
          <p:cNvSpPr/>
          <p:nvPr/>
        </p:nvSpPr>
        <p:spPr>
          <a:xfrm>
            <a:off x="12124944" y="3410712"/>
            <a:ext cx="822960" cy="246888"/>
          </a:xfrm>
          <a:prstGeom prst="rect">
            <a:avLst/>
          </a:prstGeom>
          <a:solidFill>
            <a:srgbClr val="FCEE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9" name="Text 216"/>
          <p:cNvSpPr txBox="1"/>
          <p:nvPr/>
        </p:nvSpPr>
        <p:spPr>
          <a:xfrm>
            <a:off x="12124944" y="3410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</a:t>
            </a:r>
            <a:endParaRPr lang="en-US" sz="950" dirty="0"/>
          </a:p>
        </p:txBody>
      </p:sp>
      <p:sp>
        <p:nvSpPr>
          <p:cNvPr id="220" name="Text 217"/>
          <p:cNvSpPr txBox="1"/>
          <p:nvPr/>
        </p:nvSpPr>
        <p:spPr>
          <a:xfrm>
            <a:off x="12993624" y="3410712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40.5%</a:t>
            </a:r>
            <a:endParaRPr lang="en-US" sz="950" dirty="0"/>
          </a:p>
        </p:txBody>
      </p:sp>
      <p:sp>
        <p:nvSpPr>
          <p:cNvPr id="221" name="Text 218"/>
          <p:cNvSpPr txBox="1"/>
          <p:nvPr/>
        </p:nvSpPr>
        <p:spPr>
          <a:xfrm>
            <a:off x="12993624" y="291693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% low</a:t>
            </a:r>
            <a:endParaRPr lang="en-US" sz="850" dirty="0"/>
          </a:p>
        </p:txBody>
      </p:sp>
      <p:sp>
        <p:nvSpPr>
          <p:cNvPr id="222" name="Shape 219"/>
          <p:cNvSpPr/>
          <p:nvPr/>
        </p:nvSpPr>
        <p:spPr>
          <a:xfrm>
            <a:off x="10479024" y="3767328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3" name="Text 220"/>
          <p:cNvSpPr txBox="1"/>
          <p:nvPr/>
        </p:nvSpPr>
        <p:spPr>
          <a:xfrm>
            <a:off x="10552176" y="383133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(xt)</a:t>
            </a:r>
            <a:endParaRPr lang="en-US" sz="1100" dirty="0"/>
          </a:p>
        </p:txBody>
      </p:sp>
      <p:sp>
        <p:nvSpPr>
          <p:cNvPr id="224" name="Text 221"/>
          <p:cNvSpPr txBox="1"/>
          <p:nvPr/>
        </p:nvSpPr>
        <p:spPr>
          <a:xfrm>
            <a:off x="10479024" y="408279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χ²(1) = 4.24, p = 0.040 (Yates-corrected)</a:t>
            </a:r>
            <a:endParaRPr lang="en-US" sz="950" dirty="0"/>
          </a:p>
        </p:txBody>
      </p:sp>
      <p:sp>
        <p:nvSpPr>
          <p:cNvPr id="225" name="Shape 222"/>
          <p:cNvSpPr/>
          <p:nvPr/>
        </p:nvSpPr>
        <p:spPr>
          <a:xfrm>
            <a:off x="10479024" y="432968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6" name="Text 223"/>
          <p:cNvSpPr txBox="1"/>
          <p:nvPr/>
        </p:nvSpPr>
        <p:spPr>
          <a:xfrm>
            <a:off x="10552176" y="439369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expected_freq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(chisq_test(xt))</a:t>
            </a:r>
            <a:endParaRPr lang="en-US" sz="1100" dirty="0"/>
          </a:p>
        </p:txBody>
      </p:sp>
      <p:sp>
        <p:nvSpPr>
          <p:cNvPr id="227" name="Text 224"/>
          <p:cNvSpPr txBox="1"/>
          <p:nvPr/>
        </p:nvSpPr>
        <p:spPr>
          <a:xfrm>
            <a:off x="10479024" y="464515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all ≥ 23: χ² is valid</a:t>
            </a:r>
            <a:endParaRPr lang="en-US" sz="950" dirty="0"/>
          </a:p>
        </p:txBody>
      </p:sp>
      <p:sp>
        <p:nvSpPr>
          <p:cNvPr id="228" name="Shape 225"/>
          <p:cNvSpPr/>
          <p:nvPr/>
        </p:nvSpPr>
        <p:spPr>
          <a:xfrm>
            <a:off x="10479024" y="4892040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29" name="Text 226"/>
          <p:cNvSpPr txBox="1"/>
          <p:nvPr/>
        </p:nvSpPr>
        <p:spPr>
          <a:xfrm>
            <a:off x="10552176" y="495604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(xt, detailed = TRUE)</a:t>
            </a:r>
            <a:endParaRPr lang="en-US" sz="1100" dirty="0"/>
          </a:p>
        </p:txBody>
      </p:sp>
      <p:sp>
        <p:nvSpPr>
          <p:cNvPr id="230" name="Text 227"/>
          <p:cNvSpPr txBox="1"/>
          <p:nvPr/>
        </p:nvSpPr>
        <p:spPr>
          <a:xfrm>
            <a:off x="10479024" y="520750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2.01 (1.03–3.96), p = 0.036</a:t>
            </a:r>
            <a:endParaRPr lang="en-US" sz="950" dirty="0"/>
          </a:p>
        </p:txBody>
      </p:sp>
      <p:sp>
        <p:nvSpPr>
          <p:cNvPr id="231" name="Shape 228"/>
          <p:cNvSpPr/>
          <p:nvPr/>
        </p:nvSpPr>
        <p:spPr>
          <a:xfrm>
            <a:off x="10479024" y="5454396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32" name="Text 229"/>
          <p:cNvSpPr txBox="1"/>
          <p:nvPr/>
        </p:nvSpPr>
        <p:spPr>
          <a:xfrm>
            <a:off x="10552176" y="5518404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cramer_v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(xt)</a:t>
            </a:r>
            <a:endParaRPr lang="en-US" sz="1100" dirty="0"/>
          </a:p>
        </p:txBody>
      </p:sp>
      <p:sp>
        <p:nvSpPr>
          <p:cNvPr id="233" name="Text 230"/>
          <p:cNvSpPr txBox="1"/>
          <p:nvPr/>
        </p:nvSpPr>
        <p:spPr>
          <a:xfrm>
            <a:off x="10479024" y="576986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0.16</a:t>
            </a:r>
            <a:endParaRPr lang="en-US" sz="950" dirty="0"/>
          </a:p>
        </p:txBody>
      </p:sp>
      <p:sp>
        <p:nvSpPr>
          <p:cNvPr id="234" name="Text 231"/>
          <p:cNvSpPr txBox="1"/>
          <p:nvPr/>
        </p:nvSpPr>
        <p:spPr>
          <a:xfrm>
            <a:off x="10479024" y="601675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Which cells drive it? </a:t>
            </a:r>
            <a:pPr indent="0" marL="0"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chisq_descriptives()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lists standardized residuals (here ±2.22; beyond ±2 stands out).</a:t>
            </a:r>
            <a:endParaRPr lang="en-US" sz="950" dirty="0"/>
          </a:p>
        </p:txBody>
      </p:sp>
      <p:sp>
        <p:nvSpPr>
          <p:cNvPr id="235" name="Text 232"/>
          <p:cNvSpPr txBox="1"/>
          <p:nvPr/>
        </p:nvSpPr>
        <p:spPr>
          <a:xfrm>
            <a:off x="10479024" y="647395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Fisher when expected counts are small (&lt; 5); mcnemar_test() for paired yes/no.</a:t>
            </a:r>
            <a:endParaRPr lang="en-US" sz="900" dirty="0"/>
          </a:p>
        </p:txBody>
      </p:sp>
      <p:sp>
        <p:nvSpPr>
          <p:cNvPr id="236" name="Text 233"/>
          <p:cNvSpPr txBox="1"/>
          <p:nvPr/>
        </p:nvSpPr>
        <p:spPr>
          <a:xfrm>
            <a:off x="10479024" y="689457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237" name="Shape 234"/>
          <p:cNvSpPr/>
          <p:nvPr/>
        </p:nvSpPr>
        <p:spPr>
          <a:xfrm>
            <a:off x="10479024" y="7141464"/>
            <a:ext cx="3172968" cy="297180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38" name="Text 235"/>
          <p:cNvSpPr txBox="1"/>
          <p:nvPr/>
        </p:nvSpPr>
        <p:spPr>
          <a:xfrm>
            <a:off x="10552176" y="7205472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mtcars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cor_test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wt)</a:t>
            </a:r>
            <a:endParaRPr lang="en-US" sz="1100" dirty="0"/>
          </a:p>
        </p:txBody>
      </p:sp>
      <p:sp>
        <p:nvSpPr>
          <p:cNvPr id="239" name="Text 236"/>
          <p:cNvSpPr txBox="1"/>
          <p:nvPr/>
        </p:nvSpPr>
        <p:spPr>
          <a:xfrm>
            <a:off x="10479024" y="74752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 = −0.87 (−0.93 to −0.74), p &lt; 0.001</a:t>
            </a:r>
            <a:pPr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· Spearman ρ = −0.89</a:t>
            </a:r>
            <a:endParaRPr lang="en-US" sz="950" dirty="0"/>
          </a:p>
        </p:txBody>
      </p:sp>
      <p:sp>
        <p:nvSpPr>
          <p:cNvPr id="240" name="Shape 237"/>
          <p:cNvSpPr/>
          <p:nvPr/>
        </p:nvSpPr>
        <p:spPr>
          <a:xfrm>
            <a:off x="10479024" y="7877556"/>
            <a:ext cx="3172968" cy="448056"/>
          </a:xfrm>
          <a:prstGeom prst="rect">
            <a:avLst/>
          </a:prstGeom>
          <a:solidFill>
            <a:srgbClr val="F7F5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41" name="Text 238"/>
          <p:cNvSpPr txBox="1"/>
          <p:nvPr/>
        </p:nvSpPr>
        <p:spPr>
          <a:xfrm>
            <a:off x="10552176" y="794156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mtcars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wt, hp, qsec) %&gt;%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cor_mat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%&gt;%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B2C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cor_mark_significant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242" name="Text 239"/>
          <p:cNvSpPr txBox="1"/>
          <p:nvPr/>
        </p:nvSpPr>
        <p:spPr>
          <a:xfrm>
            <a:off x="10936224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mpg</a:t>
            </a:r>
            <a:endParaRPr lang="en-US" sz="850" dirty="0"/>
          </a:p>
        </p:txBody>
      </p:sp>
      <p:sp>
        <p:nvSpPr>
          <p:cNvPr id="243" name="Text 240"/>
          <p:cNvSpPr txBox="1"/>
          <p:nvPr/>
        </p:nvSpPr>
        <p:spPr>
          <a:xfrm>
            <a:off x="11841480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wt</a:t>
            </a:r>
            <a:endParaRPr lang="en-US" sz="850" dirty="0"/>
          </a:p>
        </p:txBody>
      </p:sp>
      <p:sp>
        <p:nvSpPr>
          <p:cNvPr id="244" name="Text 241"/>
          <p:cNvSpPr txBox="1"/>
          <p:nvPr/>
        </p:nvSpPr>
        <p:spPr>
          <a:xfrm>
            <a:off x="12746736" y="8398764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hp</a:t>
            </a:r>
            <a:endParaRPr lang="en-US" sz="850" dirty="0"/>
          </a:p>
        </p:txBody>
      </p:sp>
      <p:sp>
        <p:nvSpPr>
          <p:cNvPr id="245" name="Text 242"/>
          <p:cNvSpPr txBox="1"/>
          <p:nvPr/>
        </p:nvSpPr>
        <p:spPr>
          <a:xfrm>
            <a:off x="10479024" y="858164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wt</a:t>
            </a:r>
            <a:endParaRPr lang="en-US" sz="850" dirty="0"/>
          </a:p>
        </p:txBody>
      </p:sp>
      <p:sp>
        <p:nvSpPr>
          <p:cNvPr id="246" name="Shape 243"/>
          <p:cNvSpPr/>
          <p:nvPr/>
        </p:nvSpPr>
        <p:spPr>
          <a:xfrm>
            <a:off x="10936224" y="858164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47" name="Text 244"/>
          <p:cNvSpPr txBox="1"/>
          <p:nvPr/>
        </p:nvSpPr>
        <p:spPr>
          <a:xfrm>
            <a:off x="10936224" y="85816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−0.87 ****</a:t>
            </a:r>
            <a:endParaRPr lang="en-US" sz="900" dirty="0"/>
          </a:p>
        </p:txBody>
      </p:sp>
      <p:sp>
        <p:nvSpPr>
          <p:cNvPr id="248" name="Text 245"/>
          <p:cNvSpPr txBox="1"/>
          <p:nvPr/>
        </p:nvSpPr>
        <p:spPr>
          <a:xfrm>
            <a:off x="10479024" y="88559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hp</a:t>
            </a:r>
            <a:endParaRPr lang="en-US" sz="850" dirty="0"/>
          </a:p>
        </p:txBody>
      </p:sp>
      <p:sp>
        <p:nvSpPr>
          <p:cNvPr id="249" name="Shape 246"/>
          <p:cNvSpPr/>
          <p:nvPr/>
        </p:nvSpPr>
        <p:spPr>
          <a:xfrm>
            <a:off x="10936224" y="885596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50" name="Text 247"/>
          <p:cNvSpPr txBox="1"/>
          <p:nvPr/>
        </p:nvSpPr>
        <p:spPr>
          <a:xfrm>
            <a:off x="10936224" y="88559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−0.78 ****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11841480" y="8855964"/>
            <a:ext cx="868680" cy="237744"/>
          </a:xfrm>
          <a:prstGeom prst="rect">
            <a:avLst/>
          </a:prstGeom>
          <a:solidFill>
            <a:srgbClr val="D9731E"/>
          </a:solidFill>
          <a:ln w="12700">
            <a:solidFill>
              <a:srgbClr val="D9731E"/>
            </a:solidFill>
            <a:prstDash val="solid"/>
          </a:ln>
        </p:spPr>
      </p:sp>
      <p:sp>
        <p:nvSpPr>
          <p:cNvPr id="252" name="Text 249"/>
          <p:cNvSpPr txBox="1"/>
          <p:nvPr/>
        </p:nvSpPr>
        <p:spPr>
          <a:xfrm>
            <a:off x="11841480" y="88559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 ****</a:t>
            </a:r>
            <a:endParaRPr lang="en-US" sz="900" dirty="0"/>
          </a:p>
        </p:txBody>
      </p:sp>
      <p:sp>
        <p:nvSpPr>
          <p:cNvPr id="253" name="Text 250"/>
          <p:cNvSpPr txBox="1"/>
          <p:nvPr/>
        </p:nvSpPr>
        <p:spPr>
          <a:xfrm>
            <a:off x="10479024" y="913028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qsec</a:t>
            </a:r>
            <a:endParaRPr lang="en-US" sz="850" dirty="0"/>
          </a:p>
        </p:txBody>
      </p:sp>
      <p:sp>
        <p:nvSpPr>
          <p:cNvPr id="254" name="Shape 251"/>
          <p:cNvSpPr/>
          <p:nvPr/>
        </p:nvSpPr>
        <p:spPr>
          <a:xfrm>
            <a:off x="10936224" y="9130284"/>
            <a:ext cx="868680" cy="237744"/>
          </a:xfrm>
          <a:prstGeom prst="rect">
            <a:avLst/>
          </a:prstGeom>
          <a:solidFill>
            <a:srgbClr val="F4C9A1"/>
          </a:solidFill>
          <a:ln w="12700">
            <a:solidFill>
              <a:srgbClr val="F4C9A1"/>
            </a:solidFill>
            <a:prstDash val="solid"/>
          </a:ln>
        </p:spPr>
      </p:sp>
      <p:sp>
        <p:nvSpPr>
          <p:cNvPr id="255" name="Text 252"/>
          <p:cNvSpPr txBox="1"/>
          <p:nvPr/>
        </p:nvSpPr>
        <p:spPr>
          <a:xfrm>
            <a:off x="10936224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0.42 *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11841480" y="9130284"/>
            <a:ext cx="868680" cy="237744"/>
          </a:xfrm>
          <a:prstGeom prst="rect">
            <a:avLst/>
          </a:prstGeom>
          <a:solidFill>
            <a:srgbClr val="EEE9F7"/>
          </a:solidFill>
          <a:ln w="12700">
            <a:solidFill>
              <a:srgbClr val="EEE9F7"/>
            </a:solidFill>
            <a:prstDash val="solid"/>
          </a:ln>
        </p:spPr>
      </p:sp>
      <p:sp>
        <p:nvSpPr>
          <p:cNvPr id="257" name="Text 254"/>
          <p:cNvSpPr txBox="1"/>
          <p:nvPr/>
        </p:nvSpPr>
        <p:spPr>
          <a:xfrm>
            <a:off x="11841480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−0.17</a:t>
            </a:r>
            <a:endParaRPr lang="en-US" sz="900" dirty="0"/>
          </a:p>
        </p:txBody>
      </p:sp>
      <p:sp>
        <p:nvSpPr>
          <p:cNvPr id="258" name="Shape 255"/>
          <p:cNvSpPr/>
          <p:nvPr/>
        </p:nvSpPr>
        <p:spPr>
          <a:xfrm>
            <a:off x="12746736" y="9130284"/>
            <a:ext cx="868680" cy="237744"/>
          </a:xfrm>
          <a:prstGeom prst="rect">
            <a:avLst/>
          </a:prstGeom>
          <a:solidFill>
            <a:srgbClr val="4B2C82"/>
          </a:solidFill>
          <a:ln w="12700">
            <a:solidFill>
              <a:srgbClr val="4B2C82"/>
            </a:solidFill>
            <a:prstDash val="solid"/>
          </a:ln>
        </p:spPr>
      </p:sp>
      <p:sp>
        <p:nvSpPr>
          <p:cNvPr id="259" name="Text 256"/>
          <p:cNvSpPr txBox="1"/>
          <p:nvPr/>
        </p:nvSpPr>
        <p:spPr>
          <a:xfrm>
            <a:off x="12746736" y="91302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−0.71 ****</a:t>
            </a:r>
            <a:endParaRPr lang="en-US" sz="900" dirty="0"/>
          </a:p>
        </p:txBody>
      </p:sp>
      <p:sp>
        <p:nvSpPr>
          <p:cNvPr id="260" name="Text 257"/>
          <p:cNvSpPr txBox="1"/>
          <p:nvPr/>
        </p:nvSpPr>
        <p:spPr>
          <a:xfrm>
            <a:off x="10479024" y="94594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Violet: negative · orange: positive. P values: cor_get_pval().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10479024" y="9733788"/>
            <a:ext cx="3172968" cy="566928"/>
          </a:xfrm>
          <a:prstGeom prst="roundRect">
            <a:avLst>
              <a:gd name="adj" fmla="val 9677"/>
            </a:avLst>
          </a:prstGeom>
          <a:solidFill>
            <a:srgbClr val="FCEEDF"/>
          </a:solidFill>
          <a:ln w="9525">
            <a:solidFill>
              <a:srgbClr val="D9731E"/>
            </a:solidFill>
            <a:prstDash val="solid"/>
          </a:ln>
        </p:spPr>
      </p:sp>
      <p:sp>
        <p:nvSpPr>
          <p:cNvPr id="262" name="Text 259"/>
          <p:cNvSpPr txBox="1"/>
          <p:nvPr/>
        </p:nvSpPr>
        <p:spPr>
          <a:xfrm>
            <a:off x="10570464" y="979779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731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CHECKLIST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 the test, statistic, df, exact p, </a:t>
            </a:r>
            <a:pPr indent="0" marL="0">
              <a:buNone/>
            </a:pPr>
            <a:r>
              <a:rPr lang="en-US" sz="950" b="1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 size with its CI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n. A p-value alone says nothing about size.</a:t>
            </a:r>
            <a:endParaRPr lang="en-US" sz="950" dirty="0"/>
          </a:p>
        </p:txBody>
      </p:sp>
      <p:sp>
        <p:nvSpPr>
          <p:cNvPr id="263" name="Text 260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Learn more at </a:t>
            </a:r>
            <a:pPr algn="r" indent="0" marL="0">
              <a:buNone/>
            </a:pPr>
            <a:r>
              <a:rPr lang="en-US" sz="900" u="sng" dirty="0">
                <a:solidFill>
                  <a:srgbClr val="4B2C8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rpkgs.datanovia.com/rstatix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rstatix version 1.1.0  •  Updated: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tests with rstatix :: CHEAT SHEET</dc:title>
  <dc:subject>PptxGenJS Presentation</dc:subject>
  <dc:creator>Anthony Romero-Cerdán</dc:creator>
  <cp:lastModifiedBy>Anthony Romero-Cerdán</cp:lastModifiedBy>
  <cp:revision>1</cp:revision>
  <dcterms:created xsi:type="dcterms:W3CDTF">2026-10-12T20:36:41Z</dcterms:created>
  <dcterms:modified xsi:type="dcterms:W3CDTF">2026-10-12T20:36:41Z</dcterms:modified>
</cp:coreProperties>
</file>