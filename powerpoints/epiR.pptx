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3972032" cy="10799064"/>
  <p:notesSz cx="10799064" cy="1397203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sa/4.0/" TargetMode="External"/><Relationship Id="rId3" Type="http://schemas.openxmlformats.org/officeDocument/2006/relationships/hyperlink" Target="https://anthonyromero.netlify.app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sa/4.0/" TargetMode="External"/><Relationship Id="rId3" Type="http://schemas.openxmlformats.org/officeDocument/2006/relationships/hyperlink" Target="https://anthonyromero.netlify.app" TargetMode="Externa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000F46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Epidemiology with epiR</a:t>
            </a:r>
            <a:pPr indent="0" marL="0">
              <a:buNone/>
            </a:pP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pPr indent="0" marL="0">
              <a:buNone/>
            </a:pPr>
            <a:r>
              <a:rPr lang="en-US" sz="3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epiR turns count data into the core measures of epidemiology: frequency, association, test accuracy and sample size.</a:t>
            </a:r>
            <a:endParaRPr lang="en-US" sz="1300" dirty="0"/>
          </a:p>
        </p:txBody>
      </p:sp>
      <p:pic>
        <p:nvPicPr>
          <p:cNvPr id="5" name="Image 0" descr="/home/claude/epir/sheet/epiR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1832" y="201168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Build the 2×2 table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389888" y="2194560"/>
            <a:ext cx="1069848" cy="38404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89888" y="219456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Outcome +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487168" y="2194560"/>
            <a:ext cx="1069848" cy="38404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87168" y="219456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Outcome −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" y="2606040"/>
            <a:ext cx="950976" cy="566928"/>
          </a:xfrm>
          <a:prstGeom prst="rect">
            <a:avLst/>
          </a:prstGeom>
          <a:solidFill>
            <a:srgbClr val="26346E"/>
          </a:solidFill>
          <a:ln w="12700">
            <a:solidFill>
              <a:srgbClr val="2634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768" y="26060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Exposure +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389888" y="2606040"/>
            <a:ext cx="1069848" cy="566928"/>
          </a:xfrm>
          <a:prstGeom prst="rect">
            <a:avLst/>
          </a:prstGeom>
          <a:solidFill>
            <a:srgbClr val="FDF3DF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89888" y="2587752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487168" y="2606040"/>
            <a:ext cx="1069848" cy="566928"/>
          </a:xfrm>
          <a:prstGeom prst="rect">
            <a:avLst/>
          </a:prstGeom>
          <a:solidFill>
            <a:srgbClr val="E9EDF7"/>
          </a:solidFill>
          <a:ln w="6350">
            <a:solidFill>
              <a:srgbClr val="E9ED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87168" y="2587752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3200400"/>
            <a:ext cx="950976" cy="566928"/>
          </a:xfrm>
          <a:prstGeom prst="rect">
            <a:avLst/>
          </a:prstGeom>
          <a:solidFill>
            <a:srgbClr val="26346E"/>
          </a:solidFill>
          <a:ln w="12700">
            <a:solidFill>
              <a:srgbClr val="2634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9768" y="32004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Exposure −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389888" y="3200400"/>
            <a:ext cx="1069848" cy="566928"/>
          </a:xfrm>
          <a:prstGeom prst="rect">
            <a:avLst/>
          </a:prstGeom>
          <a:solidFill>
            <a:srgbClr val="E9EDF7"/>
          </a:solidFill>
          <a:ln w="6350">
            <a:solidFill>
              <a:srgbClr val="E9ED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389888" y="3182112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487168" y="3200400"/>
            <a:ext cx="1069848" cy="566928"/>
          </a:xfrm>
          <a:prstGeom prst="rect">
            <a:avLst/>
          </a:prstGeom>
          <a:solidFill>
            <a:srgbClr val="E9EDF7"/>
          </a:solidFill>
          <a:ln w="6350">
            <a:solidFill>
              <a:srgbClr val="E9ED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487168" y="3182112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11480" y="3858768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Exposure in rows · outcome in columns · </a:t>
            </a:r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positives first.</a:t>
            </a:r>
            <a:pPr indent="0" marL="0">
              <a:buNone/>
            </a:pPr>
            <a:r>
              <a:rPr lang="en-US" sz="1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Cell a = exposed cases.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" y="436168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THREE WAYS TO FEED epi.2by2()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11480" y="461772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Cell counts, in the order a, b, c, 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1480" y="4864608"/>
            <a:ext cx="3172968" cy="297180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4632" y="492861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(30, 44, 29, 86)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11480" y="527151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table() of two factors (one row per subject)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11480" y="5518404"/>
            <a:ext cx="3172968" cy="749808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84632" y="5582412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 &lt;- MASS::birthwt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bw$smk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(bw$smoke, levels =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(1,0))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bw$lbw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(bw$low, levels =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(1,0))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(bw$smk, bw$lbw)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11480" y="63779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3-D table: one 2×2 per stratum (see 4)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11480" y="6624828"/>
            <a:ext cx="3172968" cy="297180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4632" y="668883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(bw$smk, bw$lbw, bw$race)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11480" y="7123176"/>
            <a:ext cx="3172968" cy="1024128"/>
          </a:xfrm>
          <a:prstGeom prst="roundRect">
            <a:avLst>
              <a:gd name="adj" fmla="val 5357"/>
            </a:avLst>
          </a:prstGeom>
          <a:solidFill>
            <a:srgbClr val="FDF3DF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21208" y="7251192"/>
            <a:ext cx="310896" cy="3108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21208" y="7251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!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923544" y="7214616"/>
            <a:ext cx="25694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Most common mistake. 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table() sorts 0 before 1, so non-exposed and non-cases come first and every ratio is inverted. Set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 = c(1, 0)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or reorder with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tab[2:1, 2:1]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411480" y="8330184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Outcome in rows? 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 = "as.rows"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</a:t>
            </a:r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Labels: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(exposure) and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olab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(outcome) name the rows and columns of the printout.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411480" y="898855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TIP: CHECK BEFORE YOU RUN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11480" y="9235440"/>
            <a:ext cx="3172968" cy="900684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84632" y="9299448"/>
            <a:ext cx="3044952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addmargins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1   0 Sum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1   30  44  74   &lt;- a = exposed cases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0   29  86 115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Sum 59 130 189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1019098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Row and column 1 (the positives) must come first.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Pick the study design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3767328" y="2194560"/>
            <a:ext cx="3172968" cy="297180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840480" y="2258568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epi.2by2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(tab,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"cohort.count"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767328" y="2619756"/>
            <a:ext cx="1325880" cy="896112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858768" y="27111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Cohort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C9D2E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counts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3858768" y="3223260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"cohort.count"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5093208" y="2619756"/>
            <a:ext cx="1847088" cy="8961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184648" y="2692908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Risk ratio · odds ratio · attributable risk · attributable fraction (exposed, population) · NNT · E-value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3767328" y="3570732"/>
            <a:ext cx="1325880" cy="896112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858768" y="36621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Cohort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C9D2E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person-time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3858768" y="4174236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"cohort.time"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5093208" y="3570732"/>
            <a:ext cx="1847088" cy="8961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184648" y="3643884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Incidence rate ratio · attributable rate · attributable fraction. Enter c(a, time exposed, c, time unexposed)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3767328" y="4521708"/>
            <a:ext cx="1325880" cy="896112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858768" y="46131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Case-control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3858768" y="5125212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"case.control"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5093208" y="4521708"/>
            <a:ext cx="1847088" cy="8961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184648" y="4594860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Exposure odds ratio · estimated attributable fraction · E-value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3767328" y="5472684"/>
            <a:ext cx="1325880" cy="896112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858768" y="55641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Cross-sectional</a:t>
            </a:r>
            <a:endParaRPr lang="en-US" sz="1100" dirty="0"/>
          </a:p>
        </p:txBody>
      </p:sp>
      <p:sp>
        <p:nvSpPr>
          <p:cNvPr id="67" name="Text 64"/>
          <p:cNvSpPr txBox="1"/>
          <p:nvPr/>
        </p:nvSpPr>
        <p:spPr>
          <a:xfrm>
            <a:off x="3858768" y="607618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"cross.sectional"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5093208" y="5472684"/>
            <a:ext cx="1847088" cy="8961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184648" y="554583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Prevalence ratio · prevalence odds ratio · attributable prevalence &amp; fraction · E-value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3767328" y="653338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 THE MEASURES MEAN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3767328" y="673455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birthwt: smoking → low birth weight (LBW)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3785616" y="8517636"/>
            <a:ext cx="1600200" cy="0"/>
          </a:xfrm>
          <a:prstGeom prst="line">
            <a:avLst/>
          </a:prstGeom>
          <a:noFill/>
          <a:ln w="12700">
            <a:solidFill>
              <a:srgbClr val="5F6675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877056" y="7281977"/>
            <a:ext cx="566928" cy="1235659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3694176" y="7035089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R₁ = </a:t>
            </a:r>
            <a:pPr algn="ctr"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40.5%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3648456" y="85633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Smokers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 / 74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663440" y="7748930"/>
            <a:ext cx="566928" cy="768706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480560" y="750204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R₀ = </a:t>
            </a:r>
            <a:pPr algn="ctr"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25.2%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4434840" y="85633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Non-smokers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29 / 115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3877056" y="7748930"/>
            <a:ext cx="786384" cy="0"/>
          </a:xfrm>
          <a:prstGeom prst="line">
            <a:avLst/>
          </a:prstGeom>
          <a:noFill/>
          <a:ln w="15875">
            <a:solidFill>
              <a:srgbClr val="D98E04"/>
            </a:solidFill>
            <a:prstDash val="dash"/>
          </a:ln>
        </p:spPr>
      </p:sp>
      <p:sp>
        <p:nvSpPr>
          <p:cNvPr id="80" name="Shape 77"/>
          <p:cNvSpPr/>
          <p:nvPr/>
        </p:nvSpPr>
        <p:spPr>
          <a:xfrm>
            <a:off x="3877056" y="7281977"/>
            <a:ext cx="566928" cy="466954"/>
          </a:xfrm>
          <a:prstGeom prst="rect">
            <a:avLst/>
          </a:prstGeom>
          <a:solidFill>
            <a:srgbClr val="D98E04">
              <a:alpha val="75000"/>
            </a:srgbClr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3877056" y="7281977"/>
            <a:ext cx="566928" cy="466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</a:t>
            </a:r>
            <a:endParaRPr lang="en-US" sz="1100" dirty="0"/>
          </a:p>
        </p:txBody>
      </p:sp>
      <p:sp>
        <p:nvSpPr>
          <p:cNvPr id="82" name="Text 79"/>
          <p:cNvSpPr txBox="1"/>
          <p:nvPr/>
        </p:nvSpPr>
        <p:spPr>
          <a:xfrm>
            <a:off x="5504688" y="692658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RR</a:t>
            </a:r>
            <a:pPr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R₁ ÷ R₀ =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1.61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times the risk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5504688" y="7347204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</a:t>
            </a:r>
            <a:pPr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R₁ − R₀ =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15.3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extra cases per 100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5504688" y="7767828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AF</a:t>
            </a:r>
            <a:pPr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AR ÷ R₁ =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38%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of exposed cases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5504688" y="8188452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</a:t>
            </a:r>
            <a:pPr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ad ÷ bc =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2.02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odds, not risk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5504688" y="8609076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NNH</a:t>
            </a:r>
            <a:pPr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1 ÷ AR =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6.5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exposed per extra case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3767328" y="902055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Ratios 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(RR, OR) measure the strength of an association; </a:t>
            </a:r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impact measures 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(AR, AF, NNT) show its public-health weight.</a:t>
            </a:r>
            <a:endParaRPr lang="en-US" sz="1050" dirty="0"/>
          </a:p>
        </p:txBody>
      </p:sp>
      <p:sp>
        <p:nvSpPr>
          <p:cNvPr id="88" name="Shape 85"/>
          <p:cNvSpPr/>
          <p:nvPr/>
        </p:nvSpPr>
        <p:spPr>
          <a:xfrm>
            <a:off x="3767328" y="9569196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DF3DF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3858768" y="9633204"/>
            <a:ext cx="2990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Cross-sectional data with a common outcome? Report the </a:t>
            </a:r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prevalence ratio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; the prevalence odds ratio drifts away from 1 as prevalence rises.</a:t>
            </a:r>
            <a:endParaRPr lang="en-US" sz="950" dirty="0"/>
          </a:p>
        </p:txBody>
      </p:sp>
      <p:sp>
        <p:nvSpPr>
          <p:cNvPr id="90" name="Shape 87"/>
          <p:cNvSpPr/>
          <p:nvPr/>
        </p:nvSpPr>
        <p:spPr>
          <a:xfrm>
            <a:off x="7123176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712317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1600" dirty="0"/>
          </a:p>
        </p:txBody>
      </p:sp>
      <p:sp>
        <p:nvSpPr>
          <p:cNvPr id="92" name="Text 89"/>
          <p:cNvSpPr txBox="1"/>
          <p:nvPr/>
        </p:nvSpPr>
        <p:spPr>
          <a:xfrm>
            <a:off x="7635240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Run it, read it</a:t>
            </a:r>
            <a:endParaRPr lang="en-US" sz="2000" dirty="0"/>
          </a:p>
        </p:txBody>
      </p:sp>
      <p:sp>
        <p:nvSpPr>
          <p:cNvPr id="93" name="Shape 90"/>
          <p:cNvSpPr/>
          <p:nvPr/>
        </p:nvSpPr>
        <p:spPr>
          <a:xfrm>
            <a:off x="7123176" y="2194560"/>
            <a:ext cx="3172968" cy="1051560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7196328" y="2258568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(epiR)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epi.2by2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"cohort.count"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elab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"Smoking"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olab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"LBW"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conf.level = 0.95, units = 100)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endParaRPr lang="en-US" sz="1100" dirty="0"/>
          </a:p>
        </p:txBody>
      </p:sp>
      <p:sp>
        <p:nvSpPr>
          <p:cNvPr id="95" name="Text 92"/>
          <p:cNvSpPr txBox="1"/>
          <p:nvPr/>
        </p:nvSpPr>
        <p:spPr>
          <a:xfrm>
            <a:off x="8604504" y="33101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estimate</a:t>
            </a:r>
            <a:endParaRPr lang="en-US" sz="900" dirty="0"/>
          </a:p>
        </p:txBody>
      </p:sp>
      <p:sp>
        <p:nvSpPr>
          <p:cNvPr id="96" name="Text 93"/>
          <p:cNvSpPr txBox="1"/>
          <p:nvPr/>
        </p:nvSpPr>
        <p:spPr>
          <a:xfrm>
            <a:off x="9253728" y="331012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95% CI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7123176" y="3538728"/>
            <a:ext cx="3172968" cy="17693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7196328" y="36118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risk ratio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8695944" y="3611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1.61</a:t>
            </a:r>
            <a:endParaRPr lang="en-US" sz="850" dirty="0"/>
          </a:p>
        </p:txBody>
      </p:sp>
      <p:sp>
        <p:nvSpPr>
          <p:cNvPr id="100" name="Text 97"/>
          <p:cNvSpPr txBox="1"/>
          <p:nvPr/>
        </p:nvSpPr>
        <p:spPr>
          <a:xfrm>
            <a:off x="9253728" y="361188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(1.06, 2.44)</a:t>
            </a:r>
            <a:endParaRPr lang="en-US" sz="850" dirty="0"/>
          </a:p>
        </p:txBody>
      </p:sp>
      <p:sp>
        <p:nvSpPr>
          <p:cNvPr id="101" name="Text 98"/>
          <p:cNvSpPr txBox="1"/>
          <p:nvPr/>
        </p:nvSpPr>
        <p:spPr>
          <a:xfrm>
            <a:off x="7196328" y="37993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odds ratio</a:t>
            </a:r>
            <a:endParaRPr lang="en-US" sz="850" dirty="0"/>
          </a:p>
        </p:txBody>
      </p:sp>
      <p:sp>
        <p:nvSpPr>
          <p:cNvPr id="102" name="Text 99"/>
          <p:cNvSpPr txBox="1"/>
          <p:nvPr/>
        </p:nvSpPr>
        <p:spPr>
          <a:xfrm>
            <a:off x="8695944" y="37993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2.02</a:t>
            </a:r>
            <a:endParaRPr lang="en-US" sz="850" dirty="0"/>
          </a:p>
        </p:txBody>
      </p:sp>
      <p:sp>
        <p:nvSpPr>
          <p:cNvPr id="103" name="Text 100"/>
          <p:cNvSpPr txBox="1"/>
          <p:nvPr/>
        </p:nvSpPr>
        <p:spPr>
          <a:xfrm>
            <a:off x="9253728" y="379933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(1.08, 3.78)</a:t>
            </a:r>
            <a:endParaRPr lang="en-US" sz="850" dirty="0"/>
          </a:p>
        </p:txBody>
      </p:sp>
      <p:sp>
        <p:nvSpPr>
          <p:cNvPr id="104" name="Text 101"/>
          <p:cNvSpPr txBox="1"/>
          <p:nvPr/>
        </p:nvSpPr>
        <p:spPr>
          <a:xfrm>
            <a:off x="7196328" y="3986784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 risk exp *</a:t>
            </a:r>
            <a:endParaRPr lang="en-US" sz="850" dirty="0"/>
          </a:p>
        </p:txBody>
      </p:sp>
      <p:sp>
        <p:nvSpPr>
          <p:cNvPr id="105" name="Text 102"/>
          <p:cNvSpPr txBox="1"/>
          <p:nvPr/>
        </p:nvSpPr>
        <p:spPr>
          <a:xfrm>
            <a:off x="8695944" y="3986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15.32</a:t>
            </a:r>
            <a:endParaRPr lang="en-US" sz="850" dirty="0"/>
          </a:p>
        </p:txBody>
      </p:sp>
      <p:sp>
        <p:nvSpPr>
          <p:cNvPr id="106" name="Text 103"/>
          <p:cNvSpPr txBox="1"/>
          <p:nvPr/>
        </p:nvSpPr>
        <p:spPr>
          <a:xfrm>
            <a:off x="9253728" y="39867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(1.61, 29.04)</a:t>
            </a:r>
            <a:endParaRPr lang="en-US" sz="850" dirty="0"/>
          </a:p>
        </p:txBody>
      </p:sp>
      <p:sp>
        <p:nvSpPr>
          <p:cNvPr id="107" name="Text 104"/>
          <p:cNvSpPr txBox="1"/>
          <p:nvPr/>
        </p:nvSpPr>
        <p:spPr>
          <a:xfrm>
            <a:off x="7196328" y="417423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 fraction exp (%)</a:t>
            </a:r>
            <a:endParaRPr lang="en-US" sz="850" dirty="0"/>
          </a:p>
        </p:txBody>
      </p:sp>
      <p:sp>
        <p:nvSpPr>
          <p:cNvPr id="108" name="Text 105"/>
          <p:cNvSpPr txBox="1"/>
          <p:nvPr/>
        </p:nvSpPr>
        <p:spPr>
          <a:xfrm>
            <a:off x="8695944" y="41742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37.80</a:t>
            </a:r>
            <a:endParaRPr lang="en-US" sz="850" dirty="0"/>
          </a:p>
        </p:txBody>
      </p:sp>
      <p:sp>
        <p:nvSpPr>
          <p:cNvPr id="109" name="Text 106"/>
          <p:cNvSpPr txBox="1"/>
          <p:nvPr/>
        </p:nvSpPr>
        <p:spPr>
          <a:xfrm>
            <a:off x="9253728" y="41742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(5.38, 58.95)</a:t>
            </a:r>
            <a:endParaRPr lang="en-US" sz="850" dirty="0"/>
          </a:p>
        </p:txBody>
      </p:sp>
      <p:sp>
        <p:nvSpPr>
          <p:cNvPr id="110" name="Text 107"/>
          <p:cNvSpPr txBox="1"/>
          <p:nvPr/>
        </p:nvSpPr>
        <p:spPr>
          <a:xfrm>
            <a:off x="7196328" y="4361688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 risk pop *</a:t>
            </a:r>
            <a:endParaRPr lang="en-US" sz="850" dirty="0"/>
          </a:p>
        </p:txBody>
      </p:sp>
      <p:sp>
        <p:nvSpPr>
          <p:cNvPr id="111" name="Text 108"/>
          <p:cNvSpPr txBox="1"/>
          <p:nvPr/>
        </p:nvSpPr>
        <p:spPr>
          <a:xfrm>
            <a:off x="8695944" y="43616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6.00</a:t>
            </a:r>
            <a:endParaRPr lang="en-US" sz="850" dirty="0"/>
          </a:p>
        </p:txBody>
      </p:sp>
      <p:sp>
        <p:nvSpPr>
          <p:cNvPr id="112" name="Text 109"/>
          <p:cNvSpPr txBox="1"/>
          <p:nvPr/>
        </p:nvSpPr>
        <p:spPr>
          <a:xfrm>
            <a:off x="9253728" y="43616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(-4.33, 16.33)</a:t>
            </a:r>
            <a:endParaRPr lang="en-US" sz="850" dirty="0"/>
          </a:p>
        </p:txBody>
      </p:sp>
      <p:sp>
        <p:nvSpPr>
          <p:cNvPr id="113" name="Text 110"/>
          <p:cNvSpPr txBox="1"/>
          <p:nvPr/>
        </p:nvSpPr>
        <p:spPr>
          <a:xfrm>
            <a:off x="7196328" y="454914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 fraction pop (%)</a:t>
            </a:r>
            <a:endParaRPr lang="en-US" sz="850" dirty="0"/>
          </a:p>
        </p:txBody>
      </p:sp>
      <p:sp>
        <p:nvSpPr>
          <p:cNvPr id="114" name="Text 111"/>
          <p:cNvSpPr txBox="1"/>
          <p:nvPr/>
        </p:nvSpPr>
        <p:spPr>
          <a:xfrm>
            <a:off x="8695944" y="45491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19.22</a:t>
            </a:r>
            <a:endParaRPr lang="en-US" sz="850" dirty="0"/>
          </a:p>
        </p:txBody>
      </p:sp>
      <p:sp>
        <p:nvSpPr>
          <p:cNvPr id="115" name="Text 112"/>
          <p:cNvSpPr txBox="1"/>
          <p:nvPr/>
        </p:nvSpPr>
        <p:spPr>
          <a:xfrm>
            <a:off x="9253728" y="454914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(10.89, 28.78)</a:t>
            </a:r>
            <a:endParaRPr lang="en-US" sz="850" dirty="0"/>
          </a:p>
        </p:txBody>
      </p:sp>
      <p:sp>
        <p:nvSpPr>
          <p:cNvPr id="116" name="Text 113"/>
          <p:cNvSpPr txBox="1"/>
          <p:nvPr/>
        </p:nvSpPr>
        <p:spPr>
          <a:xfrm>
            <a:off x="7196328" y="473659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E-value</a:t>
            </a:r>
            <a:endParaRPr lang="en-US" sz="850" dirty="0"/>
          </a:p>
        </p:txBody>
      </p:sp>
      <p:sp>
        <p:nvSpPr>
          <p:cNvPr id="117" name="Text 114"/>
          <p:cNvSpPr txBox="1"/>
          <p:nvPr/>
        </p:nvSpPr>
        <p:spPr>
          <a:xfrm>
            <a:off x="8695944" y="4736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2.60</a:t>
            </a:r>
            <a:endParaRPr lang="en-US" sz="850" dirty="0"/>
          </a:p>
        </p:txBody>
      </p:sp>
      <p:sp>
        <p:nvSpPr>
          <p:cNvPr id="118" name="Text 115"/>
          <p:cNvSpPr txBox="1"/>
          <p:nvPr/>
        </p:nvSpPr>
        <p:spPr>
          <a:xfrm>
            <a:off x="9253728" y="473659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(1.31, NA)</a:t>
            </a:r>
            <a:endParaRPr lang="en-US" sz="850" dirty="0"/>
          </a:p>
        </p:txBody>
      </p:sp>
      <p:sp>
        <p:nvSpPr>
          <p:cNvPr id="119" name="Text 116"/>
          <p:cNvSpPr txBox="1"/>
          <p:nvPr/>
        </p:nvSpPr>
        <p:spPr>
          <a:xfrm>
            <a:off x="7196328" y="4942332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Uncorrected χ² p = 0.026 · Fisher exact p = 0.036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 per 100 population units (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 =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)</a:t>
            </a:r>
            <a:endParaRPr lang="en-US" sz="900" dirty="0"/>
          </a:p>
        </p:txBody>
      </p:sp>
      <p:sp>
        <p:nvSpPr>
          <p:cNvPr id="120" name="Text 117"/>
          <p:cNvSpPr txBox="1"/>
          <p:nvPr/>
        </p:nvSpPr>
        <p:spPr>
          <a:xfrm>
            <a:off x="7123176" y="538124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Printout abridged; labels shortened.</a:t>
            </a:r>
            <a:endParaRPr lang="en-US" sz="850" dirty="0"/>
          </a:p>
        </p:txBody>
      </p:sp>
      <p:sp>
        <p:nvSpPr>
          <p:cNvPr id="121" name="Text 118"/>
          <p:cNvSpPr txBox="1"/>
          <p:nvPr/>
        </p:nvSpPr>
        <p:spPr>
          <a:xfrm>
            <a:off x="7123176" y="567385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WRITE IT UP:  interpret = TRUE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7123176" y="5920740"/>
            <a:ext cx="3172968" cy="932688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123" name="Text 120"/>
          <p:cNvSpPr txBox="1"/>
          <p:nvPr/>
        </p:nvSpPr>
        <p:spPr>
          <a:xfrm>
            <a:off x="7232904" y="5993892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6346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“The incidence risk of LBW among those that were smoking positive was 1.61 (95% CI 1.06 to 2.44) times the incidence risk of LBW among those that were smoking negative.”</a:t>
            </a:r>
            <a:endParaRPr lang="en-US" sz="1050" dirty="0"/>
          </a:p>
        </p:txBody>
      </p:sp>
      <p:sp>
        <p:nvSpPr>
          <p:cNvPr id="124" name="Text 121"/>
          <p:cNvSpPr txBox="1"/>
          <p:nvPr/>
        </p:nvSpPr>
        <p:spPr>
          <a:xfrm>
            <a:off x="7123176" y="699973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PULL OUT THE NUMBERS</a:t>
            </a:r>
            <a:endParaRPr lang="en-US" sz="1000" dirty="0"/>
          </a:p>
        </p:txBody>
      </p:sp>
      <p:sp>
        <p:nvSpPr>
          <p:cNvPr id="125" name="Text 122"/>
          <p:cNvSpPr txBox="1"/>
          <p:nvPr/>
        </p:nvSpPr>
        <p:spPr>
          <a:xfrm>
            <a:off x="7123176" y="7255764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res$massoc.summary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frame: var, est, lower, upper.</a:t>
            </a:r>
            <a:endParaRPr lang="en-US" sz="1100" dirty="0"/>
          </a:p>
        </p:txBody>
      </p:sp>
      <p:sp>
        <p:nvSpPr>
          <p:cNvPr id="126" name="Text 123"/>
          <p:cNvSpPr txBox="1"/>
          <p:nvPr/>
        </p:nvSpPr>
        <p:spPr>
          <a:xfrm>
            <a:off x="7123176" y="7712964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res$massoc.detail$RR.strata.score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One measure with one CI method.</a:t>
            </a:r>
            <a:endParaRPr lang="en-US" sz="1100" dirty="0"/>
          </a:p>
        </p:txBody>
      </p:sp>
      <p:sp>
        <p:nvSpPr>
          <p:cNvPr id="127" name="Text 124"/>
          <p:cNvSpPr txBox="1"/>
          <p:nvPr/>
        </p:nvSpPr>
        <p:spPr>
          <a:xfrm>
            <a:off x="7123176" y="8170164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res$massoc.detail$NNT.strata.wald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Number needed to treat or harm (6.5 here).</a:t>
            </a:r>
            <a:endParaRPr lang="en-US" sz="1100" dirty="0"/>
          </a:p>
        </p:txBody>
      </p:sp>
      <p:sp>
        <p:nvSpPr>
          <p:cNvPr id="128" name="Text 125"/>
          <p:cNvSpPr txBox="1"/>
          <p:nvPr/>
        </p:nvSpPr>
        <p:spPr>
          <a:xfrm>
            <a:off x="7123176" y="8627364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res$massoc.detail$chi2.strata.fisher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Fisher exact test.</a:t>
            </a:r>
            <a:endParaRPr lang="en-US" sz="1100" dirty="0"/>
          </a:p>
        </p:txBody>
      </p:sp>
      <p:sp>
        <p:nvSpPr>
          <p:cNvPr id="129" name="Text 126"/>
          <p:cNvSpPr txBox="1"/>
          <p:nvPr/>
        </p:nvSpPr>
        <p:spPr>
          <a:xfrm>
            <a:off x="7123176" y="91211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USEFUL ARGUMENTS</a:t>
            </a:r>
            <a:endParaRPr lang="en-US" sz="1000" dirty="0"/>
          </a:p>
        </p:txBody>
      </p:sp>
      <p:sp>
        <p:nvSpPr>
          <p:cNvPr id="130" name="Text 127"/>
          <p:cNvSpPr txBox="1"/>
          <p:nvPr/>
        </p:nvSpPr>
        <p:spPr>
          <a:xfrm>
            <a:off x="7123176" y="93680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digits = 2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decimals shown</a:t>
            </a:r>
            <a:endParaRPr lang="en-US" sz="1100" dirty="0"/>
          </a:p>
        </p:txBody>
      </p:sp>
      <p:sp>
        <p:nvSpPr>
          <p:cNvPr id="131" name="Text 128"/>
          <p:cNvSpPr txBox="1"/>
          <p:nvPr/>
        </p:nvSpPr>
        <p:spPr>
          <a:xfrm>
            <a:off x="7123176" y="95966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conf.level = 0.95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CI width</a:t>
            </a:r>
            <a:endParaRPr lang="en-US" sz="1100" dirty="0"/>
          </a:p>
        </p:txBody>
      </p:sp>
      <p:sp>
        <p:nvSpPr>
          <p:cNvPr id="132" name="Text 129"/>
          <p:cNvSpPr txBox="1"/>
          <p:nvPr/>
        </p:nvSpPr>
        <p:spPr>
          <a:xfrm>
            <a:off x="7123176" y="98252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 = 100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risk per 100 (or 1000…)</a:t>
            </a:r>
            <a:endParaRPr lang="en-US" sz="1100" dirty="0"/>
          </a:p>
        </p:txBody>
      </p:sp>
      <p:sp>
        <p:nvSpPr>
          <p:cNvPr id="133" name="Shape 130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34" name="Text 131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</a:t>
            </a:r>
            <a:endParaRPr lang="en-US" sz="1600" dirty="0"/>
          </a:p>
        </p:txBody>
      </p:sp>
      <p:sp>
        <p:nvSpPr>
          <p:cNvPr id="135" name="Text 132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Adjust for confounding</a:t>
            </a:r>
            <a:endParaRPr lang="en-US" sz="2000" dirty="0"/>
          </a:p>
        </p:txBody>
      </p:sp>
      <p:sp>
        <p:nvSpPr>
          <p:cNvPr id="136" name="Text 133"/>
          <p:cNvSpPr txBox="1"/>
          <p:nvPr/>
        </p:nvSpPr>
        <p:spPr>
          <a:xfrm>
            <a:off x="10479024" y="2194560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Give a 3-D table (exposure × outcome × confounder) and get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crude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stratum-specific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and </a:t>
            </a:r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Mantel–Haenszel (M-H) adjusted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estimates.</a:t>
            </a:r>
            <a:endParaRPr lang="en-US" sz="1050" dirty="0"/>
          </a:p>
        </p:txBody>
      </p:sp>
      <p:sp>
        <p:nvSpPr>
          <p:cNvPr id="137" name="Shape 134"/>
          <p:cNvSpPr/>
          <p:nvPr/>
        </p:nvSpPr>
        <p:spPr>
          <a:xfrm>
            <a:off x="10479024" y="2816352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38" name="Text 135"/>
          <p:cNvSpPr txBox="1"/>
          <p:nvPr/>
        </p:nvSpPr>
        <p:spPr>
          <a:xfrm>
            <a:off x="10552176" y="2880360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res3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epi.2by2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(bw$smk, bw$lbw, bw$race),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"cohort.count"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39" name="Text 136"/>
          <p:cNvSpPr txBox="1"/>
          <p:nvPr/>
        </p:nvSpPr>
        <p:spPr>
          <a:xfrm>
            <a:off x="10479024" y="35981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 BY RACE (SMOKING → LBW)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12228663" y="3854196"/>
            <a:ext cx="0" cy="1664208"/>
          </a:xfrm>
          <a:prstGeom prst="line">
            <a:avLst/>
          </a:prstGeom>
          <a:noFill/>
          <a:ln w="9525">
            <a:solidFill>
              <a:srgbClr val="5F6675"/>
            </a:solidFill>
            <a:prstDash val="dash"/>
          </a:ln>
        </p:spPr>
      </p:sp>
      <p:sp>
        <p:nvSpPr>
          <p:cNvPr id="141" name="Text 138"/>
          <p:cNvSpPr txBox="1"/>
          <p:nvPr/>
        </p:nvSpPr>
        <p:spPr>
          <a:xfrm>
            <a:off x="10479024" y="38724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White 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5.76</a:t>
            </a:r>
            <a:endParaRPr lang="en-US" sz="1000" dirty="0"/>
          </a:p>
        </p:txBody>
      </p:sp>
      <p:sp>
        <p:nvSpPr>
          <p:cNvPr id="142" name="Shape 139"/>
          <p:cNvSpPr/>
          <p:nvPr/>
        </p:nvSpPr>
        <p:spPr>
          <a:xfrm>
            <a:off x="12488543" y="4027932"/>
            <a:ext cx="1057590" cy="0"/>
          </a:xfrm>
          <a:prstGeom prst="line">
            <a:avLst/>
          </a:prstGeom>
          <a:noFill/>
          <a:ln w="19050">
            <a:solidFill>
              <a:srgbClr val="000F46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2962947" y="3973068"/>
            <a:ext cx="109728" cy="10972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44" name="Text 141"/>
          <p:cNvSpPr txBox="1"/>
          <p:nvPr/>
        </p:nvSpPr>
        <p:spPr>
          <a:xfrm>
            <a:off x="10479024" y="41833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Black 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3.30</a:t>
            </a:r>
            <a:endParaRPr lang="en-US" sz="1000" dirty="0"/>
          </a:p>
        </p:txBody>
      </p:sp>
      <p:sp>
        <p:nvSpPr>
          <p:cNvPr id="145" name="Shape 142"/>
          <p:cNvSpPr/>
          <p:nvPr/>
        </p:nvSpPr>
        <p:spPr>
          <a:xfrm>
            <a:off x="12020423" y="4338828"/>
            <a:ext cx="1489391" cy="0"/>
          </a:xfrm>
          <a:prstGeom prst="line">
            <a:avLst/>
          </a:prstGeom>
          <a:noFill/>
          <a:ln w="19050">
            <a:solidFill>
              <a:srgbClr val="000F46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2711900" y="4283964"/>
            <a:ext cx="109728" cy="10972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47" name="Text 144"/>
          <p:cNvSpPr txBox="1"/>
          <p:nvPr/>
        </p:nvSpPr>
        <p:spPr>
          <a:xfrm>
            <a:off x="10479024" y="44942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Other 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1.25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>
            <a:off x="11755508" y="4649724"/>
            <a:ext cx="1147019" cy="0"/>
          </a:xfrm>
          <a:prstGeom prst="line">
            <a:avLst/>
          </a:prstGeom>
          <a:noFill/>
          <a:ln w="19050">
            <a:solidFill>
              <a:srgbClr val="000F46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12274370" y="4594860"/>
            <a:ext cx="109728" cy="10972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50" name="Text 147"/>
          <p:cNvSpPr txBox="1"/>
          <p:nvPr/>
        </p:nvSpPr>
        <p:spPr>
          <a:xfrm>
            <a:off x="10479024" y="48966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Crude 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2.02</a:t>
            </a:r>
            <a:endParaRPr lang="en-US" sz="1000" dirty="0"/>
          </a:p>
        </p:txBody>
      </p:sp>
      <p:sp>
        <p:nvSpPr>
          <p:cNvPr id="151" name="Shape 148"/>
          <p:cNvSpPr/>
          <p:nvPr/>
        </p:nvSpPr>
        <p:spPr>
          <a:xfrm>
            <a:off x="12263349" y="5052060"/>
            <a:ext cx="564621" cy="0"/>
          </a:xfrm>
          <a:prstGeom prst="line">
            <a:avLst/>
          </a:prstGeom>
          <a:noFill/>
          <a:ln w="19050">
            <a:solidFill>
              <a:srgbClr val="000F46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12490685" y="4997196"/>
            <a:ext cx="109728" cy="10972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53" name="Text 150"/>
          <p:cNvSpPr txBox="1"/>
          <p:nvPr/>
        </p:nvSpPr>
        <p:spPr>
          <a:xfrm>
            <a:off x="10479024" y="52075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M-H 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3.09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12408391" y="5362956"/>
            <a:ext cx="656201" cy="0"/>
          </a:xfrm>
          <a:prstGeom prst="line">
            <a:avLst/>
          </a:prstGeom>
          <a:noFill/>
          <a:ln w="19050">
            <a:solidFill>
              <a:srgbClr val="D98E04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12636546" y="5262372"/>
            <a:ext cx="201168" cy="201168"/>
          </a:xfrm>
          <a:prstGeom prst="diamond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11686032" y="5554980"/>
            <a:ext cx="189280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1916261" y="5554980"/>
            <a:ext cx="0" cy="45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58" name="Text 155"/>
          <p:cNvSpPr txBox="1"/>
          <p:nvPr/>
        </p:nvSpPr>
        <p:spPr>
          <a:xfrm>
            <a:off x="11733381" y="5600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850" dirty="0"/>
          </a:p>
        </p:txBody>
      </p:sp>
      <p:sp>
        <p:nvSpPr>
          <p:cNvPr id="159" name="Shape 156"/>
          <p:cNvSpPr/>
          <p:nvPr/>
        </p:nvSpPr>
        <p:spPr>
          <a:xfrm>
            <a:off x="12228663" y="5554980"/>
            <a:ext cx="0" cy="45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60" name="Text 157"/>
          <p:cNvSpPr txBox="1"/>
          <p:nvPr/>
        </p:nvSpPr>
        <p:spPr>
          <a:xfrm>
            <a:off x="12045783" y="5600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50" dirty="0"/>
          </a:p>
        </p:txBody>
      </p:sp>
      <p:sp>
        <p:nvSpPr>
          <p:cNvPr id="161" name="Shape 158"/>
          <p:cNvSpPr/>
          <p:nvPr/>
        </p:nvSpPr>
        <p:spPr>
          <a:xfrm>
            <a:off x="12541064" y="5554980"/>
            <a:ext cx="0" cy="45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62" name="Text 159"/>
          <p:cNvSpPr txBox="1"/>
          <p:nvPr/>
        </p:nvSpPr>
        <p:spPr>
          <a:xfrm>
            <a:off x="12358184" y="5600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850" dirty="0"/>
          </a:p>
        </p:txBody>
      </p:sp>
      <p:sp>
        <p:nvSpPr>
          <p:cNvPr id="163" name="Shape 160"/>
          <p:cNvSpPr/>
          <p:nvPr/>
        </p:nvSpPr>
        <p:spPr>
          <a:xfrm>
            <a:off x="12954037" y="5554980"/>
            <a:ext cx="0" cy="45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64" name="Text 161"/>
          <p:cNvSpPr txBox="1"/>
          <p:nvPr/>
        </p:nvSpPr>
        <p:spPr>
          <a:xfrm>
            <a:off x="12771157" y="5600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850" dirty="0"/>
          </a:p>
        </p:txBody>
      </p:sp>
      <p:sp>
        <p:nvSpPr>
          <p:cNvPr id="165" name="Shape 162"/>
          <p:cNvSpPr/>
          <p:nvPr/>
        </p:nvSpPr>
        <p:spPr>
          <a:xfrm>
            <a:off x="13266438" y="5554980"/>
            <a:ext cx="0" cy="45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66" name="Text 163"/>
          <p:cNvSpPr txBox="1"/>
          <p:nvPr/>
        </p:nvSpPr>
        <p:spPr>
          <a:xfrm>
            <a:off x="13083558" y="5600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</a:t>
            </a:r>
            <a:endParaRPr lang="en-US" sz="850" dirty="0"/>
          </a:p>
        </p:txBody>
      </p:sp>
      <p:sp>
        <p:nvSpPr>
          <p:cNvPr id="167" name="Text 164"/>
          <p:cNvSpPr txBox="1"/>
          <p:nvPr/>
        </p:nvSpPr>
        <p:spPr>
          <a:xfrm>
            <a:off x="11686032" y="5756148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 (log scale)</a:t>
            </a:r>
            <a:endParaRPr lang="en-US" sz="850" dirty="0"/>
          </a:p>
        </p:txBody>
      </p:sp>
      <p:sp>
        <p:nvSpPr>
          <p:cNvPr id="168" name="Shape 165"/>
          <p:cNvSpPr/>
          <p:nvPr/>
        </p:nvSpPr>
        <p:spPr>
          <a:xfrm>
            <a:off x="10479024" y="6057900"/>
            <a:ext cx="3172968" cy="62179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169" name="Text 166"/>
          <p:cNvSpPr txBox="1"/>
          <p:nvPr/>
        </p:nvSpPr>
        <p:spPr>
          <a:xfrm>
            <a:off x="10570464" y="611276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Strata alike?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Homogeneity test: χ²(2) = 2.80, p = 0.25. </a:t>
            </a:r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Yes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→ report M-H. </a:t>
            </a:r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→ effect modification: report each stratum.</a:t>
            </a:r>
            <a:endParaRPr lang="en-US" sz="950" dirty="0"/>
          </a:p>
        </p:txBody>
      </p:sp>
      <p:sp>
        <p:nvSpPr>
          <p:cNvPr id="170" name="Shape 167"/>
          <p:cNvSpPr/>
          <p:nvPr/>
        </p:nvSpPr>
        <p:spPr>
          <a:xfrm>
            <a:off x="10479024" y="6734556"/>
            <a:ext cx="3172968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171" name="Text 168"/>
          <p:cNvSpPr txBox="1"/>
          <p:nvPr/>
        </p:nvSpPr>
        <p:spPr>
          <a:xfrm>
            <a:off x="10570464" y="678942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Estimate moved?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Crude OR 2.02 vs M-H OR 3.09 → race confounds the association (rule of thumb: change &gt; 10%).</a:t>
            </a:r>
            <a:endParaRPr lang="en-US" sz="950" dirty="0"/>
          </a:p>
        </p:txBody>
      </p:sp>
      <p:sp>
        <p:nvSpPr>
          <p:cNvPr id="172" name="Shape 169"/>
          <p:cNvSpPr/>
          <p:nvPr/>
        </p:nvSpPr>
        <p:spPr>
          <a:xfrm>
            <a:off x="10479024" y="7411212"/>
            <a:ext cx="3172968" cy="786384"/>
          </a:xfrm>
          <a:prstGeom prst="rect">
            <a:avLst/>
          </a:prstGeom>
          <a:solidFill>
            <a:srgbClr val="F4F6FB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173" name="Text 170"/>
          <p:cNvSpPr txBox="1"/>
          <p:nvPr/>
        </p:nvSpPr>
        <p:spPr>
          <a:xfrm>
            <a:off x="10570464" y="7466076"/>
            <a:ext cx="2990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How robust?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E-value (M-H) 3.73: a hidden confounder would need RR ≥ 3.73 with both smoking and LBW to explain the M-H risk ratio (2.15) away.</a:t>
            </a:r>
            <a:endParaRPr lang="en-US" sz="950" dirty="0"/>
          </a:p>
        </p:txBody>
      </p:sp>
      <p:sp>
        <p:nvSpPr>
          <p:cNvPr id="174" name="Text 171"/>
          <p:cNvSpPr txBox="1"/>
          <p:nvPr/>
        </p:nvSpPr>
        <p:spPr>
          <a:xfrm>
            <a:off x="10479024" y="830732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res3$massoc.detail$OR.mh.wald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res3$massoc.detail$wOR.homog</a:t>
            </a:r>
            <a:endParaRPr lang="en-US" sz="1100" dirty="0"/>
          </a:p>
        </p:txBody>
      </p:sp>
      <p:sp>
        <p:nvSpPr>
          <p:cNvPr id="175" name="Text 172"/>
          <p:cNvSpPr txBox="1"/>
          <p:nvPr/>
        </p:nvSpPr>
        <p:spPr>
          <a:xfrm>
            <a:off x="10479024" y="874623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TIPS: WHICH MEASURE CAN I REPORT?</a:t>
            </a:r>
            <a:endParaRPr lang="en-US" sz="1000" dirty="0"/>
          </a:p>
        </p:txBody>
      </p:sp>
      <p:sp>
        <p:nvSpPr>
          <p:cNvPr id="176" name="Shape 173"/>
          <p:cNvSpPr/>
          <p:nvPr/>
        </p:nvSpPr>
        <p:spPr>
          <a:xfrm>
            <a:off x="10479024" y="9066276"/>
            <a:ext cx="82296" cy="822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7" name="Text 174"/>
          <p:cNvSpPr txBox="1"/>
          <p:nvPr/>
        </p:nvSpPr>
        <p:spPr>
          <a:xfrm>
            <a:off x="10643616" y="9002268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Case-control: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cases and controls are sampled by outcome, so risks can't be estimated. Report the </a:t>
            </a:r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never the RR.</a:t>
            </a:r>
            <a:endParaRPr lang="en-US" sz="950" dirty="0"/>
          </a:p>
        </p:txBody>
      </p:sp>
      <p:sp>
        <p:nvSpPr>
          <p:cNvPr id="178" name="Shape 175"/>
          <p:cNvSpPr/>
          <p:nvPr/>
        </p:nvSpPr>
        <p:spPr>
          <a:xfrm>
            <a:off x="10479024" y="9477756"/>
            <a:ext cx="82296" cy="822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9" name="Text 176"/>
          <p:cNvSpPr txBox="1"/>
          <p:nvPr/>
        </p:nvSpPr>
        <p:spPr>
          <a:xfrm>
            <a:off x="10643616" y="9413748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Rare outcome (&lt; 10%):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 ≈ RR. Common outcome: the OR exaggerates the RR (here 2.02 vs 1.61).</a:t>
            </a:r>
            <a:endParaRPr lang="en-US" sz="950" dirty="0"/>
          </a:p>
        </p:txBody>
      </p:sp>
      <p:sp>
        <p:nvSpPr>
          <p:cNvPr id="180" name="Shape 177"/>
          <p:cNvSpPr/>
          <p:nvPr/>
        </p:nvSpPr>
        <p:spPr>
          <a:xfrm>
            <a:off x="10479024" y="9889236"/>
            <a:ext cx="82296" cy="822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81" name="Text 178"/>
          <p:cNvSpPr txBox="1"/>
          <p:nvPr/>
        </p:nvSpPr>
        <p:spPr>
          <a:xfrm>
            <a:off x="10643616" y="9825228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Person-time data: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"cohort.time"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and set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(e.g. 1000 person-years).</a:t>
            </a:r>
            <a:endParaRPr lang="en-US" sz="950" dirty="0"/>
          </a:p>
        </p:txBody>
      </p:sp>
      <p:sp>
        <p:nvSpPr>
          <p:cNvPr id="182" name="Text 179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pPr algn="r" indent="0" marL="0">
              <a:buNone/>
            </a:pPr>
            <a:r>
              <a:rPr lang="en-US" sz="900" u="sng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Learn more at 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browseVignettes("epiR")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epiR version 2.0.99  •  Updated: 2026-10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000F46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Epidemiology with epiR</a:t>
            </a:r>
            <a:pPr indent="0" marL="0">
              <a:buNone/>
            </a:pP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pPr indent="0" marL="0">
              <a:buNone/>
            </a:pPr>
            <a:r>
              <a:rPr lang="en-US" sz="3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Most functions take counts or summary figures, not raw data, and return estimates with confidence intervals.</a:t>
            </a:r>
            <a:endParaRPr lang="en-US" sz="1300" dirty="0"/>
          </a:p>
        </p:txBody>
      </p:sp>
      <p:pic>
        <p:nvPicPr>
          <p:cNvPr id="5" name="Image 0" descr="/home/claude/epir/sheet/epiR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1832" y="201168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Measure frequency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194560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epi.conf()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takes a matrix of (cases, denominator) and returns the estimate with its CI. Multiply by your units.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28346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Prevalence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26 of 200 surveyed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3081528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" y="3145536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cbind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(26, 200)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epi.conf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(dat, ctype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"prevalence"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"wilson"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100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369874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n-US" sz="12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13.0</a:t>
            </a:r>
            <a:pPr algn="r"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(9.0 – 18.4) per 100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39822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Incidence risk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12 new cases in 300 followed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4229100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" y="429310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epi.conf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cbind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(12, 300),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ctype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"inc.risk"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"exact"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100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4846320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n-US" sz="12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4.0</a:t>
            </a:r>
            <a:pPr algn="r"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(2.1 – 6.9) per 100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51297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Incidence rate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136 cases in 22 050 person-years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5376672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" y="5440680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epi.conf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cbind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(136, 22050),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ctype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"inc.rate"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"exact"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1000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" y="5993892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n-US" sz="12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6.17</a:t>
            </a:r>
            <a:pPr algn="r"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(5.17 – 7.30) per 1000 PY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11480" y="627735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OTHER ctype = …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11480" y="650595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"mean.single"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"prop.single"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"odds"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"smr"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and paired / unpaired versions.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411480" y="698144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APPARENT → TRUE PREVALENCE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11480" y="722833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test with imperfect Se/Sp misstates prevalence. </a:t>
            </a:r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epi.prev()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corrects it (Rogan–Gladen).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7658100"/>
            <a:ext cx="3172968" cy="448056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4632" y="7722108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epi.prev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 = 26, tested = 200,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 = 0.90, sp = 0.95, units = 100)$tp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11480" y="82341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Apparent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216152" y="8270748"/>
            <a:ext cx="1116482" cy="182880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396642" y="82341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13.0%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11480" y="85450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True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216152" y="8581644"/>
            <a:ext cx="808161" cy="182880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088321" y="85450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9.4%  (4.7 – 15.7)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11480" y="89199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TP = (AP + Sp − 1) ÷ (Se + Sp − 1)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411480" y="930402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COMPARE WITH A STANDARD POPULATION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11480" y="9550908"/>
            <a:ext cx="3172968" cy="297180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4632" y="961491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epi.smr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(obs = 30, exp = 20,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"byar"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11480" y="9884664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n-US" sz="12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SMR 1.50</a:t>
            </a:r>
            <a:pPr algn="r"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(1.01 – 2.14): 50% more deaths than expected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411480" y="1017727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Adjusted rates: </a:t>
            </a:r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epi.directadj()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(direct) · </a:t>
            </a:r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epi.indirectadj()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(indirect).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Test accuracy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3767328" y="21945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Test result in rows, true status (gold standard) in columns. </a:t>
            </a:r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Positives first.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480560" y="2624328"/>
            <a:ext cx="758952" cy="329184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480560" y="2624328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Disease +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266944" y="2624328"/>
            <a:ext cx="758952" cy="329184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266944" y="2624328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Disease −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767328" y="2980944"/>
            <a:ext cx="685800" cy="438912"/>
          </a:xfrm>
          <a:prstGeom prst="rect">
            <a:avLst/>
          </a:prstGeom>
          <a:solidFill>
            <a:srgbClr val="26346E"/>
          </a:solidFill>
          <a:ln w="12700">
            <a:solidFill>
              <a:srgbClr val="26346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767328" y="298094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Test +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480560" y="2980944"/>
            <a:ext cx="758952" cy="4389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480560" y="2980944"/>
            <a:ext cx="758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</a:t>
            </a:r>
            <a:pPr algn="ct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670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266944" y="2980944"/>
            <a:ext cx="758952" cy="438912"/>
          </a:xfrm>
          <a:prstGeom prst="rect">
            <a:avLst/>
          </a:prstGeom>
          <a:solidFill>
            <a:srgbClr val="FDF3DF"/>
          </a:solidFill>
          <a:ln w="12700">
            <a:solidFill>
              <a:srgbClr val="FDF3D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266944" y="2980944"/>
            <a:ext cx="758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 </a:t>
            </a:r>
            <a:pPr algn="ct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202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3767328" y="3447288"/>
            <a:ext cx="685800" cy="438912"/>
          </a:xfrm>
          <a:prstGeom prst="rect">
            <a:avLst/>
          </a:prstGeom>
          <a:solidFill>
            <a:srgbClr val="26346E"/>
          </a:solidFill>
          <a:ln w="12700">
            <a:solidFill>
              <a:srgbClr val="26346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767328" y="344728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Test −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480560" y="3447288"/>
            <a:ext cx="758952" cy="438912"/>
          </a:xfrm>
          <a:prstGeom prst="rect">
            <a:avLst/>
          </a:prstGeom>
          <a:solidFill>
            <a:srgbClr val="FDF3DF"/>
          </a:solidFill>
          <a:ln w="12700">
            <a:solidFill>
              <a:srgbClr val="FDF3D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480560" y="3447288"/>
            <a:ext cx="758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 </a:t>
            </a:r>
            <a:pPr algn="ct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74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5266944" y="3447288"/>
            <a:ext cx="758952" cy="4389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266944" y="3447288"/>
            <a:ext cx="758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 </a:t>
            </a:r>
            <a:pPr algn="ct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640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6144768" y="2642616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= 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÷ (a+c)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6144768" y="293522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 = 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 ÷ (b+d)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6144768" y="3227832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PPV = 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÷ (a+b)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6144768" y="35204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NPV = 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 ÷ (c+d)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767328" y="4023360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840480" y="408736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epi.tests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(670, 202, 74, 640),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"exact"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dx; dx$detail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statistics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3767328" y="4732020"/>
            <a:ext cx="3172968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3822192" y="47320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Sensitivity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4572000" y="47320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0.90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5010912" y="47320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(0.88, 0.92)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5852160" y="473202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detects the sick</a:t>
            </a:r>
            <a:endParaRPr lang="en-US" sz="900" dirty="0"/>
          </a:p>
        </p:txBody>
      </p:sp>
      <p:sp>
        <p:nvSpPr>
          <p:cNvPr id="71" name="Text 68"/>
          <p:cNvSpPr txBox="1"/>
          <p:nvPr/>
        </p:nvSpPr>
        <p:spPr>
          <a:xfrm>
            <a:off x="3822192" y="500634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Specificity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4572000" y="500634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0.76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5010912" y="500634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(0.73, 0.79)</a:t>
            </a:r>
            <a:endParaRPr lang="en-US" sz="900" dirty="0"/>
          </a:p>
        </p:txBody>
      </p:sp>
      <p:sp>
        <p:nvSpPr>
          <p:cNvPr id="74" name="Text 71"/>
          <p:cNvSpPr txBox="1"/>
          <p:nvPr/>
        </p:nvSpPr>
        <p:spPr>
          <a:xfrm>
            <a:off x="5852160" y="500634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clears the healthy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3767328" y="5280660"/>
            <a:ext cx="3172968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3822192" y="528066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PPV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4572000" y="52806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0.77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5010912" y="528066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(0.74, 0.80)</a:t>
            </a:r>
            <a:endParaRPr lang="en-US" sz="900" dirty="0"/>
          </a:p>
        </p:txBody>
      </p:sp>
      <p:sp>
        <p:nvSpPr>
          <p:cNvPr id="79" name="Text 76"/>
          <p:cNvSpPr txBox="1"/>
          <p:nvPr/>
        </p:nvSpPr>
        <p:spPr>
          <a:xfrm>
            <a:off x="5852160" y="52806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P(D+ | T+)</a:t>
            </a:r>
            <a:endParaRPr lang="en-US" sz="900" dirty="0"/>
          </a:p>
        </p:txBody>
      </p:sp>
      <p:sp>
        <p:nvSpPr>
          <p:cNvPr id="80" name="Text 77"/>
          <p:cNvSpPr txBox="1"/>
          <p:nvPr/>
        </p:nvSpPr>
        <p:spPr>
          <a:xfrm>
            <a:off x="3822192" y="555498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NPV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4572000" y="555498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0.90</a:t>
            </a:r>
            <a:endParaRPr lang="en-US" sz="1000" dirty="0"/>
          </a:p>
        </p:txBody>
      </p:sp>
      <p:sp>
        <p:nvSpPr>
          <p:cNvPr id="82" name="Text 79"/>
          <p:cNvSpPr txBox="1"/>
          <p:nvPr/>
        </p:nvSpPr>
        <p:spPr>
          <a:xfrm>
            <a:off x="5010912" y="555498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(0.87, 0.92)</a:t>
            </a:r>
            <a:endParaRPr lang="en-US" sz="900" dirty="0"/>
          </a:p>
        </p:txBody>
      </p:sp>
      <p:sp>
        <p:nvSpPr>
          <p:cNvPr id="83" name="Text 80"/>
          <p:cNvSpPr txBox="1"/>
          <p:nvPr/>
        </p:nvSpPr>
        <p:spPr>
          <a:xfrm>
            <a:off x="5852160" y="555498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P(D− | T−)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3767328" y="5829300"/>
            <a:ext cx="3172968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3822192" y="582930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LR+</a:t>
            </a:r>
            <a:endParaRPr lang="en-US" sz="1000" dirty="0"/>
          </a:p>
        </p:txBody>
      </p:sp>
      <p:sp>
        <p:nvSpPr>
          <p:cNvPr id="86" name="Text 83"/>
          <p:cNvSpPr txBox="1"/>
          <p:nvPr/>
        </p:nvSpPr>
        <p:spPr>
          <a:xfrm>
            <a:off x="4572000" y="58293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3.75</a:t>
            </a:r>
            <a:endParaRPr lang="en-US" sz="1000" dirty="0"/>
          </a:p>
        </p:txBody>
      </p:sp>
      <p:sp>
        <p:nvSpPr>
          <p:cNvPr id="87" name="Text 84"/>
          <p:cNvSpPr txBox="1"/>
          <p:nvPr/>
        </p:nvSpPr>
        <p:spPr>
          <a:xfrm>
            <a:off x="5010912" y="58293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(3.32, 4.24)</a:t>
            </a:r>
            <a:endParaRPr lang="en-US" sz="900" dirty="0"/>
          </a:p>
        </p:txBody>
      </p:sp>
      <p:sp>
        <p:nvSpPr>
          <p:cNvPr id="88" name="Text 85"/>
          <p:cNvSpPr txBox="1"/>
          <p:nvPr/>
        </p:nvSpPr>
        <p:spPr>
          <a:xfrm>
            <a:off x="5852160" y="582930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÷ (1 − Sp)</a:t>
            </a:r>
            <a:endParaRPr lang="en-US" sz="900" dirty="0"/>
          </a:p>
        </p:txBody>
      </p:sp>
      <p:sp>
        <p:nvSpPr>
          <p:cNvPr id="89" name="Text 86"/>
          <p:cNvSpPr txBox="1"/>
          <p:nvPr/>
        </p:nvSpPr>
        <p:spPr>
          <a:xfrm>
            <a:off x="3822192" y="61036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LR−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4572000" y="61036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0.13</a:t>
            </a:r>
            <a:endParaRPr lang="en-US" sz="1000" dirty="0"/>
          </a:p>
        </p:txBody>
      </p:sp>
      <p:sp>
        <p:nvSpPr>
          <p:cNvPr id="91" name="Text 88"/>
          <p:cNvSpPr txBox="1"/>
          <p:nvPr/>
        </p:nvSpPr>
        <p:spPr>
          <a:xfrm>
            <a:off x="5010912" y="61036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(0.11, 0.16)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5852160" y="610362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(1 − Se) ÷ Sp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3767328" y="6377940"/>
            <a:ext cx="3172968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3822192" y="637794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Youden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4572000" y="637794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0.66</a:t>
            </a:r>
            <a:endParaRPr lang="en-US" sz="1000" dirty="0"/>
          </a:p>
        </p:txBody>
      </p:sp>
      <p:sp>
        <p:nvSpPr>
          <p:cNvPr id="96" name="Text 93"/>
          <p:cNvSpPr txBox="1"/>
          <p:nvPr/>
        </p:nvSpPr>
        <p:spPr>
          <a:xfrm>
            <a:off x="5010912" y="637794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(0.61, 0.71)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5852160" y="637794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+ Sp − 1</a:t>
            </a:r>
            <a:endParaRPr lang="en-US" sz="900" dirty="0"/>
          </a:p>
        </p:txBody>
      </p:sp>
      <p:sp>
        <p:nvSpPr>
          <p:cNvPr id="98" name="Text 95"/>
          <p:cNvSpPr txBox="1"/>
          <p:nvPr/>
        </p:nvSpPr>
        <p:spPr>
          <a:xfrm>
            <a:off x="3822192" y="665226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4572000" y="66522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0.83</a:t>
            </a:r>
            <a:endParaRPr lang="en-US" sz="1000" dirty="0"/>
          </a:p>
        </p:txBody>
      </p:sp>
      <p:sp>
        <p:nvSpPr>
          <p:cNvPr id="100" name="Text 97"/>
          <p:cNvSpPr txBox="1"/>
          <p:nvPr/>
        </p:nvSpPr>
        <p:spPr>
          <a:xfrm>
            <a:off x="5010912" y="665226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(0.81, 0.84)</a:t>
            </a:r>
            <a:endParaRPr lang="en-US" sz="900" dirty="0"/>
          </a:p>
        </p:txBody>
      </p:sp>
      <p:sp>
        <p:nvSpPr>
          <p:cNvPr id="101" name="Text 98"/>
          <p:cNvSpPr txBox="1"/>
          <p:nvPr/>
        </p:nvSpPr>
        <p:spPr>
          <a:xfrm>
            <a:off x="5852160" y="66522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(a + d) ÷ n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3767328" y="7109460"/>
            <a:ext cx="3172968" cy="841248"/>
          </a:xfrm>
          <a:prstGeom prst="roundRect">
            <a:avLst>
              <a:gd name="adj" fmla="val 6522"/>
            </a:avLst>
          </a:prstGeom>
          <a:solidFill>
            <a:srgbClr val="FDF3DF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3858768" y="7173468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and Sp belong to the test; </a:t>
            </a:r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PPV and NPV depend on prevalence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They only transfer to your patients if prevalence is similar. Otherwise, use the likelihood ratios (see →).</a:t>
            </a:r>
            <a:endParaRPr lang="en-US" sz="950" dirty="0"/>
          </a:p>
        </p:txBody>
      </p:sp>
      <p:sp>
        <p:nvSpPr>
          <p:cNvPr id="104" name="Text 101"/>
          <p:cNvSpPr txBox="1"/>
          <p:nvPr/>
        </p:nvSpPr>
        <p:spPr>
          <a:xfrm>
            <a:off x="3767328" y="80970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SAME TEST, DIFFERENT PREVALENCE</a:t>
            </a:r>
            <a:endParaRPr lang="en-US" sz="1000" dirty="0"/>
          </a:p>
        </p:txBody>
      </p:sp>
      <p:sp>
        <p:nvSpPr>
          <p:cNvPr id="105" name="Text 102"/>
          <p:cNvSpPr txBox="1"/>
          <p:nvPr/>
        </p:nvSpPr>
        <p:spPr>
          <a:xfrm>
            <a:off x="3767328" y="83439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PPV of this test (Se 0.90, Sp 0.76) by prevalence, via Bayes' theorem:</a:t>
            </a:r>
            <a:endParaRPr lang="en-US" sz="950" dirty="0"/>
          </a:p>
        </p:txBody>
      </p:sp>
      <p:sp>
        <p:nvSpPr>
          <p:cNvPr id="106" name="Text 103"/>
          <p:cNvSpPr txBox="1"/>
          <p:nvPr/>
        </p:nvSpPr>
        <p:spPr>
          <a:xfrm>
            <a:off x="3767328" y="8746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1%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4315968" y="8782812"/>
            <a:ext cx="88514" cy="155448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4459346" y="87462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0.04</a:t>
            </a:r>
            <a:endParaRPr lang="en-US" sz="950" dirty="0"/>
          </a:p>
        </p:txBody>
      </p:sp>
      <p:sp>
        <p:nvSpPr>
          <p:cNvPr id="109" name="Text 106"/>
          <p:cNvSpPr txBox="1"/>
          <p:nvPr/>
        </p:nvSpPr>
        <p:spPr>
          <a:xfrm>
            <a:off x="3767328" y="89931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5%</a:t>
            </a:r>
            <a:endParaRPr lang="en-US" sz="950" dirty="0"/>
          </a:p>
        </p:txBody>
      </p:sp>
      <p:sp>
        <p:nvSpPr>
          <p:cNvPr id="110" name="Shape 107"/>
          <p:cNvSpPr/>
          <p:nvPr/>
        </p:nvSpPr>
        <p:spPr>
          <a:xfrm>
            <a:off x="4315968" y="9029700"/>
            <a:ext cx="354056" cy="155448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4724888" y="89931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0.16</a:t>
            </a:r>
            <a:endParaRPr lang="en-US" sz="950" dirty="0"/>
          </a:p>
        </p:txBody>
      </p:sp>
      <p:sp>
        <p:nvSpPr>
          <p:cNvPr id="112" name="Text 109"/>
          <p:cNvSpPr txBox="1"/>
          <p:nvPr/>
        </p:nvSpPr>
        <p:spPr>
          <a:xfrm>
            <a:off x="3767328" y="92400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10%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4315968" y="9276588"/>
            <a:ext cx="641726" cy="155448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114" name="Text 111"/>
          <p:cNvSpPr txBox="1"/>
          <p:nvPr/>
        </p:nvSpPr>
        <p:spPr>
          <a:xfrm>
            <a:off x="5012558" y="92400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0.29</a:t>
            </a:r>
            <a:endParaRPr lang="en-US" sz="950" dirty="0"/>
          </a:p>
        </p:txBody>
      </p:sp>
      <p:sp>
        <p:nvSpPr>
          <p:cNvPr id="115" name="Text 112"/>
          <p:cNvSpPr txBox="1"/>
          <p:nvPr/>
        </p:nvSpPr>
        <p:spPr>
          <a:xfrm>
            <a:off x="3767328" y="94869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30%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4315968" y="9523476"/>
            <a:ext cx="1371966" cy="155448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117" name="Text 114"/>
          <p:cNvSpPr txBox="1"/>
          <p:nvPr/>
        </p:nvSpPr>
        <p:spPr>
          <a:xfrm>
            <a:off x="5742798" y="94869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0.62</a:t>
            </a:r>
            <a:endParaRPr lang="en-US" sz="950" dirty="0"/>
          </a:p>
        </p:txBody>
      </p:sp>
      <p:sp>
        <p:nvSpPr>
          <p:cNvPr id="118" name="Text 115"/>
          <p:cNvSpPr txBox="1"/>
          <p:nvPr/>
        </p:nvSpPr>
        <p:spPr>
          <a:xfrm>
            <a:off x="3767328" y="97337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47%*</a:t>
            </a:r>
            <a:endParaRPr lang="en-US" sz="950" dirty="0"/>
          </a:p>
        </p:txBody>
      </p:sp>
      <p:sp>
        <p:nvSpPr>
          <p:cNvPr id="119" name="Shape 116"/>
          <p:cNvSpPr/>
          <p:nvPr/>
        </p:nvSpPr>
        <p:spPr>
          <a:xfrm>
            <a:off x="4315968" y="9770364"/>
            <a:ext cx="1703893" cy="15544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20" name="Text 117"/>
          <p:cNvSpPr txBox="1"/>
          <p:nvPr/>
        </p:nvSpPr>
        <p:spPr>
          <a:xfrm>
            <a:off x="6074725" y="97337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0.77</a:t>
            </a:r>
            <a:endParaRPr lang="en-US" sz="950" dirty="0"/>
          </a:p>
        </p:txBody>
      </p:sp>
      <p:sp>
        <p:nvSpPr>
          <p:cNvPr id="121" name="Text 118"/>
          <p:cNvSpPr txBox="1"/>
          <p:nvPr/>
        </p:nvSpPr>
        <p:spPr>
          <a:xfrm>
            <a:off x="3767328" y="1000810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 study prevalence (744 / 1586), as returned by epi.tests()</a:t>
            </a:r>
            <a:endParaRPr lang="en-US" sz="850" dirty="0"/>
          </a:p>
        </p:txBody>
      </p:sp>
      <p:sp>
        <p:nvSpPr>
          <p:cNvPr id="122" name="Text 119"/>
          <p:cNvSpPr txBox="1"/>
          <p:nvPr/>
        </p:nvSpPr>
        <p:spPr>
          <a:xfrm>
            <a:off x="7123176" y="17007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FROM PRE-TEST TO POST-TEST PROBABILITY</a:t>
            </a:r>
            <a:endParaRPr lang="en-US" sz="1000" dirty="0"/>
          </a:p>
        </p:txBody>
      </p:sp>
      <p:sp>
        <p:nvSpPr>
          <p:cNvPr id="123" name="Shape 120"/>
          <p:cNvSpPr/>
          <p:nvPr/>
        </p:nvSpPr>
        <p:spPr>
          <a:xfrm>
            <a:off x="7123176" y="1956816"/>
            <a:ext cx="3172968" cy="448056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24" name="Text 121"/>
          <p:cNvSpPr txBox="1"/>
          <p:nvPr/>
        </p:nvSpPr>
        <p:spPr>
          <a:xfrm>
            <a:off x="7196328" y="2020824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epi.nomogram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(pretest.ppos = 0.10,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 = 0.90, sp = 0.76, verbose = TRUE)</a:t>
            </a:r>
            <a:endParaRPr lang="en-US" sz="1100" dirty="0"/>
          </a:p>
        </p:txBody>
      </p:sp>
      <p:sp>
        <p:nvSpPr>
          <p:cNvPr id="125" name="Shape 122"/>
          <p:cNvSpPr/>
          <p:nvPr/>
        </p:nvSpPr>
        <p:spPr>
          <a:xfrm>
            <a:off x="7168896" y="2651760"/>
            <a:ext cx="768096" cy="768096"/>
          </a:xfrm>
          <a:prstGeom prst="ellipse">
            <a:avLst/>
          </a:prstGeom>
          <a:solidFill>
            <a:srgbClr val="E9EDF7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7168896" y="26517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10%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pre-test</a:t>
            </a:r>
            <a:endParaRPr lang="en-US" sz="1100" dirty="0"/>
          </a:p>
        </p:txBody>
      </p:sp>
      <p:sp>
        <p:nvSpPr>
          <p:cNvPr id="127" name="Shape 124"/>
          <p:cNvSpPr/>
          <p:nvPr/>
        </p:nvSpPr>
        <p:spPr>
          <a:xfrm flipV="1">
            <a:off x="7964424" y="2688336"/>
            <a:ext cx="1417320" cy="347472"/>
          </a:xfrm>
          <a:prstGeom prst="line">
            <a:avLst/>
          </a:prstGeom>
          <a:noFill/>
          <a:ln w="25400">
            <a:solidFill>
              <a:srgbClr val="000F46"/>
            </a:solidFill>
            <a:prstDash val="solid"/>
            <a:tailEnd type="triangle"/>
          </a:ln>
        </p:spPr>
      </p:sp>
      <p:sp>
        <p:nvSpPr>
          <p:cNvPr id="128" name="Text 125"/>
          <p:cNvSpPr txBox="1"/>
          <p:nvPr/>
        </p:nvSpPr>
        <p:spPr>
          <a:xfrm>
            <a:off x="8037576" y="2414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T+ </a:t>
            </a:r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×LR+ 3.75</a:t>
            </a:r>
            <a:endParaRPr lang="en-US" sz="950" dirty="0"/>
          </a:p>
        </p:txBody>
      </p:sp>
      <p:sp>
        <p:nvSpPr>
          <p:cNvPr id="129" name="Shape 126"/>
          <p:cNvSpPr/>
          <p:nvPr/>
        </p:nvSpPr>
        <p:spPr>
          <a:xfrm>
            <a:off x="9409176" y="2487168"/>
            <a:ext cx="868680" cy="402336"/>
          </a:xfrm>
          <a:prstGeom prst="roundRect">
            <a:avLst>
              <a:gd name="adj" fmla="val 11364"/>
            </a:avLst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9409176" y="248716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29%</a:t>
            </a:r>
            <a:endParaRPr lang="en-US" sz="1400" dirty="0"/>
          </a:p>
        </p:txBody>
      </p:sp>
      <p:sp>
        <p:nvSpPr>
          <p:cNvPr id="131" name="Shape 128"/>
          <p:cNvSpPr/>
          <p:nvPr/>
        </p:nvSpPr>
        <p:spPr>
          <a:xfrm>
            <a:off x="7964424" y="3035808"/>
            <a:ext cx="1417320" cy="347472"/>
          </a:xfrm>
          <a:prstGeom prst="line">
            <a:avLst/>
          </a:prstGeom>
          <a:noFill/>
          <a:ln w="25400">
            <a:solidFill>
              <a:srgbClr val="8C97BF"/>
            </a:solidFill>
            <a:prstDash val="solid"/>
            <a:tailEnd type="triangle"/>
          </a:ln>
        </p:spPr>
      </p:sp>
      <p:sp>
        <p:nvSpPr>
          <p:cNvPr id="132" name="Text 129"/>
          <p:cNvSpPr txBox="1"/>
          <p:nvPr/>
        </p:nvSpPr>
        <p:spPr>
          <a:xfrm>
            <a:off x="8037576" y="3456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T− </a:t>
            </a:r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×LR− 0.13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9409176" y="3182112"/>
            <a:ext cx="868680" cy="402336"/>
          </a:xfrm>
          <a:prstGeom prst="roundRect">
            <a:avLst>
              <a:gd name="adj" fmla="val 11364"/>
            </a:avLst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134" name="Text 131"/>
          <p:cNvSpPr txBox="1"/>
          <p:nvPr/>
        </p:nvSpPr>
        <p:spPr>
          <a:xfrm>
            <a:off x="9409176" y="31821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1.4%</a:t>
            </a:r>
            <a:endParaRPr lang="en-US" sz="1400" dirty="0"/>
          </a:p>
        </p:txBody>
      </p:sp>
      <p:sp>
        <p:nvSpPr>
          <p:cNvPr id="135" name="Text 132"/>
          <p:cNvSpPr txBox="1"/>
          <p:nvPr/>
        </p:nvSpPr>
        <p:spPr>
          <a:xfrm>
            <a:off x="7123176" y="3721608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Post-test odds = pre-test odds × LR. A positive result raises 10% to 29%; a negative one lowers it to 1.4%.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7123176" y="4306824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37" name="Text 134"/>
          <p:cNvSpPr txBox="1"/>
          <p:nvPr/>
        </p:nvSpPr>
        <p:spPr>
          <a:xfrm>
            <a:off x="7123176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</a:t>
            </a:r>
            <a:endParaRPr lang="en-US" sz="1600" dirty="0"/>
          </a:p>
        </p:txBody>
      </p:sp>
      <p:sp>
        <p:nvSpPr>
          <p:cNvPr id="138" name="Text 135"/>
          <p:cNvSpPr txBox="1"/>
          <p:nvPr/>
        </p:nvSpPr>
        <p:spPr>
          <a:xfrm>
            <a:off x="7635240" y="426110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Measure agreement</a:t>
            </a:r>
            <a:endParaRPr lang="en-US" sz="2000" dirty="0"/>
          </a:p>
        </p:txBody>
      </p:sp>
      <p:sp>
        <p:nvSpPr>
          <p:cNvPr id="139" name="Text 136"/>
          <p:cNvSpPr txBox="1"/>
          <p:nvPr/>
        </p:nvSpPr>
        <p:spPr>
          <a:xfrm>
            <a:off x="7123176" y="48554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Two raters (or tests) classifying the same subjects:</a:t>
            </a:r>
            <a:endParaRPr lang="en-US" sz="1050" dirty="0"/>
          </a:p>
        </p:txBody>
      </p:sp>
      <p:sp>
        <p:nvSpPr>
          <p:cNvPr id="140" name="Shape 137"/>
          <p:cNvSpPr/>
          <p:nvPr/>
        </p:nvSpPr>
        <p:spPr>
          <a:xfrm>
            <a:off x="7123176" y="5111496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41" name="Text 138"/>
          <p:cNvSpPr txBox="1"/>
          <p:nvPr/>
        </p:nvSpPr>
        <p:spPr>
          <a:xfrm>
            <a:off x="7196328" y="5175504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(40, 5, 8, 47), nrow = 2,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byrow = TRUE)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epi.kappa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(rat)</a:t>
            </a:r>
            <a:endParaRPr lang="en-US" sz="1100" dirty="0"/>
          </a:p>
        </p:txBody>
      </p:sp>
      <p:sp>
        <p:nvSpPr>
          <p:cNvPr id="142" name="Text 139"/>
          <p:cNvSpPr txBox="1"/>
          <p:nvPr/>
        </p:nvSpPr>
        <p:spPr>
          <a:xfrm>
            <a:off x="7123176" y="58018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k$prop.agree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observed 0.87 · expected 0.50</a:t>
            </a:r>
            <a:endParaRPr lang="en-US" sz="1100" dirty="0"/>
          </a:p>
        </p:txBody>
      </p:sp>
      <p:sp>
        <p:nvSpPr>
          <p:cNvPr id="143" name="Text 140"/>
          <p:cNvSpPr txBox="1"/>
          <p:nvPr/>
        </p:nvSpPr>
        <p:spPr>
          <a:xfrm>
            <a:off x="7123176" y="60396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k$kappa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κ = 0.74 (0.54 – 0.93)</a:t>
            </a:r>
            <a:endParaRPr lang="en-US" sz="1100" dirty="0"/>
          </a:p>
        </p:txBody>
      </p:sp>
      <p:sp>
        <p:nvSpPr>
          <p:cNvPr id="144" name="Text 141"/>
          <p:cNvSpPr txBox="1"/>
          <p:nvPr/>
        </p:nvSpPr>
        <p:spPr>
          <a:xfrm>
            <a:off x="7123176" y="627735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k$pabak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prevalence/bias-adjusted κ = 0.74</a:t>
            </a:r>
            <a:endParaRPr lang="en-US" sz="1100" dirty="0"/>
          </a:p>
        </p:txBody>
      </p:sp>
      <p:sp>
        <p:nvSpPr>
          <p:cNvPr id="145" name="Text 142"/>
          <p:cNvSpPr txBox="1"/>
          <p:nvPr/>
        </p:nvSpPr>
        <p:spPr>
          <a:xfrm>
            <a:off x="7123176" y="65151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k$mcnemar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p = 0.41 → no evidence of rater bias</a:t>
            </a:r>
            <a:endParaRPr lang="en-US" sz="1100" dirty="0"/>
          </a:p>
        </p:txBody>
      </p:sp>
      <p:sp>
        <p:nvSpPr>
          <p:cNvPr id="146" name="Shape 143"/>
          <p:cNvSpPr/>
          <p:nvPr/>
        </p:nvSpPr>
        <p:spPr>
          <a:xfrm>
            <a:off x="7123176" y="6825996"/>
            <a:ext cx="510540" cy="274320"/>
          </a:xfrm>
          <a:prstGeom prst="rect">
            <a:avLst/>
          </a:prstGeom>
          <a:solidFill>
            <a:srgbClr val="E3E6EE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47" name="Text 144"/>
          <p:cNvSpPr txBox="1"/>
          <p:nvPr/>
        </p:nvSpPr>
        <p:spPr>
          <a:xfrm>
            <a:off x="7123176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poor</a:t>
            </a:r>
            <a:endParaRPr lang="en-US" sz="750" dirty="0"/>
          </a:p>
        </p:txBody>
      </p:sp>
      <p:sp>
        <p:nvSpPr>
          <p:cNvPr id="148" name="Text 145"/>
          <p:cNvSpPr txBox="1"/>
          <p:nvPr/>
        </p:nvSpPr>
        <p:spPr>
          <a:xfrm>
            <a:off x="7123176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&lt;0</a:t>
            </a:r>
            <a:endParaRPr lang="en-US" sz="750" dirty="0"/>
          </a:p>
        </p:txBody>
      </p:sp>
      <p:sp>
        <p:nvSpPr>
          <p:cNvPr id="149" name="Shape 146"/>
          <p:cNvSpPr/>
          <p:nvPr/>
        </p:nvSpPr>
        <p:spPr>
          <a:xfrm>
            <a:off x="7652004" y="6825996"/>
            <a:ext cx="510540" cy="274320"/>
          </a:xfrm>
          <a:prstGeom prst="rect">
            <a:avLst/>
          </a:prstGeom>
          <a:solidFill>
            <a:srgbClr val="C9D0E3"/>
          </a:solidFill>
          <a:ln w="12700">
            <a:solidFill>
              <a:srgbClr val="C9D0E3"/>
            </a:solidFill>
            <a:prstDash val="solid"/>
          </a:ln>
        </p:spPr>
      </p:sp>
      <p:sp>
        <p:nvSpPr>
          <p:cNvPr id="150" name="Text 147"/>
          <p:cNvSpPr txBox="1"/>
          <p:nvPr/>
        </p:nvSpPr>
        <p:spPr>
          <a:xfrm>
            <a:off x="7652004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slight</a:t>
            </a:r>
            <a:endParaRPr lang="en-US" sz="750" dirty="0"/>
          </a:p>
        </p:txBody>
      </p:sp>
      <p:sp>
        <p:nvSpPr>
          <p:cNvPr id="151" name="Text 148"/>
          <p:cNvSpPr txBox="1"/>
          <p:nvPr/>
        </p:nvSpPr>
        <p:spPr>
          <a:xfrm>
            <a:off x="7652004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≤0.2</a:t>
            </a:r>
            <a:endParaRPr lang="en-US" sz="750" dirty="0"/>
          </a:p>
        </p:txBody>
      </p:sp>
      <p:sp>
        <p:nvSpPr>
          <p:cNvPr id="152" name="Shape 149"/>
          <p:cNvSpPr/>
          <p:nvPr/>
        </p:nvSpPr>
        <p:spPr>
          <a:xfrm>
            <a:off x="8180832" y="6825996"/>
            <a:ext cx="510540" cy="274320"/>
          </a:xfrm>
          <a:prstGeom prst="rect">
            <a:avLst/>
          </a:prstGeom>
          <a:solidFill>
            <a:srgbClr val="A9B3D3"/>
          </a:solidFill>
          <a:ln w="12700">
            <a:solidFill>
              <a:srgbClr val="A9B3D3"/>
            </a:solidFill>
            <a:prstDash val="solid"/>
          </a:ln>
        </p:spPr>
      </p:sp>
      <p:sp>
        <p:nvSpPr>
          <p:cNvPr id="153" name="Text 150"/>
          <p:cNvSpPr txBox="1"/>
          <p:nvPr/>
        </p:nvSpPr>
        <p:spPr>
          <a:xfrm>
            <a:off x="8180832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fair</a:t>
            </a:r>
            <a:endParaRPr lang="en-US" sz="750" dirty="0"/>
          </a:p>
        </p:txBody>
      </p:sp>
      <p:sp>
        <p:nvSpPr>
          <p:cNvPr id="154" name="Text 151"/>
          <p:cNvSpPr txBox="1"/>
          <p:nvPr/>
        </p:nvSpPr>
        <p:spPr>
          <a:xfrm>
            <a:off x="8180832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≤0.4</a:t>
            </a:r>
            <a:endParaRPr lang="en-US" sz="750" dirty="0"/>
          </a:p>
        </p:txBody>
      </p:sp>
      <p:sp>
        <p:nvSpPr>
          <p:cNvPr id="155" name="Shape 152"/>
          <p:cNvSpPr/>
          <p:nvPr/>
        </p:nvSpPr>
        <p:spPr>
          <a:xfrm>
            <a:off x="8709660" y="6825996"/>
            <a:ext cx="510540" cy="274320"/>
          </a:xfrm>
          <a:prstGeom prst="rect">
            <a:avLst/>
          </a:prstGeom>
          <a:solidFill>
            <a:srgbClr val="7F8CBA"/>
          </a:solidFill>
          <a:ln w="12700">
            <a:solidFill>
              <a:srgbClr val="7F8CBA"/>
            </a:solidFill>
            <a:prstDash val="solid"/>
          </a:ln>
        </p:spPr>
      </p:sp>
      <p:sp>
        <p:nvSpPr>
          <p:cNvPr id="156" name="Text 153"/>
          <p:cNvSpPr txBox="1"/>
          <p:nvPr/>
        </p:nvSpPr>
        <p:spPr>
          <a:xfrm>
            <a:off x="8709660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moderate</a:t>
            </a:r>
            <a:endParaRPr lang="en-US" sz="750" dirty="0"/>
          </a:p>
        </p:txBody>
      </p:sp>
      <p:sp>
        <p:nvSpPr>
          <p:cNvPr id="157" name="Text 154"/>
          <p:cNvSpPr txBox="1"/>
          <p:nvPr/>
        </p:nvSpPr>
        <p:spPr>
          <a:xfrm>
            <a:off x="8709660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≤0.6</a:t>
            </a:r>
            <a:endParaRPr lang="en-US" sz="750" dirty="0"/>
          </a:p>
        </p:txBody>
      </p:sp>
      <p:sp>
        <p:nvSpPr>
          <p:cNvPr id="158" name="Shape 155"/>
          <p:cNvSpPr/>
          <p:nvPr/>
        </p:nvSpPr>
        <p:spPr>
          <a:xfrm>
            <a:off x="9238488" y="6825996"/>
            <a:ext cx="510540" cy="274320"/>
          </a:xfrm>
          <a:prstGeom prst="rect">
            <a:avLst/>
          </a:prstGeom>
          <a:solidFill>
            <a:srgbClr val="26346E"/>
          </a:solidFill>
          <a:ln w="12700">
            <a:solidFill>
              <a:srgbClr val="26346E"/>
            </a:solidFill>
            <a:prstDash val="solid"/>
          </a:ln>
        </p:spPr>
      </p:sp>
      <p:sp>
        <p:nvSpPr>
          <p:cNvPr id="159" name="Text 156"/>
          <p:cNvSpPr txBox="1"/>
          <p:nvPr/>
        </p:nvSpPr>
        <p:spPr>
          <a:xfrm>
            <a:off x="9238488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substantial</a:t>
            </a:r>
            <a:endParaRPr lang="en-US" sz="750" dirty="0"/>
          </a:p>
        </p:txBody>
      </p:sp>
      <p:sp>
        <p:nvSpPr>
          <p:cNvPr id="160" name="Text 157"/>
          <p:cNvSpPr txBox="1"/>
          <p:nvPr/>
        </p:nvSpPr>
        <p:spPr>
          <a:xfrm>
            <a:off x="9238488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≤0.8</a:t>
            </a:r>
            <a:endParaRPr lang="en-US" sz="750" dirty="0"/>
          </a:p>
        </p:txBody>
      </p:sp>
      <p:sp>
        <p:nvSpPr>
          <p:cNvPr id="161" name="Shape 158"/>
          <p:cNvSpPr/>
          <p:nvPr/>
        </p:nvSpPr>
        <p:spPr>
          <a:xfrm>
            <a:off x="9767316" y="6825996"/>
            <a:ext cx="510540" cy="274320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62" name="Text 159"/>
          <p:cNvSpPr txBox="1"/>
          <p:nvPr/>
        </p:nvSpPr>
        <p:spPr>
          <a:xfrm>
            <a:off x="9767316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almost perfect</a:t>
            </a:r>
            <a:endParaRPr lang="en-US" sz="750" dirty="0"/>
          </a:p>
        </p:txBody>
      </p:sp>
      <p:sp>
        <p:nvSpPr>
          <p:cNvPr id="163" name="Text 160"/>
          <p:cNvSpPr txBox="1"/>
          <p:nvPr/>
        </p:nvSpPr>
        <p:spPr>
          <a:xfrm>
            <a:off x="9767316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≤1</a:t>
            </a:r>
            <a:endParaRPr lang="en-US" sz="750" dirty="0"/>
          </a:p>
        </p:txBody>
      </p:sp>
      <p:sp>
        <p:nvSpPr>
          <p:cNvPr id="164" name="Shape 161"/>
          <p:cNvSpPr/>
          <p:nvPr/>
        </p:nvSpPr>
        <p:spPr>
          <a:xfrm flipV="1">
            <a:off x="9535516" y="6679692"/>
            <a:ext cx="146304" cy="118872"/>
          </a:xfrm>
          <a:prstGeom prst="triangl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65" name="Text 162"/>
          <p:cNvSpPr txBox="1"/>
          <p:nvPr/>
        </p:nvSpPr>
        <p:spPr>
          <a:xfrm>
            <a:off x="7123176" y="730148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Landis &amp; Koch (1977) scale; κ = 0.74 is substantial agreement.</a:t>
            </a:r>
            <a:endParaRPr lang="en-US" sz="850" dirty="0"/>
          </a:p>
        </p:txBody>
      </p:sp>
      <p:sp>
        <p:nvSpPr>
          <p:cNvPr id="166" name="Text 163"/>
          <p:cNvSpPr txBox="1"/>
          <p:nvPr/>
        </p:nvSpPr>
        <p:spPr>
          <a:xfrm>
            <a:off x="7123176" y="759409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More than 2 categories?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Pass a k × k matrix; epi.kappa() works the same.</a:t>
            </a:r>
            <a:endParaRPr lang="en-US" sz="1000" dirty="0"/>
          </a:p>
        </p:txBody>
      </p:sp>
      <p:sp>
        <p:nvSpPr>
          <p:cNvPr id="167" name="Text 164"/>
          <p:cNvSpPr txBox="1"/>
          <p:nvPr/>
        </p:nvSpPr>
        <p:spPr>
          <a:xfrm>
            <a:off x="7123176" y="805129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CONTINUOUS MEASUREMENTS (LIN'S CCC)</a:t>
            </a:r>
            <a:endParaRPr lang="en-US" sz="1000" dirty="0"/>
          </a:p>
        </p:txBody>
      </p:sp>
      <p:sp>
        <p:nvSpPr>
          <p:cNvPr id="168" name="Shape 165"/>
          <p:cNvSpPr/>
          <p:nvPr/>
        </p:nvSpPr>
        <p:spPr>
          <a:xfrm>
            <a:off x="7123176" y="8298180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69" name="Text 166"/>
          <p:cNvSpPr txBox="1"/>
          <p:nvPr/>
        </p:nvSpPr>
        <p:spPr>
          <a:xfrm>
            <a:off x="7196328" y="836218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(120, 135, 142, 150, 160, 171)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(122, 131, 145, 152, 158, 175)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epi.ccc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y)$rho.c</a:t>
            </a:r>
            <a:endParaRPr lang="en-US" sz="1100" dirty="0"/>
          </a:p>
        </p:txBody>
      </p:sp>
      <p:sp>
        <p:nvSpPr>
          <p:cNvPr id="170" name="Text 167"/>
          <p:cNvSpPr txBox="1"/>
          <p:nvPr/>
        </p:nvSpPr>
        <p:spPr>
          <a:xfrm>
            <a:off x="7123176" y="893368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n-US" sz="12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ρc 0.98</a:t>
            </a:r>
            <a:pPr algn="r"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(0.90 – 1.00) · also returns Bland–Altman data</a:t>
            </a:r>
            <a:endParaRPr lang="en-US" sz="950" dirty="0"/>
          </a:p>
        </p:txBody>
      </p:sp>
      <p:sp>
        <p:nvSpPr>
          <p:cNvPr id="171" name="Shape 168"/>
          <p:cNvSpPr/>
          <p:nvPr/>
        </p:nvSpPr>
        <p:spPr>
          <a:xfrm>
            <a:off x="7123176" y="9317736"/>
            <a:ext cx="3172968" cy="713232"/>
          </a:xfrm>
          <a:prstGeom prst="roundRect">
            <a:avLst>
              <a:gd name="adj" fmla="val 7692"/>
            </a:avLst>
          </a:prstGeom>
          <a:solidFill>
            <a:srgbClr val="FDF3DF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72" name="Text 169"/>
          <p:cNvSpPr txBox="1"/>
          <p:nvPr/>
        </p:nvSpPr>
        <p:spPr>
          <a:xfrm>
            <a:off x="7214616" y="9381744"/>
            <a:ext cx="29900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  </a:t>
            </a:r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Kappa paradox: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when one category is very common, κ can be low despite high observed agreement. Report κ together with </a:t>
            </a:r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PABAK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and the observed agreement.</a:t>
            </a:r>
            <a:endParaRPr lang="en-US" sz="950" dirty="0"/>
          </a:p>
        </p:txBody>
      </p:sp>
      <p:sp>
        <p:nvSpPr>
          <p:cNvPr id="173" name="Shape 170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74" name="Text 171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</a:t>
            </a:r>
            <a:endParaRPr lang="en-US" sz="1600" dirty="0"/>
          </a:p>
        </p:txBody>
      </p:sp>
      <p:sp>
        <p:nvSpPr>
          <p:cNvPr id="175" name="Text 172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Plan the sample size</a:t>
            </a:r>
            <a:endParaRPr lang="en-US" sz="2000" dirty="0"/>
          </a:p>
        </p:txBody>
      </p:sp>
      <p:sp>
        <p:nvSpPr>
          <p:cNvPr id="176" name="Shape 173"/>
          <p:cNvSpPr/>
          <p:nvPr/>
        </p:nvSpPr>
        <p:spPr>
          <a:xfrm>
            <a:off x="10479024" y="2194560"/>
            <a:ext cx="3172968" cy="987552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77" name="Text 174"/>
          <p:cNvSpPr txBox="1"/>
          <p:nvPr/>
        </p:nvSpPr>
        <p:spPr>
          <a:xfrm>
            <a:off x="10588752" y="228600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Set to NA what you want to compute.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NA, power = 0.80</a:t>
            </a:r>
            <a:pPr indent="0" marL="0">
              <a:buNone/>
            </a:pPr>
            <a:r>
              <a:rPr lang="en-US" sz="1000" dirty="0">
                <a:solidFill>
                  <a:srgbClr val="C9D2E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→ sample size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300, power = NA</a:t>
            </a:r>
            <a:pPr indent="0" marL="0">
              <a:buNone/>
            </a:pPr>
            <a:r>
              <a:rPr lang="en-US" sz="1000" dirty="0">
                <a:solidFill>
                  <a:srgbClr val="C9D2E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→ power (0.82, case-control)</a:t>
            </a:r>
            <a:endParaRPr lang="en-US" sz="1000" dirty="0"/>
          </a:p>
        </p:txBody>
      </p:sp>
      <p:sp>
        <p:nvSpPr>
          <p:cNvPr id="178" name="Text 175"/>
          <p:cNvSpPr txBox="1"/>
          <p:nvPr/>
        </p:nvSpPr>
        <p:spPr>
          <a:xfrm>
            <a:off x="10479024" y="32918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Prevalence survey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15% ± 20% (relative)</a:t>
            </a:r>
            <a:endParaRPr lang="en-US" sz="1050" dirty="0"/>
          </a:p>
        </p:txBody>
      </p:sp>
      <p:sp>
        <p:nvSpPr>
          <p:cNvPr id="179" name="Text 176"/>
          <p:cNvSpPr txBox="1"/>
          <p:nvPr/>
        </p:nvSpPr>
        <p:spPr>
          <a:xfrm>
            <a:off x="12874752" y="32552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= </a:t>
            </a:r>
            <a:pPr algn="r"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545</a:t>
            </a:r>
            <a:endParaRPr lang="en-US" sz="1100" dirty="0"/>
          </a:p>
        </p:txBody>
      </p:sp>
      <p:sp>
        <p:nvSpPr>
          <p:cNvPr id="180" name="Shape 177"/>
          <p:cNvSpPr/>
          <p:nvPr/>
        </p:nvSpPr>
        <p:spPr>
          <a:xfrm>
            <a:off x="10479024" y="3538728"/>
            <a:ext cx="3172968" cy="573786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81" name="Text 178"/>
          <p:cNvSpPr txBox="1"/>
          <p:nvPr/>
        </p:nvSpPr>
        <p:spPr>
          <a:xfrm>
            <a:off x="10552176" y="3602736"/>
            <a:ext cx="304495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epi.sssimpleestb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(Py = 0.15,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epsilon = 0.20, error =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"relative"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 = 1, sp = 1)</a:t>
            </a:r>
            <a:endParaRPr lang="en-US" sz="1100" dirty="0"/>
          </a:p>
        </p:txBody>
      </p:sp>
      <p:sp>
        <p:nvSpPr>
          <p:cNvPr id="182" name="Text 179"/>
          <p:cNvSpPr txBox="1"/>
          <p:nvPr/>
        </p:nvSpPr>
        <p:spPr>
          <a:xfrm>
            <a:off x="10479024" y="420395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Cross-sectional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outcome 25% vs 15%</a:t>
            </a:r>
            <a:endParaRPr lang="en-US" sz="1050" dirty="0"/>
          </a:p>
        </p:txBody>
      </p:sp>
      <p:sp>
        <p:nvSpPr>
          <p:cNvPr id="183" name="Text 180"/>
          <p:cNvSpPr txBox="1"/>
          <p:nvPr/>
        </p:nvSpPr>
        <p:spPr>
          <a:xfrm>
            <a:off x="12874752" y="416737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= </a:t>
            </a:r>
            <a:pPr algn="r"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500</a:t>
            </a:r>
            <a:endParaRPr lang="en-US" sz="1100" dirty="0"/>
          </a:p>
        </p:txBody>
      </p:sp>
      <p:sp>
        <p:nvSpPr>
          <p:cNvPr id="184" name="Shape 181"/>
          <p:cNvSpPr/>
          <p:nvPr/>
        </p:nvSpPr>
        <p:spPr>
          <a:xfrm>
            <a:off x="10479024" y="4450842"/>
            <a:ext cx="3172968" cy="43129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85" name="Text 182"/>
          <p:cNvSpPr txBox="1"/>
          <p:nvPr/>
        </p:nvSpPr>
        <p:spPr>
          <a:xfrm>
            <a:off x="10552176" y="4514850"/>
            <a:ext cx="30449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epi.ssxsectn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(pdexp1 = 0.25,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pdexp0 = 0.15, n = NA, power = 0.80)</a:t>
            </a:r>
            <a:endParaRPr lang="en-US" sz="1100" dirty="0"/>
          </a:p>
        </p:txBody>
      </p:sp>
      <p:sp>
        <p:nvSpPr>
          <p:cNvPr id="186" name="Text 183"/>
          <p:cNvSpPr txBox="1"/>
          <p:nvPr/>
        </p:nvSpPr>
        <p:spPr>
          <a:xfrm>
            <a:off x="10479024" y="497357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Cohort (risks)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risk 25% vs 15%</a:t>
            </a:r>
            <a:endParaRPr lang="en-US" sz="1050" dirty="0"/>
          </a:p>
        </p:txBody>
      </p:sp>
      <p:sp>
        <p:nvSpPr>
          <p:cNvPr id="187" name="Text 184"/>
          <p:cNvSpPr txBox="1"/>
          <p:nvPr/>
        </p:nvSpPr>
        <p:spPr>
          <a:xfrm>
            <a:off x="12874752" y="493699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= </a:t>
            </a:r>
            <a:pPr algn="r"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500</a:t>
            </a:r>
            <a:endParaRPr lang="en-US" sz="1100" dirty="0"/>
          </a:p>
        </p:txBody>
      </p:sp>
      <p:sp>
        <p:nvSpPr>
          <p:cNvPr id="188" name="Shape 185"/>
          <p:cNvSpPr/>
          <p:nvPr/>
        </p:nvSpPr>
        <p:spPr>
          <a:xfrm>
            <a:off x="10479024" y="5220462"/>
            <a:ext cx="3172968" cy="43129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89" name="Text 186"/>
          <p:cNvSpPr txBox="1"/>
          <p:nvPr/>
        </p:nvSpPr>
        <p:spPr>
          <a:xfrm>
            <a:off x="10552176" y="5284470"/>
            <a:ext cx="30449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epi.sscohortc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(irexp1 = 0.25,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irexp0 = 0.15, n = NA, power = 0.80)</a:t>
            </a:r>
            <a:endParaRPr lang="en-US" sz="1100" dirty="0"/>
          </a:p>
        </p:txBody>
      </p:sp>
      <p:sp>
        <p:nvSpPr>
          <p:cNvPr id="190" name="Text 187"/>
          <p:cNvSpPr txBox="1"/>
          <p:nvPr/>
        </p:nvSpPr>
        <p:spPr>
          <a:xfrm>
            <a:off x="10479024" y="574319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Case-control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OR 2, 30% exposed controls</a:t>
            </a:r>
            <a:endParaRPr lang="en-US" sz="1050" dirty="0"/>
          </a:p>
        </p:txBody>
      </p:sp>
      <p:sp>
        <p:nvSpPr>
          <p:cNvPr id="191" name="Text 188"/>
          <p:cNvSpPr txBox="1"/>
          <p:nvPr/>
        </p:nvSpPr>
        <p:spPr>
          <a:xfrm>
            <a:off x="12874752" y="570661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= </a:t>
            </a:r>
            <a:pPr algn="r"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282</a:t>
            </a:r>
            <a:endParaRPr lang="en-US" sz="1100" dirty="0"/>
          </a:p>
        </p:txBody>
      </p:sp>
      <p:sp>
        <p:nvSpPr>
          <p:cNvPr id="192" name="Shape 189"/>
          <p:cNvSpPr/>
          <p:nvPr/>
        </p:nvSpPr>
        <p:spPr>
          <a:xfrm>
            <a:off x="10479024" y="5990082"/>
            <a:ext cx="3172968" cy="43129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3" name="Text 190"/>
          <p:cNvSpPr txBox="1"/>
          <p:nvPr/>
        </p:nvSpPr>
        <p:spPr>
          <a:xfrm>
            <a:off x="10552176" y="6054090"/>
            <a:ext cx="30449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epi.sscc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 = 2, p0 = 0.30,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NA, power = 0.80, r = 1)</a:t>
            </a:r>
            <a:endParaRPr lang="en-US" sz="1100" dirty="0"/>
          </a:p>
        </p:txBody>
      </p:sp>
      <p:sp>
        <p:nvSpPr>
          <p:cNvPr id="194" name="Text 191"/>
          <p:cNvSpPr txBox="1"/>
          <p:nvPr/>
        </p:nvSpPr>
        <p:spPr>
          <a:xfrm>
            <a:off x="10479024" y="651281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Two means (trial)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difference 5, SD 10</a:t>
            </a:r>
            <a:endParaRPr lang="en-US" sz="1050" dirty="0"/>
          </a:p>
        </p:txBody>
      </p:sp>
      <p:sp>
        <p:nvSpPr>
          <p:cNvPr id="195" name="Text 192"/>
          <p:cNvSpPr txBox="1"/>
          <p:nvPr/>
        </p:nvSpPr>
        <p:spPr>
          <a:xfrm>
            <a:off x="12874752" y="647623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= </a:t>
            </a:r>
            <a:pPr algn="r"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126</a:t>
            </a:r>
            <a:endParaRPr lang="en-US" sz="1100" dirty="0"/>
          </a:p>
        </p:txBody>
      </p:sp>
      <p:sp>
        <p:nvSpPr>
          <p:cNvPr id="196" name="Shape 193"/>
          <p:cNvSpPr/>
          <p:nvPr/>
        </p:nvSpPr>
        <p:spPr>
          <a:xfrm>
            <a:off x="10479024" y="6759702"/>
            <a:ext cx="3172968" cy="43129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7" name="Text 194"/>
          <p:cNvSpPr txBox="1"/>
          <p:nvPr/>
        </p:nvSpPr>
        <p:spPr>
          <a:xfrm>
            <a:off x="10552176" y="6823710"/>
            <a:ext cx="30449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epi.sscompc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(treat = 5, control = 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sigma = 10, n = NA, power = 0.80)</a:t>
            </a:r>
            <a:endParaRPr lang="en-US" sz="1100" dirty="0"/>
          </a:p>
        </p:txBody>
      </p:sp>
      <p:sp>
        <p:nvSpPr>
          <p:cNvPr id="198" name="Text 195"/>
          <p:cNvSpPr txBox="1"/>
          <p:nvPr/>
        </p:nvSpPr>
        <p:spPr>
          <a:xfrm>
            <a:off x="10479024" y="730072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ratio of groups (e.g. 2 controls per case: n = 320) · </a:t>
            </a:r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sided.test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2 · </a:t>
            </a:r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conf.level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0.95</a:t>
            </a:r>
            <a:endParaRPr lang="en-US" sz="950" dirty="0"/>
          </a:p>
        </p:txBody>
      </p:sp>
      <p:sp>
        <p:nvSpPr>
          <p:cNvPr id="199" name="Text 196"/>
          <p:cNvSpPr txBox="1"/>
          <p:nvPr/>
        </p:nvSpPr>
        <p:spPr>
          <a:xfrm>
            <a:off x="10479024" y="775792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CLUSTER SAMPLING</a:t>
            </a:r>
            <a:endParaRPr lang="en-US" sz="1000" dirty="0"/>
          </a:p>
        </p:txBody>
      </p:sp>
      <p:sp>
        <p:nvSpPr>
          <p:cNvPr id="200" name="Text 197"/>
          <p:cNvSpPr txBox="1"/>
          <p:nvPr/>
        </p:nvSpPr>
        <p:spPr>
          <a:xfrm>
            <a:off x="10479024" y="800481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Subjects within a cluster are alike, so n grows by DEF = 1 + ρ(b − 1).</a:t>
            </a:r>
            <a:endParaRPr lang="en-US" sz="950" dirty="0"/>
          </a:p>
        </p:txBody>
      </p:sp>
      <p:sp>
        <p:nvSpPr>
          <p:cNvPr id="201" name="Shape 198"/>
          <p:cNvSpPr/>
          <p:nvPr/>
        </p:nvSpPr>
        <p:spPr>
          <a:xfrm>
            <a:off x="10479024" y="8407146"/>
            <a:ext cx="3172968" cy="573786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02" name="Text 199"/>
          <p:cNvSpPr txBox="1"/>
          <p:nvPr/>
        </p:nvSpPr>
        <p:spPr>
          <a:xfrm>
            <a:off x="10552176" y="8471154"/>
            <a:ext cx="304495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epi.ssclus1estb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 20, Py = 0.20,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epsilon = 0.25, error =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"relative"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rho = 0.02)</a:t>
            </a:r>
            <a:endParaRPr lang="en-US" sz="1100" dirty="0"/>
          </a:p>
        </p:txBody>
      </p:sp>
      <p:sp>
        <p:nvSpPr>
          <p:cNvPr id="203" name="Text 200"/>
          <p:cNvSpPr txBox="1"/>
          <p:nvPr/>
        </p:nvSpPr>
        <p:spPr>
          <a:xfrm>
            <a:off x="10479024" y="901750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n-US" sz="11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17 clusters × 20 = 340</a:t>
            </a:r>
            <a:pPr algn="r"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(DEF 1.38)</a:t>
            </a:r>
            <a:endParaRPr lang="en-US" sz="950" dirty="0"/>
          </a:p>
        </p:txBody>
      </p:sp>
      <p:sp>
        <p:nvSpPr>
          <p:cNvPr id="204" name="Text 201"/>
          <p:cNvSpPr txBox="1"/>
          <p:nvPr/>
        </p:nvSpPr>
        <p:spPr>
          <a:xfrm>
            <a:off x="10479024" y="927354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epiR warns: at least 25 clusters are recommended.</a:t>
            </a:r>
            <a:endParaRPr lang="en-US" sz="900" dirty="0"/>
          </a:p>
        </p:txBody>
      </p:sp>
      <p:sp>
        <p:nvSpPr>
          <p:cNvPr id="205" name="Shape 202"/>
          <p:cNvSpPr/>
          <p:nvPr/>
        </p:nvSpPr>
        <p:spPr>
          <a:xfrm>
            <a:off x="10479024" y="9566148"/>
            <a:ext cx="3172968" cy="566928"/>
          </a:xfrm>
          <a:prstGeom prst="roundRect">
            <a:avLst>
              <a:gd name="adj" fmla="val 9677"/>
            </a:avLst>
          </a:prstGeom>
          <a:solidFill>
            <a:srgbClr val="FDF3DF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206" name="Text 203"/>
          <p:cNvSpPr txBox="1"/>
          <p:nvPr/>
        </p:nvSpPr>
        <p:spPr>
          <a:xfrm>
            <a:off x="10570464" y="9630156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Expect losses? Divide n by (1 − loss rate): 545 ÷ 0.90 = 606 for 10% non-response.</a:t>
            </a:r>
            <a:endParaRPr lang="en-US" sz="950" dirty="0"/>
          </a:p>
        </p:txBody>
      </p:sp>
      <p:sp>
        <p:nvSpPr>
          <p:cNvPr id="207" name="Text 204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pPr algn="r" indent="0" marL="0">
              <a:buNone/>
            </a:pPr>
            <a:r>
              <a:rPr lang="en-US" sz="900" u="sng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Learn more at 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browseVignettes("epiR")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epiR version 2.0.99  •  Updated: 2026-10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Sans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Epidemiology with epiR :: CHEAT SHEET</dc:title>
  <dc:subject>PptxGenJS Presentation</dc:subject>
  <dc:creator>Anthony Romero-Cerdán</dc:creator>
  <cp:lastModifiedBy>Anthony Romero-Cerdán</cp:lastModifiedBy>
  <cp:revision>1</cp:revision>
  <dcterms:created xsi:type="dcterms:W3CDTF">2026-10-12T20:34:35Z</dcterms:created>
  <dcterms:modified xsi:type="dcterms:W3CDTF">2026-10-12T20:34:35Z</dcterms:modified>
</cp:coreProperties>
</file>