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9" r:id="rId3"/>
  </p:sldIdLst>
  <p:sldSz cx="13970000" cy="10795000"/>
  <p:notesSz cx="6797675" cy="9926638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B0DC"/>
    <a:srgbClr val="144F8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911" autoAdjust="0"/>
    <p:restoredTop sz="94660"/>
  </p:normalViewPr>
  <p:slideViewPr>
    <p:cSldViewPr snapToGrid="0">
      <p:cViewPr>
        <p:scale>
          <a:sx n="100" d="100"/>
          <a:sy n="100" d="100"/>
        </p:scale>
        <p:origin x="-149" y="-1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Romero" userId="6b0392680c44eebc" providerId="LiveId" clId="{DEF369C7-D875-4089-BC3A-2A58E6AC2C22}"/>
    <pc:docChg chg="undo custSel modSld">
      <pc:chgData name="Anthony Romero" userId="6b0392680c44eebc" providerId="LiveId" clId="{DEF369C7-D875-4089-BC3A-2A58E6AC2C22}" dt="2026-10-12T15:33:13.528" v="44" actId="1076"/>
      <pc:docMkLst>
        <pc:docMk/>
      </pc:docMkLst>
      <pc:sldChg chg="modSp mod">
        <pc:chgData name="Anthony Romero" userId="6b0392680c44eebc" providerId="LiveId" clId="{DEF369C7-D875-4089-BC3A-2A58E6AC2C22}" dt="2026-10-12T15:31:17.540" v="39" actId="1076"/>
        <pc:sldMkLst>
          <pc:docMk/>
          <pc:sldMk cId="0" sldId="256"/>
        </pc:sldMkLst>
        <pc:spChg chg="mod">
          <ac:chgData name="Anthony Romero" userId="6b0392680c44eebc" providerId="LiveId" clId="{DEF369C7-D875-4089-BC3A-2A58E6AC2C22}" dt="2026-10-12T15:31:17.540" v="39" actId="1076"/>
          <ac:spMkLst>
            <pc:docMk/>
            <pc:sldMk cId="0" sldId="256"/>
            <ac:spMk id="152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29:01.668" v="1" actId="1076"/>
          <ac:spMkLst>
            <pc:docMk/>
            <pc:sldMk cId="0" sldId="256"/>
            <ac:spMk id="197" creationId="{6A39928D-BB47-4A14-AF29-260EC10D2309}"/>
          </ac:spMkLst>
        </pc:spChg>
        <pc:spChg chg="mod">
          <ac:chgData name="Anthony Romero" userId="6b0392680c44eebc" providerId="LiveId" clId="{DEF369C7-D875-4089-BC3A-2A58E6AC2C22}" dt="2026-10-12T15:30:05.337" v="14" actId="2710"/>
          <ac:spMkLst>
            <pc:docMk/>
            <pc:sldMk cId="0" sldId="256"/>
            <ac:spMk id="298" creationId="{6C8A2469-BBBD-401A-BB0B-3C4BD3B034B4}"/>
          </ac:spMkLst>
        </pc:spChg>
        <pc:spChg chg="mod">
          <ac:chgData name="Anthony Romero" userId="6b0392680c44eebc" providerId="LiveId" clId="{DEF369C7-D875-4089-BC3A-2A58E6AC2C22}" dt="2026-10-12T15:29:07.859" v="2" actId="123"/>
          <ac:spMkLst>
            <pc:docMk/>
            <pc:sldMk cId="0" sldId="256"/>
            <ac:spMk id="303" creationId="{B31A4758-30FD-4C6A-B5FC-4EF597901D51}"/>
          </ac:spMkLst>
        </pc:spChg>
        <pc:spChg chg="mod">
          <ac:chgData name="Anthony Romero" userId="6b0392680c44eebc" providerId="LiveId" clId="{DEF369C7-D875-4089-BC3A-2A58E6AC2C22}" dt="2026-10-12T15:30:44.253" v="15" actId="948"/>
          <ac:spMkLst>
            <pc:docMk/>
            <pc:sldMk cId="0" sldId="256"/>
            <ac:spMk id="305" creationId="{568B508E-0BF4-4AC6-AB86-728EF1931810}"/>
          </ac:spMkLst>
        </pc:spChg>
        <pc:spChg chg="mod">
          <ac:chgData name="Anthony Romero" userId="6b0392680c44eebc" providerId="LiveId" clId="{DEF369C7-D875-4089-BC3A-2A58E6AC2C22}" dt="2026-10-12T15:30:54.985" v="38" actId="1035"/>
          <ac:spMkLst>
            <pc:docMk/>
            <pc:sldMk cId="0" sldId="256"/>
            <ac:spMk id="318" creationId="{CF6B3099-E0FD-4387-B8A0-F07565B34649}"/>
          </ac:spMkLst>
        </pc:spChg>
        <pc:grpChg chg="mod">
          <ac:chgData name="Anthony Romero" userId="6b0392680c44eebc" providerId="LiveId" clId="{DEF369C7-D875-4089-BC3A-2A58E6AC2C22}" dt="2026-10-12T15:29:42.113" v="12" actId="1035"/>
          <ac:grpSpMkLst>
            <pc:docMk/>
            <pc:sldMk cId="0" sldId="256"/>
            <ac:grpSpMk id="297" creationId="{97C4E182-DF47-4F0B-B5F9-E3C9909B38D8}"/>
          </ac:grpSpMkLst>
        </pc:grpChg>
        <pc:grpChg chg="mod">
          <ac:chgData name="Anthony Romero" userId="6b0392680c44eebc" providerId="LiveId" clId="{DEF369C7-D875-4089-BC3A-2A58E6AC2C22}" dt="2026-10-12T15:29:34.917" v="4" actId="1035"/>
          <ac:grpSpMkLst>
            <pc:docMk/>
            <pc:sldMk cId="0" sldId="256"/>
            <ac:grpSpMk id="312" creationId="{467A2E45-3A7C-41FE-B71F-9CB06D573AE1}"/>
          </ac:grpSpMkLst>
        </pc:grpChg>
        <pc:grpChg chg="mod">
          <ac:chgData name="Anthony Romero" userId="6b0392680c44eebc" providerId="LiveId" clId="{DEF369C7-D875-4089-BC3A-2A58E6AC2C22}" dt="2026-10-12T15:30:48.749" v="23" actId="1035"/>
          <ac:grpSpMkLst>
            <pc:docMk/>
            <pc:sldMk cId="0" sldId="256"/>
            <ac:grpSpMk id="315" creationId="{11ABD972-3320-4D02-938F-ACCFBF233CE2}"/>
          </ac:grpSpMkLst>
        </pc:grpChg>
      </pc:sldChg>
      <pc:sldChg chg="modSp mod">
        <pc:chgData name="Anthony Romero" userId="6b0392680c44eebc" providerId="LiveId" clId="{DEF369C7-D875-4089-BC3A-2A58E6AC2C22}" dt="2026-10-12T15:33:13.528" v="44" actId="1076"/>
        <pc:sldMkLst>
          <pc:docMk/>
          <pc:sldMk cId="568326052" sldId="259"/>
        </pc:sldMkLst>
        <pc:spChg chg="mod">
          <ac:chgData name="Anthony Romero" userId="6b0392680c44eebc" providerId="LiveId" clId="{DEF369C7-D875-4089-BC3A-2A58E6AC2C22}" dt="2026-10-12T15:32:42.765" v="41" actId="123"/>
          <ac:spMkLst>
            <pc:docMk/>
            <pc:sldMk cId="568326052" sldId="259"/>
            <ac:spMk id="72" creationId="{99BEADFF-2910-4CAE-B4DA-402F6CAB35A3}"/>
          </ac:spMkLst>
        </pc:spChg>
        <pc:spChg chg="mod">
          <ac:chgData name="Anthony Romero" userId="6b0392680c44eebc" providerId="LiveId" clId="{DEF369C7-D875-4089-BC3A-2A58E6AC2C22}" dt="2026-10-12T15:32:35.215" v="40" actId="1076"/>
          <ac:spMkLst>
            <pc:docMk/>
            <pc:sldMk cId="568326052" sldId="259"/>
            <ac:spMk id="152" creationId="{00000000-0000-0000-0000-000000000000}"/>
          </ac:spMkLst>
        </pc:spChg>
        <pc:spChg chg="mod">
          <ac:chgData name="Anthony Romero" userId="6b0392680c44eebc" providerId="LiveId" clId="{DEF369C7-D875-4089-BC3A-2A58E6AC2C22}" dt="2026-10-12T15:33:07.799" v="42" actId="1076"/>
          <ac:spMkLst>
            <pc:docMk/>
            <pc:sldMk cId="568326052" sldId="259"/>
            <ac:spMk id="320" creationId="{329F79FD-A3AE-43D8-A8A8-7F3552E3D93F}"/>
          </ac:spMkLst>
        </pc:spChg>
        <pc:grpChg chg="mod">
          <ac:chgData name="Anthony Romero" userId="6b0392680c44eebc" providerId="LiveId" clId="{DEF369C7-D875-4089-BC3A-2A58E6AC2C22}" dt="2026-10-12T15:33:13.528" v="44" actId="1076"/>
          <ac:grpSpMkLst>
            <pc:docMk/>
            <pc:sldMk cId="568326052" sldId="259"/>
            <ac:grpSpMk id="323" creationId="{986D0DFA-5281-4D52-BC5C-AB5935F0012C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990600" y="744538"/>
            <a:ext cx="4816475" cy="37226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6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0600" y="744538"/>
            <a:ext cx="4816475" cy="37226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0577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0600" y="744538"/>
            <a:ext cx="4816475" cy="37226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7766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123472" indent="-123472">
              <a:defRPr sz="1000"/>
            </a:lvl1pPr>
            <a:lvl2pPr marL="567972" indent="-123472">
              <a:defRPr sz="1000"/>
            </a:lvl2pPr>
            <a:lvl3pPr marL="1012472" indent="-123472">
              <a:defRPr sz="1000"/>
            </a:lvl3pPr>
            <a:lvl4pPr marL="1456972" indent="-123472">
              <a:defRPr sz="1000"/>
            </a:lvl4pPr>
            <a:lvl5pPr marL="1901472" indent="-123472">
              <a:defRPr sz="1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">
            <a:extLst>
              <a:ext uri="{FF2B5EF4-FFF2-40B4-BE49-F238E27FC236}">
                <a16:creationId xmlns:a16="http://schemas.microsoft.com/office/drawing/2014/main" id="{D9AFB4AE-4411-4394-A2D5-8CD190B252D5}"/>
              </a:ext>
            </a:extLst>
          </p:cNvPr>
          <p:cNvGrpSpPr/>
          <p:nvPr/>
        </p:nvGrpSpPr>
        <p:grpSpPr>
          <a:xfrm>
            <a:off x="8369105" y="-1013161"/>
            <a:ext cx="6159575" cy="3553962"/>
            <a:chOff x="0" y="51032"/>
            <a:chExt cx="6159573" cy="3553961"/>
          </a:xfrm>
        </p:grpSpPr>
        <p:grpSp>
          <p:nvGrpSpPr>
            <p:cNvPr id="48" name="Group">
              <a:extLst>
                <a:ext uri="{FF2B5EF4-FFF2-40B4-BE49-F238E27FC236}">
                  <a16:creationId xmlns:a16="http://schemas.microsoft.com/office/drawing/2014/main" id="{A4EE3BCC-61B4-41C2-AABE-49E2A33D9F47}"/>
                </a:ext>
              </a:extLst>
            </p:cNvPr>
            <p:cNvGrpSpPr/>
            <p:nvPr/>
          </p:nvGrpSpPr>
          <p:grpSpPr>
            <a:xfrm>
              <a:off x="24975" y="51032"/>
              <a:ext cx="6134599" cy="2980091"/>
              <a:chOff x="0" y="51032"/>
              <a:chExt cx="6134598" cy="2980090"/>
            </a:xfrm>
          </p:grpSpPr>
          <p:sp>
            <p:nvSpPr>
              <p:cNvPr id="51" name="Triangle">
                <a:extLst>
                  <a:ext uri="{FF2B5EF4-FFF2-40B4-BE49-F238E27FC236}">
                    <a16:creationId xmlns:a16="http://schemas.microsoft.com/office/drawing/2014/main" id="{892A0D42-3AEA-4CC3-8360-F7D1F23E0451}"/>
                  </a:ext>
                </a:extLst>
              </p:cNvPr>
              <p:cNvSpPr/>
              <p:nvPr/>
            </p:nvSpPr>
            <p:spPr>
              <a:xfrm rot="1800000">
                <a:off x="1177377" y="304285"/>
                <a:ext cx="1319509" cy="1143860"/>
              </a:xfrm>
              <a:prstGeom prst="triangle">
                <a:avLst/>
              </a:prstGeom>
              <a:solidFill>
                <a:srgbClr val="DEDFE0"/>
              </a:solidFill>
              <a:ln w="3175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2" name="Circle">
                <a:extLst>
                  <a:ext uri="{FF2B5EF4-FFF2-40B4-BE49-F238E27FC236}">
                    <a16:creationId xmlns:a16="http://schemas.microsoft.com/office/drawing/2014/main" id="{EC10128D-089A-4997-A9AA-EE186ACC87C4}"/>
                  </a:ext>
                </a:extLst>
              </p:cNvPr>
              <p:cNvSpPr/>
              <p:nvPr/>
            </p:nvSpPr>
            <p:spPr>
              <a:xfrm flipH="1">
                <a:off x="1550782" y="838357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3" name="Circle">
                <a:extLst>
                  <a:ext uri="{FF2B5EF4-FFF2-40B4-BE49-F238E27FC236}">
                    <a16:creationId xmlns:a16="http://schemas.microsoft.com/office/drawing/2014/main" id="{752FF101-5E43-4000-9D2D-84903A55F28A}"/>
                  </a:ext>
                </a:extLst>
              </p:cNvPr>
              <p:cNvSpPr/>
              <p:nvPr/>
            </p:nvSpPr>
            <p:spPr>
              <a:xfrm flipH="1">
                <a:off x="0" y="819778"/>
                <a:ext cx="422089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4" name="Triangle">
                <a:extLst>
                  <a:ext uri="{FF2B5EF4-FFF2-40B4-BE49-F238E27FC236}">
                    <a16:creationId xmlns:a16="http://schemas.microsoft.com/office/drawing/2014/main" id="{21BBEA81-7A68-4DFF-8BCF-EB00B36E3261}"/>
                  </a:ext>
                </a:extLst>
              </p:cNvPr>
              <p:cNvSpPr/>
              <p:nvPr/>
            </p:nvSpPr>
            <p:spPr>
              <a:xfrm rot="19800000">
                <a:off x="2896973" y="973389"/>
                <a:ext cx="1319509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5" name="Triangle">
                <a:extLst>
                  <a:ext uri="{FF2B5EF4-FFF2-40B4-BE49-F238E27FC236}">
                    <a16:creationId xmlns:a16="http://schemas.microsoft.com/office/drawing/2014/main" id="{326C4588-3A9C-44B1-AB9A-8369C15ACADB}"/>
                  </a:ext>
                </a:extLst>
              </p:cNvPr>
              <p:cNvSpPr/>
              <p:nvPr/>
            </p:nvSpPr>
            <p:spPr>
              <a:xfrm rot="1800000">
                <a:off x="3470359" y="1634009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6" name="Circle">
                <a:extLst>
                  <a:ext uri="{FF2B5EF4-FFF2-40B4-BE49-F238E27FC236}">
                    <a16:creationId xmlns:a16="http://schemas.microsoft.com/office/drawing/2014/main" id="{5565A25A-DA8A-498E-9488-79F9D13DEDBA}"/>
                  </a:ext>
                </a:extLst>
              </p:cNvPr>
              <p:cNvSpPr/>
              <p:nvPr/>
            </p:nvSpPr>
            <p:spPr>
              <a:xfrm flipH="1">
                <a:off x="3461021" y="150746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7" name="Circle">
                <a:extLst>
                  <a:ext uri="{FF2B5EF4-FFF2-40B4-BE49-F238E27FC236}">
                    <a16:creationId xmlns:a16="http://schemas.microsoft.com/office/drawing/2014/main" id="{81AA65C6-DEB9-467E-8FD4-77CB2624D3E4}"/>
                  </a:ext>
                </a:extLst>
              </p:cNvPr>
              <p:cNvSpPr/>
              <p:nvPr/>
            </p:nvSpPr>
            <p:spPr>
              <a:xfrm flipH="1">
                <a:off x="3843763" y="2168082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8" name="Triangle">
                <a:extLst>
                  <a:ext uri="{FF2B5EF4-FFF2-40B4-BE49-F238E27FC236}">
                    <a16:creationId xmlns:a16="http://schemas.microsoft.com/office/drawing/2014/main" id="{4C1C6395-2204-4485-B467-C6EB8EFC4B77}"/>
                  </a:ext>
                </a:extLst>
              </p:cNvPr>
              <p:cNvSpPr/>
              <p:nvPr/>
            </p:nvSpPr>
            <p:spPr>
              <a:xfrm rot="1800000">
                <a:off x="3470359" y="312963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9" name="Circle">
                <a:extLst>
                  <a:ext uri="{FF2B5EF4-FFF2-40B4-BE49-F238E27FC236}">
                    <a16:creationId xmlns:a16="http://schemas.microsoft.com/office/drawing/2014/main" id="{86CD7798-6998-481F-B798-C6085F812656}"/>
                  </a:ext>
                </a:extLst>
              </p:cNvPr>
              <p:cNvSpPr/>
              <p:nvPr/>
            </p:nvSpPr>
            <p:spPr>
              <a:xfrm flipH="1">
                <a:off x="3843763" y="847036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0" name="Triangle">
                <a:extLst>
                  <a:ext uri="{FF2B5EF4-FFF2-40B4-BE49-F238E27FC236}">
                    <a16:creationId xmlns:a16="http://schemas.microsoft.com/office/drawing/2014/main" id="{9A7AF4BA-F7EE-47BF-AF53-8E60553C0F90}"/>
                  </a:ext>
                </a:extLst>
              </p:cNvPr>
              <p:cNvSpPr/>
              <p:nvPr/>
            </p:nvSpPr>
            <p:spPr>
              <a:xfrm rot="19800000">
                <a:off x="4044130" y="318647"/>
                <a:ext cx="1319509" cy="1143861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1" name="Circle">
                <a:extLst>
                  <a:ext uri="{FF2B5EF4-FFF2-40B4-BE49-F238E27FC236}">
                    <a16:creationId xmlns:a16="http://schemas.microsoft.com/office/drawing/2014/main" id="{324B0812-A810-455E-96F1-3692778130D2}"/>
                  </a:ext>
                </a:extLst>
              </p:cNvPr>
              <p:cNvSpPr/>
              <p:nvPr/>
            </p:nvSpPr>
            <p:spPr>
              <a:xfrm flipH="1">
                <a:off x="4608178" y="852720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2" name="Triangle">
                <a:extLst>
                  <a:ext uri="{FF2B5EF4-FFF2-40B4-BE49-F238E27FC236}">
                    <a16:creationId xmlns:a16="http://schemas.microsoft.com/office/drawing/2014/main" id="{5774AB1F-C474-4B48-B10D-EFF9469BA0E7}"/>
                  </a:ext>
                </a:extLst>
              </p:cNvPr>
              <p:cNvSpPr/>
              <p:nvPr/>
            </p:nvSpPr>
            <p:spPr>
              <a:xfrm rot="1800000">
                <a:off x="4617515" y="979268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3" name="Circle">
                <a:extLst>
                  <a:ext uri="{FF2B5EF4-FFF2-40B4-BE49-F238E27FC236}">
                    <a16:creationId xmlns:a16="http://schemas.microsoft.com/office/drawing/2014/main" id="{DDB256B9-8953-4682-9676-65309474A55D}"/>
                  </a:ext>
                </a:extLst>
              </p:cNvPr>
              <p:cNvSpPr/>
              <p:nvPr/>
            </p:nvSpPr>
            <p:spPr>
              <a:xfrm flipH="1">
                <a:off x="4990920" y="1513341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4" name="Triangle">
                <a:extLst>
                  <a:ext uri="{FF2B5EF4-FFF2-40B4-BE49-F238E27FC236}">
                    <a16:creationId xmlns:a16="http://schemas.microsoft.com/office/drawing/2014/main" id="{B5EE6D88-3404-4E8B-9048-DAE6CB23964E}"/>
                  </a:ext>
                </a:extLst>
              </p:cNvPr>
              <p:cNvSpPr/>
              <p:nvPr/>
            </p:nvSpPr>
            <p:spPr>
              <a:xfrm rot="19800000">
                <a:off x="1751148" y="309969"/>
                <a:ext cx="1319510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5" name="Circle">
                <a:extLst>
                  <a:ext uri="{FF2B5EF4-FFF2-40B4-BE49-F238E27FC236}">
                    <a16:creationId xmlns:a16="http://schemas.microsoft.com/office/drawing/2014/main" id="{ACED8F35-5839-4BC7-8B07-E5657EA780CB}"/>
                  </a:ext>
                </a:extLst>
              </p:cNvPr>
              <p:cNvSpPr/>
              <p:nvPr/>
            </p:nvSpPr>
            <p:spPr>
              <a:xfrm flipH="1">
                <a:off x="2315196" y="84404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DC477123-A2DB-49D9-942D-649F748EEAC9}"/>
                </a:ext>
              </a:extLst>
            </p:cNvPr>
            <p:cNvSpPr/>
            <p:nvPr/>
          </p:nvSpPr>
          <p:spPr>
            <a:xfrm>
              <a:off x="1682" y="1038072"/>
              <a:ext cx="5593304" cy="2566922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0382">
                  <a:srgbClr val="FFFFFF">
                    <a:alpha val="45796"/>
                  </a:srgbClr>
                </a:gs>
                <a:gs pos="35803">
                  <a:srgbClr val="FFFFFF">
                    <a:alpha val="72898"/>
                  </a:srgbClr>
                </a:gs>
                <a:gs pos="55434">
                  <a:srgbClr val="FFFFFF"/>
                </a:gs>
              </a:gsLst>
              <a:path path="shape">
                <a:fillToRect l="49659" t="-26178" r="50340" b="12617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pic>
          <p:nvPicPr>
            <p:cNvPr id="50" name="Image" descr="Image">
              <a:extLst>
                <a:ext uri="{FF2B5EF4-FFF2-40B4-BE49-F238E27FC236}">
                  <a16:creationId xmlns:a16="http://schemas.microsoft.com/office/drawing/2014/main" id="{2C41E6BB-366A-4694-8147-E7DB418E8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79670"/>
              <a:ext cx="5603816" cy="29929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7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51" name="Four Column Layout : : CHEAT SHEET"/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10898129" cy="80334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s-ES" dirty="0"/>
              <a:t>Datos etiquetados con labelled</a:t>
            </a:r>
            <a:r>
              <a:rPr dirty="0"/>
              <a:t> : : </a:t>
            </a:r>
            <a:r>
              <a:rPr sz="3300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dirty="0"/>
              <a:t> </a:t>
            </a:r>
          </a:p>
        </p:txBody>
      </p:sp>
      <p:sp>
        <p:nvSpPr>
          <p:cNvPr id="15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2386670" y="10402041"/>
            <a:ext cx="11322666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s-ES" dirty="0"/>
              <a:t>CC BY SA Joseph Larmarange • Más información en </a:t>
            </a:r>
            <a:r>
              <a:rPr lang="en-US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http://larmarange.github.io/labelled</a:t>
            </a:r>
            <a:r>
              <a:rPr lang="es-ES" dirty="0"/>
              <a:t> •  versión de labelled  2.5.0 •  Actualizado: 2020-06  •  Traducido por Anthony Romero-Cerdán  •  anthonyromero.netlify.app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8C0F690-E208-457F-AA50-843D15D84782}"/>
              </a:ext>
            </a:extLst>
          </p:cNvPr>
          <p:cNvSpPr txBox="1"/>
          <p:nvPr/>
        </p:nvSpPr>
        <p:spPr>
          <a:xfrm>
            <a:off x="265508" y="984539"/>
            <a:ext cx="9030918" cy="3205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El paquete </a:t>
            </a:r>
            <a:r>
              <a:rPr kumimoji="0" lang="en-GB" sz="12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labelled</a:t>
            </a: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ofrece funciones y métodos para manejar y manipular datos etiquetados, como los importados con </a:t>
            </a:r>
            <a:r>
              <a:rPr kumimoji="0" lang="en-GB" sz="12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haven</a:t>
            </a: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</p:txBody>
      </p:sp>
      <p:sp>
        <p:nvSpPr>
          <p:cNvPr id="148" name="Group">
            <a:extLst>
              <a:ext uri="{FF2B5EF4-FFF2-40B4-BE49-F238E27FC236}">
                <a16:creationId xmlns:a16="http://schemas.microsoft.com/office/drawing/2014/main" id="{BABA1F75-13CB-4720-98D6-17267285E55C}"/>
              </a:ext>
            </a:extLst>
          </p:cNvPr>
          <p:cNvSpPr/>
          <p:nvPr/>
        </p:nvSpPr>
        <p:spPr>
          <a:xfrm>
            <a:off x="213255" y="1523999"/>
            <a:ext cx="4346831" cy="3007806"/>
          </a:xfrm>
          <a:prstGeom prst="rect">
            <a:avLst/>
          </a:prstGeom>
          <a:solidFill>
            <a:srgbClr val="79B0DC">
              <a:alpha val="23529"/>
            </a:srgbClr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97" name="Basics">
            <a:extLst>
              <a:ext uri="{FF2B5EF4-FFF2-40B4-BE49-F238E27FC236}">
                <a16:creationId xmlns:a16="http://schemas.microsoft.com/office/drawing/2014/main" id="{6A39928D-BB47-4A14-AF29-260EC10D2309}"/>
              </a:ext>
            </a:extLst>
          </p:cNvPr>
          <p:cNvSpPr txBox="1"/>
          <p:nvPr/>
        </p:nvSpPr>
        <p:spPr>
          <a:xfrm>
            <a:off x="306210" y="1605214"/>
            <a:ext cx="204736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dirty="0"/>
              <a:t>Fundamentos</a:t>
            </a:r>
          </a:p>
        </p:txBody>
      </p:sp>
      <p:sp>
        <p:nvSpPr>
          <p:cNvPr id="214" name="Line">
            <a:extLst>
              <a:ext uri="{FF2B5EF4-FFF2-40B4-BE49-F238E27FC236}">
                <a16:creationId xmlns:a16="http://schemas.microsoft.com/office/drawing/2014/main" id="{738F2AC3-8E65-46CF-BCF5-9839C7B34EEA}"/>
              </a:ext>
            </a:extLst>
          </p:cNvPr>
          <p:cNvSpPr/>
          <p:nvPr/>
        </p:nvSpPr>
        <p:spPr>
          <a:xfrm>
            <a:off x="323328" y="1534139"/>
            <a:ext cx="4140391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297" name="Group">
            <a:extLst>
              <a:ext uri="{FF2B5EF4-FFF2-40B4-BE49-F238E27FC236}">
                <a16:creationId xmlns:a16="http://schemas.microsoft.com/office/drawing/2014/main" id="{97C4E182-DF47-4F0B-B5F9-E3C9909B38D8}"/>
              </a:ext>
            </a:extLst>
          </p:cNvPr>
          <p:cNvGrpSpPr/>
          <p:nvPr/>
        </p:nvGrpSpPr>
        <p:grpSpPr>
          <a:xfrm>
            <a:off x="213254" y="4781396"/>
            <a:ext cx="4346832" cy="454776"/>
            <a:chOff x="0" y="20678"/>
            <a:chExt cx="2815850" cy="454775"/>
          </a:xfrm>
        </p:grpSpPr>
        <p:sp>
          <p:nvSpPr>
            <p:cNvPr id="298" name="Title">
              <a:extLst>
                <a:ext uri="{FF2B5EF4-FFF2-40B4-BE49-F238E27FC236}">
                  <a16:creationId xmlns:a16="http://schemas.microsoft.com/office/drawing/2014/main" id="{6C8A2469-BBBD-401A-BB0B-3C4BD3B034B4}"/>
                </a:ext>
              </a:extLst>
            </p:cNvPr>
            <p:cNvSpPr txBox="1"/>
            <p:nvPr/>
          </p:nvSpPr>
          <p:spPr>
            <a:xfrm>
              <a:off x="0" y="65085"/>
              <a:ext cx="2733809" cy="4103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ctr">
              <a:spAutoFit/>
            </a:bodyPr>
            <a:lstStyle/>
            <a:p>
              <a:pPr lvl="1" indent="0">
                <a:spcBef>
                  <a:spcPts val="0"/>
                </a:spcBef>
                <a:defRPr sz="2500" b="0">
                  <a:solidFill>
                    <a:srgbClr val="628DB5"/>
                  </a:solidFill>
                </a:defRPr>
              </a:pPr>
              <a:r>
                <a:rPr lang="es-ES" dirty="0"/>
                <a:t>Etiquetas de variables</a:t>
              </a:r>
              <a:endParaRPr lang="fr-FR" sz="2500" b="0" dirty="0">
                <a:latin typeface="FontAwesome" pitchFamily="2" charset="0"/>
              </a:endParaRPr>
            </a:p>
          </p:txBody>
        </p:sp>
        <p:sp>
          <p:nvSpPr>
            <p:cNvPr id="299" name="Line">
              <a:extLst>
                <a:ext uri="{FF2B5EF4-FFF2-40B4-BE49-F238E27FC236}">
                  <a16:creationId xmlns:a16="http://schemas.microsoft.com/office/drawing/2014/main" id="{8B7A3F38-0EC9-4D98-B800-9559BBE97983}"/>
                </a:ext>
              </a:extLst>
            </p:cNvPr>
            <p:cNvSpPr/>
            <p:nvPr/>
          </p:nvSpPr>
          <p:spPr>
            <a:xfrm>
              <a:off x="17118" y="20678"/>
              <a:ext cx="2798732" cy="1"/>
            </a:xfrm>
            <a:prstGeom prst="line">
              <a:avLst/>
            </a:prstGeom>
            <a:noFill/>
            <a:ln w="12700" cap="flat">
              <a:solidFill>
                <a:srgbClr val="E4E4E3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pic>
        <p:nvPicPr>
          <p:cNvPr id="290" name="rstudio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4774" y="198660"/>
            <a:ext cx="1386437" cy="1600913"/>
          </a:xfrm>
          <a:prstGeom prst="rect">
            <a:avLst/>
          </a:prstGeom>
          <a:ln w="12700">
            <a:miter lim="400000"/>
          </a:ln>
        </p:spPr>
      </p:pic>
      <p:sp>
        <p:nvSpPr>
          <p:cNvPr id="303" name="ZoneTexte 302">
            <a:extLst>
              <a:ext uri="{FF2B5EF4-FFF2-40B4-BE49-F238E27FC236}">
                <a16:creationId xmlns:a16="http://schemas.microsoft.com/office/drawing/2014/main" id="{B31A4758-30FD-4C6A-B5FC-4EF597901D51}"/>
              </a:ext>
            </a:extLst>
          </p:cNvPr>
          <p:cNvSpPr txBox="1"/>
          <p:nvPr/>
        </p:nvSpPr>
        <p:spPr>
          <a:xfrm>
            <a:off x="317966" y="1998381"/>
            <a:ext cx="4115473" cy="23723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t" anchorCtr="0">
            <a:spAutoFit/>
          </a:bodyPr>
          <a:lstStyle/>
          <a:p>
            <a:pPr marL="0" marR="0" indent="0" algn="just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Los datos etiquetados son una estructura común en otros entornos estadísticos como Stata, SAS o SPSS.</a:t>
            </a:r>
          </a:p>
          <a:p>
            <a:pPr marL="0" marR="0" indent="0" algn="just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Consisten en atributos adicionales de vectores numéricos y de caracteres (incluidas columnas de un data frame).</a:t>
            </a:r>
          </a:p>
          <a:p>
            <a:pPr marL="0" marR="0" indent="0" algn="just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b="0" dirty="0">
              <a:solidFill>
                <a:srgbClr val="000000"/>
              </a:solidFill>
            </a:endParaRPr>
          </a:p>
          <a:p>
            <a:pPr marL="0" marR="0" indent="0" algn="just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Hay 3 tipos de atributos:</a:t>
            </a:r>
          </a:p>
          <a:p>
            <a:pPr marL="540000" lvl="2" indent="-228600" algn="just">
              <a:buFont typeface="+mj-lt"/>
              <a:buAutoNum type="arabicPeriod"/>
            </a:pPr>
            <a:r>
              <a:rPr kumimoji="0" lang="en-GB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kumimoji="0" lang="es-ES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Etiquetas de variable</a:t>
            </a:r>
            <a:r>
              <a:rPr lang="es-ES" b="0" dirty="0">
                <a:solidFill>
                  <a:srgbClr val="000000"/>
                </a:solidFill>
              </a:rPr>
              <a:t> (descripción breve)</a:t>
            </a:r>
          </a:p>
          <a:p>
            <a:pPr marL="540000" lvl="2" indent="-228600" algn="just">
              <a:buFont typeface="+mj-lt"/>
              <a:buAutoNum type="arabicPeriod"/>
            </a:pPr>
            <a:r>
              <a:rPr kumimoji="0" lang="en-GB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kumimoji="0" lang="es-ES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Etiquetas de valor </a:t>
            </a:r>
            <a:r>
              <a:rPr kumimoji="0" lang="es-ES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(de valores específicos)</a:t>
            </a:r>
          </a:p>
          <a:p>
            <a:pPr marL="540000" lvl="2" indent="-228600" algn="just">
              <a:buFont typeface="+mj-lt"/>
              <a:buAutoNum type="arabicPeriod"/>
            </a:pPr>
            <a:r>
              <a:rPr lang="en-GB" b="0" dirty="0">
                <a:solidFill>
                  <a:srgbClr val="000000"/>
                </a:solidFill>
              </a:rPr>
              <a:t> </a:t>
            </a:r>
            <a:r>
              <a:rPr lang="es-ES" dirty="0">
                <a:solidFill>
                  <a:srgbClr val="000000"/>
                </a:solidFill>
              </a:rPr>
              <a:t>Valores faltantes</a:t>
            </a:r>
            <a:r>
              <a:rPr lang="en-GB" b="0" dirty="0">
                <a:solidFill>
                  <a:srgbClr val="000000"/>
                </a:solidFill>
              </a:rPr>
              <a:t>:</a:t>
            </a:r>
          </a:p>
          <a:p>
            <a:pPr marL="900000" lvl="3" indent="-228600" algn="just">
              <a:buFont typeface="Arial" panose="020B0604020202020204" pitchFamily="34" charset="0"/>
              <a:buChar char="•"/>
            </a:pPr>
            <a:r>
              <a:rPr kumimoji="0" lang="es-ES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Faltantes definidos por el usuario (estilo SPSS)</a:t>
            </a:r>
          </a:p>
          <a:p>
            <a:pPr marL="900000" lvl="3" indent="-228600" algn="just">
              <a:buFont typeface="Arial" panose="020B0604020202020204" pitchFamily="34" charset="0"/>
              <a:buChar char="•"/>
            </a:pPr>
            <a:r>
              <a:rPr lang="es-ES" b="0" dirty="0">
                <a:solidFill>
                  <a:srgbClr val="000000"/>
                </a:solidFill>
              </a:rPr>
              <a:t>NA etiquetados (estilo Stata y SAS)</a:t>
            </a:r>
          </a:p>
        </p:txBody>
      </p:sp>
      <p:sp>
        <p:nvSpPr>
          <p:cNvPr id="305" name="ZoneTexte 304">
            <a:extLst>
              <a:ext uri="{FF2B5EF4-FFF2-40B4-BE49-F238E27FC236}">
                <a16:creationId xmlns:a16="http://schemas.microsoft.com/office/drawing/2014/main" id="{568B508E-0BF4-4AC6-AB86-728EF1931810}"/>
              </a:ext>
            </a:extLst>
          </p:cNvPr>
          <p:cNvSpPr txBox="1"/>
          <p:nvPr/>
        </p:nvSpPr>
        <p:spPr>
          <a:xfrm>
            <a:off x="843279" y="5503318"/>
            <a:ext cx="3716807" cy="14233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54570" rIns="54570" bIns="54570" numCol="1" spcCol="38100" rtlCol="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kumimoji="0" lang="en-GB" sz="120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var_label</a:t>
            </a:r>
            <a: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(x)    </a:t>
            </a:r>
            <a:r>
              <a:rPr kumimoji="0" lang="es-ES" sz="12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o</a:t>
            </a:r>
            <a: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     </a:t>
            </a:r>
            <a:r>
              <a:rPr lang="en-GB" dirty="0" err="1">
                <a:solidFill>
                  <a:srgbClr val="000000"/>
                </a:solidFill>
              </a:rPr>
              <a:t>var_label</a:t>
            </a:r>
            <a:r>
              <a:rPr lang="en-GB" b="0" dirty="0">
                <a:solidFill>
                  <a:srgbClr val="000000"/>
                </a:solidFill>
              </a:rPr>
              <a:t>(df$v1)</a:t>
            </a:r>
            <a:b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</a:b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Obtiene la etiqueta de variable asociada a un vector x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var_label</a:t>
            </a:r>
            <a:r>
              <a:rPr lang="en-GB" b="0" dirty="0">
                <a:solidFill>
                  <a:srgbClr val="000000"/>
                </a:solidFill>
              </a:rPr>
              <a:t>(x) &lt;- </a:t>
            </a:r>
            <a:r>
              <a:rPr lang="es-ES" b="0" dirty="0">
                <a:solidFill>
                  <a:srgbClr val="000000"/>
                </a:solidFill>
                <a:latin typeface="Source Sans Pro" panose="020B0503030403020204" pitchFamily="34" charset="0"/>
              </a:rPr>
              <a:t>"variable description"</a:t>
            </a:r>
            <a:br>
              <a:rPr lang="en-GB" b="0" dirty="0">
                <a:solidFill>
                  <a:srgbClr val="000000"/>
                </a:solidFill>
                <a:latin typeface="Source Sans Pro" panose="020B0503030403020204" pitchFamily="34" charset="0"/>
              </a:rPr>
            </a:br>
            <a:r>
              <a:rPr lang="es-ES" b="0" dirty="0">
                <a:solidFill>
                  <a:srgbClr val="000000"/>
                </a:solidFill>
              </a:rPr>
              <a:t>Añade/modifica la etiqueta de variable de x</a:t>
            </a:r>
            <a:endParaRPr kumimoji="0" lang="en-GB" sz="12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>
              <a:spcBef>
                <a:spcPts val="0"/>
              </a:spcBef>
            </a:pPr>
            <a:r>
              <a:rPr lang="en-GB" dirty="0" err="1">
                <a:solidFill>
                  <a:srgbClr val="000000"/>
                </a:solidFill>
              </a:rPr>
              <a:t>var_label</a:t>
            </a:r>
            <a:r>
              <a:rPr lang="en-GB" b="0" dirty="0">
                <a:solidFill>
                  <a:srgbClr val="000000"/>
                </a:solidFill>
              </a:rPr>
              <a:t>(x) &lt;- </a:t>
            </a:r>
            <a:r>
              <a:rPr lang="en-GB" b="0" dirty="0">
                <a:solidFill>
                  <a:srgbClr val="000000"/>
                </a:solidFill>
                <a:latin typeface="Source Sans Pro" panose="020B0503030403020204" pitchFamily="34" charset="0"/>
              </a:rPr>
              <a:t>NULL</a:t>
            </a:r>
            <a:br>
              <a:rPr lang="en-GB" b="0" dirty="0">
                <a:solidFill>
                  <a:srgbClr val="000000"/>
                </a:solidFill>
                <a:latin typeface="Source Sans Pro" panose="020B0503030403020204" pitchFamily="34" charset="0"/>
              </a:rPr>
            </a:br>
            <a:r>
              <a:rPr lang="es-ES" b="0" dirty="0">
                <a:solidFill>
                  <a:srgbClr val="000000"/>
                </a:solidFill>
              </a:rPr>
              <a:t>Elimina la etiqueta de variable asociada a x</a:t>
            </a:r>
            <a:endParaRPr lang="en-GB" dirty="0">
              <a:solidFill>
                <a:srgbClr val="000000"/>
              </a:solidFill>
            </a:endParaRPr>
          </a:p>
        </p:txBody>
      </p:sp>
      <p:grpSp>
        <p:nvGrpSpPr>
          <p:cNvPr id="312" name="Group">
            <a:extLst>
              <a:ext uri="{FF2B5EF4-FFF2-40B4-BE49-F238E27FC236}">
                <a16:creationId xmlns:a16="http://schemas.microsoft.com/office/drawing/2014/main" id="{467A2E45-3A7C-41FE-B71F-9CB06D573AE1}"/>
              </a:ext>
            </a:extLst>
          </p:cNvPr>
          <p:cNvGrpSpPr/>
          <p:nvPr/>
        </p:nvGrpSpPr>
        <p:grpSpPr>
          <a:xfrm>
            <a:off x="213252" y="5275428"/>
            <a:ext cx="4346836" cy="226109"/>
            <a:chOff x="0" y="0"/>
            <a:chExt cx="2818195" cy="226107"/>
          </a:xfrm>
        </p:grpSpPr>
        <p:sp>
          <p:nvSpPr>
            <p:cNvPr id="313" name="SUBTITLE">
              <a:extLst>
                <a:ext uri="{FF2B5EF4-FFF2-40B4-BE49-F238E27FC236}">
                  <a16:creationId xmlns:a16="http://schemas.microsoft.com/office/drawing/2014/main" id="{1E50AAA2-3085-47D3-9E92-69B3449B67CA}"/>
                </a:ext>
              </a:extLst>
            </p:cNvPr>
            <p:cNvSpPr txBox="1"/>
            <p:nvPr/>
          </p:nvSpPr>
          <p:spPr>
            <a:xfrm>
              <a:off x="0" y="15795"/>
              <a:ext cx="1146325" cy="210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/>
              <a:r>
                <a:rPr lang="es-ES" dirty="0"/>
                <a:t>MANIPULAR UN VECTOR</a:t>
              </a:r>
              <a:endParaRPr dirty="0"/>
            </a:p>
          </p:txBody>
        </p:sp>
        <p:sp>
          <p:nvSpPr>
            <p:cNvPr id="314" name="Line">
              <a:extLst>
                <a:ext uri="{FF2B5EF4-FFF2-40B4-BE49-F238E27FC236}">
                  <a16:creationId xmlns:a16="http://schemas.microsoft.com/office/drawing/2014/main" id="{52F429FA-E218-472D-B9E8-8BEFE2117F31}"/>
                </a:ext>
              </a:extLst>
            </p:cNvPr>
            <p:cNvSpPr/>
            <p:nvPr/>
          </p:nvSpPr>
          <p:spPr>
            <a:xfrm>
              <a:off x="23250" y="0"/>
              <a:ext cx="2794945" cy="0"/>
            </a:xfrm>
            <a:prstGeom prst="line">
              <a:avLst/>
            </a:prstGeom>
            <a:noFill/>
            <a:ln w="12700" cap="flat">
              <a:solidFill>
                <a:srgbClr val="E0E0E0"/>
              </a:solidFill>
              <a:custDash>
                <a:ds d="100000" sp="200000"/>
              </a:custDash>
              <a:round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315" name="Group">
            <a:extLst>
              <a:ext uri="{FF2B5EF4-FFF2-40B4-BE49-F238E27FC236}">
                <a16:creationId xmlns:a16="http://schemas.microsoft.com/office/drawing/2014/main" id="{11ABD972-3320-4D02-938F-ACCFBF233CE2}"/>
              </a:ext>
            </a:extLst>
          </p:cNvPr>
          <p:cNvGrpSpPr/>
          <p:nvPr/>
        </p:nvGrpSpPr>
        <p:grpSpPr>
          <a:xfrm>
            <a:off x="213250" y="7004590"/>
            <a:ext cx="4346836" cy="226109"/>
            <a:chOff x="0" y="0"/>
            <a:chExt cx="2818195" cy="226107"/>
          </a:xfrm>
        </p:grpSpPr>
        <p:sp>
          <p:nvSpPr>
            <p:cNvPr id="316" name="SUBTITLE">
              <a:extLst>
                <a:ext uri="{FF2B5EF4-FFF2-40B4-BE49-F238E27FC236}">
                  <a16:creationId xmlns:a16="http://schemas.microsoft.com/office/drawing/2014/main" id="{D87ABBE2-1418-4755-8631-282244FB8BF2}"/>
                </a:ext>
              </a:extLst>
            </p:cNvPr>
            <p:cNvSpPr txBox="1"/>
            <p:nvPr/>
          </p:nvSpPr>
          <p:spPr>
            <a:xfrm>
              <a:off x="0" y="15795"/>
              <a:ext cx="1357298" cy="210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/>
              <a:r>
                <a:rPr lang="es-ES" dirty="0"/>
                <a:t>MANIPULAR UN DATA.FRAME</a:t>
              </a:r>
              <a:endParaRPr dirty="0"/>
            </a:p>
          </p:txBody>
        </p:sp>
        <p:sp>
          <p:nvSpPr>
            <p:cNvPr id="317" name="Line">
              <a:extLst>
                <a:ext uri="{FF2B5EF4-FFF2-40B4-BE49-F238E27FC236}">
                  <a16:creationId xmlns:a16="http://schemas.microsoft.com/office/drawing/2014/main" id="{CC78998B-6F42-43C4-9B12-7FA4188312B4}"/>
                </a:ext>
              </a:extLst>
            </p:cNvPr>
            <p:cNvSpPr/>
            <p:nvPr/>
          </p:nvSpPr>
          <p:spPr>
            <a:xfrm>
              <a:off x="23250" y="0"/>
              <a:ext cx="2794945" cy="0"/>
            </a:xfrm>
            <a:prstGeom prst="line">
              <a:avLst/>
            </a:prstGeom>
            <a:noFill/>
            <a:ln w="12700" cap="flat">
              <a:solidFill>
                <a:srgbClr val="E0E0E0"/>
              </a:solidFill>
              <a:custDash>
                <a:ds d="100000" sp="200000"/>
              </a:custDash>
              <a:round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318" name="ZoneTexte 317">
            <a:extLst>
              <a:ext uri="{FF2B5EF4-FFF2-40B4-BE49-F238E27FC236}">
                <a16:creationId xmlns:a16="http://schemas.microsoft.com/office/drawing/2014/main" id="{CF6B3099-E0FD-4387-B8A0-F07565B34649}"/>
              </a:ext>
            </a:extLst>
          </p:cNvPr>
          <p:cNvSpPr txBox="1"/>
          <p:nvPr/>
        </p:nvSpPr>
        <p:spPr>
          <a:xfrm>
            <a:off x="843278" y="7193107"/>
            <a:ext cx="3716807" cy="31264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54570" rIns="54570" bIns="54570" numCol="1" spcCol="38100" rtlCol="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kumimoji="0" lang="en-GB" sz="120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var_label</a:t>
            </a:r>
            <a: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(df)</a:t>
            </a:r>
            <a:b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</a:b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Lista todas las etiquetas de variable de las columnas de df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var_label</a:t>
            </a:r>
            <a:r>
              <a:rPr lang="en-GB" b="0" dirty="0">
                <a:solidFill>
                  <a:srgbClr val="000000"/>
                </a:solidFill>
              </a:rPr>
              <a:t>(df) &lt;- </a:t>
            </a:r>
            <a:r>
              <a:rPr lang="en-GB" b="0" dirty="0">
                <a:solidFill>
                  <a:srgbClr val="000000"/>
                </a:solidFill>
                <a:latin typeface="Source Sans Pro" panose="020B0503030403020204" pitchFamily="34" charset="0"/>
              </a:rPr>
              <a:t>list(v1 = "variable 1", v2 = "variable 2")</a:t>
            </a:r>
            <a:br>
              <a:rPr lang="en-GB" b="0" dirty="0">
                <a:solidFill>
                  <a:srgbClr val="000000"/>
                </a:solidFill>
                <a:latin typeface="Source Sans Pro" panose="020B0503030403020204" pitchFamily="34" charset="0"/>
              </a:rPr>
            </a:br>
            <a:r>
              <a:rPr lang="es-ES" b="0" dirty="0">
                <a:solidFill>
                  <a:srgbClr val="000000"/>
                </a:solidFill>
              </a:rPr>
              <a:t>Actualiza etiquetas de variable de columnas de df</a:t>
            </a:r>
            <a:endParaRPr kumimoji="0" lang="en-GB" sz="12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b="0" dirty="0">
                <a:solidFill>
                  <a:srgbClr val="000000"/>
                </a:solidFill>
              </a:rPr>
              <a:t>df %&gt;% </a:t>
            </a:r>
            <a:r>
              <a:rPr lang="en-GB" dirty="0" err="1">
                <a:solidFill>
                  <a:srgbClr val="000000"/>
                </a:solidFill>
              </a:rPr>
              <a:t>set_variable_labels</a:t>
            </a:r>
            <a:r>
              <a:rPr lang="en-GB" b="0" dirty="0">
                <a:solidFill>
                  <a:srgbClr val="000000"/>
                </a:solidFill>
              </a:rPr>
              <a:t>(</a:t>
            </a:r>
            <a:r>
              <a:rPr lang="en-GB" b="0" dirty="0">
                <a:solidFill>
                  <a:srgbClr val="000000"/>
                </a:solidFill>
                <a:latin typeface="Source Sans Pro" panose="020B0503030403020204" pitchFamily="34" charset="0"/>
              </a:rPr>
              <a:t>v1 = "variable 1", v2 = "variable 2", v3 = NULL</a:t>
            </a:r>
            <a:r>
              <a:rPr lang="en-GB" b="0" dirty="0">
                <a:solidFill>
                  <a:srgbClr val="000000"/>
                </a:solidFill>
              </a:rPr>
              <a:t>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Actualiza las etiquetas de variable con la sintaxis de </a:t>
            </a:r>
            <a:r>
              <a:rPr lang="en-GB" b="0" dirty="0" err="1">
                <a:solidFill>
                  <a:srgbClr val="000000"/>
                </a:solidFill>
              </a:rPr>
              <a:t>dplyr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b="0" dirty="0">
                <a:solidFill>
                  <a:srgbClr val="000000"/>
                </a:solidFill>
              </a:rPr>
              <a:t>df %&gt;% </a:t>
            </a:r>
            <a:r>
              <a:rPr lang="en-GB" dirty="0" err="1">
                <a:solidFill>
                  <a:srgbClr val="000000"/>
                </a:solidFill>
              </a:rPr>
              <a:t>look_for</a:t>
            </a:r>
            <a:r>
              <a:rPr lang="en-GB" b="0" dirty="0">
                <a:solidFill>
                  <a:srgbClr val="000000"/>
                </a:solidFill>
              </a:rPr>
              <a:t>() 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Devuelve un data frame con nombres y etiquetas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b="0" dirty="0">
                <a:solidFill>
                  <a:srgbClr val="000000"/>
                </a:solidFill>
              </a:rPr>
              <a:t>df %&gt;% </a:t>
            </a:r>
            <a:r>
              <a:rPr lang="en-GB" dirty="0" err="1">
                <a:solidFill>
                  <a:srgbClr val="000000"/>
                </a:solidFill>
              </a:rPr>
              <a:t>look_for</a:t>
            </a:r>
            <a:r>
              <a:rPr lang="en-GB" b="0" dirty="0">
                <a:solidFill>
                  <a:srgbClr val="000000"/>
                </a:solidFill>
              </a:rPr>
              <a:t>("s")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Busca variables con "s" en su nombre o etiqueta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b="0" dirty="0">
                <a:solidFill>
                  <a:srgbClr val="000000"/>
                </a:solidFill>
              </a:rPr>
              <a:t>df %&gt;% </a:t>
            </a:r>
            <a:r>
              <a:rPr lang="en-GB" dirty="0" err="1">
                <a:solidFill>
                  <a:srgbClr val="000000"/>
                </a:solidFill>
              </a:rPr>
              <a:t>look_for</a:t>
            </a:r>
            <a:r>
              <a:rPr lang="en-GB" b="0" dirty="0">
                <a:solidFill>
                  <a:srgbClr val="000000"/>
                </a:solidFill>
              </a:rPr>
              <a:t>(details = TRUE)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Devuelve detalles adicionales de cada variable</a:t>
            </a:r>
          </a:p>
        </p:txBody>
      </p:sp>
      <p:grpSp>
        <p:nvGrpSpPr>
          <p:cNvPr id="319" name="Group">
            <a:extLst>
              <a:ext uri="{FF2B5EF4-FFF2-40B4-BE49-F238E27FC236}">
                <a16:creationId xmlns:a16="http://schemas.microsoft.com/office/drawing/2014/main" id="{F93E2D79-72AF-4331-B01F-A5A877CFD45C}"/>
              </a:ext>
            </a:extLst>
          </p:cNvPr>
          <p:cNvGrpSpPr/>
          <p:nvPr/>
        </p:nvGrpSpPr>
        <p:grpSpPr>
          <a:xfrm>
            <a:off x="4770956" y="1534139"/>
            <a:ext cx="4346834" cy="365236"/>
            <a:chOff x="-1" y="20678"/>
            <a:chExt cx="2815851" cy="365235"/>
          </a:xfrm>
        </p:grpSpPr>
        <p:sp>
          <p:nvSpPr>
            <p:cNvPr id="320" name="Title">
              <a:extLst>
                <a:ext uri="{FF2B5EF4-FFF2-40B4-BE49-F238E27FC236}">
                  <a16:creationId xmlns:a16="http://schemas.microsoft.com/office/drawing/2014/main" id="{329F79FD-A3AE-43D8-A8A8-7F3552E3D93F}"/>
                </a:ext>
              </a:extLst>
            </p:cNvPr>
            <p:cNvSpPr txBox="1"/>
            <p:nvPr/>
          </p:nvSpPr>
          <p:spPr>
            <a:xfrm>
              <a:off x="-1" y="45885"/>
              <a:ext cx="2733809" cy="3400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 sz="2500" b="0">
                  <a:solidFill>
                    <a:srgbClr val="628DB5"/>
                  </a:solidFill>
                </a:defRPr>
              </a:pPr>
              <a:r>
                <a:rPr lang="es-ES" dirty="0"/>
                <a:t>Etiquetas de valores</a:t>
              </a:r>
              <a:endParaRPr dirty="0"/>
            </a:p>
          </p:txBody>
        </p:sp>
        <p:sp>
          <p:nvSpPr>
            <p:cNvPr id="321" name="Line">
              <a:extLst>
                <a:ext uri="{FF2B5EF4-FFF2-40B4-BE49-F238E27FC236}">
                  <a16:creationId xmlns:a16="http://schemas.microsoft.com/office/drawing/2014/main" id="{F38D011F-75DF-412E-82B0-3AA38F3E8351}"/>
                </a:ext>
              </a:extLst>
            </p:cNvPr>
            <p:cNvSpPr/>
            <p:nvPr/>
          </p:nvSpPr>
          <p:spPr>
            <a:xfrm>
              <a:off x="17118" y="20678"/>
              <a:ext cx="2798732" cy="1"/>
            </a:xfrm>
            <a:prstGeom prst="line">
              <a:avLst/>
            </a:prstGeom>
            <a:noFill/>
            <a:ln w="12700" cap="flat">
              <a:solidFill>
                <a:srgbClr val="E4E4E3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322" name="ZoneTexte 321">
            <a:extLst>
              <a:ext uri="{FF2B5EF4-FFF2-40B4-BE49-F238E27FC236}">
                <a16:creationId xmlns:a16="http://schemas.microsoft.com/office/drawing/2014/main" id="{890F54FF-BD82-415C-9D48-292EAD364889}"/>
              </a:ext>
            </a:extLst>
          </p:cNvPr>
          <p:cNvSpPr txBox="1"/>
          <p:nvPr/>
        </p:nvSpPr>
        <p:spPr>
          <a:xfrm>
            <a:off x="5374373" y="3147063"/>
            <a:ext cx="3716807" cy="43575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54570" rIns="54570" bIns="54570" numCol="1" spcCol="38100" rtlCol="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kumimoji="0" lang="en-GB" sz="120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val_label</a:t>
            </a:r>
            <a: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(x, value)    </a:t>
            </a:r>
            <a:r>
              <a:rPr kumimoji="0" lang="es-ES" sz="12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o</a:t>
            </a:r>
            <a: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     </a:t>
            </a:r>
            <a:r>
              <a:rPr lang="en-GB" dirty="0" err="1">
                <a:solidFill>
                  <a:srgbClr val="000000"/>
                </a:solidFill>
              </a:rPr>
              <a:t>val_label</a:t>
            </a:r>
            <a:r>
              <a:rPr lang="en-GB" b="0" dirty="0">
                <a:solidFill>
                  <a:srgbClr val="000000"/>
                </a:solidFill>
              </a:rPr>
              <a:t>(df$v1, value)</a:t>
            </a:r>
            <a:b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</a:b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Obtiene la etiqueta de un valor específico de un vector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val_label</a:t>
            </a:r>
            <a:r>
              <a:rPr lang="en-GB" b="0" dirty="0">
                <a:solidFill>
                  <a:srgbClr val="000000"/>
                </a:solidFill>
              </a:rPr>
              <a:t>(x, value) &lt;- "label"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Define/actualiza la etiqueta de un valor específico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val_label</a:t>
            </a:r>
            <a:r>
              <a:rPr lang="en-GB" b="0" dirty="0">
                <a:solidFill>
                  <a:srgbClr val="000000"/>
                </a:solidFill>
              </a:rPr>
              <a:t>(x, value) &lt;- NULL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Elimina la etiqueta de un valor específico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val_labels</a:t>
            </a:r>
            <a:r>
              <a:rPr lang="en-GB" b="0" dirty="0">
                <a:solidFill>
                  <a:srgbClr val="000000"/>
                </a:solidFill>
              </a:rPr>
              <a:t>(x)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Obtiene todas las etiquetas de valor de un vector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val_labels</a:t>
            </a:r>
            <a:r>
              <a:rPr lang="en-GB" b="0" dirty="0">
                <a:solidFill>
                  <a:srgbClr val="000000"/>
                </a:solidFill>
              </a:rPr>
              <a:t>(x) &lt;- c(no = 0, yes = 1, maybe = 9) 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Define/actualiza todas las etiquetas de valor de un vector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val_labels</a:t>
            </a:r>
            <a:r>
              <a:rPr lang="en-GB" b="0" dirty="0">
                <a:solidFill>
                  <a:srgbClr val="000000"/>
                </a:solidFill>
              </a:rPr>
              <a:t>(x) &lt;- NULL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Elimina todas las etiquetas de valor de un vector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</a:rPr>
              <a:t>labelled</a:t>
            </a:r>
            <a:r>
              <a:rPr lang="en-US" b="0" dirty="0">
                <a:solidFill>
                  <a:srgbClr val="000000"/>
                </a:solidFill>
              </a:rPr>
              <a:t>(c("F", "F", "M"),  c(Female = "F", Male = "M"))</a:t>
            </a:r>
            <a:br>
              <a:rPr lang="en-US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Crea un vector etiquetado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sort_val_labels</a:t>
            </a:r>
            <a:r>
              <a:rPr lang="en-GB" b="0" dirty="0">
                <a:solidFill>
                  <a:srgbClr val="000000"/>
                </a:solidFill>
              </a:rPr>
              <a:t>(x, </a:t>
            </a:r>
            <a:r>
              <a:rPr lang="en-GB" b="0" dirty="0" err="1">
                <a:solidFill>
                  <a:srgbClr val="000000"/>
                </a:solidFill>
              </a:rPr>
              <a:t>according_to</a:t>
            </a:r>
            <a:r>
              <a:rPr lang="en-GB" b="0" dirty="0">
                <a:solidFill>
                  <a:srgbClr val="000000"/>
                </a:solidFill>
              </a:rPr>
              <a:t> = "values")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Ordena etiquetas de valor por valores (o etiquetas)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drop_unused_value_labels</a:t>
            </a:r>
            <a:r>
              <a:rPr lang="en-GB" b="0" dirty="0">
                <a:solidFill>
                  <a:srgbClr val="000000"/>
                </a:solidFill>
              </a:rPr>
              <a:t>(x)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Elimina etiquetas de valores ausentes en los datos</a:t>
            </a:r>
          </a:p>
        </p:txBody>
      </p:sp>
      <p:grpSp>
        <p:nvGrpSpPr>
          <p:cNvPr id="323" name="Group">
            <a:extLst>
              <a:ext uri="{FF2B5EF4-FFF2-40B4-BE49-F238E27FC236}">
                <a16:creationId xmlns:a16="http://schemas.microsoft.com/office/drawing/2014/main" id="{986D0DFA-5281-4D52-BC5C-AB5935F0012C}"/>
              </a:ext>
            </a:extLst>
          </p:cNvPr>
          <p:cNvGrpSpPr/>
          <p:nvPr/>
        </p:nvGrpSpPr>
        <p:grpSpPr>
          <a:xfrm>
            <a:off x="4770956" y="2927900"/>
            <a:ext cx="4346836" cy="226109"/>
            <a:chOff x="0" y="0"/>
            <a:chExt cx="2818195" cy="226107"/>
          </a:xfrm>
        </p:grpSpPr>
        <p:sp>
          <p:nvSpPr>
            <p:cNvPr id="324" name="SUBTITLE">
              <a:extLst>
                <a:ext uri="{FF2B5EF4-FFF2-40B4-BE49-F238E27FC236}">
                  <a16:creationId xmlns:a16="http://schemas.microsoft.com/office/drawing/2014/main" id="{440D70B3-BEB2-42F4-963E-2A9EC33A7F76}"/>
                </a:ext>
              </a:extLst>
            </p:cNvPr>
            <p:cNvSpPr txBox="1"/>
            <p:nvPr/>
          </p:nvSpPr>
          <p:spPr>
            <a:xfrm>
              <a:off x="0" y="15795"/>
              <a:ext cx="1146325" cy="210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/>
              <a:r>
                <a:rPr lang="es-ES" dirty="0"/>
                <a:t>MANIPULAR UN VECTOR</a:t>
              </a:r>
              <a:endParaRPr dirty="0"/>
            </a:p>
          </p:txBody>
        </p:sp>
        <p:sp>
          <p:nvSpPr>
            <p:cNvPr id="325" name="Line">
              <a:extLst>
                <a:ext uri="{FF2B5EF4-FFF2-40B4-BE49-F238E27FC236}">
                  <a16:creationId xmlns:a16="http://schemas.microsoft.com/office/drawing/2014/main" id="{7B7D5F12-F484-48B8-BDEB-D296BC5C69B8}"/>
                </a:ext>
              </a:extLst>
            </p:cNvPr>
            <p:cNvSpPr/>
            <p:nvPr/>
          </p:nvSpPr>
          <p:spPr>
            <a:xfrm>
              <a:off x="23250" y="0"/>
              <a:ext cx="2794945" cy="0"/>
            </a:xfrm>
            <a:prstGeom prst="line">
              <a:avLst/>
            </a:prstGeom>
            <a:noFill/>
            <a:ln w="12700" cap="flat">
              <a:solidFill>
                <a:srgbClr val="E0E0E0"/>
              </a:solidFill>
              <a:custDash>
                <a:ds d="100000" sp="200000"/>
              </a:custDash>
              <a:round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326" name="Group">
            <a:extLst>
              <a:ext uri="{FF2B5EF4-FFF2-40B4-BE49-F238E27FC236}">
                <a16:creationId xmlns:a16="http://schemas.microsoft.com/office/drawing/2014/main" id="{0C62CE7D-D483-4224-91F9-0C6906FC1585}"/>
              </a:ext>
            </a:extLst>
          </p:cNvPr>
          <p:cNvGrpSpPr/>
          <p:nvPr/>
        </p:nvGrpSpPr>
        <p:grpSpPr>
          <a:xfrm>
            <a:off x="4755546" y="7385427"/>
            <a:ext cx="4346836" cy="226109"/>
            <a:chOff x="0" y="0"/>
            <a:chExt cx="2818195" cy="226107"/>
          </a:xfrm>
        </p:grpSpPr>
        <p:sp>
          <p:nvSpPr>
            <p:cNvPr id="327" name="SUBTITLE">
              <a:extLst>
                <a:ext uri="{FF2B5EF4-FFF2-40B4-BE49-F238E27FC236}">
                  <a16:creationId xmlns:a16="http://schemas.microsoft.com/office/drawing/2014/main" id="{254F95DE-48F3-496D-9A86-929CBBD9C7FF}"/>
                </a:ext>
              </a:extLst>
            </p:cNvPr>
            <p:cNvSpPr txBox="1"/>
            <p:nvPr/>
          </p:nvSpPr>
          <p:spPr>
            <a:xfrm>
              <a:off x="0" y="15795"/>
              <a:ext cx="1357298" cy="210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/>
              <a:r>
                <a:rPr lang="es-ES" dirty="0"/>
                <a:t>MANIPULAR UN DATA.FRAME</a:t>
              </a:r>
              <a:endParaRPr dirty="0"/>
            </a:p>
          </p:txBody>
        </p:sp>
        <p:sp>
          <p:nvSpPr>
            <p:cNvPr id="328" name="Line">
              <a:extLst>
                <a:ext uri="{FF2B5EF4-FFF2-40B4-BE49-F238E27FC236}">
                  <a16:creationId xmlns:a16="http://schemas.microsoft.com/office/drawing/2014/main" id="{B2440E68-BF99-4EC8-A20B-8E6ECEC77BB8}"/>
                </a:ext>
              </a:extLst>
            </p:cNvPr>
            <p:cNvSpPr/>
            <p:nvPr/>
          </p:nvSpPr>
          <p:spPr>
            <a:xfrm>
              <a:off x="23250" y="0"/>
              <a:ext cx="2794945" cy="0"/>
            </a:xfrm>
            <a:prstGeom prst="line">
              <a:avLst/>
            </a:prstGeom>
            <a:noFill/>
            <a:ln w="12700" cap="flat">
              <a:solidFill>
                <a:srgbClr val="E0E0E0"/>
              </a:solidFill>
              <a:custDash>
                <a:ds d="100000" sp="200000"/>
              </a:custDash>
              <a:round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 dirty="0"/>
            </a:p>
          </p:txBody>
        </p:sp>
      </p:grpSp>
      <p:sp>
        <p:nvSpPr>
          <p:cNvPr id="329" name="ZoneTexte 328">
            <a:extLst>
              <a:ext uri="{FF2B5EF4-FFF2-40B4-BE49-F238E27FC236}">
                <a16:creationId xmlns:a16="http://schemas.microsoft.com/office/drawing/2014/main" id="{98BCF420-3D3B-4C05-848D-2053235E9346}"/>
              </a:ext>
            </a:extLst>
          </p:cNvPr>
          <p:cNvSpPr txBox="1"/>
          <p:nvPr/>
        </p:nvSpPr>
        <p:spPr>
          <a:xfrm>
            <a:off x="5374372" y="7621925"/>
            <a:ext cx="3716807" cy="28391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54570" rIns="54570" bIns="54570" numCol="1" spcCol="38100" rtlCol="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</a:rPr>
              <a:t>df %&gt;% </a:t>
            </a:r>
            <a:r>
              <a:rPr lang="en-US" dirty="0" err="1">
                <a:solidFill>
                  <a:srgbClr val="000000"/>
                </a:solidFill>
              </a:rPr>
              <a:t>set_value_labels</a:t>
            </a:r>
            <a:r>
              <a:rPr lang="en-US" b="0" dirty="0">
                <a:solidFill>
                  <a:srgbClr val="000000"/>
                </a:solidFill>
              </a:rPr>
              <a:t>(v1 = c(Yes = 1, No = 2), </a:t>
            </a:r>
            <a:br>
              <a:rPr lang="en-US" b="0" dirty="0">
                <a:solidFill>
                  <a:srgbClr val="000000"/>
                </a:solidFill>
              </a:rPr>
            </a:br>
            <a:r>
              <a:rPr lang="en-US" b="0" dirty="0">
                <a:solidFill>
                  <a:srgbClr val="000000"/>
                </a:solidFill>
              </a:rPr>
              <a:t>v2 = c(Male = "M", Female = "F"))</a:t>
            </a:r>
            <a:br>
              <a:rPr lang="en-US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Define las etiquetas de valor de varias variables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</a:rPr>
              <a:t>df %&gt;% </a:t>
            </a:r>
            <a:r>
              <a:rPr lang="en-US" dirty="0" err="1">
                <a:solidFill>
                  <a:srgbClr val="000000"/>
                </a:solidFill>
              </a:rPr>
              <a:t>add_value_labels</a:t>
            </a:r>
            <a:r>
              <a:rPr lang="en-US" b="0" dirty="0">
                <a:solidFill>
                  <a:srgbClr val="000000"/>
                </a:solidFill>
              </a:rPr>
              <a:t>(v1 = c(Unknown = 9))</a:t>
            </a:r>
            <a:br>
              <a:rPr lang="en-US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Añade etiquetas de valor específicas a una variable (las etiquetas ya definidas no cambian)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</a:rPr>
              <a:t>df %&gt;% </a:t>
            </a:r>
            <a:r>
              <a:rPr lang="en-US" dirty="0" err="1">
                <a:solidFill>
                  <a:srgbClr val="000000"/>
                </a:solidFill>
              </a:rPr>
              <a:t>remove_value_labels</a:t>
            </a:r>
            <a:r>
              <a:rPr lang="en-US" b="0" dirty="0">
                <a:solidFill>
                  <a:srgbClr val="000000"/>
                </a:solidFill>
              </a:rPr>
              <a:t>(v1 = 9)</a:t>
            </a:r>
            <a:br>
              <a:rPr lang="en-US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Elimina etiquetas de valor específicas de una variable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</a:rPr>
              <a:t>df %&gt;% </a:t>
            </a:r>
            <a:r>
              <a:rPr lang="en-US" dirty="0" err="1">
                <a:solidFill>
                  <a:srgbClr val="000000"/>
                </a:solidFill>
              </a:rPr>
              <a:t>set_value_labels</a:t>
            </a:r>
            <a:r>
              <a:rPr lang="en-US" b="0" dirty="0">
                <a:solidFill>
                  <a:srgbClr val="000000"/>
                </a:solidFill>
              </a:rPr>
              <a:t>(v1 = NULL)</a:t>
            </a:r>
            <a:br>
              <a:rPr lang="en-US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Elimina todas las etiquetas de valor de una variable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b="0" dirty="0">
                <a:solidFill>
                  <a:srgbClr val="000000"/>
                </a:solidFill>
              </a:rPr>
              <a:t>df %&gt;% </a:t>
            </a:r>
            <a:r>
              <a:rPr lang="en-GB" dirty="0" err="1">
                <a:solidFill>
                  <a:srgbClr val="000000"/>
                </a:solidFill>
              </a:rPr>
              <a:t>drop_unused_value_labels</a:t>
            </a:r>
            <a:r>
              <a:rPr lang="en-GB" b="0" dirty="0">
                <a:solidFill>
                  <a:srgbClr val="000000"/>
                </a:solidFill>
              </a:rPr>
              <a:t>()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Elimina etiquetas de valores ausentes en los datos</a:t>
            </a:r>
          </a:p>
        </p:txBody>
      </p:sp>
      <p:grpSp>
        <p:nvGrpSpPr>
          <p:cNvPr id="330" name="Group">
            <a:extLst>
              <a:ext uri="{FF2B5EF4-FFF2-40B4-BE49-F238E27FC236}">
                <a16:creationId xmlns:a16="http://schemas.microsoft.com/office/drawing/2014/main" id="{BB1AA4BD-8D64-4B0C-B9AF-00511B4B104D}"/>
              </a:ext>
            </a:extLst>
          </p:cNvPr>
          <p:cNvGrpSpPr/>
          <p:nvPr/>
        </p:nvGrpSpPr>
        <p:grpSpPr>
          <a:xfrm>
            <a:off x="9328668" y="1543017"/>
            <a:ext cx="3023352" cy="365236"/>
            <a:chOff x="-1" y="20678"/>
            <a:chExt cx="2815851" cy="365235"/>
          </a:xfrm>
        </p:grpSpPr>
        <p:sp>
          <p:nvSpPr>
            <p:cNvPr id="331" name="Title">
              <a:extLst>
                <a:ext uri="{FF2B5EF4-FFF2-40B4-BE49-F238E27FC236}">
                  <a16:creationId xmlns:a16="http://schemas.microsoft.com/office/drawing/2014/main" id="{770AAA96-333C-4A1D-9505-D5F1FAC23FCD}"/>
                </a:ext>
              </a:extLst>
            </p:cNvPr>
            <p:cNvSpPr txBox="1"/>
            <p:nvPr/>
          </p:nvSpPr>
          <p:spPr>
            <a:xfrm>
              <a:off x="-1" y="45885"/>
              <a:ext cx="2733809" cy="3400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 sz="2500" b="0">
                  <a:solidFill>
                    <a:srgbClr val="628DB5"/>
                  </a:solidFill>
                </a:defRPr>
              </a:pPr>
              <a:r>
                <a:rPr lang="es-ES" dirty="0" err="1"/>
                <a:t>Valores</a:t>
              </a:r>
              <a:r>
                <a:rPr lang="es-ES" dirty="0"/>
                <a:t> faltantes</a:t>
              </a:r>
              <a:endParaRPr dirty="0"/>
            </a:p>
          </p:txBody>
        </p:sp>
        <p:sp>
          <p:nvSpPr>
            <p:cNvPr id="332" name="Line">
              <a:extLst>
                <a:ext uri="{FF2B5EF4-FFF2-40B4-BE49-F238E27FC236}">
                  <a16:creationId xmlns:a16="http://schemas.microsoft.com/office/drawing/2014/main" id="{72660B38-4BD7-4A77-B313-637C6C0B9492}"/>
                </a:ext>
              </a:extLst>
            </p:cNvPr>
            <p:cNvSpPr/>
            <p:nvPr/>
          </p:nvSpPr>
          <p:spPr>
            <a:xfrm>
              <a:off x="17118" y="20678"/>
              <a:ext cx="2798732" cy="1"/>
            </a:xfrm>
            <a:prstGeom prst="line">
              <a:avLst/>
            </a:prstGeom>
            <a:noFill/>
            <a:ln w="12700" cap="flat">
              <a:solidFill>
                <a:srgbClr val="E4E4E3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333" name="ZoneTexte 332">
            <a:extLst>
              <a:ext uri="{FF2B5EF4-FFF2-40B4-BE49-F238E27FC236}">
                <a16:creationId xmlns:a16="http://schemas.microsoft.com/office/drawing/2014/main" id="{AA5F2A7E-FCB4-4FC7-BBDC-F1589640F896}"/>
              </a:ext>
            </a:extLst>
          </p:cNvPr>
          <p:cNvSpPr txBox="1"/>
          <p:nvPr/>
        </p:nvSpPr>
        <p:spPr>
          <a:xfrm>
            <a:off x="9348953" y="3822334"/>
            <a:ext cx="3716807" cy="33110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54570" rIns="54570" bIns="54570" numCol="1" spcCol="38100" rtlCol="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na_values</a:t>
            </a:r>
            <a:r>
              <a:rPr lang="en-GB" b="0" dirty="0">
                <a:solidFill>
                  <a:srgbClr val="000000"/>
                </a:solidFill>
              </a:rPr>
              <a:t>(x)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Obtiene los valores faltantes individuales de un vector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na_values</a:t>
            </a:r>
            <a:r>
              <a:rPr lang="en-GB" b="0" dirty="0">
                <a:solidFill>
                  <a:srgbClr val="000000"/>
                </a:solidFill>
              </a:rPr>
              <a:t>(x) &lt;- c(8, 9, 10)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n-US" b="0" dirty="0">
                <a:solidFill>
                  <a:srgbClr val="000000"/>
                </a:solidFill>
              </a:rPr>
              <a:t>df %&gt;% </a:t>
            </a:r>
            <a:r>
              <a:rPr lang="en-US" dirty="0" err="1">
                <a:solidFill>
                  <a:srgbClr val="000000"/>
                </a:solidFill>
              </a:rPr>
              <a:t>set_na_values</a:t>
            </a:r>
            <a:r>
              <a:rPr lang="en-US" b="0" dirty="0">
                <a:solidFill>
                  <a:srgbClr val="000000"/>
                </a:solidFill>
              </a:rPr>
              <a:t>(v1 = c(8, 9, 10))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Define/actualiza faltantes individuales (NULL = quitar)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na_range</a:t>
            </a:r>
            <a:r>
              <a:rPr lang="en-GB" b="0" dirty="0">
                <a:solidFill>
                  <a:srgbClr val="000000"/>
                </a:solidFill>
              </a:rPr>
              <a:t>(x)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Obtiene el rango de valores faltantes de un vector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na_range</a:t>
            </a:r>
            <a:r>
              <a:rPr lang="en-GB" b="0" dirty="0">
                <a:solidFill>
                  <a:srgbClr val="000000"/>
                </a:solidFill>
              </a:rPr>
              <a:t>(x) &lt;- c(8, 10)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n-US" b="0" dirty="0">
                <a:solidFill>
                  <a:srgbClr val="000000"/>
                </a:solidFill>
              </a:rPr>
              <a:t>df %&gt;% </a:t>
            </a:r>
            <a:r>
              <a:rPr lang="en-US" dirty="0" err="1">
                <a:solidFill>
                  <a:srgbClr val="000000"/>
                </a:solidFill>
              </a:rPr>
              <a:t>set_na_range</a:t>
            </a:r>
            <a:r>
              <a:rPr lang="en-US" b="0" dirty="0">
                <a:solidFill>
                  <a:srgbClr val="000000"/>
                </a:solidFill>
              </a:rPr>
              <a:t>(v1 = c(8, 10))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Define/actualiza un rango de faltantes (NULL = quitar)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user_na_to_na</a:t>
            </a:r>
            <a:r>
              <a:rPr lang="en-GB" b="0" dirty="0">
                <a:solidFill>
                  <a:srgbClr val="000000"/>
                </a:solidFill>
              </a:rPr>
              <a:t>(x)    </a:t>
            </a:r>
            <a:r>
              <a:rPr lang="es-ES" b="0" i="1" dirty="0">
                <a:solidFill>
                  <a:srgbClr val="000000"/>
                </a:solidFill>
              </a:rPr>
              <a:t>o</a:t>
            </a:r>
            <a:r>
              <a:rPr lang="en-GB" b="0" dirty="0">
                <a:solidFill>
                  <a:srgbClr val="000000"/>
                </a:solidFill>
              </a:rPr>
              <a:t>     df %&gt;% </a:t>
            </a:r>
            <a:r>
              <a:rPr lang="en-GB" dirty="0" err="1">
                <a:solidFill>
                  <a:srgbClr val="000000"/>
                </a:solidFill>
              </a:rPr>
              <a:t>user_na_to_na</a:t>
            </a:r>
            <a:r>
              <a:rPr lang="en-GB" b="0" dirty="0">
                <a:solidFill>
                  <a:srgbClr val="000000"/>
                </a:solidFill>
              </a:rPr>
              <a:t>()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Convierte en NA los faltantes definidos por el usuario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dirty="0" err="1">
                <a:solidFill>
                  <a:srgbClr val="000000"/>
                </a:solidFill>
              </a:rPr>
              <a:t>is_na</a:t>
            </a:r>
            <a:r>
              <a:rPr lang="en-US" b="0" dirty="0">
                <a:solidFill>
                  <a:srgbClr val="000000"/>
                </a:solidFill>
              </a:rPr>
              <a:t>(x)</a:t>
            </a:r>
            <a:br>
              <a:rPr lang="en-US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TRUE si es NA o un valor faltante definido por el usuario</a:t>
            </a:r>
            <a:endParaRPr lang="en-GB" b="0" dirty="0">
              <a:solidFill>
                <a:srgbClr val="000000"/>
              </a:solidFill>
            </a:endParaRPr>
          </a:p>
        </p:txBody>
      </p:sp>
      <p:grpSp>
        <p:nvGrpSpPr>
          <p:cNvPr id="334" name="Group">
            <a:extLst>
              <a:ext uri="{FF2B5EF4-FFF2-40B4-BE49-F238E27FC236}">
                <a16:creationId xmlns:a16="http://schemas.microsoft.com/office/drawing/2014/main" id="{234A03F0-A687-4E2C-BD53-DAC4495D089A}"/>
              </a:ext>
            </a:extLst>
          </p:cNvPr>
          <p:cNvGrpSpPr/>
          <p:nvPr/>
        </p:nvGrpSpPr>
        <p:grpSpPr>
          <a:xfrm>
            <a:off x="9328668" y="2000038"/>
            <a:ext cx="4346836" cy="226109"/>
            <a:chOff x="0" y="0"/>
            <a:chExt cx="2818195" cy="226107"/>
          </a:xfrm>
        </p:grpSpPr>
        <p:sp>
          <p:nvSpPr>
            <p:cNvPr id="335" name="SUBTITLE">
              <a:extLst>
                <a:ext uri="{FF2B5EF4-FFF2-40B4-BE49-F238E27FC236}">
                  <a16:creationId xmlns:a16="http://schemas.microsoft.com/office/drawing/2014/main" id="{895EB173-4A05-44FC-8344-C169721F65E5}"/>
                </a:ext>
              </a:extLst>
            </p:cNvPr>
            <p:cNvSpPr txBox="1"/>
            <p:nvPr/>
          </p:nvSpPr>
          <p:spPr>
            <a:xfrm>
              <a:off x="0" y="15795"/>
              <a:ext cx="2031790" cy="210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/>
              <a:r>
                <a:rPr lang="es-ES" dirty="0"/>
                <a:t>FALTANTES DEFINIDOS POR EL USUARIO (SPSS)</a:t>
              </a:r>
              <a:endParaRPr dirty="0"/>
            </a:p>
          </p:txBody>
        </p:sp>
        <p:sp>
          <p:nvSpPr>
            <p:cNvPr id="336" name="Line">
              <a:extLst>
                <a:ext uri="{FF2B5EF4-FFF2-40B4-BE49-F238E27FC236}">
                  <a16:creationId xmlns:a16="http://schemas.microsoft.com/office/drawing/2014/main" id="{AAA2FAD7-771D-480F-B19F-1F596EABA4C4}"/>
                </a:ext>
              </a:extLst>
            </p:cNvPr>
            <p:cNvSpPr/>
            <p:nvPr/>
          </p:nvSpPr>
          <p:spPr>
            <a:xfrm>
              <a:off x="23250" y="0"/>
              <a:ext cx="2794945" cy="0"/>
            </a:xfrm>
            <a:prstGeom prst="line">
              <a:avLst/>
            </a:prstGeom>
            <a:noFill/>
            <a:ln w="12700" cap="flat">
              <a:solidFill>
                <a:srgbClr val="E0E0E0"/>
              </a:solidFill>
              <a:custDash>
                <a:ds d="100000" sp="200000"/>
              </a:custDash>
              <a:round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341" name="ZoneTexte 340">
            <a:extLst>
              <a:ext uri="{FF2B5EF4-FFF2-40B4-BE49-F238E27FC236}">
                <a16:creationId xmlns:a16="http://schemas.microsoft.com/office/drawing/2014/main" id="{DD56598A-4582-45DF-90A5-0BA633191582}"/>
              </a:ext>
            </a:extLst>
          </p:cNvPr>
          <p:cNvSpPr txBox="1"/>
          <p:nvPr/>
        </p:nvSpPr>
        <p:spPr>
          <a:xfrm>
            <a:off x="4755546" y="1901378"/>
            <a:ext cx="4362244" cy="874518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t" anchorCtr="0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Al añadir etiquetas de valor a un vector numérico o de caracteres, su clase pasa a ser </a:t>
            </a:r>
            <a:r>
              <a:rPr kumimoji="0" lang="en-GB" sz="120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haven_labelled</a:t>
            </a: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. A diferencia de un factor, los valores del vector no cambian y no es obligatorio asignar una </a:t>
            </a:r>
            <a:r>
              <a:rPr lang="es-ES" b="0" dirty="0">
                <a:solidFill>
                  <a:srgbClr val="000000"/>
                </a:solidFill>
              </a:rPr>
              <a:t>etiqueta a cada valor.</a:t>
            </a:r>
            <a:endParaRPr kumimoji="0" lang="en-GB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2" name="ZoneTexte 341">
            <a:extLst>
              <a:ext uri="{FF2B5EF4-FFF2-40B4-BE49-F238E27FC236}">
                <a16:creationId xmlns:a16="http://schemas.microsoft.com/office/drawing/2014/main" id="{7F74D9A2-0FFE-4D56-ABBE-20CB5AF0C32D}"/>
              </a:ext>
            </a:extLst>
          </p:cNvPr>
          <p:cNvSpPr txBox="1"/>
          <p:nvPr/>
        </p:nvSpPr>
        <p:spPr>
          <a:xfrm>
            <a:off x="9348953" y="2266669"/>
            <a:ext cx="4362244" cy="1479812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t" anchorCtr="0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Sirven para indicar que algunos valores deben considerarse faltantes. Sin embargo, no se tratarán como NA </a:t>
            </a:r>
            <a:r>
              <a:rPr lang="es-ES" b="0" dirty="0">
                <a:solidFill>
                  <a:srgbClr val="000000"/>
                </a:solidFill>
              </a:rPr>
              <a:t>mientras no se conviertan en NA propiamente dichos.</a:t>
            </a:r>
            <a:endParaRPr kumimoji="0" lang="en-GB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Al añadir valores fa</a:t>
            </a:r>
            <a:r>
              <a:rPr lang="es-ES" b="0" dirty="0">
                <a:solidFill>
                  <a:srgbClr val="000000"/>
                </a:solidFill>
              </a:rPr>
              <a:t>ltantes</a:t>
            </a: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a un vector numérico o de caracteres, su clase pasa a ser </a:t>
            </a:r>
            <a:r>
              <a:rPr kumimoji="0" lang="en-GB" sz="120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haven_labelled_spss</a:t>
            </a:r>
            <a: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ES" b="0" dirty="0">
                <a:solidFill>
                  <a:srgbClr val="000000"/>
                </a:solidFill>
              </a:rPr>
              <a:t>Al importar un archivo SPSS, usa </a:t>
            </a:r>
            <a:r>
              <a:rPr lang="en-GB" b="0" i="1" dirty="0" err="1">
                <a:solidFill>
                  <a:srgbClr val="000000"/>
                </a:solidFill>
              </a:rPr>
              <a:t>user_na</a:t>
            </a:r>
            <a:r>
              <a:rPr lang="en-GB" b="0" i="1" dirty="0">
                <a:solidFill>
                  <a:srgbClr val="000000"/>
                </a:solidFill>
              </a:rPr>
              <a:t> = TRUE</a:t>
            </a:r>
            <a:r>
              <a:rPr lang="es-ES" b="0" dirty="0">
                <a:solidFill>
                  <a:srgbClr val="000000"/>
                </a:solidFill>
              </a:rPr>
              <a:t> para conservar los faltantes definidos (si no, pasan a NA).</a:t>
            </a:r>
            <a:endParaRPr kumimoji="0" lang="en-GB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3" name="ZoneTexte 342">
            <a:extLst>
              <a:ext uri="{FF2B5EF4-FFF2-40B4-BE49-F238E27FC236}">
                <a16:creationId xmlns:a16="http://schemas.microsoft.com/office/drawing/2014/main" id="{33A956F1-723F-424B-BD82-1D43052BC0C8}"/>
              </a:ext>
            </a:extLst>
          </p:cNvPr>
          <p:cNvSpPr txBox="1"/>
          <p:nvPr/>
        </p:nvSpPr>
        <p:spPr>
          <a:xfrm>
            <a:off x="9379937" y="8016988"/>
            <a:ext cx="3716807" cy="2469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54570" rIns="54570" bIns="54570" numCol="1" spcCol="38100" rtlCol="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pl-PL" b="0" dirty="0">
                <a:solidFill>
                  <a:srgbClr val="000000"/>
                </a:solidFill>
              </a:rPr>
              <a:t>x &lt;- c(1:5, tagged_na("a"), tagged_na("z"), NA)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n-GB" dirty="0" err="1">
                <a:solidFill>
                  <a:srgbClr val="000000"/>
                </a:solidFill>
              </a:rPr>
              <a:t>tagged_na</a:t>
            </a:r>
            <a:r>
              <a:rPr lang="en-GB" b="0" dirty="0">
                <a:solidFill>
                  <a:srgbClr val="000000"/>
                </a:solidFill>
              </a:rPr>
              <a:t>(</a:t>
            </a:r>
            <a:r>
              <a:rPr lang="pl-PL" b="0" dirty="0">
                <a:solidFill>
                  <a:srgbClr val="000000"/>
                </a:solidFill>
              </a:rPr>
              <a:t>"a"</a:t>
            </a:r>
            <a:r>
              <a:rPr lang="es-ES" b="0" dirty="0">
                <a:solidFill>
                  <a:srgbClr val="000000"/>
                </a:solidFill>
              </a:rPr>
              <a:t>) genera un NA con etiqueta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</a:rPr>
              <a:t>is.na</a:t>
            </a:r>
            <a:r>
              <a:rPr lang="en-GB" b="0" dirty="0">
                <a:solidFill>
                  <a:srgbClr val="000000"/>
                </a:solidFill>
              </a:rPr>
              <a:t>(x)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Los NA etiquetados funcionan igual que los NA normales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is_tagged_na</a:t>
            </a:r>
            <a:r>
              <a:rPr lang="en-GB" b="0" dirty="0">
                <a:solidFill>
                  <a:srgbClr val="000000"/>
                </a:solidFill>
              </a:rPr>
              <a:t>(x)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Comprueba si es un NA etiquetado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na_tag</a:t>
            </a:r>
            <a:r>
              <a:rPr lang="en-GB" b="0" dirty="0">
                <a:solidFill>
                  <a:srgbClr val="000000"/>
                </a:solidFill>
              </a:rPr>
              <a:t>(x)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Muestra las etiquetas de los NA etiquetados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format_tagged_na</a:t>
            </a:r>
            <a:r>
              <a:rPr lang="en-GB" b="0" dirty="0">
                <a:solidFill>
                  <a:srgbClr val="000000"/>
                </a:solidFill>
              </a:rPr>
              <a:t>(x)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Convierte x en caracteres mostrando los NA etiquetados</a:t>
            </a:r>
            <a:endParaRPr lang="en-GB" dirty="0">
              <a:solidFill>
                <a:srgbClr val="000000"/>
              </a:solidFill>
            </a:endParaRPr>
          </a:p>
        </p:txBody>
      </p:sp>
      <p:grpSp>
        <p:nvGrpSpPr>
          <p:cNvPr id="344" name="Group">
            <a:extLst>
              <a:ext uri="{FF2B5EF4-FFF2-40B4-BE49-F238E27FC236}">
                <a16:creationId xmlns:a16="http://schemas.microsoft.com/office/drawing/2014/main" id="{7146D362-5D82-457D-AF8C-3E61FB87B268}"/>
              </a:ext>
            </a:extLst>
          </p:cNvPr>
          <p:cNvGrpSpPr/>
          <p:nvPr/>
        </p:nvGrpSpPr>
        <p:grpSpPr>
          <a:xfrm>
            <a:off x="9344076" y="7015106"/>
            <a:ext cx="4346836" cy="226109"/>
            <a:chOff x="0" y="0"/>
            <a:chExt cx="2818195" cy="226107"/>
          </a:xfrm>
        </p:grpSpPr>
        <p:sp>
          <p:nvSpPr>
            <p:cNvPr id="345" name="SUBTITLE">
              <a:extLst>
                <a:ext uri="{FF2B5EF4-FFF2-40B4-BE49-F238E27FC236}">
                  <a16:creationId xmlns:a16="http://schemas.microsoft.com/office/drawing/2014/main" id="{6AD0155C-3CCF-4B74-97E3-778F26C98874}"/>
                </a:ext>
              </a:extLst>
            </p:cNvPr>
            <p:cNvSpPr txBox="1"/>
            <p:nvPr/>
          </p:nvSpPr>
          <p:spPr>
            <a:xfrm>
              <a:off x="0" y="15795"/>
              <a:ext cx="1492404" cy="210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/>
              <a:r>
                <a:rPr lang="es-ES" dirty="0" err="1"/>
                <a:t>NA</a:t>
              </a:r>
              <a:r>
                <a:rPr lang="es-ES" dirty="0"/>
                <a:t> ETIQUETADOS (ESTILO STATA Y SAS)</a:t>
              </a:r>
              <a:endParaRPr dirty="0"/>
            </a:p>
          </p:txBody>
        </p:sp>
        <p:sp>
          <p:nvSpPr>
            <p:cNvPr id="346" name="Line">
              <a:extLst>
                <a:ext uri="{FF2B5EF4-FFF2-40B4-BE49-F238E27FC236}">
                  <a16:creationId xmlns:a16="http://schemas.microsoft.com/office/drawing/2014/main" id="{1E774C73-DDF2-42EB-8D12-D19ED89AB876}"/>
                </a:ext>
              </a:extLst>
            </p:cNvPr>
            <p:cNvSpPr/>
            <p:nvPr/>
          </p:nvSpPr>
          <p:spPr>
            <a:xfrm>
              <a:off x="23250" y="0"/>
              <a:ext cx="2794945" cy="0"/>
            </a:xfrm>
            <a:prstGeom prst="line">
              <a:avLst/>
            </a:prstGeom>
            <a:noFill/>
            <a:ln w="12700" cap="flat">
              <a:solidFill>
                <a:srgbClr val="E0E0E0"/>
              </a:solidFill>
              <a:custDash>
                <a:ds d="100000" sp="200000"/>
              </a:custDash>
              <a:round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347" name="ZoneTexte 346">
            <a:extLst>
              <a:ext uri="{FF2B5EF4-FFF2-40B4-BE49-F238E27FC236}">
                <a16:creationId xmlns:a16="http://schemas.microsoft.com/office/drawing/2014/main" id="{D2AC0DE9-A546-42CC-B42C-D13276B24FF6}"/>
              </a:ext>
            </a:extLst>
          </p:cNvPr>
          <p:cNvSpPr txBox="1"/>
          <p:nvPr/>
        </p:nvSpPr>
        <p:spPr>
          <a:xfrm>
            <a:off x="9364361" y="7281737"/>
            <a:ext cx="4362244" cy="689852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t" anchorCtr="0">
            <a:spAutoFit/>
          </a:bodyPr>
          <a:lstStyle/>
          <a:p>
            <a:r>
              <a:rPr lang="es-ES" b="0" dirty="0">
                <a:solidFill>
                  <a:srgbClr val="000000"/>
                </a:solidFill>
              </a:rPr>
              <a:t>Los faltantes “etiquetados” funcionan igual que los NA normales de R, pero guardan un byte adicional de información:</a:t>
            </a:r>
            <a:br>
              <a:rPr lang="en-US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una etiqueta, normalmente una letra ("a" a "z"). </a:t>
            </a:r>
            <a:endParaRPr kumimoji="0" lang="en-GB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74" name="Table">
            <a:extLst>
              <a:ext uri="{FF2B5EF4-FFF2-40B4-BE49-F238E27FC236}">
                <a16:creationId xmlns:a16="http://schemas.microsoft.com/office/drawing/2014/main" id="{20171F63-360C-496D-9C40-93BD361294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5515072"/>
              </p:ext>
            </p:extLst>
          </p:nvPr>
        </p:nvGraphicFramePr>
        <p:xfrm>
          <a:off x="245865" y="7381911"/>
          <a:ext cx="360000" cy="457200"/>
        </p:xfrm>
        <a:graphic>
          <a:graphicData uri="http://schemas.openxmlformats.org/drawingml/2006/table">
            <a:tbl>
              <a:tblPr>
                <a:tableStyleId>{33BA23B1-9221-436E-865A-0063620EA4FD}</a:tableStyleId>
              </a:tblPr>
              <a:tblGrid>
                <a:gridCol w="9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">
                  <a:extLst>
                    <a:ext uri="{9D8B030D-6E8A-4147-A177-3AD203B41FA5}">
                      <a16:colId xmlns:a16="http://schemas.microsoft.com/office/drawing/2014/main" val="1347651227"/>
                    </a:ext>
                  </a:extLst>
                </a:gridCol>
              </a:tblGrid>
              <a:tr h="72000">
                <a:tc>
                  <a:txBody>
                    <a:bodyPr/>
                    <a:lstStyle/>
                    <a:p>
                      <a:pPr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lang="fr-FR" sz="600" dirty="0">
                          <a:latin typeface="Wingdings 3" panose="05040102010807070707" pitchFamily="18" charset="2"/>
                        </a:rPr>
                        <a:t>³</a:t>
                      </a:r>
                      <a:endParaRPr lang="fr-FR" sz="600" b="0" dirty="0">
                        <a:solidFill>
                          <a:srgbClr val="FFFFFF"/>
                        </a:solidFill>
                        <a:latin typeface="Wingdings 3" panose="05040102010807070707" pitchFamily="18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vert="vert27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lang="fr-FR" sz="600" dirty="0">
                          <a:latin typeface="Wingdings 3" panose="05040102010807070707" pitchFamily="18" charset="2"/>
                        </a:rPr>
                        <a:t>³</a:t>
                      </a:r>
                      <a:endParaRPr sz="600" b="0" dirty="0">
                        <a:solidFill>
                          <a:srgbClr val="FFFFFF"/>
                        </a:solidFill>
                        <a:latin typeface="Wingdings 3" panose="05040102010807070707" pitchFamily="18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vert="vert27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lang="fr-FR" sz="600" dirty="0">
                          <a:latin typeface="Wingdings 3" panose="05040102010807070707" pitchFamily="18" charset="2"/>
                        </a:rPr>
                        <a:t>³</a:t>
                      </a:r>
                      <a:endParaRPr sz="600" b="0" dirty="0">
                        <a:solidFill>
                          <a:srgbClr val="FFFFFF"/>
                        </a:solidFill>
                        <a:latin typeface="Wingdings 3" panose="05040102010807070707" pitchFamily="18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vert="vert27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600" b="0" dirty="0">
                        <a:solidFill>
                          <a:srgbClr val="FFFFFF"/>
                        </a:solidFill>
                        <a:latin typeface="Wingdings 3" panose="05040102010807070707" pitchFamily="18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307657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lang="fr-FR" sz="600" b="0" dirty="0">
                        <a:solidFill>
                          <a:srgbClr val="FFFFFF"/>
                        </a:solidFill>
                        <a:latin typeface="Wingdings" panose="05000000000000000000" pitchFamily="2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600" b="0" dirty="0">
                        <a:solidFill>
                          <a:srgbClr val="FFFFFF"/>
                        </a:solidFill>
                        <a:latin typeface="Wingdings" panose="05000000000000000000" pitchFamily="2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600" b="0" dirty="0">
                        <a:solidFill>
                          <a:srgbClr val="FFFFFF"/>
                        </a:solidFill>
                        <a:latin typeface="Wingdings" panose="05000000000000000000" pitchFamily="2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600" b="0" dirty="0">
                        <a:solidFill>
                          <a:srgbClr val="FFFFFF"/>
                        </a:solidFill>
                        <a:latin typeface="Wingdings 3" panose="05040102010807070707" pitchFamily="18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CDB9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CDB9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CDB9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 3" panose="05040102010807070707" pitchFamily="18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ABF5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ABF5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ABF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lang="fr-FR" sz="600" dirty="0">
                        <a:latin typeface="Wingdings 3" panose="05040102010807070707" pitchFamily="18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DEA0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sz="60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DEA0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DEA0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lang="fr-FR" sz="600" dirty="0">
                        <a:latin typeface="Wingdings 3" panose="05040102010807070707" pitchFamily="18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5" name="Table">
            <a:extLst>
              <a:ext uri="{FF2B5EF4-FFF2-40B4-BE49-F238E27FC236}">
                <a16:creationId xmlns:a16="http://schemas.microsoft.com/office/drawing/2014/main" id="{50F934E2-AEA8-4C57-BDBA-F7C7A3B1BB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7777283"/>
              </p:ext>
            </p:extLst>
          </p:nvPr>
        </p:nvGraphicFramePr>
        <p:xfrm>
          <a:off x="275721" y="5560353"/>
          <a:ext cx="288000" cy="360000"/>
        </p:xfrm>
        <a:graphic>
          <a:graphicData uri="http://schemas.openxmlformats.org/drawingml/2006/table">
            <a:tbl>
              <a:tblPr>
                <a:tableStyleId>{33BA23B1-9221-436E-865A-0063620EA4FD}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1347651227"/>
                    </a:ext>
                  </a:extLst>
                </a:gridCol>
              </a:tblGrid>
              <a:tr h="72000">
                <a:tc>
                  <a:txBody>
                    <a:bodyPr/>
                    <a:lstStyle/>
                    <a:p>
                      <a:pPr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lang="fr-FR" sz="400" dirty="0">
                          <a:latin typeface="Wingdings 3" panose="05040102010807070707" pitchFamily="18" charset="2"/>
                        </a:rPr>
                        <a:t>³</a:t>
                      </a:r>
                      <a:endParaRPr lang="fr-FR" sz="400" b="0" dirty="0">
                        <a:solidFill>
                          <a:srgbClr val="FFFFFF"/>
                        </a:solidFill>
                        <a:latin typeface="Wingdings 3" panose="05040102010807070707" pitchFamily="18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vert="vert27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400" b="0" dirty="0">
                        <a:solidFill>
                          <a:srgbClr val="FFFFFF"/>
                        </a:solidFill>
                        <a:latin typeface="Wingdings 3" panose="05040102010807070707" pitchFamily="18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vert="vert27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400" b="0" dirty="0">
                        <a:solidFill>
                          <a:srgbClr val="FFFFFF"/>
                        </a:solidFill>
                        <a:latin typeface="Wingdings 3" panose="05040102010807070707" pitchFamily="18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vert="vert27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400" b="0" dirty="0">
                        <a:solidFill>
                          <a:srgbClr val="FFFFFF"/>
                        </a:solidFill>
                        <a:latin typeface="Wingdings 3" panose="05040102010807070707" pitchFamily="18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307657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lang="fr-FR" sz="400" b="0" dirty="0">
                        <a:solidFill>
                          <a:srgbClr val="FFFFFF"/>
                        </a:solidFill>
                        <a:latin typeface="Wingdings" panose="05000000000000000000" pitchFamily="2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400" b="0" dirty="0">
                        <a:solidFill>
                          <a:srgbClr val="FFFFFF"/>
                        </a:solidFill>
                        <a:latin typeface="Wingdings" panose="05000000000000000000" pitchFamily="2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400" b="0" dirty="0">
                        <a:solidFill>
                          <a:srgbClr val="FFFFFF"/>
                        </a:solidFill>
                        <a:latin typeface="Wingdings" panose="05000000000000000000" pitchFamily="2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400" b="0" dirty="0">
                        <a:solidFill>
                          <a:srgbClr val="FFFFFF"/>
                        </a:solidFill>
                        <a:latin typeface="Wingdings 3" panose="05040102010807070707" pitchFamily="18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4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CDB9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4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4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400" dirty="0">
                        <a:latin typeface="Wingdings 3" panose="05040102010807070707" pitchFamily="18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4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ABF5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4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4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lang="fr-FR" sz="400" dirty="0">
                        <a:latin typeface="Wingdings 3" panose="05040102010807070707" pitchFamily="18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sz="4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DEA0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sz="40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sz="4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lang="fr-FR" sz="400" dirty="0">
                        <a:latin typeface="Wingdings 3" panose="05040102010807070707" pitchFamily="18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9" name="Table">
            <a:extLst>
              <a:ext uri="{FF2B5EF4-FFF2-40B4-BE49-F238E27FC236}">
                <a16:creationId xmlns:a16="http://schemas.microsoft.com/office/drawing/2014/main" id="{387493D0-1F65-4359-A68C-F510C029D6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3543839"/>
              </p:ext>
            </p:extLst>
          </p:nvPr>
        </p:nvGraphicFramePr>
        <p:xfrm>
          <a:off x="4775886" y="7718737"/>
          <a:ext cx="360000" cy="365760"/>
        </p:xfrm>
        <a:graphic>
          <a:graphicData uri="http://schemas.openxmlformats.org/drawingml/2006/table">
            <a:tbl>
              <a:tblPr>
                <a:tableStyleId>{33BA23B1-9221-436E-865A-0063620EA4FD}</a:tableStyleId>
              </a:tblPr>
              <a:tblGrid>
                <a:gridCol w="9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">
                  <a:extLst>
                    <a:ext uri="{9D8B030D-6E8A-4147-A177-3AD203B41FA5}">
                      <a16:colId xmlns:a16="http://schemas.microsoft.com/office/drawing/2014/main" val="1347651227"/>
                    </a:ext>
                  </a:extLst>
                </a:gridCol>
              </a:tblGrid>
              <a:tr h="72000"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lang="fr-FR" sz="600" b="0" dirty="0">
                        <a:solidFill>
                          <a:srgbClr val="FFFFFF"/>
                        </a:solidFill>
                        <a:latin typeface="Wingdings" panose="05000000000000000000" pitchFamily="2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600" b="0" dirty="0">
                        <a:solidFill>
                          <a:srgbClr val="FFFFFF"/>
                        </a:solidFill>
                        <a:latin typeface="Wingdings" panose="05000000000000000000" pitchFamily="2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600" b="0" dirty="0">
                        <a:solidFill>
                          <a:srgbClr val="FFFFFF"/>
                        </a:solidFill>
                        <a:latin typeface="Wingdings" panose="05000000000000000000" pitchFamily="2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600" b="0" dirty="0">
                        <a:solidFill>
                          <a:srgbClr val="FFFFFF"/>
                        </a:solidFill>
                        <a:latin typeface="Wingdings 3" panose="05040102010807070707" pitchFamily="18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CDB9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CDB9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CDB9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fr-FR" sz="600" dirty="0">
                          <a:latin typeface="Wingdings 3" panose="05040102010807070707" pitchFamily="18" charset="2"/>
                        </a:rPr>
                        <a:t>³</a:t>
                      </a:r>
                      <a:endParaRPr sz="600" dirty="0">
                        <a:latin typeface="Wingdings 3" panose="05040102010807070707" pitchFamily="18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ABF5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ABF5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ABF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fr-FR" sz="600" dirty="0">
                          <a:latin typeface="Wingdings 3" panose="05040102010807070707" pitchFamily="18" charset="2"/>
                        </a:rPr>
                        <a:t>³</a:t>
                      </a: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DEA0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DEA03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DEA0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r>
                        <a:rPr lang="fr-FR" sz="600" dirty="0">
                          <a:latin typeface="Wingdings 3" panose="05040102010807070707" pitchFamily="18" charset="2"/>
                        </a:rPr>
                        <a:t>³</a:t>
                      </a: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1" name="Table">
            <a:extLst>
              <a:ext uri="{FF2B5EF4-FFF2-40B4-BE49-F238E27FC236}">
                <a16:creationId xmlns:a16="http://schemas.microsoft.com/office/drawing/2014/main" id="{0CE1D9D6-6A35-4A55-8DD5-DF33E5E43A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2507309"/>
              </p:ext>
            </p:extLst>
          </p:nvPr>
        </p:nvGraphicFramePr>
        <p:xfrm>
          <a:off x="4796799" y="3243164"/>
          <a:ext cx="360000" cy="365760"/>
        </p:xfrm>
        <a:graphic>
          <a:graphicData uri="http://schemas.openxmlformats.org/drawingml/2006/table">
            <a:tbl>
              <a:tblPr>
                <a:tableStyleId>{33BA23B1-9221-436E-865A-0063620EA4FD}</a:tableStyleId>
              </a:tblPr>
              <a:tblGrid>
                <a:gridCol w="9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">
                  <a:extLst>
                    <a:ext uri="{9D8B030D-6E8A-4147-A177-3AD203B41FA5}">
                      <a16:colId xmlns:a16="http://schemas.microsoft.com/office/drawing/2014/main" val="1347651227"/>
                    </a:ext>
                  </a:extLst>
                </a:gridCol>
              </a:tblGrid>
              <a:tr h="72000"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lang="fr-FR" sz="600" b="0" dirty="0">
                        <a:solidFill>
                          <a:srgbClr val="FFFFFF"/>
                        </a:solidFill>
                        <a:latin typeface="Wingdings" panose="05000000000000000000" pitchFamily="2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600" b="0" dirty="0">
                        <a:solidFill>
                          <a:srgbClr val="FFFFFF"/>
                        </a:solidFill>
                        <a:latin typeface="Wingdings 3" panose="05040102010807070707" pitchFamily="18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600" b="0" dirty="0">
                        <a:solidFill>
                          <a:srgbClr val="FFFFFF"/>
                        </a:solidFill>
                        <a:latin typeface="Wingdings" panose="05000000000000000000" pitchFamily="2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endParaRPr sz="600" b="0" dirty="0">
                        <a:solidFill>
                          <a:srgbClr val="FFFFFF"/>
                        </a:solidFill>
                        <a:latin typeface="Wingdings 3" panose="05040102010807070707" pitchFamily="18" charset="2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CDB9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fr-FR" sz="600" dirty="0">
                          <a:latin typeface="Wingdings 3" panose="05040102010807070707" pitchFamily="18" charset="2"/>
                        </a:rPr>
                        <a:t>³</a:t>
                      </a:r>
                      <a:endParaRPr sz="600" dirty="0">
                        <a:latin typeface="Wingdings 3" panose="05040102010807070707" pitchFamily="18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36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 3" panose="05040102010807070707" pitchFamily="18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FABF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fr-FR" sz="600" dirty="0">
                          <a:latin typeface="Wingdings 3" panose="05040102010807070707" pitchFamily="18" charset="2"/>
                        </a:rPr>
                        <a:t>³</a:t>
                      </a: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lang="fr-FR" sz="600" dirty="0">
                        <a:latin typeface="Wingdings 3" panose="05040102010807070707" pitchFamily="18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rgbClr val="DEA0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r>
                        <a:rPr lang="fr-FR" sz="600" dirty="0">
                          <a:latin typeface="Wingdings 3" panose="05040102010807070707" pitchFamily="18" charset="2"/>
                        </a:rPr>
                        <a:t>³</a:t>
                      </a: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sz="600" dirty="0">
                        <a:latin typeface="Wingdings" panose="05000000000000000000" pitchFamily="2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600">
                          <a:latin typeface="Helvetica Light"/>
                          <a:ea typeface="Helvetica Light"/>
                          <a:cs typeface="Helvetica Light"/>
                        </a:defRPr>
                      </a:pPr>
                      <a:endParaRPr lang="fr-FR" sz="600" dirty="0">
                        <a:latin typeface="Wingdings 3" panose="05040102010807070707" pitchFamily="18" charset="2"/>
                      </a:endParaRPr>
                    </a:p>
                  </a:txBody>
                  <a:tcPr marL="0" marR="0" marT="0" marB="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roup">
            <a:extLst>
              <a:ext uri="{FF2B5EF4-FFF2-40B4-BE49-F238E27FC236}">
                <a16:creationId xmlns:a16="http://schemas.microsoft.com/office/drawing/2014/main" id="{BABA1F75-13CB-4720-98D6-17267285E55C}"/>
              </a:ext>
            </a:extLst>
          </p:cNvPr>
          <p:cNvSpPr/>
          <p:nvPr/>
        </p:nvSpPr>
        <p:spPr>
          <a:xfrm>
            <a:off x="213255" y="716850"/>
            <a:ext cx="4346831" cy="9449121"/>
          </a:xfrm>
          <a:prstGeom prst="rect">
            <a:avLst/>
          </a:prstGeom>
          <a:solidFill>
            <a:srgbClr val="79B0DC">
              <a:alpha val="23529"/>
            </a:srgbClr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47" name="Group">
            <a:extLst>
              <a:ext uri="{FF2B5EF4-FFF2-40B4-BE49-F238E27FC236}">
                <a16:creationId xmlns:a16="http://schemas.microsoft.com/office/drawing/2014/main" id="{D9AFB4AE-4411-4394-A2D5-8CD190B252D5}"/>
              </a:ext>
            </a:extLst>
          </p:cNvPr>
          <p:cNvGrpSpPr/>
          <p:nvPr/>
        </p:nvGrpSpPr>
        <p:grpSpPr>
          <a:xfrm>
            <a:off x="8369105" y="-1013161"/>
            <a:ext cx="6159575" cy="3553962"/>
            <a:chOff x="0" y="51032"/>
            <a:chExt cx="6159573" cy="3553961"/>
          </a:xfrm>
        </p:grpSpPr>
        <p:grpSp>
          <p:nvGrpSpPr>
            <p:cNvPr id="48" name="Group">
              <a:extLst>
                <a:ext uri="{FF2B5EF4-FFF2-40B4-BE49-F238E27FC236}">
                  <a16:creationId xmlns:a16="http://schemas.microsoft.com/office/drawing/2014/main" id="{A4EE3BCC-61B4-41C2-AABE-49E2A33D9F47}"/>
                </a:ext>
              </a:extLst>
            </p:cNvPr>
            <p:cNvGrpSpPr/>
            <p:nvPr/>
          </p:nvGrpSpPr>
          <p:grpSpPr>
            <a:xfrm>
              <a:off x="24975" y="51032"/>
              <a:ext cx="6134599" cy="2980091"/>
              <a:chOff x="0" y="51032"/>
              <a:chExt cx="6134598" cy="2980090"/>
            </a:xfrm>
          </p:grpSpPr>
          <p:sp>
            <p:nvSpPr>
              <p:cNvPr id="51" name="Triangle">
                <a:extLst>
                  <a:ext uri="{FF2B5EF4-FFF2-40B4-BE49-F238E27FC236}">
                    <a16:creationId xmlns:a16="http://schemas.microsoft.com/office/drawing/2014/main" id="{892A0D42-3AEA-4CC3-8360-F7D1F23E0451}"/>
                  </a:ext>
                </a:extLst>
              </p:cNvPr>
              <p:cNvSpPr/>
              <p:nvPr/>
            </p:nvSpPr>
            <p:spPr>
              <a:xfrm rot="1800000">
                <a:off x="1177377" y="304285"/>
                <a:ext cx="1319509" cy="1143860"/>
              </a:xfrm>
              <a:prstGeom prst="triangle">
                <a:avLst/>
              </a:prstGeom>
              <a:solidFill>
                <a:srgbClr val="DEDFE0"/>
              </a:solidFill>
              <a:ln w="3175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2" name="Circle">
                <a:extLst>
                  <a:ext uri="{FF2B5EF4-FFF2-40B4-BE49-F238E27FC236}">
                    <a16:creationId xmlns:a16="http://schemas.microsoft.com/office/drawing/2014/main" id="{EC10128D-089A-4997-A9AA-EE186ACC87C4}"/>
                  </a:ext>
                </a:extLst>
              </p:cNvPr>
              <p:cNvSpPr/>
              <p:nvPr/>
            </p:nvSpPr>
            <p:spPr>
              <a:xfrm flipH="1">
                <a:off x="1550782" y="838357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3" name="Circle">
                <a:extLst>
                  <a:ext uri="{FF2B5EF4-FFF2-40B4-BE49-F238E27FC236}">
                    <a16:creationId xmlns:a16="http://schemas.microsoft.com/office/drawing/2014/main" id="{752FF101-5E43-4000-9D2D-84903A55F28A}"/>
                  </a:ext>
                </a:extLst>
              </p:cNvPr>
              <p:cNvSpPr/>
              <p:nvPr/>
            </p:nvSpPr>
            <p:spPr>
              <a:xfrm flipH="1">
                <a:off x="0" y="819778"/>
                <a:ext cx="422089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4" name="Triangle">
                <a:extLst>
                  <a:ext uri="{FF2B5EF4-FFF2-40B4-BE49-F238E27FC236}">
                    <a16:creationId xmlns:a16="http://schemas.microsoft.com/office/drawing/2014/main" id="{21BBEA81-7A68-4DFF-8BCF-EB00B36E3261}"/>
                  </a:ext>
                </a:extLst>
              </p:cNvPr>
              <p:cNvSpPr/>
              <p:nvPr/>
            </p:nvSpPr>
            <p:spPr>
              <a:xfrm rot="19800000">
                <a:off x="2896973" y="973389"/>
                <a:ext cx="1319509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5" name="Triangle">
                <a:extLst>
                  <a:ext uri="{FF2B5EF4-FFF2-40B4-BE49-F238E27FC236}">
                    <a16:creationId xmlns:a16="http://schemas.microsoft.com/office/drawing/2014/main" id="{326C4588-3A9C-44B1-AB9A-8369C15ACADB}"/>
                  </a:ext>
                </a:extLst>
              </p:cNvPr>
              <p:cNvSpPr/>
              <p:nvPr/>
            </p:nvSpPr>
            <p:spPr>
              <a:xfrm rot="1800000">
                <a:off x="3470359" y="1634009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6" name="Circle">
                <a:extLst>
                  <a:ext uri="{FF2B5EF4-FFF2-40B4-BE49-F238E27FC236}">
                    <a16:creationId xmlns:a16="http://schemas.microsoft.com/office/drawing/2014/main" id="{5565A25A-DA8A-498E-9488-79F9D13DEDBA}"/>
                  </a:ext>
                </a:extLst>
              </p:cNvPr>
              <p:cNvSpPr/>
              <p:nvPr/>
            </p:nvSpPr>
            <p:spPr>
              <a:xfrm flipH="1">
                <a:off x="3461021" y="150746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7" name="Circle">
                <a:extLst>
                  <a:ext uri="{FF2B5EF4-FFF2-40B4-BE49-F238E27FC236}">
                    <a16:creationId xmlns:a16="http://schemas.microsoft.com/office/drawing/2014/main" id="{81AA65C6-DEB9-467E-8FD4-77CB2624D3E4}"/>
                  </a:ext>
                </a:extLst>
              </p:cNvPr>
              <p:cNvSpPr/>
              <p:nvPr/>
            </p:nvSpPr>
            <p:spPr>
              <a:xfrm flipH="1">
                <a:off x="3843763" y="2168082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8" name="Triangle">
                <a:extLst>
                  <a:ext uri="{FF2B5EF4-FFF2-40B4-BE49-F238E27FC236}">
                    <a16:creationId xmlns:a16="http://schemas.microsoft.com/office/drawing/2014/main" id="{4C1C6395-2204-4485-B467-C6EB8EFC4B77}"/>
                  </a:ext>
                </a:extLst>
              </p:cNvPr>
              <p:cNvSpPr/>
              <p:nvPr/>
            </p:nvSpPr>
            <p:spPr>
              <a:xfrm rot="1800000">
                <a:off x="3470359" y="312963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59" name="Circle">
                <a:extLst>
                  <a:ext uri="{FF2B5EF4-FFF2-40B4-BE49-F238E27FC236}">
                    <a16:creationId xmlns:a16="http://schemas.microsoft.com/office/drawing/2014/main" id="{86CD7798-6998-481F-B798-C6085F812656}"/>
                  </a:ext>
                </a:extLst>
              </p:cNvPr>
              <p:cNvSpPr/>
              <p:nvPr/>
            </p:nvSpPr>
            <p:spPr>
              <a:xfrm flipH="1">
                <a:off x="3843763" y="847036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0" name="Triangle">
                <a:extLst>
                  <a:ext uri="{FF2B5EF4-FFF2-40B4-BE49-F238E27FC236}">
                    <a16:creationId xmlns:a16="http://schemas.microsoft.com/office/drawing/2014/main" id="{9A7AF4BA-F7EE-47BF-AF53-8E60553C0F90}"/>
                  </a:ext>
                </a:extLst>
              </p:cNvPr>
              <p:cNvSpPr/>
              <p:nvPr/>
            </p:nvSpPr>
            <p:spPr>
              <a:xfrm rot="19800000">
                <a:off x="4044130" y="318647"/>
                <a:ext cx="1319509" cy="1143861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1" name="Circle">
                <a:extLst>
                  <a:ext uri="{FF2B5EF4-FFF2-40B4-BE49-F238E27FC236}">
                    <a16:creationId xmlns:a16="http://schemas.microsoft.com/office/drawing/2014/main" id="{324B0812-A810-455E-96F1-3692778130D2}"/>
                  </a:ext>
                </a:extLst>
              </p:cNvPr>
              <p:cNvSpPr/>
              <p:nvPr/>
            </p:nvSpPr>
            <p:spPr>
              <a:xfrm flipH="1">
                <a:off x="4608178" y="852720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2" name="Triangle">
                <a:extLst>
                  <a:ext uri="{FF2B5EF4-FFF2-40B4-BE49-F238E27FC236}">
                    <a16:creationId xmlns:a16="http://schemas.microsoft.com/office/drawing/2014/main" id="{5774AB1F-C474-4B48-B10D-EFF9469BA0E7}"/>
                  </a:ext>
                </a:extLst>
              </p:cNvPr>
              <p:cNvSpPr/>
              <p:nvPr/>
            </p:nvSpPr>
            <p:spPr>
              <a:xfrm rot="1800000">
                <a:off x="4617515" y="979268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3" name="Circle">
                <a:extLst>
                  <a:ext uri="{FF2B5EF4-FFF2-40B4-BE49-F238E27FC236}">
                    <a16:creationId xmlns:a16="http://schemas.microsoft.com/office/drawing/2014/main" id="{DDB256B9-8953-4682-9676-65309474A55D}"/>
                  </a:ext>
                </a:extLst>
              </p:cNvPr>
              <p:cNvSpPr/>
              <p:nvPr/>
            </p:nvSpPr>
            <p:spPr>
              <a:xfrm flipH="1">
                <a:off x="4990920" y="1513341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4" name="Triangle">
                <a:extLst>
                  <a:ext uri="{FF2B5EF4-FFF2-40B4-BE49-F238E27FC236}">
                    <a16:creationId xmlns:a16="http://schemas.microsoft.com/office/drawing/2014/main" id="{B5EE6D88-3404-4E8B-9048-DAE6CB23964E}"/>
                  </a:ext>
                </a:extLst>
              </p:cNvPr>
              <p:cNvSpPr/>
              <p:nvPr/>
            </p:nvSpPr>
            <p:spPr>
              <a:xfrm rot="19800000">
                <a:off x="1751148" y="309969"/>
                <a:ext cx="1319510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65" name="Circle">
                <a:extLst>
                  <a:ext uri="{FF2B5EF4-FFF2-40B4-BE49-F238E27FC236}">
                    <a16:creationId xmlns:a16="http://schemas.microsoft.com/office/drawing/2014/main" id="{ACED8F35-5839-4BC7-8B07-E5657EA780CB}"/>
                  </a:ext>
                </a:extLst>
              </p:cNvPr>
              <p:cNvSpPr/>
              <p:nvPr/>
            </p:nvSpPr>
            <p:spPr>
              <a:xfrm flipH="1">
                <a:off x="2315196" y="84404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DC477123-A2DB-49D9-942D-649F748EEAC9}"/>
                </a:ext>
              </a:extLst>
            </p:cNvPr>
            <p:cNvSpPr/>
            <p:nvPr/>
          </p:nvSpPr>
          <p:spPr>
            <a:xfrm>
              <a:off x="1682" y="1038072"/>
              <a:ext cx="5593304" cy="2566922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0382">
                  <a:srgbClr val="FFFFFF">
                    <a:alpha val="45796"/>
                  </a:srgbClr>
                </a:gs>
                <a:gs pos="35803">
                  <a:srgbClr val="FFFFFF">
                    <a:alpha val="72898"/>
                  </a:srgbClr>
                </a:gs>
                <a:gs pos="55434">
                  <a:srgbClr val="FFFFFF"/>
                </a:gs>
              </a:gsLst>
              <a:path path="shape">
                <a:fillToRect l="49659" t="-26178" r="50340" b="12617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pic>
          <p:nvPicPr>
            <p:cNvPr id="50" name="Image" descr="Image">
              <a:extLst>
                <a:ext uri="{FF2B5EF4-FFF2-40B4-BE49-F238E27FC236}">
                  <a16:creationId xmlns:a16="http://schemas.microsoft.com/office/drawing/2014/main" id="{2C41E6BB-366A-4694-8147-E7DB418E8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79670"/>
              <a:ext cx="5603816" cy="29929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7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5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2398052" y="10404502"/>
            <a:ext cx="11322666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s-ES" dirty="0"/>
              <a:t>CC BY SA Joseph Larmarange • Más información en </a:t>
            </a:r>
            <a:r>
              <a:rPr lang="en-US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http://larmarange.github.io/labelled</a:t>
            </a:r>
            <a:r>
              <a:rPr lang="es-ES" dirty="0"/>
              <a:t> •  versión de labelled  2.5.0 •  Actualizado: 2020-06  •  Traducido por Anthony Romero-Cerdán  •  anthonyromero.netlify.app</a:t>
            </a:r>
          </a:p>
        </p:txBody>
      </p:sp>
      <p:sp>
        <p:nvSpPr>
          <p:cNvPr id="197" name="Basics">
            <a:extLst>
              <a:ext uri="{FF2B5EF4-FFF2-40B4-BE49-F238E27FC236}">
                <a16:creationId xmlns:a16="http://schemas.microsoft.com/office/drawing/2014/main" id="{6A39928D-BB47-4A14-AF29-260EC10D2309}"/>
              </a:ext>
            </a:extLst>
          </p:cNvPr>
          <p:cNvSpPr txBox="1"/>
          <p:nvPr/>
        </p:nvSpPr>
        <p:spPr>
          <a:xfrm>
            <a:off x="306210" y="752199"/>
            <a:ext cx="352981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s-ES" dirty="0"/>
              <a:t>¿Cuándo </a:t>
            </a:r>
            <a:r>
              <a:rPr lang="es-ES" dirty="0" err="1"/>
              <a:t>usar</a:t>
            </a:r>
            <a:r>
              <a:rPr lang="fr-FR" dirty="0"/>
              <a:t> </a:t>
            </a:r>
            <a:r>
              <a:rPr lang="es-ES" dirty="0" err="1"/>
              <a:t>etiquetas</a:t>
            </a:r>
            <a:r>
              <a:rPr lang="es-ES" dirty="0"/>
              <a:t>?</a:t>
            </a:r>
            <a:endParaRPr dirty="0"/>
          </a:p>
        </p:txBody>
      </p:sp>
      <p:sp>
        <p:nvSpPr>
          <p:cNvPr id="214" name="Line">
            <a:extLst>
              <a:ext uri="{FF2B5EF4-FFF2-40B4-BE49-F238E27FC236}">
                <a16:creationId xmlns:a16="http://schemas.microsoft.com/office/drawing/2014/main" id="{738F2AC3-8E65-46CF-BCF5-9839C7B34EEA}"/>
              </a:ext>
            </a:extLst>
          </p:cNvPr>
          <p:cNvSpPr/>
          <p:nvPr/>
        </p:nvSpPr>
        <p:spPr>
          <a:xfrm>
            <a:off x="323328" y="726991"/>
            <a:ext cx="4140391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03" name="ZoneTexte 302">
            <a:extLst>
              <a:ext uri="{FF2B5EF4-FFF2-40B4-BE49-F238E27FC236}">
                <a16:creationId xmlns:a16="http://schemas.microsoft.com/office/drawing/2014/main" id="{B31A4758-30FD-4C6A-B5FC-4EF597901D51}"/>
              </a:ext>
            </a:extLst>
          </p:cNvPr>
          <p:cNvSpPr txBox="1"/>
          <p:nvPr/>
        </p:nvSpPr>
        <p:spPr>
          <a:xfrm>
            <a:off x="317966" y="1191233"/>
            <a:ext cx="4115473" cy="36393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t" anchorCtr="0">
            <a:spAutoFit/>
          </a:bodyPr>
          <a:lstStyle/>
          <a:p>
            <a:r>
              <a:rPr lang="en-US" b="0" i="1" dirty="0" err="1">
                <a:solidFill>
                  <a:srgbClr val="000000"/>
                </a:solidFill>
              </a:rPr>
              <a:t>haven_labelled</a:t>
            </a:r>
            <a:r>
              <a:rPr lang="es-ES" b="0" dirty="0">
                <a:solidFill>
                  <a:srgbClr val="000000"/>
                </a:solidFill>
              </a:rPr>
              <a:t> y </a:t>
            </a:r>
            <a:r>
              <a:rPr lang="en-US" b="0" i="1" dirty="0" err="1">
                <a:solidFill>
                  <a:srgbClr val="000000"/>
                </a:solidFill>
              </a:rPr>
              <a:t>haven_labelled_spss</a:t>
            </a:r>
            <a:r>
              <a:rPr lang="es-ES" b="0" dirty="0">
                <a:solidFill>
                  <a:srgbClr val="000000"/>
                </a:solidFill>
              </a:rPr>
              <a:t>, clases del paquete </a:t>
            </a:r>
            <a:r>
              <a:rPr lang="en-US" dirty="0">
                <a:solidFill>
                  <a:srgbClr val="000000"/>
                </a:solidFill>
              </a:rPr>
              <a:t>haven</a:t>
            </a:r>
            <a:r>
              <a:rPr lang="es-ES" b="0" dirty="0">
                <a:solidFill>
                  <a:srgbClr val="000000"/>
                </a:solidFill>
              </a:rPr>
              <a:t>, permiten añadir metadatos (etiquetas de variable, etiquetas de valor y valores faltantes estilo SPSS) a vectores o columnas de data frames, e importar correctamente esos metadatos desde SAS, Stata o SPSS.</a:t>
            </a:r>
          </a:p>
          <a:p>
            <a:endParaRPr lang="en-US" b="0" dirty="0">
              <a:solidFill>
                <a:srgbClr val="000000"/>
              </a:solidFill>
            </a:endParaRPr>
          </a:p>
          <a:p>
            <a:r>
              <a:rPr lang="es-ES" b="0" dirty="0">
                <a:solidFill>
                  <a:srgbClr val="000000"/>
                </a:solidFill>
              </a:rPr>
              <a:t>Las funciones y métodos del paquete </a:t>
            </a:r>
            <a:r>
              <a:rPr lang="en-US" dirty="0"/>
              <a:t>labelled</a:t>
            </a:r>
            <a:r>
              <a:rPr lang="es-ES" b="0" dirty="0"/>
              <a:t> están pensados para </a:t>
            </a:r>
            <a:r>
              <a:rPr lang="es-ES" b="0" dirty="0">
                <a:solidFill>
                  <a:srgbClr val="000000"/>
                </a:solidFill>
              </a:rPr>
              <a:t>manipular fácilmente estos datos etiquetados.</a:t>
            </a:r>
          </a:p>
          <a:p>
            <a:endParaRPr lang="en-US" b="0" dirty="0">
              <a:solidFill>
                <a:srgbClr val="000000"/>
              </a:solidFill>
            </a:endParaRPr>
          </a:p>
          <a:p>
            <a:r>
              <a:rPr lang="es-ES" b="0" dirty="0">
                <a:solidFill>
                  <a:srgbClr val="000000"/>
                </a:solidFill>
              </a:rPr>
              <a:t>Ten en cuenta que las </a:t>
            </a:r>
            <a:r>
              <a:rPr lang="es-ES" dirty="0">
                <a:solidFill>
                  <a:srgbClr val="000000"/>
                </a:solidFill>
              </a:rPr>
              <a:t>etiquetas de valor</a:t>
            </a:r>
            <a:r>
              <a:rPr lang="es-ES" b="0" dirty="0">
                <a:solidFill>
                  <a:srgbClr val="000000"/>
                </a:solidFill>
              </a:rPr>
              <a:t> no implican que los vectores sean categóricos o continuos. Por eso, no están pensadas para el análisis. Por ejemplo, antes de modelar o graficar, convierte los vectores con etiquetas de valor en factores o en vectores numéricos/de caracteres clásicos.</a:t>
            </a:r>
          </a:p>
          <a:p>
            <a:endParaRPr lang="en-US" b="0" dirty="0">
              <a:solidFill>
                <a:srgbClr val="000000"/>
              </a:solidFill>
            </a:endParaRPr>
          </a:p>
          <a:p>
            <a:endParaRPr lang="en-US" b="0" dirty="0">
              <a:solidFill>
                <a:srgbClr val="000000"/>
              </a:solidFill>
            </a:endParaRPr>
          </a:p>
          <a:p>
            <a:r>
              <a:rPr lang="es-ES" b="0" dirty="0">
                <a:solidFill>
                  <a:srgbClr val="000000"/>
                </a:solidFill>
              </a:rPr>
              <a:t>Se pueden considerar dos enfoques principales:</a:t>
            </a:r>
          </a:p>
        </p:txBody>
      </p:sp>
      <p:grpSp>
        <p:nvGrpSpPr>
          <p:cNvPr id="319" name="Group">
            <a:extLst>
              <a:ext uri="{FF2B5EF4-FFF2-40B4-BE49-F238E27FC236}">
                <a16:creationId xmlns:a16="http://schemas.microsoft.com/office/drawing/2014/main" id="{F93E2D79-72AF-4331-B01F-A5A877CFD45C}"/>
              </a:ext>
            </a:extLst>
          </p:cNvPr>
          <p:cNvGrpSpPr/>
          <p:nvPr/>
        </p:nvGrpSpPr>
        <p:grpSpPr>
          <a:xfrm>
            <a:off x="4788890" y="726991"/>
            <a:ext cx="7448955" cy="419164"/>
            <a:chOff x="6762" y="20678"/>
            <a:chExt cx="2809088" cy="419163"/>
          </a:xfrm>
        </p:grpSpPr>
        <p:sp>
          <p:nvSpPr>
            <p:cNvPr id="320" name="Title">
              <a:extLst>
                <a:ext uri="{FF2B5EF4-FFF2-40B4-BE49-F238E27FC236}">
                  <a16:creationId xmlns:a16="http://schemas.microsoft.com/office/drawing/2014/main" id="{329F79FD-A3AE-43D8-A8A8-7F3552E3D93F}"/>
                </a:ext>
              </a:extLst>
            </p:cNvPr>
            <p:cNvSpPr txBox="1"/>
            <p:nvPr/>
          </p:nvSpPr>
          <p:spPr>
            <a:xfrm>
              <a:off x="6762" y="99813"/>
              <a:ext cx="2733809" cy="3400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 sz="2500" b="0">
                  <a:solidFill>
                    <a:srgbClr val="628DB5"/>
                  </a:solidFill>
                </a:defRPr>
              </a:pPr>
              <a:r>
                <a:rPr lang="es-ES" dirty="0"/>
                <a:t>Conversión</a:t>
              </a:r>
              <a:endParaRPr dirty="0"/>
            </a:p>
          </p:txBody>
        </p:sp>
        <p:sp>
          <p:nvSpPr>
            <p:cNvPr id="321" name="Line">
              <a:extLst>
                <a:ext uri="{FF2B5EF4-FFF2-40B4-BE49-F238E27FC236}">
                  <a16:creationId xmlns:a16="http://schemas.microsoft.com/office/drawing/2014/main" id="{F38D011F-75DF-412E-82B0-3AA38F3E8351}"/>
                </a:ext>
              </a:extLst>
            </p:cNvPr>
            <p:cNvSpPr/>
            <p:nvPr/>
          </p:nvSpPr>
          <p:spPr>
            <a:xfrm>
              <a:off x="17118" y="20678"/>
              <a:ext cx="2798732" cy="1"/>
            </a:xfrm>
            <a:prstGeom prst="line">
              <a:avLst/>
            </a:prstGeom>
            <a:noFill/>
            <a:ln w="12700" cap="flat">
              <a:solidFill>
                <a:srgbClr val="E4E4E3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322" name="ZoneTexte 321">
            <a:extLst>
              <a:ext uri="{FF2B5EF4-FFF2-40B4-BE49-F238E27FC236}">
                <a16:creationId xmlns:a16="http://schemas.microsoft.com/office/drawing/2014/main" id="{890F54FF-BD82-415C-9D48-292EAD364889}"/>
              </a:ext>
            </a:extLst>
          </p:cNvPr>
          <p:cNvSpPr txBox="1"/>
          <p:nvPr/>
        </p:nvSpPr>
        <p:spPr>
          <a:xfrm>
            <a:off x="4791247" y="2474257"/>
            <a:ext cx="4299933" cy="20799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54570" rIns="54570" bIns="54570" numCol="1" spcCol="38100" rtlCol="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kumimoji="0" lang="en-GB" sz="120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remove_val_labels</a:t>
            </a:r>
            <a: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(x)</a:t>
            </a:r>
            <a:b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</a:b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Elimina las etiquetas de valor de un vector.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remove_user_na</a:t>
            </a:r>
            <a:r>
              <a:rPr lang="en-GB" b="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(x)</a:t>
            </a:r>
            <a:br>
              <a:rPr lang="en-GB" b="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</a:br>
            <a:r>
              <a:rPr lang="es-ES" b="0" dirty="0">
                <a:solidFill>
                  <a:srgbClr val="000000"/>
                </a:solidFill>
              </a:rPr>
              <a:t>Elimina los faltantes definidos por el usuario (</a:t>
            </a:r>
            <a:r>
              <a:rPr lang="en-GB" b="0" i="1" dirty="0" err="1">
                <a:solidFill>
                  <a:srgbClr val="000000"/>
                </a:solidFill>
              </a:rPr>
              <a:t>na_values</a:t>
            </a:r>
            <a:r>
              <a:rPr lang="en-GB" b="0" i="1" dirty="0">
                <a:solidFill>
                  <a:srgbClr val="000000"/>
                </a:solidFill>
              </a:rPr>
              <a:t> </a:t>
            </a:r>
            <a:r>
              <a:rPr lang="es-ES" b="0" dirty="0">
                <a:solidFill>
                  <a:srgbClr val="000000"/>
                </a:solidFill>
              </a:rPr>
              <a:t>y </a:t>
            </a:r>
            <a:r>
              <a:rPr lang="en-GB" b="0" i="1" dirty="0" err="1">
                <a:solidFill>
                  <a:srgbClr val="000000"/>
                </a:solidFill>
              </a:rPr>
              <a:t>na_range</a:t>
            </a:r>
            <a:r>
              <a:rPr lang="es-ES" b="0" dirty="0">
                <a:solidFill>
                  <a:srgbClr val="000000"/>
                </a:solidFill>
              </a:rPr>
              <a:t>) de un vector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unclass</a:t>
            </a:r>
            <a:r>
              <a:rPr lang="en-GB" b="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(x)</a:t>
            </a:r>
            <a:br>
              <a:rPr lang="en-GB" b="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</a:br>
            <a:r>
              <a:rPr lang="es-ES" b="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Elimina la clase </a:t>
            </a:r>
            <a:r>
              <a:rPr lang="en-GB" b="0" i="1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haven_labelled</a:t>
            </a:r>
            <a:r>
              <a:rPr lang="es-ES" b="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: el vector pasa a ser numérico o de caracteres clásico. Las etiquetas de valor y los faltantes definidos por el usuario siguen visibles como atributos.</a:t>
            </a:r>
          </a:p>
        </p:txBody>
      </p:sp>
      <p:grpSp>
        <p:nvGrpSpPr>
          <p:cNvPr id="323" name="Group">
            <a:extLst>
              <a:ext uri="{FF2B5EF4-FFF2-40B4-BE49-F238E27FC236}">
                <a16:creationId xmlns:a16="http://schemas.microsoft.com/office/drawing/2014/main" id="{986D0DFA-5281-4D52-BC5C-AB5935F0012C}"/>
              </a:ext>
            </a:extLst>
          </p:cNvPr>
          <p:cNvGrpSpPr/>
          <p:nvPr/>
        </p:nvGrpSpPr>
        <p:grpSpPr>
          <a:xfrm>
            <a:off x="4770956" y="1220869"/>
            <a:ext cx="4346836" cy="226109"/>
            <a:chOff x="0" y="0"/>
            <a:chExt cx="2818195" cy="226107"/>
          </a:xfrm>
        </p:grpSpPr>
        <p:sp>
          <p:nvSpPr>
            <p:cNvPr id="324" name="SUBTITLE">
              <a:extLst>
                <a:ext uri="{FF2B5EF4-FFF2-40B4-BE49-F238E27FC236}">
                  <a16:creationId xmlns:a16="http://schemas.microsoft.com/office/drawing/2014/main" id="{440D70B3-BEB2-42F4-963E-2A9EC33A7F76}"/>
                </a:ext>
              </a:extLst>
            </p:cNvPr>
            <p:cNvSpPr txBox="1"/>
            <p:nvPr/>
          </p:nvSpPr>
          <p:spPr>
            <a:xfrm>
              <a:off x="0" y="15795"/>
              <a:ext cx="1032004" cy="210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/>
              <a:r>
                <a:rPr lang="es-ES" dirty="0"/>
                <a:t>DE VECTORES ETIQUETADOS</a:t>
              </a:r>
              <a:endParaRPr dirty="0"/>
            </a:p>
          </p:txBody>
        </p:sp>
        <p:sp>
          <p:nvSpPr>
            <p:cNvPr id="325" name="Line">
              <a:extLst>
                <a:ext uri="{FF2B5EF4-FFF2-40B4-BE49-F238E27FC236}">
                  <a16:creationId xmlns:a16="http://schemas.microsoft.com/office/drawing/2014/main" id="{7B7D5F12-F484-48B8-BDEB-D296BC5C69B8}"/>
                </a:ext>
              </a:extLst>
            </p:cNvPr>
            <p:cNvSpPr/>
            <p:nvPr/>
          </p:nvSpPr>
          <p:spPr>
            <a:xfrm>
              <a:off x="23250" y="0"/>
              <a:ext cx="2794945" cy="0"/>
            </a:xfrm>
            <a:prstGeom prst="line">
              <a:avLst/>
            </a:prstGeom>
            <a:noFill/>
            <a:ln w="12700" cap="flat">
              <a:solidFill>
                <a:srgbClr val="E0E0E0"/>
              </a:solidFill>
              <a:custDash>
                <a:ds d="100000" sp="200000"/>
              </a:custDash>
              <a:round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330" name="Group">
            <a:extLst>
              <a:ext uri="{FF2B5EF4-FFF2-40B4-BE49-F238E27FC236}">
                <a16:creationId xmlns:a16="http://schemas.microsoft.com/office/drawing/2014/main" id="{BB1AA4BD-8D64-4B0C-B9AF-00511B4B104D}"/>
              </a:ext>
            </a:extLst>
          </p:cNvPr>
          <p:cNvGrpSpPr/>
          <p:nvPr/>
        </p:nvGrpSpPr>
        <p:grpSpPr>
          <a:xfrm>
            <a:off x="9373882" y="4879659"/>
            <a:ext cx="3815832" cy="365236"/>
            <a:chOff x="-1" y="20678"/>
            <a:chExt cx="2815851" cy="365235"/>
          </a:xfrm>
        </p:grpSpPr>
        <p:sp>
          <p:nvSpPr>
            <p:cNvPr id="331" name="Title">
              <a:extLst>
                <a:ext uri="{FF2B5EF4-FFF2-40B4-BE49-F238E27FC236}">
                  <a16:creationId xmlns:a16="http://schemas.microsoft.com/office/drawing/2014/main" id="{770AAA96-333C-4A1D-9505-D5F1FAC23FCD}"/>
                </a:ext>
              </a:extLst>
            </p:cNvPr>
            <p:cNvSpPr txBox="1"/>
            <p:nvPr/>
          </p:nvSpPr>
          <p:spPr>
            <a:xfrm>
              <a:off x="-1" y="45885"/>
              <a:ext cx="2733809" cy="3400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 sz="2500" b="0">
                  <a:solidFill>
                    <a:srgbClr val="628DB5"/>
                  </a:solidFill>
                </a:defRPr>
              </a:pPr>
              <a:r>
                <a:rPr lang="es-ES" dirty="0"/>
                <a:t>Otras funciones</a:t>
              </a:r>
            </a:p>
          </p:txBody>
        </p:sp>
        <p:sp>
          <p:nvSpPr>
            <p:cNvPr id="332" name="Line">
              <a:extLst>
                <a:ext uri="{FF2B5EF4-FFF2-40B4-BE49-F238E27FC236}">
                  <a16:creationId xmlns:a16="http://schemas.microsoft.com/office/drawing/2014/main" id="{72660B38-4BD7-4A77-B313-637C6C0B9492}"/>
                </a:ext>
              </a:extLst>
            </p:cNvPr>
            <p:cNvSpPr/>
            <p:nvPr/>
          </p:nvSpPr>
          <p:spPr>
            <a:xfrm>
              <a:off x="17118" y="20678"/>
              <a:ext cx="2798732" cy="1"/>
            </a:xfrm>
            <a:prstGeom prst="line">
              <a:avLst/>
            </a:prstGeom>
            <a:noFill/>
            <a:ln w="12700" cap="flat">
              <a:solidFill>
                <a:srgbClr val="E4E4E3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333" name="ZoneTexte 332">
            <a:extLst>
              <a:ext uri="{FF2B5EF4-FFF2-40B4-BE49-F238E27FC236}">
                <a16:creationId xmlns:a16="http://schemas.microsoft.com/office/drawing/2014/main" id="{AA5F2A7E-FCB4-4FC7-BBDC-F1589640F896}"/>
              </a:ext>
            </a:extLst>
          </p:cNvPr>
          <p:cNvSpPr txBox="1"/>
          <p:nvPr/>
        </p:nvSpPr>
        <p:spPr>
          <a:xfrm>
            <a:off x="9394167" y="5278577"/>
            <a:ext cx="3795547" cy="5157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54570" rIns="54570" bIns="54570" numCol="1" spcCol="38100" rtlCol="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nolabel_to_na</a:t>
            </a:r>
            <a:r>
              <a:rPr lang="en-GB" b="0" dirty="0">
                <a:solidFill>
                  <a:srgbClr val="000000"/>
                </a:solidFill>
              </a:rPr>
              <a:t>(x)     </a:t>
            </a:r>
            <a:r>
              <a:rPr lang="es-ES" b="0" i="1" dirty="0">
                <a:solidFill>
                  <a:srgbClr val="000000"/>
                </a:solidFill>
              </a:rPr>
              <a:t>o     </a:t>
            </a:r>
            <a:r>
              <a:rPr lang="en-GB" b="0" dirty="0">
                <a:solidFill>
                  <a:srgbClr val="000000"/>
                </a:solidFill>
              </a:rPr>
              <a:t>df %&gt;% </a:t>
            </a:r>
            <a:r>
              <a:rPr lang="en-GB" dirty="0" err="1">
                <a:solidFill>
                  <a:srgbClr val="000000"/>
                </a:solidFill>
              </a:rPr>
              <a:t>nolabel_to_na</a:t>
            </a:r>
            <a:r>
              <a:rPr lang="en-GB" b="0" dirty="0">
                <a:solidFill>
                  <a:srgbClr val="000000"/>
                </a:solidFill>
              </a:rPr>
              <a:t>()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En vectores etiquetados, los valores </a:t>
            </a:r>
            <a:r>
              <a:rPr lang="es-ES" b="0" u="sng" dirty="0">
                <a:solidFill>
                  <a:srgbClr val="000000"/>
                </a:solidFill>
              </a:rPr>
              <a:t>sin</a:t>
            </a:r>
            <a:r>
              <a:rPr lang="es-ES" b="0" dirty="0">
                <a:solidFill>
                  <a:srgbClr val="000000"/>
                </a:solidFill>
              </a:rPr>
              <a:t> etiqueta de valor 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se convertirán en NA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val_labels_to_na</a:t>
            </a:r>
            <a:r>
              <a:rPr lang="en-GB" b="0" dirty="0">
                <a:solidFill>
                  <a:srgbClr val="000000"/>
                </a:solidFill>
              </a:rPr>
              <a:t>(x)     </a:t>
            </a:r>
            <a:r>
              <a:rPr lang="es-ES" b="0" i="1" dirty="0">
                <a:solidFill>
                  <a:srgbClr val="000000"/>
                </a:solidFill>
              </a:rPr>
              <a:t>o     </a:t>
            </a:r>
            <a:r>
              <a:rPr lang="en-GB" b="0" dirty="0">
                <a:solidFill>
                  <a:srgbClr val="000000"/>
                </a:solidFill>
              </a:rPr>
              <a:t>df %&gt;% </a:t>
            </a:r>
            <a:r>
              <a:rPr lang="en-GB" dirty="0" err="1">
                <a:solidFill>
                  <a:srgbClr val="000000"/>
                </a:solidFill>
              </a:rPr>
              <a:t>val_labels_to_na</a:t>
            </a:r>
            <a:r>
              <a:rPr lang="en-GB" b="0" dirty="0">
                <a:solidFill>
                  <a:srgbClr val="000000"/>
                </a:solidFill>
              </a:rPr>
              <a:t>()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En vectores etiquetados, los valores </a:t>
            </a:r>
            <a:r>
              <a:rPr lang="es-ES" b="0" u="sng" dirty="0">
                <a:solidFill>
                  <a:srgbClr val="000000"/>
                </a:solidFill>
              </a:rPr>
              <a:t>con</a:t>
            </a:r>
            <a:r>
              <a:rPr lang="es-ES" b="0" dirty="0">
                <a:solidFill>
                  <a:srgbClr val="000000"/>
                </a:solidFill>
              </a:rPr>
              <a:t> etiqueta de valor 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se convertirán en NA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b="0" dirty="0">
                <a:solidFill>
                  <a:srgbClr val="000000"/>
                </a:solidFill>
              </a:rPr>
              <a:t>df2 %&gt;% </a:t>
            </a:r>
            <a:r>
              <a:rPr lang="en-GB" dirty="0" err="1">
                <a:solidFill>
                  <a:srgbClr val="000000"/>
                </a:solidFill>
              </a:rPr>
              <a:t>copy_labels_from</a:t>
            </a:r>
            <a:r>
              <a:rPr lang="en-GB" b="0" dirty="0">
                <a:solidFill>
                  <a:srgbClr val="000000"/>
                </a:solidFill>
              </a:rPr>
              <a:t>(df1)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Copia etiquetas de variable, etiquetas de valor y faltantes definidos por el usuario de df1 a df2 según los nombres de columna en común. Útil cuando los atributos se pierden tras manipular los datos.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</a:rPr>
              <a:t>recode</a:t>
            </a:r>
            <a:r>
              <a:rPr lang="en-GB" b="0" dirty="0">
                <a:solidFill>
                  <a:srgbClr val="000000"/>
                </a:solidFill>
              </a:rPr>
              <a:t>(x, `2` =  1, `3` =2)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Aplica </a:t>
            </a:r>
            <a:r>
              <a:rPr lang="en-GB" b="0" dirty="0" err="1">
                <a:solidFill>
                  <a:srgbClr val="000000"/>
                </a:solidFill>
              </a:rPr>
              <a:t>dplyr</a:t>
            </a:r>
            <a:r>
              <a:rPr lang="es-ES" b="0" dirty="0">
                <a:solidFill>
                  <a:srgbClr val="000000"/>
                </a:solidFill>
              </a:rPr>
              <a:t>::recode() a un vector etiquetado. 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Las etiquetas de valor no cambian.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</a:rPr>
              <a:t>recode</a:t>
            </a:r>
            <a:r>
              <a:rPr lang="en-GB" b="0" dirty="0">
                <a:solidFill>
                  <a:srgbClr val="000000"/>
                </a:solidFill>
              </a:rPr>
              <a:t>(x, `2` =  1, .</a:t>
            </a:r>
            <a:r>
              <a:rPr lang="en-GB" b="0" dirty="0" err="1">
                <a:solidFill>
                  <a:srgbClr val="000000"/>
                </a:solidFill>
              </a:rPr>
              <a:t>combine_value_labels</a:t>
            </a:r>
            <a:r>
              <a:rPr lang="en-GB" b="0" dirty="0">
                <a:solidFill>
                  <a:srgbClr val="000000"/>
                </a:solidFill>
              </a:rPr>
              <a:t> = TRUE)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Esta opción combina las etiquetas de los valores originales fusionados para crear nuevas etiquetas de valor.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Se recomienda verificar que el resultado sea adecuado.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update_labelled</a:t>
            </a:r>
            <a:r>
              <a:rPr lang="en-GB" b="0" dirty="0">
                <a:solidFill>
                  <a:srgbClr val="000000"/>
                </a:solidFill>
              </a:rPr>
              <a:t>(x)     </a:t>
            </a:r>
            <a:r>
              <a:rPr lang="es-ES" b="0" i="1" dirty="0">
                <a:solidFill>
                  <a:srgbClr val="000000"/>
                </a:solidFill>
              </a:rPr>
              <a:t>o     </a:t>
            </a:r>
            <a:r>
              <a:rPr lang="en-GB" b="0" dirty="0">
                <a:solidFill>
                  <a:srgbClr val="000000"/>
                </a:solidFill>
              </a:rPr>
              <a:t>df %&gt;% </a:t>
            </a:r>
            <a:r>
              <a:rPr lang="en-GB" dirty="0" err="1">
                <a:solidFill>
                  <a:srgbClr val="000000"/>
                </a:solidFill>
              </a:rPr>
              <a:t>update_labelled</a:t>
            </a:r>
            <a:r>
              <a:rPr lang="en-GB" b="0" dirty="0">
                <a:solidFill>
                  <a:srgbClr val="000000"/>
                </a:solidFill>
              </a:rPr>
              <a:t>()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Si x/df se importó o creó con una versión antigua de </a:t>
            </a:r>
            <a:r>
              <a:rPr lang="en-GB" dirty="0">
                <a:solidFill>
                  <a:srgbClr val="000000"/>
                </a:solidFill>
              </a:rPr>
              <a:t>haven</a:t>
            </a:r>
            <a:r>
              <a:rPr lang="es-ES" b="0" dirty="0">
                <a:solidFill>
                  <a:srgbClr val="000000"/>
                </a:solidFill>
              </a:rPr>
              <a:t> o </a:t>
            </a:r>
            <a:r>
              <a:rPr lang="en-GB" dirty="0">
                <a:solidFill>
                  <a:srgbClr val="000000"/>
                </a:solidFill>
              </a:rPr>
              <a:t>labelled</a:t>
            </a:r>
            <a:r>
              <a:rPr lang="es-ES" b="0" dirty="0">
                <a:solidFill>
                  <a:srgbClr val="000000"/>
                </a:solidFill>
              </a:rPr>
              <a:t>, podrías obtener resultados inesperados. </a:t>
            </a:r>
            <a:r>
              <a:rPr lang="en-GB" b="0" dirty="0" err="1">
                <a:solidFill>
                  <a:srgbClr val="000000"/>
                </a:solidFill>
              </a:rPr>
              <a:t>update_labelled</a:t>
            </a:r>
            <a:r>
              <a:rPr lang="es-ES" b="0" dirty="0">
                <a:solidFill>
                  <a:srgbClr val="000000"/>
                </a:solidFill>
              </a:rPr>
              <a:t>() actualiza todos los vectores etiquetados para que sean coherentes con la implementación actual.</a:t>
            </a:r>
          </a:p>
        </p:txBody>
      </p:sp>
      <p:sp>
        <p:nvSpPr>
          <p:cNvPr id="342" name="ZoneTexte 341">
            <a:extLst>
              <a:ext uri="{FF2B5EF4-FFF2-40B4-BE49-F238E27FC236}">
                <a16:creationId xmlns:a16="http://schemas.microsoft.com/office/drawing/2014/main" id="{7F74D9A2-0FFE-4D56-ABBE-20CB5AF0C32D}"/>
              </a:ext>
            </a:extLst>
          </p:cNvPr>
          <p:cNvSpPr txBox="1"/>
          <p:nvPr/>
        </p:nvSpPr>
        <p:spPr>
          <a:xfrm>
            <a:off x="4788891" y="1558706"/>
            <a:ext cx="4328901" cy="874518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t" anchorCtr="0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Si se eliminan todas las etiquetas de valor y los faltantes definidos por el usuario de un vector etiquetado, se quitará la clase </a:t>
            </a:r>
            <a:r>
              <a:rPr kumimoji="0" lang="en-GB" sz="12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haven_labelled</a:t>
            </a:r>
            <a:r>
              <a:rPr kumimoji="0" lang="es-ES" sz="12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y el vector se convertirá en un vector numérico o de caracteres básico. </a:t>
            </a:r>
            <a:r>
              <a:rPr kumimoji="0" lang="es-ES" sz="12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Los valores del vector no cambian.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9BEADFF-2910-4CAE-B4DA-402F6CAB35A3}"/>
              </a:ext>
            </a:extLst>
          </p:cNvPr>
          <p:cNvSpPr txBox="1"/>
          <p:nvPr/>
        </p:nvSpPr>
        <p:spPr>
          <a:xfrm>
            <a:off x="328933" y="6903859"/>
            <a:ext cx="4115473" cy="3218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t" anchorCtr="0">
            <a:spAutoFit/>
          </a:bodyPr>
          <a:lstStyle/>
          <a:p>
            <a:pPr algn="just"/>
            <a:r>
              <a:rPr lang="es-ES" b="0" dirty="0">
                <a:solidFill>
                  <a:srgbClr val="000000"/>
                </a:solidFill>
              </a:rPr>
              <a:t>En el </a:t>
            </a:r>
            <a:r>
              <a:rPr lang="es-ES" dirty="0">
                <a:solidFill>
                  <a:srgbClr val="000000"/>
                </a:solidFill>
              </a:rPr>
              <a:t>enfoque A</a:t>
            </a:r>
            <a:r>
              <a:rPr lang="es-ES" b="0" dirty="0">
                <a:solidFill>
                  <a:srgbClr val="000000"/>
                </a:solidFill>
              </a:rPr>
              <a:t>, los vectores etiquetados se convierten en factores o vectores numéricos/de caracteres justo tras importar los datos, con </a:t>
            </a:r>
            <a:r>
              <a:rPr lang="en-US" dirty="0" err="1">
                <a:solidFill>
                  <a:srgbClr val="000000"/>
                </a:solidFill>
              </a:rPr>
              <a:t>unlabelled</a:t>
            </a:r>
            <a:r>
              <a:rPr lang="en-US" b="0" dirty="0">
                <a:solidFill>
                  <a:srgbClr val="000000"/>
                </a:solidFill>
              </a:rPr>
              <a:t>(), </a:t>
            </a:r>
            <a:r>
              <a:rPr lang="en-US" dirty="0" err="1">
                <a:solidFill>
                  <a:srgbClr val="000000"/>
                </a:solidFill>
              </a:rPr>
              <a:t>to_factor</a:t>
            </a:r>
            <a:r>
              <a:rPr lang="es-ES" b="0" dirty="0">
                <a:solidFill>
                  <a:srgbClr val="000000"/>
                </a:solidFill>
              </a:rPr>
              <a:t>() o </a:t>
            </a:r>
            <a:r>
              <a:rPr lang="en-US" dirty="0" err="1">
                <a:solidFill>
                  <a:srgbClr val="000000"/>
                </a:solidFill>
              </a:rPr>
              <a:t>unclass</a:t>
            </a:r>
            <a:r>
              <a:rPr lang="es-ES" b="0" dirty="0">
                <a:solidFill>
                  <a:srgbClr val="000000"/>
                </a:solidFill>
              </a:rPr>
              <a:t>(). Luego, la limpieza, recodificación y análisis usan los tipos de vectores clásicos de </a:t>
            </a:r>
            <a:r>
              <a:rPr lang="en-US" dirty="0">
                <a:solidFill>
                  <a:srgbClr val="000000"/>
                </a:solidFill>
              </a:rPr>
              <a:t>R</a:t>
            </a:r>
            <a:r>
              <a:rPr lang="es-ES" b="0" dirty="0">
                <a:solidFill>
                  <a:srgbClr val="000000"/>
                </a:solidFill>
              </a:rPr>
              <a:t>.</a:t>
            </a:r>
          </a:p>
          <a:p>
            <a:pPr algn="just"/>
            <a:endParaRPr lang="en-US" b="0" dirty="0">
              <a:solidFill>
                <a:srgbClr val="000000"/>
              </a:solidFill>
            </a:endParaRPr>
          </a:p>
          <a:p>
            <a:pPr algn="just"/>
            <a:endParaRPr lang="en-US" b="0" dirty="0">
              <a:solidFill>
                <a:srgbClr val="000000"/>
              </a:solidFill>
            </a:endParaRPr>
          </a:p>
          <a:p>
            <a:pPr algn="just"/>
            <a:r>
              <a:rPr lang="es-ES" b="0" dirty="0">
                <a:solidFill>
                  <a:srgbClr val="000000"/>
                </a:solidFill>
              </a:rPr>
              <a:t>En el </a:t>
            </a:r>
            <a:r>
              <a:rPr lang="es-ES" dirty="0">
                <a:solidFill>
                  <a:srgbClr val="000000"/>
                </a:solidFill>
              </a:rPr>
              <a:t>enfoque B</a:t>
            </a:r>
            <a:r>
              <a:rPr lang="es-ES" b="0" dirty="0">
                <a:solidFill>
                  <a:srgbClr val="000000"/>
                </a:solidFill>
              </a:rPr>
              <a:t>, los vectores etiquetados se conservan durante la limpieza y recodificación para preservar la codificación original, sobre todo si los datos se reexportarán. Las funciones de </a:t>
            </a:r>
            <a:r>
              <a:rPr lang="en-US" dirty="0">
                <a:solidFill>
                  <a:srgbClr val="000000"/>
                </a:solidFill>
              </a:rPr>
              <a:t>labelled</a:t>
            </a:r>
            <a:r>
              <a:rPr lang="es-ES" b="0" dirty="0">
                <a:solidFill>
                  <a:srgbClr val="000000"/>
                </a:solidFill>
              </a:rPr>
              <a:t> ayudan a manejar las etiquetas de valor. </a:t>
            </a:r>
          </a:p>
          <a:p>
            <a:pPr algn="just"/>
            <a:endParaRPr lang="en-US" b="0" dirty="0">
              <a:solidFill>
                <a:srgbClr val="000000"/>
              </a:solidFill>
            </a:endParaRPr>
          </a:p>
          <a:p>
            <a:pPr algn="just"/>
            <a:r>
              <a:rPr lang="es-ES" b="0" dirty="0">
                <a:solidFill>
                  <a:srgbClr val="000000"/>
                </a:solidFill>
              </a:rPr>
              <a:t>Pero, como en el enfoque A, habrá que convertirlos en factores o vectores numéricos clásicos antes del análisis, pues así deben codificarse las variables categóricas y continuas.</a:t>
            </a:r>
            <a:endParaRPr lang="en-GB" b="0" dirty="0">
              <a:solidFill>
                <a:srgbClr val="00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366C685-31AF-46FD-8DE8-5DE0AC2819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260" y="4897785"/>
            <a:ext cx="4049989" cy="1624039"/>
          </a:xfrm>
          <a:prstGeom prst="rect">
            <a:avLst/>
          </a:prstGeom>
        </p:spPr>
      </p:pic>
      <p:sp>
        <p:nvSpPr>
          <p:cNvPr id="66" name="ZoneTexte 65">
            <a:extLst>
              <a:ext uri="{FF2B5EF4-FFF2-40B4-BE49-F238E27FC236}">
                <a16:creationId xmlns:a16="http://schemas.microsoft.com/office/drawing/2014/main" id="{F2E8FDE5-6B21-4A8C-97BF-0EF5FB039EF6}"/>
              </a:ext>
            </a:extLst>
          </p:cNvPr>
          <p:cNvSpPr txBox="1"/>
          <p:nvPr/>
        </p:nvSpPr>
        <p:spPr>
          <a:xfrm>
            <a:off x="4773481" y="4546530"/>
            <a:ext cx="4328901" cy="689852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t" anchorCtr="0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Al convertir un vector etiquetado en un factor o en un vector de caracteres con las etiquetas de valor, ten en cuenta que los valores </a:t>
            </a:r>
            <a:r>
              <a:rPr kumimoji="0" lang="es-ES" sz="12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originales</a:t>
            </a:r>
            <a:r>
              <a:rPr kumimoji="0" lang="es-ES" sz="12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del vector se convertirán.</a:t>
            </a:r>
            <a:endParaRPr kumimoji="0" lang="en-GB" sz="12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1B53DF7D-D153-4393-8ABA-DFD8BB4DAFEF}"/>
              </a:ext>
            </a:extLst>
          </p:cNvPr>
          <p:cNvSpPr txBox="1"/>
          <p:nvPr/>
        </p:nvSpPr>
        <p:spPr>
          <a:xfrm>
            <a:off x="4770956" y="5254195"/>
            <a:ext cx="4324058" cy="51782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54570" rIns="54570" bIns="54570" numCol="1" spcCol="38100" rtlCol="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kumimoji="0" lang="en-GB" sz="120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to_character</a:t>
            </a:r>
            <a: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(x)</a:t>
            </a:r>
            <a:br>
              <a:rPr kumimoji="0" lang="en-GB" sz="12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</a:b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Convierte en un vector de caracteres, reemplazando los valores por su etiqueta de valor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kumimoji="0" lang="en-GB" sz="120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to_factor</a:t>
            </a:r>
            <a: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ource Sans Pro"/>
              </a:rPr>
              <a:t>(x)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Convierte en un factor, reemplazando los valores por su etiqueta de valor 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to_factor</a:t>
            </a:r>
            <a:r>
              <a:rPr lang="en-GB" b="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(x, levels = "prefixed")</a:t>
            </a:r>
            <a:br>
              <a:rPr lang="en-GB" b="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</a:br>
            <a:r>
              <a:rPr lang="es-ES" b="0" dirty="0">
                <a:solidFill>
                  <a:srgbClr val="000000"/>
                </a:solidFill>
              </a:rPr>
              <a:t>Las etiquetas de valor llevarán como prefijo su valor original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to_factor</a:t>
            </a:r>
            <a:r>
              <a:rPr lang="en-GB" b="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(x, strict = TRUE)</a:t>
            </a:r>
            <a:br>
              <a:rPr lang="en-GB" b="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</a:br>
            <a:r>
              <a:rPr lang="es-ES" b="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Convierte en factor solo si todos los valores tienen etiqueta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b="0" dirty="0">
                <a:solidFill>
                  <a:srgbClr val="000000"/>
                </a:solidFill>
              </a:rPr>
              <a:t>df %&gt;% </a:t>
            </a:r>
            <a:r>
              <a:rPr lang="en-GB" dirty="0" err="1">
                <a:solidFill>
                  <a:srgbClr val="000000"/>
                </a:solidFill>
              </a:rPr>
              <a:t>to_factor</a:t>
            </a:r>
            <a:r>
              <a:rPr lang="en-GB" b="0" dirty="0">
                <a:solidFill>
                  <a:srgbClr val="000000"/>
                </a:solidFill>
              </a:rPr>
              <a:t>()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Convierte en factores todos los vectores etiquetados, y solo ellos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b="0" dirty="0">
                <a:solidFill>
                  <a:srgbClr val="000000"/>
                </a:solidFill>
              </a:rPr>
              <a:t>df %&gt;% </a:t>
            </a:r>
            <a:r>
              <a:rPr lang="en-GB" dirty="0" err="1">
                <a:solidFill>
                  <a:srgbClr val="000000"/>
                </a:solidFill>
              </a:rPr>
              <a:t>to_factor</a:t>
            </a:r>
            <a:r>
              <a:rPr lang="en-GB" b="0" dirty="0">
                <a:solidFill>
                  <a:srgbClr val="000000"/>
                </a:solidFill>
              </a:rPr>
              <a:t>(</a:t>
            </a:r>
            <a:r>
              <a:rPr lang="en-GB" b="0" dirty="0" err="1">
                <a:solidFill>
                  <a:srgbClr val="000000"/>
                </a:solidFill>
              </a:rPr>
              <a:t>labelled_only</a:t>
            </a:r>
            <a:r>
              <a:rPr lang="en-GB" b="0" dirty="0">
                <a:solidFill>
                  <a:srgbClr val="000000"/>
                </a:solidFill>
              </a:rPr>
              <a:t>  = FALSE)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Convierte en factores todas las columnas (incluso no etiquetadas)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</a:rPr>
              <a:t>unlabelled</a:t>
            </a:r>
            <a:r>
              <a:rPr lang="en-GB" b="0" dirty="0">
                <a:solidFill>
                  <a:srgbClr val="000000"/>
                </a:solidFill>
              </a:rPr>
              <a:t>(x)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df %&gt;% </a:t>
            </a:r>
            <a:r>
              <a:rPr lang="en-GB" dirty="0">
                <a:solidFill>
                  <a:srgbClr val="000000"/>
                </a:solidFill>
              </a:rPr>
              <a:t>unlabelled</a:t>
            </a:r>
            <a:r>
              <a:rPr lang="en-GB" b="0" dirty="0">
                <a:solidFill>
                  <a:srgbClr val="000000"/>
                </a:solidFill>
              </a:rPr>
              <a:t>()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Los vectores etiquetados pasan a factores si todos sus valores tienen etiqueta; si no, se les quita la clase. Equivale a df %&gt;% </a:t>
            </a:r>
            <a:r>
              <a:rPr lang="en-GB" b="0" dirty="0" err="1">
                <a:solidFill>
                  <a:srgbClr val="000000"/>
                </a:solidFill>
              </a:rPr>
              <a:t>to_factor</a:t>
            </a:r>
            <a:r>
              <a:rPr lang="en-GB" b="0" dirty="0">
                <a:solidFill>
                  <a:srgbClr val="000000"/>
                </a:solidFill>
              </a:rPr>
              <a:t>(</a:t>
            </a:r>
            <a:r>
              <a:rPr lang="en-GB" b="0" dirty="0" err="1">
                <a:solidFill>
                  <a:srgbClr val="000000"/>
                </a:solidFill>
              </a:rPr>
              <a:t>labelled_only</a:t>
            </a:r>
            <a:r>
              <a:rPr lang="en-GB" b="0" dirty="0">
                <a:solidFill>
                  <a:srgbClr val="000000"/>
                </a:solidFill>
              </a:rPr>
              <a:t> = T, strict = T, </a:t>
            </a:r>
            <a:r>
              <a:rPr lang="en-GB" b="0" dirty="0" err="1">
                <a:solidFill>
                  <a:srgbClr val="000000"/>
                </a:solidFill>
              </a:rPr>
              <a:t>unclass</a:t>
            </a:r>
            <a:r>
              <a:rPr lang="en-GB" b="0" dirty="0">
                <a:solidFill>
                  <a:srgbClr val="000000"/>
                </a:solidFill>
              </a:rPr>
              <a:t> = T)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to_factor</a:t>
            </a:r>
            <a:r>
              <a:rPr lang="en-GB" b="0" dirty="0">
                <a:solidFill>
                  <a:srgbClr val="000000"/>
                </a:solidFill>
              </a:rPr>
              <a:t>(x, </a:t>
            </a:r>
            <a:r>
              <a:rPr lang="en-GB" b="0" dirty="0" err="1">
                <a:solidFill>
                  <a:srgbClr val="000000"/>
                </a:solidFill>
              </a:rPr>
              <a:t>drop_unused_labels</a:t>
            </a:r>
            <a:r>
              <a:rPr lang="en-GB" b="0" dirty="0">
                <a:solidFill>
                  <a:srgbClr val="000000"/>
                </a:solidFill>
              </a:rPr>
              <a:t> = TRUE)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n-GB" b="0" dirty="0">
                <a:solidFill>
                  <a:srgbClr val="000000"/>
                </a:solidFill>
              </a:rPr>
              <a:t>df %&gt;% </a:t>
            </a:r>
            <a:r>
              <a:rPr lang="en-GB" dirty="0">
                <a:solidFill>
                  <a:srgbClr val="000000"/>
                </a:solidFill>
              </a:rPr>
              <a:t>unlabelled</a:t>
            </a:r>
            <a:r>
              <a:rPr lang="en-GB" b="0" dirty="0">
                <a:solidFill>
                  <a:srgbClr val="000000"/>
                </a:solidFill>
              </a:rPr>
              <a:t>(</a:t>
            </a:r>
            <a:r>
              <a:rPr lang="en-GB" b="0" dirty="0" err="1">
                <a:solidFill>
                  <a:srgbClr val="000000"/>
                </a:solidFill>
              </a:rPr>
              <a:t>drop_unused_labels</a:t>
            </a:r>
            <a:r>
              <a:rPr lang="en-GB" b="0" dirty="0">
                <a:solidFill>
                  <a:srgbClr val="000000"/>
                </a:solidFill>
              </a:rPr>
              <a:t> = TRUE)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Quita etiquetas de valor no usadas antes de convertir en factores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41681631-656F-4456-8BA0-99D2D760D279}"/>
              </a:ext>
            </a:extLst>
          </p:cNvPr>
          <p:cNvSpPr txBox="1"/>
          <p:nvPr/>
        </p:nvSpPr>
        <p:spPr>
          <a:xfrm>
            <a:off x="9392275" y="1515212"/>
            <a:ext cx="3795547" cy="19773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54570" rIns="54570" bIns="54570" numCol="1" spcCol="38100" rtlCol="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to_labelled</a:t>
            </a:r>
            <a:r>
              <a:rPr lang="en-GB" b="0" dirty="0">
                <a:solidFill>
                  <a:srgbClr val="000000"/>
                </a:solidFill>
              </a:rPr>
              <a:t>(f) 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Convierte un factor en un vector etiquetado numérico.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i="1" dirty="0">
                <a:solidFill>
                  <a:srgbClr val="000000"/>
                </a:solidFill>
              </a:rPr>
              <a:t>Ten en cuenta que </a:t>
            </a:r>
            <a:r>
              <a:rPr lang="en-GB" b="0" dirty="0" err="1">
                <a:solidFill>
                  <a:srgbClr val="000000"/>
                </a:solidFill>
              </a:rPr>
              <a:t>to_labelled</a:t>
            </a:r>
            <a:r>
              <a:rPr lang="en-GB" b="0" dirty="0">
                <a:solidFill>
                  <a:srgbClr val="000000"/>
                </a:solidFill>
              </a:rPr>
              <a:t>(</a:t>
            </a:r>
            <a:r>
              <a:rPr lang="en-GB" b="0" dirty="0" err="1">
                <a:solidFill>
                  <a:srgbClr val="000000"/>
                </a:solidFill>
              </a:rPr>
              <a:t>to_factor</a:t>
            </a:r>
            <a:r>
              <a:rPr lang="en-GB" b="0" dirty="0">
                <a:solidFill>
                  <a:srgbClr val="000000"/>
                </a:solidFill>
              </a:rPr>
              <a:t>(x))</a:t>
            </a:r>
            <a:r>
              <a:rPr lang="es-ES" b="0" i="1" dirty="0">
                <a:solidFill>
                  <a:srgbClr val="000000"/>
                </a:solidFill>
              </a:rPr>
              <a:t> y </a:t>
            </a:r>
            <a:r>
              <a:rPr lang="en-GB" b="0" dirty="0">
                <a:solidFill>
                  <a:srgbClr val="000000"/>
                </a:solidFill>
              </a:rPr>
              <a:t>x</a:t>
            </a:r>
            <a:r>
              <a:rPr lang="es-ES" b="0" i="1" dirty="0">
                <a:solidFill>
                  <a:srgbClr val="000000"/>
                </a:solidFill>
              </a:rPr>
              <a:t> no </a:t>
            </a:r>
            <a:br>
              <a:rPr lang="en-GB" b="0" i="1" dirty="0">
                <a:solidFill>
                  <a:srgbClr val="000000"/>
                </a:solidFill>
              </a:rPr>
            </a:br>
            <a:r>
              <a:rPr lang="es-ES" b="0" i="1" dirty="0">
                <a:solidFill>
                  <a:srgbClr val="000000"/>
                </a:solidFill>
              </a:rPr>
              <a:t>serán </a:t>
            </a:r>
            <a:r>
              <a:rPr lang="es-ES" b="0" i="1" dirty="0" err="1">
                <a:solidFill>
                  <a:srgbClr val="000000"/>
                </a:solidFill>
              </a:rPr>
              <a:t>idénticos</a:t>
            </a:r>
            <a:r>
              <a:rPr lang="es-ES" b="0" i="1" dirty="0">
                <a:solidFill>
                  <a:srgbClr val="000000"/>
                </a:solidFill>
              </a:rPr>
              <a:t> (se pierde la codificación original).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</a:rPr>
              <a:t>to_labelled</a:t>
            </a:r>
            <a:r>
              <a:rPr lang="en-GB" b="0" dirty="0">
                <a:solidFill>
                  <a:srgbClr val="000000"/>
                </a:solidFill>
              </a:rPr>
              <a:t>(df) 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s-ES" b="0" dirty="0">
                <a:solidFill>
                  <a:srgbClr val="000000"/>
                </a:solidFill>
              </a:rPr>
              <a:t>Si df se importó con </a:t>
            </a:r>
            <a:r>
              <a:rPr lang="en-GB" dirty="0">
                <a:solidFill>
                  <a:srgbClr val="000000"/>
                </a:solidFill>
              </a:rPr>
              <a:t>foreign</a:t>
            </a:r>
            <a:r>
              <a:rPr lang="es-ES" b="0" dirty="0">
                <a:solidFill>
                  <a:srgbClr val="000000"/>
                </a:solidFill>
              </a:rPr>
              <a:t> o se creó con </a:t>
            </a:r>
            <a:br>
              <a:rPr lang="en-GB" b="0" dirty="0">
                <a:solidFill>
                  <a:srgbClr val="000000"/>
                </a:solidFill>
              </a:rPr>
            </a:br>
            <a:r>
              <a:rPr lang="en-GB" dirty="0" err="1">
                <a:solidFill>
                  <a:srgbClr val="000000"/>
                </a:solidFill>
              </a:rPr>
              <a:t>memisc</a:t>
            </a:r>
            <a:r>
              <a:rPr lang="es-ES" b="0" dirty="0">
                <a:solidFill>
                  <a:srgbClr val="000000"/>
                </a:solidFill>
              </a:rPr>
              <a:t>, sus metadatos (etiquetas de variable, de valor y faltantes definidos por el usuario) pasan al formato </a:t>
            </a:r>
            <a:r>
              <a:rPr lang="en-GB" dirty="0">
                <a:solidFill>
                  <a:srgbClr val="000000"/>
                </a:solidFill>
              </a:rPr>
              <a:t>labelled</a:t>
            </a:r>
            <a:r>
              <a:rPr lang="es-ES" b="0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290" name="rstudio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4774" y="198660"/>
            <a:ext cx="1386437" cy="1600913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ZoneTexte 68">
            <a:extLst>
              <a:ext uri="{FF2B5EF4-FFF2-40B4-BE49-F238E27FC236}">
                <a16:creationId xmlns:a16="http://schemas.microsoft.com/office/drawing/2014/main" id="{74D2D8A1-7DE9-46BC-8218-4465D74E2560}"/>
              </a:ext>
            </a:extLst>
          </p:cNvPr>
          <p:cNvSpPr txBox="1"/>
          <p:nvPr/>
        </p:nvSpPr>
        <p:spPr>
          <a:xfrm>
            <a:off x="9373882" y="3549072"/>
            <a:ext cx="3815831" cy="900166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t" anchorCtr="0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Al añadir una etiqueta de valor o un faltante del usuario </a:t>
            </a:r>
            <a:b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a un vector numérico o de caracteres, </a:t>
            </a:r>
            <a:br>
              <a:rPr kumimoji="0" lang="en-GB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kumimoji="0" lang="es-E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este se convierte en un vector etiquetado. 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ES" sz="12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Los valores del vector no cambian.</a:t>
            </a:r>
            <a:endParaRPr kumimoji="0" lang="en-GB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70" name="Group">
            <a:extLst>
              <a:ext uri="{FF2B5EF4-FFF2-40B4-BE49-F238E27FC236}">
                <a16:creationId xmlns:a16="http://schemas.microsoft.com/office/drawing/2014/main" id="{0714E5E1-F5CB-4A79-9D75-4739C12BE341}"/>
              </a:ext>
            </a:extLst>
          </p:cNvPr>
          <p:cNvGrpSpPr/>
          <p:nvPr/>
        </p:nvGrpSpPr>
        <p:grpSpPr>
          <a:xfrm>
            <a:off x="9373882" y="1234810"/>
            <a:ext cx="4346836" cy="226109"/>
            <a:chOff x="0" y="0"/>
            <a:chExt cx="2818195" cy="226107"/>
          </a:xfrm>
        </p:grpSpPr>
        <p:sp>
          <p:nvSpPr>
            <p:cNvPr id="71" name="SUBTITLE">
              <a:extLst>
                <a:ext uri="{FF2B5EF4-FFF2-40B4-BE49-F238E27FC236}">
                  <a16:creationId xmlns:a16="http://schemas.microsoft.com/office/drawing/2014/main" id="{9806D08C-DC79-417F-A73B-4ECBB5423F47}"/>
                </a:ext>
              </a:extLst>
            </p:cNvPr>
            <p:cNvSpPr txBox="1"/>
            <p:nvPr/>
          </p:nvSpPr>
          <p:spPr>
            <a:xfrm>
              <a:off x="0" y="15795"/>
              <a:ext cx="1131775" cy="2103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/>
              <a:r>
                <a:rPr lang="es-ES" dirty="0"/>
                <a:t>A VECTORES ETIQUETADOS</a:t>
              </a:r>
              <a:endParaRPr dirty="0"/>
            </a:p>
          </p:txBody>
        </p:sp>
        <p:sp>
          <p:nvSpPr>
            <p:cNvPr id="73" name="Line">
              <a:extLst>
                <a:ext uri="{FF2B5EF4-FFF2-40B4-BE49-F238E27FC236}">
                  <a16:creationId xmlns:a16="http://schemas.microsoft.com/office/drawing/2014/main" id="{1CC90E97-926B-4EAB-B63A-CE2FCCAA2AD1}"/>
                </a:ext>
              </a:extLst>
            </p:cNvPr>
            <p:cNvSpPr/>
            <p:nvPr/>
          </p:nvSpPr>
          <p:spPr>
            <a:xfrm>
              <a:off x="23250" y="0"/>
              <a:ext cx="2794945" cy="0"/>
            </a:xfrm>
            <a:prstGeom prst="line">
              <a:avLst/>
            </a:prstGeom>
            <a:noFill/>
            <a:ln w="12700" cap="flat">
              <a:solidFill>
                <a:srgbClr val="E0E0E0"/>
              </a:solidFill>
              <a:custDash>
                <a:ds d="100000" sp="200000"/>
              </a:custDash>
              <a:round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68326052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2232</Words>
  <Application>Microsoft Office PowerPoint</Application>
  <PresentationFormat>Personalizado</PresentationFormat>
  <Paragraphs>114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Arial</vt:lpstr>
      <vt:lpstr>Avenir Roman</vt:lpstr>
      <vt:lpstr>FontAwesome</vt:lpstr>
      <vt:lpstr>Helvetica Light</vt:lpstr>
      <vt:lpstr>Source Sans Pro</vt:lpstr>
      <vt:lpstr>Source Sans Pro Light</vt:lpstr>
      <vt:lpstr>Source Sans Pro Semibold</vt:lpstr>
      <vt:lpstr>Wingdings</vt:lpstr>
      <vt:lpstr>Wingdings 3</vt:lpstr>
      <vt:lpstr>White</vt:lpstr>
      <vt:lpstr>Datos etiquetados con labelled : : CHEAT SHEET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Labelled vectors with labelled : : CHEAT SHEET</dc:title>
  <dc:creator>Joseph Larmarange</dc:creator>
  <cp:lastModifiedBy>Anthony Romero</cp:lastModifiedBy>
  <cp:revision>81</cp:revision>
  <cp:lastPrinted>2019-05-23T16:59:36Z</cp:lastPrinted>
  <dcterms:modified xsi:type="dcterms:W3CDTF">2026-10-12T15:33:16Z</dcterms:modified>
</cp:coreProperties>
</file>