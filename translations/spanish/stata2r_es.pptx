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66B9"/>
    <a:srgbClr val="000000"/>
    <a:srgbClr val="2167BA"/>
    <a:srgbClr val="2268BC"/>
    <a:srgbClr val="2268BB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5238" autoAdjust="0"/>
  </p:normalViewPr>
  <p:slideViewPr>
    <p:cSldViewPr snapToGrid="0">
      <p:cViewPr>
        <p:scale>
          <a:sx n="100" d="100"/>
          <a:sy n="100" d="100"/>
        </p:scale>
        <p:origin x="-149" y="-3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undo custSel modSld">
      <pc:chgData name="Anthony Romero" userId="6b0392680c44eebc" providerId="LiveId" clId="{DEF369C7-D875-4089-BC3A-2A58E6AC2C22}" dt="2026-10-12T16:52:03.060" v="54" actId="1076"/>
      <pc:docMkLst>
        <pc:docMk/>
      </pc:docMkLst>
      <pc:sldChg chg="modSp mod">
        <pc:chgData name="Anthony Romero" userId="6b0392680c44eebc" providerId="LiveId" clId="{DEF369C7-D875-4089-BC3A-2A58E6AC2C22}" dt="2026-10-12T16:14:24.810" v="17" actId="1076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2T16:14:05.096" v="13" actId="1035"/>
          <ac:spMkLst>
            <pc:docMk/>
            <pc:sldMk cId="0" sldId="256"/>
            <ac:spMk id="13" creationId="{AA002B99-DA85-4DDD-927F-1BABE3EC8C8E}"/>
          </ac:spMkLst>
        </pc:spChg>
        <pc:spChg chg="mod">
          <ac:chgData name="Anthony Romero" userId="6b0392680c44eebc" providerId="LiveId" clId="{DEF369C7-D875-4089-BC3A-2A58E6AC2C22}" dt="2026-10-12T16:14:24.810" v="17" actId="1076"/>
          <ac:spMkLst>
            <pc:docMk/>
            <pc:sldMk cId="0" sldId="256"/>
            <ac:spMk id="86" creationId="{CF2AB2B8-5DD1-44A5-A7E7-C7B4FAE9520A}"/>
          </ac:spMkLst>
        </pc:spChg>
        <pc:spChg chg="mod">
          <ac:chgData name="Anthony Romero" userId="6b0392680c44eebc" providerId="LiveId" clId="{DEF369C7-D875-4089-BC3A-2A58E6AC2C22}" dt="2026-10-12T16:13:44.729" v="1" actId="123"/>
          <ac:spMkLst>
            <pc:docMk/>
            <pc:sldMk cId="0" sldId="256"/>
            <ac:spMk id="155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14:07.796" v="14" actId="123"/>
          <ac:spMkLst>
            <pc:docMk/>
            <pc:sldMk cId="0" sldId="256"/>
            <ac:spMk id="170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13:52.247" v="2" actId="123"/>
          <ac:spMkLst>
            <pc:docMk/>
            <pc:sldMk cId="0" sldId="256"/>
            <ac:spMk id="201" creationId="{4042C402-35EC-435C-A886-5CFB9E2891E1}"/>
          </ac:spMkLst>
        </pc:spChg>
      </pc:sldChg>
      <pc:sldChg chg="addSp modSp mod">
        <pc:chgData name="Anthony Romero" userId="6b0392680c44eebc" providerId="LiveId" clId="{DEF369C7-D875-4089-BC3A-2A58E6AC2C22}" dt="2026-10-12T16:52:03.060" v="54" actId="1076"/>
        <pc:sldMkLst>
          <pc:docMk/>
          <pc:sldMk cId="1499113685" sldId="258"/>
        </pc:sldMkLst>
        <pc:spChg chg="add mod">
          <ac:chgData name="Anthony Romero" userId="6b0392680c44eebc" providerId="LiveId" clId="{DEF369C7-D875-4089-BC3A-2A58E6AC2C22}" dt="2026-10-12T16:15:50.105" v="38" actId="1076"/>
          <ac:spMkLst>
            <pc:docMk/>
            <pc:sldMk cId="1499113685" sldId="258"/>
            <ac:spMk id="3" creationId="{2821B85A-2839-D865-347E-68145A6E8FDD}"/>
          </ac:spMkLst>
        </pc:spChg>
        <pc:spChg chg="mod">
          <ac:chgData name="Anthony Romero" userId="6b0392680c44eebc" providerId="LiveId" clId="{DEF369C7-D875-4089-BC3A-2A58E6AC2C22}" dt="2026-10-12T16:48:03.110" v="39" actId="123"/>
          <ac:spMkLst>
            <pc:docMk/>
            <pc:sldMk cId="1499113685" sldId="258"/>
            <ac:spMk id="5" creationId="{E74DA926-CC6D-435B-947A-6E5D1EC0C30A}"/>
          </ac:spMkLst>
        </pc:spChg>
        <pc:spChg chg="mod">
          <ac:chgData name="Anthony Romero" userId="6b0392680c44eebc" providerId="LiveId" clId="{DEF369C7-D875-4089-BC3A-2A58E6AC2C22}" dt="2026-10-12T16:51:15.028" v="43" actId="14100"/>
          <ac:spMkLst>
            <pc:docMk/>
            <pc:sldMk cId="1499113685" sldId="258"/>
            <ac:spMk id="57" creationId="{AF86AD95-9D35-4DE8-B879-E35250716560}"/>
          </ac:spMkLst>
        </pc:spChg>
        <pc:spChg chg="mod">
          <ac:chgData name="Anthony Romero" userId="6b0392680c44eebc" providerId="LiveId" clId="{DEF369C7-D875-4089-BC3A-2A58E6AC2C22}" dt="2026-10-12T16:48:39.287" v="41" actId="123"/>
          <ac:spMkLst>
            <pc:docMk/>
            <pc:sldMk cId="1499113685" sldId="258"/>
            <ac:spMk id="60" creationId="{6DE0EC9D-E2A4-461F-A58D-A719DEE1E7F9}"/>
          </ac:spMkLst>
        </pc:spChg>
        <pc:spChg chg="mod">
          <ac:chgData name="Anthony Romero" userId="6b0392680c44eebc" providerId="LiveId" clId="{DEF369C7-D875-4089-BC3A-2A58E6AC2C22}" dt="2026-10-12T16:51:26.057" v="44" actId="123"/>
          <ac:spMkLst>
            <pc:docMk/>
            <pc:sldMk cId="1499113685" sldId="258"/>
            <ac:spMk id="73" creationId="{97D53996-D206-4346-AAEA-8A9C78FAFE60}"/>
          </ac:spMkLst>
        </pc:spChg>
        <pc:spChg chg="mod">
          <ac:chgData name="Anthony Romero" userId="6b0392680c44eebc" providerId="LiveId" clId="{DEF369C7-D875-4089-BC3A-2A58E6AC2C22}" dt="2026-10-12T16:51:47.964" v="50" actId="1037"/>
          <ac:spMkLst>
            <pc:docMk/>
            <pc:sldMk cId="1499113685" sldId="258"/>
            <ac:spMk id="86" creationId="{CF912537-BB11-4032-AFCB-590C471104AA}"/>
          </ac:spMkLst>
        </pc:spChg>
        <pc:spChg chg="mod">
          <ac:chgData name="Anthony Romero" userId="6b0392680c44eebc" providerId="LiveId" clId="{DEF369C7-D875-4089-BC3A-2A58E6AC2C22}" dt="2026-10-12T16:15:41.072" v="34" actId="1076"/>
          <ac:spMkLst>
            <pc:docMk/>
            <pc:sldMk cId="1499113685" sldId="258"/>
            <ac:spMk id="99" creationId="{0D037AAE-9557-4BAF-A5BD-C81E28BAB533}"/>
          </ac:spMkLst>
        </pc:spChg>
        <pc:spChg chg="mod">
          <ac:chgData name="Anthony Romero" userId="6b0392680c44eebc" providerId="LiveId" clId="{DEF369C7-D875-4089-BC3A-2A58E6AC2C22}" dt="2026-10-12T16:52:03.060" v="54" actId="1076"/>
          <ac:spMkLst>
            <pc:docMk/>
            <pc:sldMk cId="1499113685" sldId="258"/>
            <ac:spMk id="102" creationId="{2AA0FC76-F640-4C07-AAB5-A89A59144AA8}"/>
          </ac:spMkLst>
        </pc:spChg>
        <pc:spChg chg="mod">
          <ac:chgData name="Anthony Romero" userId="6b0392680c44eebc" providerId="LiveId" clId="{DEF369C7-D875-4089-BC3A-2A58E6AC2C22}" dt="2026-10-12T16:51:56.482" v="52" actId="1076"/>
          <ac:spMkLst>
            <pc:docMk/>
            <pc:sldMk cId="1499113685" sldId="258"/>
            <ac:spMk id="106" creationId="{0E3DC87A-E731-4553-BDB9-820111AB33AC}"/>
          </ac:spMkLst>
        </pc:spChg>
        <pc:spChg chg="mod">
          <ac:chgData name="Anthony Romero" userId="6b0392680c44eebc" providerId="LiveId" clId="{DEF369C7-D875-4089-BC3A-2A58E6AC2C22}" dt="2026-10-12T16:14:33.725" v="18" actId="123"/>
          <ac:spMkLst>
            <pc:docMk/>
            <pc:sldMk cId="1499113685" sldId="258"/>
            <ac:spMk id="170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51:35.454" v="45" actId="1076"/>
          <ac:spMkLst>
            <pc:docMk/>
            <pc:sldMk cId="1499113685" sldId="258"/>
            <ac:spMk id="189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6:15:31.750" v="33" actId="14100"/>
          <ac:spMkLst>
            <pc:docMk/>
            <pc:sldMk cId="1499113685" sldId="258"/>
            <ac:spMk id="296" creationId="{E290A9A2-6279-4D73-A73E-D71AB503DC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r4ds.had.co.nz/" TargetMode="External"/><Relationship Id="rId13" Type="http://schemas.openxmlformats.org/officeDocument/2006/relationships/hyperlink" Target="https://www.rdocumentation.org/packages/estimatr/versions/0.20.0" TargetMode="External"/><Relationship Id="rId1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hyperlink" Target="https://www.econometrics-with-r.org/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mentalbreaks.rbind.io/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twitter.com/anguyen1210" TargetMode="External"/><Relationship Id="rId15" Type="http://schemas.openxmlformats.org/officeDocument/2006/relationships/hyperlink" Target="https://rmarkdown.rstudio.com/" TargetMode="External"/><Relationship Id="rId10" Type="http://schemas.openxmlformats.org/officeDocument/2006/relationships/hyperlink" Target="https://cran.r-project.org/web/packages/wooldridge/index.html" TargetMode="External"/><Relationship Id="rId19" Type="http://schemas.openxmlformats.org/officeDocument/2006/relationships/image" Target="../media/image9.png"/><Relationship Id="rId4" Type="http://schemas.openxmlformats.org/officeDocument/2006/relationships/hyperlink" Target="https://creativecommons.org/licenses/by-sa/4.0/" TargetMode="External"/><Relationship Id="rId9" Type="http://schemas.openxmlformats.org/officeDocument/2006/relationships/hyperlink" Target="https://www.cengage.com/cgi-wadsworth/course_products_wp.pl?fid=M20b&amp;product_isbn_issn=9781111531041" TargetMode="External"/><Relationship Id="rId14" Type="http://schemas.openxmlformats.org/officeDocument/2006/relationships/hyperlink" Target="https://www.rdocumentation.org/packages/AER/versions/1.2-7/topics/tobi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documentation.org/packages/margins/versions/0.3.23/topics/margins" TargetMode="External"/><Relationship Id="rId13" Type="http://schemas.openxmlformats.org/officeDocument/2006/relationships/hyperlink" Target="https://www.rdocumentation.org/packages/lmtest/versions/0.9-37" TargetMode="External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image" Target="../media/image5.png"/><Relationship Id="rId12" Type="http://schemas.openxmlformats.org/officeDocument/2006/relationships/hyperlink" Target="https://www.rdocumentation.org/packages/plm/versions/2.2-0/topics/pl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documentation.org/packages/fastDummies/versions/1.5.0/topics/dummy_cols" TargetMode="External"/><Relationship Id="rId11" Type="http://schemas.openxmlformats.org/officeDocument/2006/relationships/hyperlink" Target="https://www.rdocumentation.org/packages/AER/versions/1.2-7/topics/ivreg" TargetMode="External"/><Relationship Id="rId5" Type="http://schemas.openxmlformats.org/officeDocument/2006/relationships/hyperlink" Target="https://mentalbreaks.rbind.io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twitter.com/anguyen1210" TargetMode="External"/><Relationship Id="rId9" Type="http://schemas.openxmlformats.org/officeDocument/2006/relationships/hyperlink" Target="https://www.rdocumentation.org/packages/stargazer/versions/5.2.2/topics/stargaz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4A6978-2016-4F74-A816-2A74D4F8983D}"/>
              </a:ext>
            </a:extLst>
          </p:cNvPr>
          <p:cNvSpPr/>
          <p:nvPr/>
        </p:nvSpPr>
        <p:spPr>
          <a:xfrm>
            <a:off x="3804873" y="7168113"/>
            <a:ext cx="2687367" cy="89402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EB1948-8E5D-4F4E-A3D2-F48986889B8B}"/>
              </a:ext>
            </a:extLst>
          </p:cNvPr>
          <p:cNvSpPr/>
          <p:nvPr/>
        </p:nvSpPr>
        <p:spPr>
          <a:xfrm>
            <a:off x="7359826" y="4131975"/>
            <a:ext cx="2706652" cy="13373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46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143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128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29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0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1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2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3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4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5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6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7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8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9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0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1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2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p:grpSp>
        <p:sp>
          <p:nvSpPr>
            <p:cNvPr id="144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 dirty="0"/>
            </a:p>
          </p:txBody>
        </p:sp>
        <p:pic>
          <p:nvPicPr>
            <p:cNvPr id="145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62BFFC1-2BB4-4110-9EE0-1AA1220470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161" y="212212"/>
            <a:ext cx="3485296" cy="593566"/>
          </a:xfrm>
          <a:prstGeom prst="rect">
            <a:avLst/>
          </a:prstGeom>
        </p:spPr>
      </p:pic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9" name="Basics"/>
          <p:cNvSpPr txBox="1"/>
          <p:nvPr/>
        </p:nvSpPr>
        <p:spPr>
          <a:xfrm>
            <a:off x="318334" y="1309102"/>
            <a:ext cx="1242328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Introducción</a:t>
            </a:r>
            <a:endParaRPr sz="1800" dirty="0"/>
          </a:p>
        </p:txBody>
      </p:sp>
      <p:sp>
        <p:nvSpPr>
          <p:cNvPr id="150" name="Line"/>
          <p:cNvSpPr/>
          <p:nvPr/>
        </p:nvSpPr>
        <p:spPr>
          <a:xfrm>
            <a:off x="344039" y="1217208"/>
            <a:ext cx="3037294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1" name="Four Column Layout 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dirty="0"/>
              <a:t> a </a:t>
            </a:r>
            <a:r>
              <a:rPr lang="en-US" dirty="0">
                <a:latin typeface="Lucida Console" panose="020B0609040504020204" pitchFamily="49" charset="0"/>
              </a:rPr>
              <a:t>R</a:t>
            </a:r>
            <a:r>
              <a:rPr dirty="0"/>
              <a:t> ::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7903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dirty="0">
                <a:hlinkClick r:id="rId4"/>
              </a:rPr>
              <a:t>CC BY SA</a:t>
            </a:r>
            <a:r>
              <a:rPr dirty="0"/>
              <a:t> </a:t>
            </a:r>
            <a:r>
              <a:rPr lang="en-US" dirty="0"/>
              <a:t>Anthony Nguyen</a:t>
            </a:r>
            <a:r>
              <a:rPr dirty="0"/>
              <a:t> •  </a:t>
            </a:r>
            <a:r>
              <a:rPr lang="en-US" dirty="0">
                <a:hlinkClick r:id="rId5"/>
              </a:rPr>
              <a:t>@anguyen1210</a:t>
            </a:r>
            <a:r>
              <a:rPr dirty="0"/>
              <a:t> • </a:t>
            </a:r>
            <a:r>
              <a:rPr lang="en-US" dirty="0">
                <a:hlinkClick r:id="rId6"/>
              </a:rPr>
              <a:t>mentalbreaks.rbind.io</a:t>
            </a:r>
            <a:r>
              <a:rPr dirty="0"/>
              <a:t> </a:t>
            </a:r>
            <a:r>
              <a:rPr lang="es-ES" dirty="0"/>
              <a:t>•  versión 1.0.0 •  Actualizado: 201</a:t>
            </a:r>
            <a:r>
              <a:rPr lang="en-US" dirty="0"/>
              <a:t>9</a:t>
            </a:r>
            <a:r>
              <a:rPr dirty="0"/>
              <a:t>-</a:t>
            </a:r>
            <a:r>
              <a:rPr lang="es-ES" dirty="0"/>
              <a:t>10  •  Traducido por Anthony Romero-Cerdán  •  anthonyromero.netlify.app</a:t>
            </a:r>
            <a:endParaRPr dirty="0"/>
          </a:p>
        </p:txBody>
      </p:sp>
      <p:sp>
        <p:nvSpPr>
          <p:cNvPr id="153" name="Line"/>
          <p:cNvSpPr/>
          <p:nvPr/>
        </p:nvSpPr>
        <p:spPr>
          <a:xfrm>
            <a:off x="291339" y="1219200"/>
            <a:ext cx="3079672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5" name="Thank you for making a new cheatsheet for R! These cheatsheets have an important job:"/>
          <p:cNvSpPr txBox="1"/>
          <p:nvPr/>
        </p:nvSpPr>
        <p:spPr>
          <a:xfrm>
            <a:off x="332042" y="1641771"/>
            <a:ext cx="3015693" cy="2994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pPr algn="just"/>
            <a:r>
              <a:rPr lang="es-ES" sz="1050" b="0" dirty="0"/>
              <a:t>Esta cheat sheet resume comandos comunes de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sz="1050" b="0" dirty="0"/>
              <a:t> para análisis econométrico y su expresión equivalente en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n-US" sz="1050" b="0" dirty="0"/>
              <a:t>. </a:t>
            </a:r>
          </a:p>
          <a:p>
            <a:pPr algn="just"/>
            <a:endParaRPr lang="en-US" sz="1050" b="0" dirty="0"/>
          </a:p>
          <a:p>
            <a:pPr algn="just"/>
            <a:r>
              <a:rPr lang="es-ES" sz="1050" b="0" dirty="0"/>
              <a:t>Como referencias para importar/limpiar datos, manipular variables y otros comandos básicos están Hanck et al. (2019), </a:t>
            </a:r>
            <a:r>
              <a:rPr lang="en-US" sz="1050" b="0" i="1" dirty="0">
                <a:hlinkClick r:id="rId7"/>
              </a:rPr>
              <a:t>Econometrics with R</a:t>
            </a:r>
            <a:r>
              <a:rPr lang="es-ES" sz="1050" b="0" dirty="0"/>
              <a:t> y Wickham y Grolemund (2017), </a:t>
            </a:r>
            <a:r>
              <a:rPr lang="en-US" sz="1050" b="0" i="1" dirty="0">
                <a:hlinkClick r:id="rId8"/>
              </a:rPr>
              <a:t>R for Data Science</a:t>
            </a:r>
            <a:r>
              <a:rPr lang="en-US" sz="1050" b="0" dirty="0"/>
              <a:t>. </a:t>
            </a:r>
          </a:p>
          <a:p>
            <a:pPr algn="just"/>
            <a:br>
              <a:rPr lang="en-US" sz="1050" b="0" dirty="0"/>
            </a:br>
            <a:r>
              <a:rPr lang="es-ES" sz="1050" b="0" dirty="0"/>
              <a:t>Datos de ejemplo de Wooldridge, </a:t>
            </a:r>
            <a:r>
              <a:rPr lang="en-US" sz="1050" b="0" i="1" dirty="0"/>
              <a:t>Introductory Econometrics: A Modern Approach</a:t>
            </a:r>
            <a:r>
              <a:rPr lang="es-ES" sz="1050" b="0" dirty="0"/>
              <a:t>. Datos para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 </a:t>
            </a:r>
            <a:r>
              <a:rPr lang="es-ES" sz="1050" b="0" u="sng" dirty="0">
                <a:hlinkClick r:id="rId9"/>
              </a:rPr>
              <a:t>aquí</a:t>
            </a:r>
            <a:r>
              <a:rPr lang="es-ES" sz="1050" b="0" dirty="0"/>
              <a:t>. En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, instala el paquete `</a:t>
            </a:r>
            <a:r>
              <a:rPr lang="en-US" sz="1050" b="0" u="sng" dirty="0">
                <a:hlinkClick r:id="rId10"/>
              </a:rPr>
              <a:t>wooldridge</a:t>
            </a:r>
            <a:r>
              <a:rPr lang="es-ES" sz="1050" b="0" dirty="0"/>
              <a:t>` de CRAN.</a:t>
            </a:r>
          </a:p>
          <a:p>
            <a:pPr algn="just"/>
            <a:endParaRPr lang="en-US" sz="1050" b="0" dirty="0"/>
          </a:p>
          <a:p>
            <a:pPr algn="just"/>
            <a:r>
              <a:rPr lang="es-ES" sz="1050" b="0" dirty="0"/>
              <a:t>Todo el código de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usa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base, salvo indicación contraria.</a:t>
            </a:r>
          </a:p>
          <a:p>
            <a:pPr algn="just"/>
            <a:endParaRPr lang="en-US" sz="1050" b="0" dirty="0"/>
          </a:p>
          <a:p>
            <a:pPr algn="just"/>
            <a:endParaRPr lang="en-US" sz="1050" b="0" dirty="0"/>
          </a:p>
          <a:p>
            <a:pPr algn="just"/>
            <a:endParaRPr lang="en-US" sz="1050" b="0" dirty="0"/>
          </a:p>
          <a:p>
            <a:pPr algn="just"/>
            <a:endParaRPr lang="en-US" sz="1050" b="0" dirty="0"/>
          </a:p>
        </p:txBody>
      </p:sp>
      <p:sp>
        <p:nvSpPr>
          <p:cNvPr id="160" name="Use a layout that flows and makes it easy to zero in on specific topics."/>
          <p:cNvSpPr txBox="1"/>
          <p:nvPr/>
        </p:nvSpPr>
        <p:spPr>
          <a:xfrm>
            <a:off x="362660" y="5727435"/>
            <a:ext cx="3059055" cy="85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ssc install outreg2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instala `outreg2`. </a:t>
            </a:r>
            <a:r>
              <a:rPr lang="en-US" sz="1050" b="0" i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Nota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a diferencia de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en Stata los paquetes instalados no se cargan cada vez.</a:t>
            </a:r>
            <a:endParaRPr sz="105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1" name="Use visualizations to explain concepts quickly and concisely."/>
          <p:cNvSpPr txBox="1"/>
          <p:nvPr/>
        </p:nvSpPr>
        <p:spPr>
          <a:xfrm>
            <a:off x="358427" y="6549040"/>
            <a:ext cx="3080328" cy="151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install.packages("wooldridge")</a:t>
            </a:r>
            <a:r>
              <a:rPr lang="en-US" sz="1000" b="0" dirty="0"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instala `wooldridge`</a:t>
            </a:r>
            <a:b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data(package = "wooldridge")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lista los datos de `wooldridge`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br>
              <a:rPr lang="en-US" sz="1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data("wage1", package = "wooldridge")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carga `wage1`</a:t>
            </a:r>
            <a:b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endParaRPr lang="en-US"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?wooldridge::wage1</a:t>
            </a:r>
            <a:r>
              <a:rPr lang="en-US" sz="10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ayuda sobre los datos `wage1`</a:t>
            </a:r>
            <a:endParaRPr sz="1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70" name="Create a visual hierarchy. Help users navigate the page with titles, subtitles, and subsubtitles"/>
          <p:cNvSpPr txBox="1"/>
          <p:nvPr/>
        </p:nvSpPr>
        <p:spPr>
          <a:xfrm>
            <a:off x="3672829" y="1578715"/>
            <a:ext cx="3207385" cy="918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 algn="just"/>
            <a:r>
              <a:rPr lang="es-ES" sz="1050" b="0" dirty="0"/>
              <a:t>Mientras Stata solo permite trabajar con un conjunto de datos a la vez, en el entorno de R se pueden cargar varios simultáneamente, por lo que hay que indicarlo en cada llamada a una función.  </a:t>
            </a:r>
            <a:r>
              <a:rPr lang="es-ES" sz="1050" b="0" i="1" dirty="0"/>
              <a:t>Nota:</a:t>
            </a:r>
            <a:r>
              <a:rPr lang="en-US" sz="1050" b="0" dirty="0"/>
              <a:t>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no tiene un equivalente al comando `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codebook</a:t>
            </a:r>
            <a:r>
              <a:rPr lang="es-ES" sz="1050" b="0" dirty="0"/>
              <a:t>` de Stata.</a:t>
            </a:r>
          </a:p>
        </p:txBody>
      </p:sp>
      <p:sp>
        <p:nvSpPr>
          <p:cNvPr id="185" name="Layout Suggestions"/>
          <p:cNvSpPr txBox="1"/>
          <p:nvPr/>
        </p:nvSpPr>
        <p:spPr>
          <a:xfrm>
            <a:off x="3745370" y="1309102"/>
            <a:ext cx="1622239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Resumir datos</a:t>
            </a:r>
            <a:endParaRPr sz="1800" dirty="0"/>
          </a:p>
        </p:txBody>
      </p:sp>
      <p:sp>
        <p:nvSpPr>
          <p:cNvPr id="186" name="Line"/>
          <p:cNvSpPr/>
          <p:nvPr/>
        </p:nvSpPr>
        <p:spPr>
          <a:xfrm>
            <a:off x="3707856" y="1217208"/>
            <a:ext cx="3079672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9" name="Useful Elements"/>
          <p:cNvSpPr txBox="1"/>
          <p:nvPr/>
        </p:nvSpPr>
        <p:spPr>
          <a:xfrm>
            <a:off x="7151460" y="1309102"/>
            <a:ext cx="2031005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Estimar modelos, 1/2</a:t>
            </a:r>
            <a:endParaRPr sz="1800" dirty="0"/>
          </a:p>
        </p:txBody>
      </p:sp>
      <p:sp>
        <p:nvSpPr>
          <p:cNvPr id="190" name="Line"/>
          <p:cNvSpPr/>
          <p:nvPr/>
        </p:nvSpPr>
        <p:spPr>
          <a:xfrm>
            <a:off x="7124371" y="1217208"/>
            <a:ext cx="6471599" cy="4163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06" name="CODE"/>
          <p:cNvSpPr txBox="1"/>
          <p:nvPr/>
        </p:nvSpPr>
        <p:spPr>
          <a:xfrm>
            <a:off x="7189707" y="1738119"/>
            <a:ext cx="262892" cy="1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1050" dirty="0"/>
              <a:t>MCO</a:t>
            </a:r>
            <a:endParaRPr sz="1050" dirty="0"/>
          </a:p>
        </p:txBody>
      </p:sp>
      <p:sp>
        <p:nvSpPr>
          <p:cNvPr id="222" name="Line"/>
          <p:cNvSpPr/>
          <p:nvPr/>
        </p:nvSpPr>
        <p:spPr>
          <a:xfrm>
            <a:off x="7148465" y="1661619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5" name="Line"/>
          <p:cNvSpPr/>
          <p:nvPr/>
        </p:nvSpPr>
        <p:spPr>
          <a:xfrm>
            <a:off x="10572495" y="1668780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262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616619" y="5520337"/>
            <a:ext cx="448425" cy="44854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DD2723-8F07-43D1-BF04-3DCF62BDBE0D}"/>
              </a:ext>
            </a:extLst>
          </p:cNvPr>
          <p:cNvSpPr/>
          <p:nvPr/>
        </p:nvSpPr>
        <p:spPr>
          <a:xfrm>
            <a:off x="219119" y="4441778"/>
            <a:ext cx="753732" cy="3186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Preparación</a:t>
            </a:r>
            <a:endParaRPr lang="en-US" sz="2000" dirty="0"/>
          </a:p>
        </p:txBody>
      </p:sp>
      <p:sp>
        <p:nvSpPr>
          <p:cNvPr id="293" name="Line">
            <a:extLst>
              <a:ext uri="{FF2B5EF4-FFF2-40B4-BE49-F238E27FC236}">
                <a16:creationId xmlns:a16="http://schemas.microsoft.com/office/drawing/2014/main" id="{7DC57D60-F48C-4869-A785-46655FDEF135}"/>
              </a:ext>
            </a:extLst>
          </p:cNvPr>
          <p:cNvSpPr/>
          <p:nvPr/>
        </p:nvSpPr>
        <p:spPr>
          <a:xfrm>
            <a:off x="301661" y="4376924"/>
            <a:ext cx="3079672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95" name="Use a layout that flows and makes it easy to zero in on specific topics.">
            <a:extLst>
              <a:ext uri="{FF2B5EF4-FFF2-40B4-BE49-F238E27FC236}">
                <a16:creationId xmlns:a16="http://schemas.microsoft.com/office/drawing/2014/main" id="{ED4626B4-986B-4DCE-8B2C-7544307CC192}"/>
              </a:ext>
            </a:extLst>
          </p:cNvPr>
          <p:cNvSpPr txBox="1"/>
          <p:nvPr/>
        </p:nvSpPr>
        <p:spPr>
          <a:xfrm>
            <a:off x="3707150" y="2599567"/>
            <a:ext cx="3059055" cy="189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browse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abre el visor de datos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describe 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estructura de los datos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summarize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estadísticos de resumen de todas las variables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list in 1/6 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primeras 6 filas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tabulate educ 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frecuencias de `educ`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tabulate educ female 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tabla cruzada de `educ` y `female`</a:t>
            </a:r>
            <a:endParaRPr lang="en-GB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6DE98-0006-4909-84C2-39086A87078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94" y="9981500"/>
            <a:ext cx="630000" cy="630000"/>
          </a:xfrm>
          <a:prstGeom prst="rect">
            <a:avLst/>
          </a:prstGeom>
        </p:spPr>
      </p:pic>
      <p:sp>
        <p:nvSpPr>
          <p:cNvPr id="156" name="Where possible, use code that works when run.">
            <a:extLst>
              <a:ext uri="{FF2B5EF4-FFF2-40B4-BE49-F238E27FC236}">
                <a16:creationId xmlns:a16="http://schemas.microsoft.com/office/drawing/2014/main" id="{4C0C3125-CD84-48D4-9A22-CB5140EA9908}"/>
              </a:ext>
            </a:extLst>
          </p:cNvPr>
          <p:cNvSpPr txBox="1"/>
          <p:nvPr/>
        </p:nvSpPr>
        <p:spPr>
          <a:xfrm>
            <a:off x="10738299" y="1913322"/>
            <a:ext cx="2828724" cy="3072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mod1 &lt;- lm(wage ~ educ, </a:t>
            </a: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data = wage1</a:t>
            </a: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)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regresión simple de `wage` sobre `educ`; guarda en `mod1`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summary(mod1)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resumen de resultados de `mod1`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mod2 &lt;- lm(wage ~ educ, data = wage1[wage1$nonwhite==1, ])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añade una condición (como `if`)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mod3 &lt;- estimatr::lm_robust(wage ~ educ + exper, data = wage1, se_type = "stata")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regresión múltiple con errores estándar robustos HC1 (como Stata), usa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13"/>
              </a:rPr>
              <a:t>estimatr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mod4 &lt;- estimatr::lm_robust(wage ~ educ + exper, data = wage1, clusters = numdep)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errores estándar agrupados.</a:t>
            </a:r>
            <a:endParaRPr sz="1000" dirty="0">
              <a:solidFill>
                <a:schemeClr val="bg2">
                  <a:lumMod val="75000"/>
                </a:schemeClr>
              </a:solidFill>
              <a:sym typeface="Source Sans Pro"/>
            </a:endParaRPr>
          </a:p>
        </p:txBody>
      </p:sp>
      <p:sp>
        <p:nvSpPr>
          <p:cNvPr id="183" name="CODE">
            <a:extLst>
              <a:ext uri="{FF2B5EF4-FFF2-40B4-BE49-F238E27FC236}">
                <a16:creationId xmlns:a16="http://schemas.microsoft.com/office/drawing/2014/main" id="{633DD4D6-FC6C-49BD-8A93-CB4486E3F6CB}"/>
              </a:ext>
            </a:extLst>
          </p:cNvPr>
          <p:cNvSpPr txBox="1"/>
          <p:nvPr/>
        </p:nvSpPr>
        <p:spPr>
          <a:xfrm>
            <a:off x="7262150" y="5760333"/>
            <a:ext cx="1477969" cy="1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1050" dirty="0"/>
              <a:t>MV (Logit/Probit/Tobit)</a:t>
            </a:r>
            <a:endParaRPr sz="1050" dirty="0"/>
          </a:p>
        </p:txBody>
      </p:sp>
      <p:sp>
        <p:nvSpPr>
          <p:cNvPr id="184" name="Where possible, use code that works when run.">
            <a:extLst>
              <a:ext uri="{FF2B5EF4-FFF2-40B4-BE49-F238E27FC236}">
                <a16:creationId xmlns:a16="http://schemas.microsoft.com/office/drawing/2014/main" id="{A807948D-5CBE-40AE-A6D0-92C3C6BE3233}"/>
              </a:ext>
            </a:extLst>
          </p:cNvPr>
          <p:cNvSpPr txBox="1"/>
          <p:nvPr/>
        </p:nvSpPr>
        <p:spPr>
          <a:xfrm>
            <a:off x="7344062" y="6053089"/>
            <a:ext cx="2763056" cy="176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logit inlf nwifeinc educ </a:t>
            </a:r>
            <a: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regresión logística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probit inlf nwifeinc educ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regresión probit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tobit hours nwifeinc educ, ll(0)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regresión tobit, y censurada por abajo en cero</a:t>
            </a: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127" name="Where possible, use code that works when run.">
            <a:extLst>
              <a:ext uri="{FF2B5EF4-FFF2-40B4-BE49-F238E27FC236}">
                <a16:creationId xmlns:a16="http://schemas.microsoft.com/office/drawing/2014/main" id="{E939C05F-A735-43A4-8236-C312F2E4BD7C}"/>
              </a:ext>
            </a:extLst>
          </p:cNvPr>
          <p:cNvSpPr txBox="1"/>
          <p:nvPr/>
        </p:nvSpPr>
        <p:spPr>
          <a:xfrm>
            <a:off x="7189707" y="8549952"/>
            <a:ext cx="2935368" cy="1722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wage educ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estimación usada en la postestimación siguiente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predict yhat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valores predichos de la última estimación, en `yhat`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predict e, res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residuos de la última estimación, en `e`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162" name="CODE">
            <a:extLst>
              <a:ext uri="{FF2B5EF4-FFF2-40B4-BE49-F238E27FC236}">
                <a16:creationId xmlns:a16="http://schemas.microsoft.com/office/drawing/2014/main" id="{627A0174-D812-4390-A3C1-646724142368}"/>
              </a:ext>
            </a:extLst>
          </p:cNvPr>
          <p:cNvSpPr txBox="1"/>
          <p:nvPr/>
        </p:nvSpPr>
        <p:spPr>
          <a:xfrm>
            <a:off x="9306613" y="5791713"/>
            <a:ext cx="884858" cy="133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700" i="1" dirty="0"/>
              <a:t>datos de ejemplo:</a:t>
            </a:r>
            <a:r>
              <a:rPr lang="en-US" sz="700" dirty="0"/>
              <a:t>`mroz`</a:t>
            </a:r>
            <a:endParaRPr sz="700" dirty="0"/>
          </a:p>
        </p:txBody>
      </p:sp>
      <p:sp>
        <p:nvSpPr>
          <p:cNvPr id="163" name="Line">
            <a:extLst>
              <a:ext uri="{FF2B5EF4-FFF2-40B4-BE49-F238E27FC236}">
                <a16:creationId xmlns:a16="http://schemas.microsoft.com/office/drawing/2014/main" id="{937786CD-71BF-41C4-AB2D-DBC9E0DA8124}"/>
              </a:ext>
            </a:extLst>
          </p:cNvPr>
          <p:cNvSpPr/>
          <p:nvPr/>
        </p:nvSpPr>
        <p:spPr>
          <a:xfrm>
            <a:off x="7124423" y="5655970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64" name="Line">
            <a:extLst>
              <a:ext uri="{FF2B5EF4-FFF2-40B4-BE49-F238E27FC236}">
                <a16:creationId xmlns:a16="http://schemas.microsoft.com/office/drawing/2014/main" id="{86CC9E1E-0878-440C-946B-AA5DB1D41F0F}"/>
              </a:ext>
            </a:extLst>
          </p:cNvPr>
          <p:cNvSpPr/>
          <p:nvPr/>
        </p:nvSpPr>
        <p:spPr>
          <a:xfrm>
            <a:off x="10535538" y="5185869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66" name="Where possible, use code that works when run.">
            <a:extLst>
              <a:ext uri="{FF2B5EF4-FFF2-40B4-BE49-F238E27FC236}">
                <a16:creationId xmlns:a16="http://schemas.microsoft.com/office/drawing/2014/main" id="{E203AF23-FF01-42E2-B1D0-F2B81F8486C8}"/>
              </a:ext>
            </a:extLst>
          </p:cNvPr>
          <p:cNvSpPr txBox="1"/>
          <p:nvPr/>
        </p:nvSpPr>
        <p:spPr>
          <a:xfrm>
            <a:off x="10738299" y="5256597"/>
            <a:ext cx="2828724" cy="2418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mod_log &lt;- glm(inlf~nwifeinc + educ, family=binomial("logit"),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    data=mroz)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regresión logística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mod_pro &lt;- glm(inlf~nwifeinc + educ, family=binomial("probit"),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    data=mroz)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regresión probit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mod_tob &lt;- AER::tobit(hours ~ nwifeinc + educ, left = 0, data = mroz)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regresión tobit, y censurada por abajo en cero; usa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14"/>
              </a:rPr>
              <a:t>AER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</a:t>
            </a:r>
            <a:endParaRPr sz="1000" dirty="0">
              <a:solidFill>
                <a:schemeClr val="bg2">
                  <a:lumMod val="75000"/>
                </a:schemeClr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4" name="Line">
            <a:extLst>
              <a:ext uri="{FF2B5EF4-FFF2-40B4-BE49-F238E27FC236}">
                <a16:creationId xmlns:a16="http://schemas.microsoft.com/office/drawing/2014/main" id="{BC2CBF16-2C63-45DD-808A-615BDBB0DFB9}"/>
              </a:ext>
            </a:extLst>
          </p:cNvPr>
          <p:cNvSpPr/>
          <p:nvPr/>
        </p:nvSpPr>
        <p:spPr>
          <a:xfrm flipV="1">
            <a:off x="7124371" y="7766553"/>
            <a:ext cx="6442651" cy="4162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96" name="Use a layout that flows and makes it easy to zero in on specific topics.">
            <a:extLst>
              <a:ext uri="{FF2B5EF4-FFF2-40B4-BE49-F238E27FC236}">
                <a16:creationId xmlns:a16="http://schemas.microsoft.com/office/drawing/2014/main" id="{9DBE22BA-B91D-4C24-A452-96F23173489F}"/>
              </a:ext>
            </a:extLst>
          </p:cNvPr>
          <p:cNvSpPr txBox="1"/>
          <p:nvPr/>
        </p:nvSpPr>
        <p:spPr>
          <a:xfrm>
            <a:off x="358429" y="8609377"/>
            <a:ext cx="2813398" cy="1457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hist wage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histograma de `wage`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hist wage, by(nonwhite)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scatter wage educ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dispersión de `wage` vs. `educ`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twoway (scatter wage educ) (lfit wage educ)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dispersión con recta ajustada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 box wage, by(nonwhite)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boxplot de wage por `nonwhite`</a:t>
            </a:r>
            <a:endParaRPr lang="en-GB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7" name="Use visualizations to explain concepts quickly and concisely.">
            <a:extLst>
              <a:ext uri="{FF2B5EF4-FFF2-40B4-BE49-F238E27FC236}">
                <a16:creationId xmlns:a16="http://schemas.microsoft.com/office/drawing/2014/main" id="{EC697604-DEB5-4754-A537-A53F58996114}"/>
              </a:ext>
            </a:extLst>
          </p:cNvPr>
          <p:cNvSpPr txBox="1"/>
          <p:nvPr/>
        </p:nvSpPr>
        <p:spPr>
          <a:xfrm>
            <a:off x="3709277" y="4897338"/>
            <a:ext cx="3080328" cy="2220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View(wage1)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abre el visor de `wage1`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str(wage1)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estructura de `wage1`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summary(wage1)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estadísticos de resumen de `wage1`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head(wage1)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primeras 6 filas (por defecto)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tail(wage1)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últimas 6 filas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table(wage1$educ)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#frecuencias de `educ`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table("yrs_edu" = wage1$educ, "female" = wage1$female)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tabla cruzada de `educ` y `female`, con nombres</a:t>
            </a:r>
            <a:endParaRPr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98" name="Layout Suggestions">
            <a:extLst>
              <a:ext uri="{FF2B5EF4-FFF2-40B4-BE49-F238E27FC236}">
                <a16:creationId xmlns:a16="http://schemas.microsoft.com/office/drawing/2014/main" id="{5E51DA42-7726-4943-9B1A-97C9E8D86BD5}"/>
              </a:ext>
            </a:extLst>
          </p:cNvPr>
          <p:cNvSpPr txBox="1"/>
          <p:nvPr/>
        </p:nvSpPr>
        <p:spPr>
          <a:xfrm>
            <a:off x="342396" y="8256361"/>
            <a:ext cx="1070806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Gráficos básicos</a:t>
            </a:r>
            <a:endParaRPr sz="1800" dirty="0"/>
          </a:p>
        </p:txBody>
      </p:sp>
      <p:sp>
        <p:nvSpPr>
          <p:cNvPr id="200" name="Use a layout that flows and makes it easy to zero in on specific topics.">
            <a:extLst>
              <a:ext uri="{FF2B5EF4-FFF2-40B4-BE49-F238E27FC236}">
                <a16:creationId xmlns:a16="http://schemas.microsoft.com/office/drawing/2014/main" id="{79D4DDF2-E081-45D1-A9D6-96D5BB809292}"/>
              </a:ext>
            </a:extLst>
          </p:cNvPr>
          <p:cNvSpPr txBox="1"/>
          <p:nvPr/>
        </p:nvSpPr>
        <p:spPr>
          <a:xfrm>
            <a:off x="4175006" y="8609376"/>
            <a:ext cx="2615505" cy="1436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hist(wage1$wage)</a:t>
            </a:r>
            <a:r>
              <a:rPr lang="en-GB" sz="1000" b="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histograma de `wage`</a:t>
            </a:r>
            <a:b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b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endParaRPr lang="en-GB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plot(y = wage1$wage, x = wage1$educ)</a:t>
            </a:r>
            <a:r>
              <a:rPr lang="en-GB" sz="1000" b="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dispersión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abline(lm(wage1$wage~wage1$educ), col="red")</a:t>
            </a:r>
            <a:r>
              <a:rPr lang="en-GB" sz="1000" b="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añade la recta ajustada</a:t>
            </a:r>
            <a:b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endParaRPr lang="en-GB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boxplot(wage1$wage~wage1$nonwhite)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# boxplot de `wage` por `nonwhite` </a:t>
            </a:r>
            <a:endParaRPr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20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4042C402-35EC-435C-A886-5CFB9E2891E1}"/>
              </a:ext>
            </a:extLst>
          </p:cNvPr>
          <p:cNvSpPr txBox="1"/>
          <p:nvPr/>
        </p:nvSpPr>
        <p:spPr>
          <a:xfrm>
            <a:off x="294899" y="4727559"/>
            <a:ext cx="3207385" cy="918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 algn="just"/>
            <a:r>
              <a:rPr lang="es-ES" sz="1050" b="0" i="1" dirty="0"/>
              <a:t>Nota</a:t>
            </a:r>
            <a:r>
              <a:rPr lang="es-ES" sz="1050" b="0" dirty="0"/>
              <a:t>:  Aunque en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sz="1050" b="0" dirty="0"/>
              <a:t> es común crear un archivo `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s-ES" sz="1050" b="0" dirty="0"/>
              <a:t>` para guardar los comandos y resultados de las sesiones de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sz="1050" b="0" dirty="0"/>
              <a:t>, en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no existe un equivalente. Una alternativa más práctica en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es crear un archivo </a:t>
            </a:r>
            <a:r>
              <a:rPr lang="en-US" sz="1050" b="0" dirty="0">
                <a:hlinkClick r:id="rId15"/>
              </a:rPr>
              <a:t>R-markdown</a:t>
            </a:r>
            <a:r>
              <a:rPr lang="es-ES" sz="1050" b="0" dirty="0"/>
              <a:t> que capture el código y los resultados.</a:t>
            </a:r>
          </a:p>
        </p:txBody>
      </p:sp>
      <p:sp>
        <p:nvSpPr>
          <p:cNvPr id="121" name="Layout Suggestions">
            <a:extLst>
              <a:ext uri="{FF2B5EF4-FFF2-40B4-BE49-F238E27FC236}">
                <a16:creationId xmlns:a16="http://schemas.microsoft.com/office/drawing/2014/main" id="{6FF0ED44-783D-427C-8B37-012DF2388DF5}"/>
              </a:ext>
            </a:extLst>
          </p:cNvPr>
          <p:cNvSpPr txBox="1"/>
          <p:nvPr/>
        </p:nvSpPr>
        <p:spPr>
          <a:xfrm>
            <a:off x="5880927" y="1378082"/>
            <a:ext cx="913712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124" name="CODE">
            <a:extLst>
              <a:ext uri="{FF2B5EF4-FFF2-40B4-BE49-F238E27FC236}">
                <a16:creationId xmlns:a16="http://schemas.microsoft.com/office/drawing/2014/main" id="{A096AD30-D782-48B7-9305-75ECB75C68F7}"/>
              </a:ext>
            </a:extLst>
          </p:cNvPr>
          <p:cNvSpPr txBox="1"/>
          <p:nvPr/>
        </p:nvSpPr>
        <p:spPr>
          <a:xfrm>
            <a:off x="9246512" y="1761284"/>
            <a:ext cx="960199" cy="133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125" name="Layout Suggestions">
            <a:extLst>
              <a:ext uri="{FF2B5EF4-FFF2-40B4-BE49-F238E27FC236}">
                <a16:creationId xmlns:a16="http://schemas.microsoft.com/office/drawing/2014/main" id="{88947B02-7857-46D3-85D6-09D2E26EC81F}"/>
              </a:ext>
            </a:extLst>
          </p:cNvPr>
          <p:cNvSpPr txBox="1"/>
          <p:nvPr/>
        </p:nvSpPr>
        <p:spPr>
          <a:xfrm>
            <a:off x="2488475" y="8350958"/>
            <a:ext cx="896079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:`wage1`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78898-B384-419F-8F9D-63C4C93C88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8978544"/>
            <a:ext cx="106680" cy="466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EE259B-4305-4DD0-BBC5-2AE655C0DF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29" y="8586944"/>
            <a:ext cx="344656" cy="340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A65060-7A34-467E-B3F5-30472D304D1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889" y="9054176"/>
            <a:ext cx="335975" cy="3315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4DCEEF-5A0A-4453-8E06-2597BAB0FD2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29" y="9666035"/>
            <a:ext cx="337035" cy="341413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AA002B99-DA85-4DDD-927F-1BABE3EC8C8E}"/>
              </a:ext>
            </a:extLst>
          </p:cNvPr>
          <p:cNvSpPr/>
          <p:nvPr/>
        </p:nvSpPr>
        <p:spPr>
          <a:xfrm>
            <a:off x="5048083" y="4398405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1" name="Arrow: Down 190">
            <a:extLst>
              <a:ext uri="{FF2B5EF4-FFF2-40B4-BE49-F238E27FC236}">
                <a16:creationId xmlns:a16="http://schemas.microsoft.com/office/drawing/2014/main" id="{30D9F1B1-2DE0-4117-A98D-DE56D041AA26}"/>
              </a:ext>
            </a:extLst>
          </p:cNvPr>
          <p:cNvSpPr/>
          <p:nvPr/>
        </p:nvSpPr>
        <p:spPr>
          <a:xfrm rot="16200000">
            <a:off x="10179757" y="6361365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336D7ABF-BD18-4BA5-8442-D47A29A5D167}"/>
              </a:ext>
            </a:extLst>
          </p:cNvPr>
          <p:cNvSpPr/>
          <p:nvPr/>
        </p:nvSpPr>
        <p:spPr>
          <a:xfrm rot="16200000">
            <a:off x="10179757" y="8844458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3" name="Where possible, use code that works when run.">
            <a:extLst>
              <a:ext uri="{FF2B5EF4-FFF2-40B4-BE49-F238E27FC236}">
                <a16:creationId xmlns:a16="http://schemas.microsoft.com/office/drawing/2014/main" id="{FB0BF1AD-D263-4851-AE96-28666A91B761}"/>
              </a:ext>
            </a:extLst>
          </p:cNvPr>
          <p:cNvSpPr txBox="1"/>
          <p:nvPr/>
        </p:nvSpPr>
        <p:spPr>
          <a:xfrm>
            <a:off x="7346923" y="1947314"/>
            <a:ext cx="2873403" cy="2381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reg wage educ </a:t>
            </a:r>
            <a: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regresión simple de `wage` sobre `educ` (imprime resultados).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wage educ if nonwhite==1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añade una condición con if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wage educ exper, robust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regresión múltiple con errores estándar robustos HC1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wage educ exper, cluster(numdep)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errores estándar agrupados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204" name="Arrow: Down 203">
            <a:extLst>
              <a:ext uri="{FF2B5EF4-FFF2-40B4-BE49-F238E27FC236}">
                <a16:creationId xmlns:a16="http://schemas.microsoft.com/office/drawing/2014/main" id="{1E4C64B5-3F43-44D7-8CAA-067F6BC9B778}"/>
              </a:ext>
            </a:extLst>
          </p:cNvPr>
          <p:cNvSpPr/>
          <p:nvPr/>
        </p:nvSpPr>
        <p:spPr>
          <a:xfrm rot="16200000">
            <a:off x="10179758" y="3404478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0" name="Useful Elements">
            <a:extLst>
              <a:ext uri="{FF2B5EF4-FFF2-40B4-BE49-F238E27FC236}">
                <a16:creationId xmlns:a16="http://schemas.microsoft.com/office/drawing/2014/main" id="{F941E74E-5D80-43D6-9754-84309862B78D}"/>
              </a:ext>
            </a:extLst>
          </p:cNvPr>
          <p:cNvSpPr txBox="1"/>
          <p:nvPr/>
        </p:nvSpPr>
        <p:spPr>
          <a:xfrm>
            <a:off x="7151461" y="7872133"/>
            <a:ext cx="19572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Postestimación, 1/2 </a:t>
            </a:r>
            <a:endParaRPr sz="1800" dirty="0"/>
          </a:p>
        </p:txBody>
      </p:sp>
      <p:sp>
        <p:nvSpPr>
          <p:cNvPr id="82" name="Where possible, use code that works when run.">
            <a:extLst>
              <a:ext uri="{FF2B5EF4-FFF2-40B4-BE49-F238E27FC236}">
                <a16:creationId xmlns:a16="http://schemas.microsoft.com/office/drawing/2014/main" id="{393720B8-4751-479E-8E47-DC75CCA7A2B5}"/>
              </a:ext>
            </a:extLst>
          </p:cNvPr>
          <p:cNvSpPr txBox="1"/>
          <p:nvPr/>
        </p:nvSpPr>
        <p:spPr>
          <a:xfrm>
            <a:off x="10738298" y="8579714"/>
            <a:ext cx="2828724" cy="1333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mod1 &lt;- </a:t>
            </a: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lm(wage ~ educ, data = wage1)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estimación usada en la postestimación siguiente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yhat &lt;- predict(mod1)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valores predichos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e &lt;- residuals(mod1)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residuos</a:t>
            </a: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Layout Suggestions">
            <a:extLst>
              <a:ext uri="{FF2B5EF4-FFF2-40B4-BE49-F238E27FC236}">
                <a16:creationId xmlns:a16="http://schemas.microsoft.com/office/drawing/2014/main" id="{D2F2E025-7736-4003-BF43-B4253ACCA303}"/>
              </a:ext>
            </a:extLst>
          </p:cNvPr>
          <p:cNvSpPr txBox="1"/>
          <p:nvPr/>
        </p:nvSpPr>
        <p:spPr>
          <a:xfrm>
            <a:off x="9301804" y="7946542"/>
            <a:ext cx="894476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ejemplo:</a:t>
            </a:r>
            <a:r>
              <a:rPr lang="en-US" sz="700" dirty="0"/>
              <a:t>`wage1`</a:t>
            </a:r>
            <a:endParaRPr sz="700" dirty="0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C18DA5C4-419D-407C-AC81-909149F07F9D}"/>
              </a:ext>
            </a:extLst>
          </p:cNvPr>
          <p:cNvSpPr/>
          <p:nvPr/>
        </p:nvSpPr>
        <p:spPr>
          <a:xfrm rot="16200000">
            <a:off x="10179758" y="8844458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74E84461-1F85-4046-8DA7-54B4C1602117}"/>
              </a:ext>
            </a:extLst>
          </p:cNvPr>
          <p:cNvSpPr txBox="1"/>
          <p:nvPr/>
        </p:nvSpPr>
        <p:spPr>
          <a:xfrm>
            <a:off x="7193657" y="8134895"/>
            <a:ext cx="6230693" cy="271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r>
              <a:rPr lang="es-ES" sz="1050" b="0" i="1" dirty="0"/>
              <a:t>Nota</a:t>
            </a:r>
            <a:r>
              <a:rPr lang="es-ES" sz="1050" b="0" dirty="0"/>
              <a:t>:  Los comandos de postestimación de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 </a:t>
            </a:r>
            <a:r>
              <a:rPr lang="es-ES" sz="1050" b="0" dirty="0"/>
              <a:t>se aplican a la última estimación ejecutada. </a:t>
            </a:r>
          </a:p>
        </p:txBody>
      </p:sp>
      <p:sp>
        <p:nvSpPr>
          <p:cNvPr id="87" name="Line">
            <a:extLst>
              <a:ext uri="{FF2B5EF4-FFF2-40B4-BE49-F238E27FC236}">
                <a16:creationId xmlns:a16="http://schemas.microsoft.com/office/drawing/2014/main" id="{3DE77E20-3D8A-42FE-B544-061A567381DE}"/>
              </a:ext>
            </a:extLst>
          </p:cNvPr>
          <p:cNvSpPr/>
          <p:nvPr/>
        </p:nvSpPr>
        <p:spPr>
          <a:xfrm>
            <a:off x="301295" y="6424932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86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CF2AB2B8-5DD1-44A5-A7E7-C7B4FAE9520A}"/>
              </a:ext>
            </a:extLst>
          </p:cNvPr>
          <p:cNvSpPr txBox="1"/>
          <p:nvPr/>
        </p:nvSpPr>
        <p:spPr>
          <a:xfrm>
            <a:off x="7484509" y="4229255"/>
            <a:ext cx="2440829" cy="1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algn="just"/>
            <a:r>
              <a:rPr lang="es-ES" sz="1050" b="0" i="1" dirty="0"/>
              <a:t>Consejo</a:t>
            </a:r>
            <a:r>
              <a:rPr lang="es-ES" sz="1050" b="0" dirty="0"/>
              <a:t>: Otra forma de calcular errores estándar robustos en </a:t>
            </a:r>
            <a:r>
              <a:rPr lang="da-DK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para modelos no cubiertos por {estimatr} es cargar el paquete {AER} y ejecutar: </a:t>
            </a:r>
            <a:br>
              <a:rPr lang="da-DK" sz="1050" b="0" dirty="0"/>
            </a:br>
            <a:endParaRPr lang="da-DK" sz="800" b="0" dirty="0"/>
          </a:p>
          <a:p>
            <a:r>
              <a:rPr lang="da-DK" sz="1050" b="0" dirty="0">
                <a:solidFill>
                  <a:srgbClr val="2066B9"/>
                </a:solidFill>
                <a:latin typeface="Lucida Console" panose="020B0609040504020204" pitchFamily="49" charset="0"/>
              </a:rPr>
              <a:t>coeftest(mod1, vcov. = vcovHC, type = "HC1") </a:t>
            </a:r>
            <a:endParaRPr lang="en-US" sz="1050" b="0" dirty="0">
              <a:solidFill>
                <a:srgbClr val="2066B9"/>
              </a:solidFill>
              <a:latin typeface="Lucida Console" panose="020B0609040504020204" pitchFamily="49" charset="0"/>
            </a:endParaRPr>
          </a:p>
        </p:txBody>
      </p:sp>
      <p:sp>
        <p:nvSpPr>
          <p:cNvPr id="89" name="Line">
            <a:extLst>
              <a:ext uri="{FF2B5EF4-FFF2-40B4-BE49-F238E27FC236}">
                <a16:creationId xmlns:a16="http://schemas.microsoft.com/office/drawing/2014/main" id="{029F5551-265A-409F-A7D2-B4281E95F822}"/>
              </a:ext>
            </a:extLst>
          </p:cNvPr>
          <p:cNvSpPr/>
          <p:nvPr/>
        </p:nvSpPr>
        <p:spPr>
          <a:xfrm flipV="1">
            <a:off x="275721" y="8177486"/>
            <a:ext cx="6442651" cy="4162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76487203-58C2-46DB-9307-F14F98886F4F}"/>
              </a:ext>
            </a:extLst>
          </p:cNvPr>
          <p:cNvSpPr/>
          <p:nvPr/>
        </p:nvSpPr>
        <p:spPr>
          <a:xfrm rot="16200000">
            <a:off x="3281593" y="9017860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9DD5D7D8-F013-454C-80A8-B4BF077C958C}"/>
              </a:ext>
            </a:extLst>
          </p:cNvPr>
          <p:cNvSpPr txBox="1"/>
          <p:nvPr/>
        </p:nvSpPr>
        <p:spPr>
          <a:xfrm>
            <a:off x="3846970" y="7175287"/>
            <a:ext cx="2660685" cy="918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r>
              <a:rPr lang="es-ES" sz="1050" b="0" i="1" dirty="0"/>
              <a:t>Consejo</a:t>
            </a:r>
            <a:r>
              <a:rPr lang="es-ES" sz="1050" b="0" dirty="0"/>
              <a:t>:  El paquete {AER} carga automáticamente otros paquetes útiles de los que depende, como {car}, {lmtest} y {sandwich}, que se usan en muchos de los comandos de esta cheat sheet.  </a:t>
            </a:r>
            <a:endParaRPr lang="da-DK" sz="1050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143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128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29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0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1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2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3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4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5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6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7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8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39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0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1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  <p:sp>
            <p:nvSpPr>
              <p:cNvPr id="142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p:grpSp>
        <p:sp>
          <p:nvSpPr>
            <p:cNvPr id="144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 dirty="0"/>
            </a:p>
          </p:txBody>
        </p:sp>
        <p:pic>
          <p:nvPicPr>
            <p:cNvPr id="145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0" name="Line"/>
          <p:cNvSpPr/>
          <p:nvPr/>
        </p:nvSpPr>
        <p:spPr>
          <a:xfrm>
            <a:off x="344039" y="1217208"/>
            <a:ext cx="3037294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7903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dirty="0">
                <a:hlinkClick r:id="rId3"/>
              </a:rPr>
              <a:t>CC BY SA</a:t>
            </a:r>
            <a:r>
              <a:rPr lang="en-US" dirty="0"/>
              <a:t> Anthony Nguyen •  </a:t>
            </a:r>
            <a:r>
              <a:rPr lang="en-US" dirty="0">
                <a:hlinkClick r:id="rId4"/>
              </a:rPr>
              <a:t>@anguyen1210</a:t>
            </a:r>
            <a:r>
              <a:rPr lang="en-US" dirty="0"/>
              <a:t> • </a:t>
            </a:r>
            <a:r>
              <a:rPr lang="en-US" dirty="0">
                <a:hlinkClick r:id="rId5"/>
              </a:rPr>
              <a:t>mentalbreaks.rbind.io</a:t>
            </a:r>
            <a:r>
              <a:rPr lang="es-ES" dirty="0"/>
              <a:t> •  versión 1.0.0 •  Actualizado: 2019-10  •  Traducido por Anthony Romero-Cerdán  •  anthonyromero.netlify.app</a:t>
            </a:r>
          </a:p>
        </p:txBody>
      </p:sp>
      <p:sp>
        <p:nvSpPr>
          <p:cNvPr id="170" name="Create a visual hierarchy. Help users navigate the page with titles, subtitles, and subsubtitles"/>
          <p:cNvSpPr txBox="1"/>
          <p:nvPr/>
        </p:nvSpPr>
        <p:spPr>
          <a:xfrm>
            <a:off x="326837" y="1558055"/>
            <a:ext cx="6239062" cy="43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algn="just"/>
            <a:r>
              <a:rPr lang="es-ES" sz="1050" b="0" i="1" dirty="0"/>
              <a:t>Nota</a:t>
            </a:r>
            <a:r>
              <a:rPr lang="es-ES" sz="1050" b="0" dirty="0"/>
              <a:t>: mientras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sz="1050" b="0" dirty="0"/>
              <a:t> solo permite trabajar con un conjunto de datos a la vez, en el entorno de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 se pueden cargar varios simultáneamente, por lo que hay que indicar el conjunto de datos en cada comando. </a:t>
            </a:r>
          </a:p>
        </p:txBody>
      </p:sp>
      <p:sp>
        <p:nvSpPr>
          <p:cNvPr id="185" name="Layout Suggestions"/>
          <p:cNvSpPr txBox="1"/>
          <p:nvPr/>
        </p:nvSpPr>
        <p:spPr>
          <a:xfrm>
            <a:off x="318334" y="1309102"/>
            <a:ext cx="2058256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Crear/editar variables</a:t>
            </a:r>
            <a:endParaRPr sz="1800" dirty="0"/>
          </a:p>
        </p:txBody>
      </p:sp>
      <p:sp>
        <p:nvSpPr>
          <p:cNvPr id="189" name="Useful Elements"/>
          <p:cNvSpPr txBox="1"/>
          <p:nvPr/>
        </p:nvSpPr>
        <p:spPr>
          <a:xfrm>
            <a:off x="7142259" y="1347038"/>
            <a:ext cx="2031005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Estimar modelos, 2/2</a:t>
            </a:r>
            <a:endParaRPr sz="1800" dirty="0"/>
          </a:p>
        </p:txBody>
      </p:sp>
      <p:sp>
        <p:nvSpPr>
          <p:cNvPr id="190" name="Line"/>
          <p:cNvSpPr/>
          <p:nvPr/>
        </p:nvSpPr>
        <p:spPr>
          <a:xfrm>
            <a:off x="7124371" y="1217207"/>
            <a:ext cx="6472096" cy="9637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91" name="Logistics"/>
          <p:cNvSpPr txBox="1"/>
          <p:nvPr/>
        </p:nvSpPr>
        <p:spPr>
          <a:xfrm>
            <a:off x="10573099" y="1262847"/>
            <a:ext cx="2571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endParaRPr dirty="0"/>
          </a:p>
        </p:txBody>
      </p:sp>
      <p:sp>
        <p:nvSpPr>
          <p:cNvPr id="202" name="ICONS"/>
          <p:cNvSpPr txBox="1"/>
          <p:nvPr/>
        </p:nvSpPr>
        <p:spPr>
          <a:xfrm>
            <a:off x="7189708" y="3636980"/>
            <a:ext cx="1796967" cy="1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1050" dirty="0"/>
              <a:t>Variables instrumentales (MC2E)</a:t>
            </a:r>
            <a:endParaRPr sz="1050" dirty="0"/>
          </a:p>
        </p:txBody>
      </p:sp>
      <p:sp>
        <p:nvSpPr>
          <p:cNvPr id="222" name="Line"/>
          <p:cNvSpPr/>
          <p:nvPr/>
        </p:nvSpPr>
        <p:spPr>
          <a:xfrm>
            <a:off x="7148465" y="1703804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23" name="Line"/>
          <p:cNvSpPr/>
          <p:nvPr/>
        </p:nvSpPr>
        <p:spPr>
          <a:xfrm>
            <a:off x="7148465" y="3509313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4" name="Line"/>
          <p:cNvSpPr/>
          <p:nvPr/>
        </p:nvSpPr>
        <p:spPr>
          <a:xfrm>
            <a:off x="10564983" y="3514424"/>
            <a:ext cx="3031484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5" name="Line"/>
          <p:cNvSpPr/>
          <p:nvPr/>
        </p:nvSpPr>
        <p:spPr>
          <a:xfrm>
            <a:off x="10535538" y="1703804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95" name="Use a layout that flows and makes it easy to zero in on specific topics.">
            <a:extLst>
              <a:ext uri="{FF2B5EF4-FFF2-40B4-BE49-F238E27FC236}">
                <a16:creationId xmlns:a16="http://schemas.microsoft.com/office/drawing/2014/main" id="{ED4626B4-986B-4DCE-8B2C-7544307CC192}"/>
              </a:ext>
            </a:extLst>
          </p:cNvPr>
          <p:cNvSpPr txBox="1"/>
          <p:nvPr/>
        </p:nvSpPr>
        <p:spPr>
          <a:xfrm>
            <a:off x="344040" y="2151016"/>
            <a:ext cx="2945658" cy="3370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gen exper2 = exper^2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 `exper` al cuadrado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egen wage_avg = mean(wage) </a:t>
            </a:r>
            <a: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 el salario promedio</a:t>
            </a:r>
            <a:b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05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drop tenursq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elimina `tenursq`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br>
              <a:rPr lang="en-US" sz="7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keep wage educ exper nonwhite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conserva esas variables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tab numdep, gen(numdep)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 variables dummy de `numdep`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recode exper (1/20 = 1 "1 to 20 years") (21/40 = 2 "21 to 40 years") (41/max = 3 "41+ years"), gen(experlvl) </a:t>
            </a:r>
            <a:r>
              <a:rPr lang="en-GB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recodifica `exper` en variable nueva</a:t>
            </a:r>
            <a:endParaRPr sz="105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6" name="Use visualizations to explain concepts quickly and concisely.">
            <a:extLst>
              <a:ext uri="{FF2B5EF4-FFF2-40B4-BE49-F238E27FC236}">
                <a16:creationId xmlns:a16="http://schemas.microsoft.com/office/drawing/2014/main" id="{E290A9A2-6279-4D73-A73E-D71AB503DCB7}"/>
              </a:ext>
            </a:extLst>
          </p:cNvPr>
          <p:cNvSpPr txBox="1"/>
          <p:nvPr/>
        </p:nvSpPr>
        <p:spPr>
          <a:xfrm>
            <a:off x="3831106" y="2151017"/>
            <a:ext cx="2847752" cy="266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wage1$exper2 &lt;- wage1$exper^2</a:t>
            </a:r>
            <a:r>
              <a:rPr lang="en-US" sz="1000" b="0" dirty="0"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crea `exper` al cuadrado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wage1$wage_avg &lt;- mean(wage1$wage)</a:t>
            </a:r>
            <a:r>
              <a:rPr lang="en-US" sz="1000" b="0" dirty="0"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 crea el salario promedio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wage1$tenursq &lt;- NULL</a:t>
            </a:r>
            <a:r>
              <a:rPr lang="en-US" sz="1000" b="0" dirty="0"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#elimina `tenursq`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 &lt;- wage1[ , c("wage", "educ", "exper", "nonwhite")]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conserva esas variables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 &lt;- fastDummies::dummy_cols(wage1, select_columns = "numdep")</a:t>
            </a:r>
            <a:r>
              <a:rPr lang="en-US" sz="1000" b="0" dirty="0"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 crea variables dummy de `numdep`; usa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{</a:t>
            </a:r>
            <a:r>
              <a:rPr lang="en-US" sz="1000" b="0" dirty="0" err="1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hlinkClick r:id="rId6"/>
              </a:rPr>
              <a:t>fastDummies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}</a:t>
            </a: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sz="1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65" name="CODE">
            <a:extLst>
              <a:ext uri="{FF2B5EF4-FFF2-40B4-BE49-F238E27FC236}">
                <a16:creationId xmlns:a16="http://schemas.microsoft.com/office/drawing/2014/main" id="{8FDAE608-0E9C-41D9-8899-99B9E41C4BB6}"/>
              </a:ext>
            </a:extLst>
          </p:cNvPr>
          <p:cNvSpPr txBox="1"/>
          <p:nvPr/>
        </p:nvSpPr>
        <p:spPr>
          <a:xfrm>
            <a:off x="7177308" y="1800230"/>
            <a:ext cx="1166986" cy="18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1050" dirty="0"/>
              <a:t>Panel/longitudinal</a:t>
            </a:r>
            <a:endParaRPr sz="1050" dirty="0"/>
          </a:p>
        </p:txBody>
      </p:sp>
      <p:sp>
        <p:nvSpPr>
          <p:cNvPr id="166" name="Where possible, use code that works when run.">
            <a:extLst>
              <a:ext uri="{FF2B5EF4-FFF2-40B4-BE49-F238E27FC236}">
                <a16:creationId xmlns:a16="http://schemas.microsoft.com/office/drawing/2014/main" id="{92CE7CB9-4D8A-4231-8AD9-86418E1E599F}"/>
              </a:ext>
            </a:extLst>
          </p:cNvPr>
          <p:cNvSpPr txBox="1"/>
          <p:nvPr/>
        </p:nvSpPr>
        <p:spPr>
          <a:xfrm>
            <a:off x="7259220" y="2035836"/>
            <a:ext cx="2763056" cy="1393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xtset id year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`id` como unidades (panel) y `year` como tiempo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xtdescribe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patrón de los datos xt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xtsum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resume los datos xt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xtreg mrdrte unem, fe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regresión de efectos fijos</a:t>
            </a:r>
            <a:endParaRPr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167" name="Where possible, use code that works when run.">
            <a:extLst>
              <a:ext uri="{FF2B5EF4-FFF2-40B4-BE49-F238E27FC236}">
                <a16:creationId xmlns:a16="http://schemas.microsoft.com/office/drawing/2014/main" id="{02D6DEA4-FC57-408D-9CA8-0701F1F27801}"/>
              </a:ext>
            </a:extLst>
          </p:cNvPr>
          <p:cNvSpPr txBox="1"/>
          <p:nvPr/>
        </p:nvSpPr>
        <p:spPr>
          <a:xfrm>
            <a:off x="7259221" y="3853738"/>
            <a:ext cx="2763056" cy="1257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t">
            <a:spAutoFit/>
          </a:bodyPr>
          <a:lstStyle/>
          <a:p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ivregress 2sls lwage (educ = fatheduc), first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 1.ª etapa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"/>
              </a:rPr>
              <a:t>stat firststage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"/>
              </a:rPr>
              <a:t> // relevancia del instrumento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"/>
              </a:rPr>
              <a:t>vregress 2sls l</a:t>
            </a: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wage (educ = fatheduc)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MC2E directo</a:t>
            </a:r>
            <a:endParaRPr sz="1050" b="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168" name="Where possible, use code that works when run.">
            <a:extLst>
              <a:ext uri="{FF2B5EF4-FFF2-40B4-BE49-F238E27FC236}">
                <a16:creationId xmlns:a16="http://schemas.microsoft.com/office/drawing/2014/main" id="{0C4F7496-AA4D-40D6-94E1-938C9A06FA24}"/>
              </a:ext>
            </a:extLst>
          </p:cNvPr>
          <p:cNvSpPr txBox="1"/>
          <p:nvPr/>
        </p:nvSpPr>
        <p:spPr>
          <a:xfrm>
            <a:off x="7259220" y="4303000"/>
            <a:ext cx="2763056" cy="811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4829036B-149B-47A6-830B-A4829B7157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94" y="9981500"/>
            <a:ext cx="630000" cy="630000"/>
          </a:xfrm>
          <a:prstGeom prst="rect">
            <a:avLst/>
          </a:prstGeom>
        </p:spPr>
      </p:pic>
      <p:sp>
        <p:nvSpPr>
          <p:cNvPr id="57" name="Where possible, use code that works when run.">
            <a:extLst>
              <a:ext uri="{FF2B5EF4-FFF2-40B4-BE49-F238E27FC236}">
                <a16:creationId xmlns:a16="http://schemas.microsoft.com/office/drawing/2014/main" id="{AF86AD95-9D35-4DE8-B879-E35250716560}"/>
              </a:ext>
            </a:extLst>
          </p:cNvPr>
          <p:cNvSpPr txBox="1"/>
          <p:nvPr/>
        </p:nvSpPr>
        <p:spPr>
          <a:xfrm>
            <a:off x="7142189" y="5959930"/>
            <a:ext cx="2880087" cy="4173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educ c.exper##c.exper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estimación usada en la postestimación siguiente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estimates store mod1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guarda la última estimación en memoria como `mod1`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margins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márgenes predictivos promedio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margins, dydx(*)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efectos marginales promedio de cada variable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marginsplot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grafica efectos marginales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margins, dydx(exper)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efectos marginales promedio de exper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margins, at(exper=(1(10)51))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márgenes predictivos promedio en el rango de `exper`, cada 10 años 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estimates restore mod1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vuelve a cargar `mod1` en memoria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estimates table mod1 mod2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 // tabla con los resultados guardados</a:t>
            </a:r>
            <a:endParaRPr sz="1050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"/>
            </a:endParaRPr>
          </a:p>
        </p:txBody>
      </p:sp>
      <p:sp>
        <p:nvSpPr>
          <p:cNvPr id="58" name="Useful Elements">
            <a:extLst>
              <a:ext uri="{FF2B5EF4-FFF2-40B4-BE49-F238E27FC236}">
                <a16:creationId xmlns:a16="http://schemas.microsoft.com/office/drawing/2014/main" id="{4BE0C6B7-BF4D-4C72-A105-CCB7984BBFFE}"/>
              </a:ext>
            </a:extLst>
          </p:cNvPr>
          <p:cNvSpPr txBox="1"/>
          <p:nvPr/>
        </p:nvSpPr>
        <p:spPr>
          <a:xfrm>
            <a:off x="7151462" y="5340132"/>
            <a:ext cx="2075889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Postestimación, 2/2  </a:t>
            </a:r>
            <a:endParaRPr sz="1800" dirty="0"/>
          </a:p>
        </p:txBody>
      </p:sp>
      <p:sp>
        <p:nvSpPr>
          <p:cNvPr id="59" name="Line">
            <a:extLst>
              <a:ext uri="{FF2B5EF4-FFF2-40B4-BE49-F238E27FC236}">
                <a16:creationId xmlns:a16="http://schemas.microsoft.com/office/drawing/2014/main" id="{65B9056D-AD09-47DF-A1CF-0BBB00794883}"/>
              </a:ext>
            </a:extLst>
          </p:cNvPr>
          <p:cNvSpPr/>
          <p:nvPr/>
        </p:nvSpPr>
        <p:spPr>
          <a:xfrm flipV="1">
            <a:off x="7124373" y="5177402"/>
            <a:ext cx="6442651" cy="4162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0" name="Where possible, use code that works when run.">
            <a:extLst>
              <a:ext uri="{FF2B5EF4-FFF2-40B4-BE49-F238E27FC236}">
                <a16:creationId xmlns:a16="http://schemas.microsoft.com/office/drawing/2014/main" id="{6DE0EC9D-E2A4-461F-A58D-A719DEE1E7F9}"/>
              </a:ext>
            </a:extLst>
          </p:cNvPr>
          <p:cNvSpPr txBox="1"/>
          <p:nvPr/>
        </p:nvSpPr>
        <p:spPr>
          <a:xfrm>
            <a:off x="10631010" y="5956585"/>
            <a:ext cx="2936017" cy="419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mod1 &lt;- lm(lwage ~ educ + exper + I(exper^2), data = wage1)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Nota: en R, las expresiones matemáticas dentro de la llamada a una fórmula deben aislarse con `I()`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rgbClr val="2066B9"/>
              </a:solidFill>
              <a:latin typeface="Lucida Console" panose="020B06090405040202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prediction::prediction(mod1)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obtiene los márgenes predictivos promedio con el paquete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8"/>
              </a:rPr>
              <a:t>prediction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m1 &lt;- margins::margins(mod1)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efectos marginales promedio de cada variable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plot(m1)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grafica efectos marginales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da-DK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summary(m1)</a:t>
            </a:r>
            <a:r>
              <a:rPr lang="da-DK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resumen detallado de efectos marginales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da-DK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prediction::prediction(mod1, at = list(exper = seq(1,51,10))</a:t>
            </a:r>
            <a:r>
              <a:rPr lang="da-DK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) # márgenes predictivos en el rango de `exper`, cada 10 años</a:t>
            </a:r>
            <a:b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</a:br>
            <a:endParaRPr lang="en-US" sz="1000" b="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  <a:sym typeface="Source Sans Pro Light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stargazer::stargazer(mod1, mod2, type = "text")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# usa el paquete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9"/>
              </a:rPr>
              <a:t>stargazer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 y `type=text` para verlos en R. </a:t>
            </a:r>
            <a:r>
              <a:rPr lang="en-US" sz="1000" b="0" i="1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Nota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: `type= ` admite también LaTeX y HTML.</a:t>
            </a: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" name="Layout Suggestions">
            <a:extLst>
              <a:ext uri="{FF2B5EF4-FFF2-40B4-BE49-F238E27FC236}">
                <a16:creationId xmlns:a16="http://schemas.microsoft.com/office/drawing/2014/main" id="{17E355C1-4B01-4499-A029-2D342CB50DB5}"/>
              </a:ext>
            </a:extLst>
          </p:cNvPr>
          <p:cNvSpPr txBox="1"/>
          <p:nvPr/>
        </p:nvSpPr>
        <p:spPr>
          <a:xfrm>
            <a:off x="9266238" y="5410242"/>
            <a:ext cx="913712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D6AAB023-A1AF-4249-B0A6-E7713E7C22E8}"/>
              </a:ext>
            </a:extLst>
          </p:cNvPr>
          <p:cNvSpPr/>
          <p:nvPr/>
        </p:nvSpPr>
        <p:spPr>
          <a:xfrm rot="16200000">
            <a:off x="10179764" y="7464167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1" name="Useful Elements">
            <a:extLst>
              <a:ext uri="{FF2B5EF4-FFF2-40B4-BE49-F238E27FC236}">
                <a16:creationId xmlns:a16="http://schemas.microsoft.com/office/drawing/2014/main" id="{F578D8A1-80FF-45A1-9EC6-8EBB96520295}"/>
              </a:ext>
            </a:extLst>
          </p:cNvPr>
          <p:cNvSpPr txBox="1"/>
          <p:nvPr/>
        </p:nvSpPr>
        <p:spPr>
          <a:xfrm>
            <a:off x="323935" y="5484718"/>
            <a:ext cx="2778005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Pruebas estadísticas / diagnóstico</a:t>
            </a:r>
            <a:endParaRPr sz="1800" dirty="0"/>
          </a:p>
        </p:txBody>
      </p:sp>
      <p:sp>
        <p:nvSpPr>
          <p:cNvPr id="89" name="Where possible, use code that works when run.">
            <a:extLst>
              <a:ext uri="{FF2B5EF4-FFF2-40B4-BE49-F238E27FC236}">
                <a16:creationId xmlns:a16="http://schemas.microsoft.com/office/drawing/2014/main" id="{7E7300BD-2B7A-45EC-B2CF-460D95474B52}"/>
              </a:ext>
            </a:extLst>
          </p:cNvPr>
          <p:cNvSpPr txBox="1"/>
          <p:nvPr/>
        </p:nvSpPr>
        <p:spPr>
          <a:xfrm>
            <a:off x="339528" y="5760416"/>
            <a:ext cx="2931663" cy="1829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educ exper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modelo de los ejemplos siguientes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estat hettest </a:t>
            </a:r>
            <a: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Breusch-Pagan / Cook-Weisberg: heterocedasticidad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estat ovtest </a:t>
            </a:r>
            <a:r>
              <a:rPr lang="en-US" sz="105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RESET de Ramsey: variables omitidas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ttest wage, by(nonwhite) </a:t>
            </a:r>
            <a:r>
              <a:rPr lang="en-U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prueba t de grupos independientes: compara medias entre grupos</a:t>
            </a:r>
          </a:p>
        </p:txBody>
      </p:sp>
      <p:sp>
        <p:nvSpPr>
          <p:cNvPr id="90" name="Useful Elements">
            <a:extLst>
              <a:ext uri="{FF2B5EF4-FFF2-40B4-BE49-F238E27FC236}">
                <a16:creationId xmlns:a16="http://schemas.microsoft.com/office/drawing/2014/main" id="{A2D39793-812D-4AC8-9DBA-0A866CD5FA0A}"/>
              </a:ext>
            </a:extLst>
          </p:cNvPr>
          <p:cNvSpPr txBox="1"/>
          <p:nvPr/>
        </p:nvSpPr>
        <p:spPr>
          <a:xfrm>
            <a:off x="318429" y="7658257"/>
            <a:ext cx="4462760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1800" dirty="0"/>
              <a:t>Interacciones, variables categóricas/continuas</a:t>
            </a:r>
            <a:endParaRPr sz="18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ADDE7E38-8EBF-4AFB-9144-951B616584C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161" y="212212"/>
            <a:ext cx="3485296" cy="593566"/>
          </a:xfrm>
          <a:prstGeom prst="rect">
            <a:avLst/>
          </a:prstGeom>
        </p:spPr>
      </p:pic>
      <p:sp>
        <p:nvSpPr>
          <p:cNvPr id="69" name="Where possible, use code that works when run.">
            <a:extLst>
              <a:ext uri="{FF2B5EF4-FFF2-40B4-BE49-F238E27FC236}">
                <a16:creationId xmlns:a16="http://schemas.microsoft.com/office/drawing/2014/main" id="{9FE6B288-DE29-4851-8D3D-19A2FA0D8DDA}"/>
              </a:ext>
            </a:extLst>
          </p:cNvPr>
          <p:cNvSpPr txBox="1"/>
          <p:nvPr/>
        </p:nvSpPr>
        <p:spPr>
          <a:xfrm>
            <a:off x="10636919" y="3682524"/>
            <a:ext cx="2828724" cy="1333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modiv &lt;-AER::ivreg(lwage ~ educ | fatheduc, data = mroz)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# estima MC2E con {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hlinkClick r:id="rId11"/>
              </a:rPr>
              <a:t>AER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summary(modiv, diagnostics = TRUE)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pruebas diagnósticas de VI y variable endógena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" name="CODE">
            <a:extLst>
              <a:ext uri="{FF2B5EF4-FFF2-40B4-BE49-F238E27FC236}">
                <a16:creationId xmlns:a16="http://schemas.microsoft.com/office/drawing/2014/main" id="{977A76B4-070F-40C3-BA81-330B73EBDEFB}"/>
              </a:ext>
            </a:extLst>
          </p:cNvPr>
          <p:cNvSpPr txBox="1"/>
          <p:nvPr/>
        </p:nvSpPr>
        <p:spPr>
          <a:xfrm>
            <a:off x="9285669" y="3658254"/>
            <a:ext cx="913712" cy="133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700" i="1" dirty="0"/>
              <a:t>datos de ejemplo</a:t>
            </a:r>
            <a:r>
              <a:rPr lang="en-US" sz="700" dirty="0"/>
              <a:t>: `mroz`</a:t>
            </a:r>
            <a:endParaRPr sz="700" dirty="0"/>
          </a:p>
        </p:txBody>
      </p:sp>
      <p:sp>
        <p:nvSpPr>
          <p:cNvPr id="72" name="CODE">
            <a:extLst>
              <a:ext uri="{FF2B5EF4-FFF2-40B4-BE49-F238E27FC236}">
                <a16:creationId xmlns:a16="http://schemas.microsoft.com/office/drawing/2014/main" id="{6FDE928F-9DD1-4F62-9CAA-9AEED709F332}"/>
              </a:ext>
            </a:extLst>
          </p:cNvPr>
          <p:cNvSpPr txBox="1"/>
          <p:nvPr/>
        </p:nvSpPr>
        <p:spPr>
          <a:xfrm>
            <a:off x="9173264" y="1828606"/>
            <a:ext cx="1006686" cy="133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s-ES" sz="700" i="1" dirty="0"/>
              <a:t>datos de ejemplo</a:t>
            </a:r>
            <a:r>
              <a:rPr lang="en-US" sz="700" dirty="0"/>
              <a:t>: `murder`</a:t>
            </a:r>
            <a:endParaRPr sz="700" dirty="0"/>
          </a:p>
        </p:txBody>
      </p:sp>
      <p:sp>
        <p:nvSpPr>
          <p:cNvPr id="73" name="Where possible, use code that works when run.">
            <a:extLst>
              <a:ext uri="{FF2B5EF4-FFF2-40B4-BE49-F238E27FC236}">
                <a16:creationId xmlns:a16="http://schemas.microsoft.com/office/drawing/2014/main" id="{97D53996-D206-4346-AAEA-8A9C78FAFE60}"/>
              </a:ext>
            </a:extLst>
          </p:cNvPr>
          <p:cNvSpPr txBox="1"/>
          <p:nvPr/>
        </p:nvSpPr>
        <p:spPr>
          <a:xfrm>
            <a:off x="10636918" y="1822832"/>
            <a:ext cx="2828724" cy="1472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plm::is.pbalanced(murder$id, murder$year)</a:t>
            </a:r>
            <a:r>
              <a:rPr lang="en-US" sz="10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revisa el balance del panel con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12"/>
              </a:rPr>
              <a:t>plm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</a:t>
            </a:r>
            <a:endParaRPr lang="en-US" sz="1000" dirty="0">
              <a:solidFill>
                <a:schemeClr val="bg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modfe &lt;- plm::plm(mrdrte ~ unem, index = c("id", "year"),model = "within", data = murder)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modelo de efectos fijos (“within”)</a:t>
            </a:r>
          </a:p>
          <a:p>
            <a:pPr algn="just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summary(modfe)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muestra resultados</a:t>
            </a: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" name="Line">
            <a:extLst>
              <a:ext uri="{FF2B5EF4-FFF2-40B4-BE49-F238E27FC236}">
                <a16:creationId xmlns:a16="http://schemas.microsoft.com/office/drawing/2014/main" id="{DA100133-9EF6-4B2B-8FEE-D887ECF57428}"/>
              </a:ext>
            </a:extLst>
          </p:cNvPr>
          <p:cNvSpPr/>
          <p:nvPr/>
        </p:nvSpPr>
        <p:spPr>
          <a:xfrm>
            <a:off x="327722" y="2031528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6" name="Line">
            <a:extLst>
              <a:ext uri="{FF2B5EF4-FFF2-40B4-BE49-F238E27FC236}">
                <a16:creationId xmlns:a16="http://schemas.microsoft.com/office/drawing/2014/main" id="{013B5B83-EC41-4272-84CF-243FC6571FD2}"/>
              </a:ext>
            </a:extLst>
          </p:cNvPr>
          <p:cNvSpPr/>
          <p:nvPr/>
        </p:nvSpPr>
        <p:spPr>
          <a:xfrm>
            <a:off x="3714795" y="2031528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CF806FA9-D1E0-4519-9A30-22007C89D908}"/>
              </a:ext>
            </a:extLst>
          </p:cNvPr>
          <p:cNvSpPr/>
          <p:nvPr/>
        </p:nvSpPr>
        <p:spPr>
          <a:xfrm rot="16200000">
            <a:off x="10179761" y="2689961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311AF3A8-A2D2-4E22-9648-5A0832E3785D}"/>
              </a:ext>
            </a:extLst>
          </p:cNvPr>
          <p:cNvSpPr txBox="1"/>
          <p:nvPr/>
        </p:nvSpPr>
        <p:spPr>
          <a:xfrm>
            <a:off x="7142189" y="5623597"/>
            <a:ext cx="6230693" cy="271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r>
              <a:rPr lang="es-ES" sz="1050" b="0" i="1" dirty="0"/>
              <a:t>Nota</a:t>
            </a:r>
            <a:r>
              <a:rPr lang="es-ES" sz="1050" b="0" dirty="0"/>
              <a:t>:  Los comandos de postestimación de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 </a:t>
            </a:r>
            <a:r>
              <a:rPr lang="es-ES" sz="1050" b="0" dirty="0"/>
              <a:t>se aplican a la última estimación ejecutada. </a:t>
            </a:r>
          </a:p>
        </p:txBody>
      </p:sp>
      <p:sp>
        <p:nvSpPr>
          <p:cNvPr id="79" name="Arrow: Down 78">
            <a:extLst>
              <a:ext uri="{FF2B5EF4-FFF2-40B4-BE49-F238E27FC236}">
                <a16:creationId xmlns:a16="http://schemas.microsoft.com/office/drawing/2014/main" id="{979F35ED-0BCF-4B0D-8BA1-3FA368DFE06F}"/>
              </a:ext>
            </a:extLst>
          </p:cNvPr>
          <p:cNvSpPr/>
          <p:nvPr/>
        </p:nvSpPr>
        <p:spPr>
          <a:xfrm rot="16200000">
            <a:off x="10179762" y="4245687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0" name="Arrow: Down 79">
            <a:extLst>
              <a:ext uri="{FF2B5EF4-FFF2-40B4-BE49-F238E27FC236}">
                <a16:creationId xmlns:a16="http://schemas.microsoft.com/office/drawing/2014/main" id="{112C01D5-2AD8-4FE4-9CDB-7B2D04CBC89D}"/>
              </a:ext>
            </a:extLst>
          </p:cNvPr>
          <p:cNvSpPr/>
          <p:nvPr/>
        </p:nvSpPr>
        <p:spPr>
          <a:xfrm rot="16200000">
            <a:off x="3417782" y="3408363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CF912537-BB11-4032-AFCB-590C471104AA}"/>
              </a:ext>
            </a:extLst>
          </p:cNvPr>
          <p:cNvSpPr/>
          <p:nvPr/>
        </p:nvSpPr>
        <p:spPr>
          <a:xfrm rot="16200000">
            <a:off x="3374039" y="6455917"/>
            <a:ext cx="280247" cy="279858"/>
          </a:xfrm>
          <a:prstGeom prst="downArrow">
            <a:avLst/>
          </a:prstGeom>
          <a:gradFill flip="none" rotWithShape="1">
            <a:gsLst>
              <a:gs pos="0">
                <a:srgbClr val="2167BA">
                  <a:tint val="66000"/>
                  <a:satMod val="160000"/>
                </a:srgbClr>
              </a:gs>
              <a:gs pos="50000">
                <a:srgbClr val="2167BA">
                  <a:tint val="44500"/>
                  <a:satMod val="160000"/>
                </a:srgbClr>
              </a:gs>
              <a:gs pos="100000">
                <a:srgbClr val="2167BA">
                  <a:tint val="23500"/>
                  <a:satMod val="160000"/>
                </a:srgbClr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Where possible, use code that works when run.">
            <a:extLst>
              <a:ext uri="{FF2B5EF4-FFF2-40B4-BE49-F238E27FC236}">
                <a16:creationId xmlns:a16="http://schemas.microsoft.com/office/drawing/2014/main" id="{7877BE09-2A7E-487C-AF90-D414D8BCEDAB}"/>
              </a:ext>
            </a:extLst>
          </p:cNvPr>
          <p:cNvSpPr txBox="1"/>
          <p:nvPr/>
        </p:nvSpPr>
        <p:spPr>
          <a:xfrm>
            <a:off x="3831109" y="5758892"/>
            <a:ext cx="2847751" cy="192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mod &lt;- lm(lwage ~ educ + exper, data = wage1)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modelo de los ejemplos siguientes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lmtest::bptest(mod)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Breusch-Pagan / Cook-Weisberg: heterocedasticidad, con {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  <a:hlinkClick r:id="rId13"/>
              </a:rPr>
              <a:t>lmtest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}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lmtest::resettest(mod)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RESET de Ramsey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t.test(wage ~ nonwhite, data = wage1)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prueba t, grupos independientes</a:t>
            </a:r>
            <a:endParaRPr lang="en-US" sz="1000" b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sym typeface="Source Sans Pro Light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8" name="Layout Suggestions">
            <a:extLst>
              <a:ext uri="{FF2B5EF4-FFF2-40B4-BE49-F238E27FC236}">
                <a16:creationId xmlns:a16="http://schemas.microsoft.com/office/drawing/2014/main" id="{77ACEE5E-12C0-48D3-916D-FDA33F41FB09}"/>
              </a:ext>
            </a:extLst>
          </p:cNvPr>
          <p:cNvSpPr txBox="1"/>
          <p:nvPr/>
        </p:nvSpPr>
        <p:spPr>
          <a:xfrm>
            <a:off x="2502793" y="1377765"/>
            <a:ext cx="913712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95" name="Line">
            <a:extLst>
              <a:ext uri="{FF2B5EF4-FFF2-40B4-BE49-F238E27FC236}">
                <a16:creationId xmlns:a16="http://schemas.microsoft.com/office/drawing/2014/main" id="{D796F242-670F-4242-8217-F0588CD43E1B}"/>
              </a:ext>
            </a:extLst>
          </p:cNvPr>
          <p:cNvSpPr/>
          <p:nvPr/>
        </p:nvSpPr>
        <p:spPr>
          <a:xfrm>
            <a:off x="297201" y="5377789"/>
            <a:ext cx="6471599" cy="4163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97" name="Layout Suggestions">
            <a:extLst>
              <a:ext uri="{FF2B5EF4-FFF2-40B4-BE49-F238E27FC236}">
                <a16:creationId xmlns:a16="http://schemas.microsoft.com/office/drawing/2014/main" id="{9A013FEC-2A0D-4CA0-A79D-1614205A2829}"/>
              </a:ext>
            </a:extLst>
          </p:cNvPr>
          <p:cNvSpPr txBox="1"/>
          <p:nvPr/>
        </p:nvSpPr>
        <p:spPr>
          <a:xfrm>
            <a:off x="3831106" y="5562179"/>
            <a:ext cx="913712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99" name="CODE">
            <a:extLst>
              <a:ext uri="{FF2B5EF4-FFF2-40B4-BE49-F238E27FC236}">
                <a16:creationId xmlns:a16="http://schemas.microsoft.com/office/drawing/2014/main" id="{0D037AAE-9557-4BAF-A5BD-C81E28BAB533}"/>
              </a:ext>
            </a:extLst>
          </p:cNvPr>
          <p:cNvSpPr txBox="1"/>
          <p:nvPr/>
        </p:nvSpPr>
        <p:spPr>
          <a:xfrm>
            <a:off x="3622941" y="4664246"/>
            <a:ext cx="182764" cy="764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/>
            <a:r>
              <a:rPr lang="en-US" sz="4800" b="0" dirty="0">
                <a:solidFill>
                  <a:schemeClr val="tx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ource Sans Pro Light"/>
              </a:rPr>
              <a:t>{</a:t>
            </a:r>
            <a:endParaRPr lang="en-US" sz="4800" dirty="0">
              <a:solidFill>
                <a:schemeClr val="tx1">
                  <a:lumMod val="20000"/>
                  <a:lumOff val="8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0" name="Line">
            <a:extLst>
              <a:ext uri="{FF2B5EF4-FFF2-40B4-BE49-F238E27FC236}">
                <a16:creationId xmlns:a16="http://schemas.microsoft.com/office/drawing/2014/main" id="{89471BAC-153D-45F2-AEA7-E6F64FFD442D}"/>
              </a:ext>
            </a:extLst>
          </p:cNvPr>
          <p:cNvSpPr/>
          <p:nvPr/>
        </p:nvSpPr>
        <p:spPr>
          <a:xfrm>
            <a:off x="275722" y="7574883"/>
            <a:ext cx="6471599" cy="4163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1" name="Line">
            <a:extLst>
              <a:ext uri="{FF2B5EF4-FFF2-40B4-BE49-F238E27FC236}">
                <a16:creationId xmlns:a16="http://schemas.microsoft.com/office/drawing/2014/main" id="{EDFB498E-14BA-4A6D-B2AD-20E723EA2D63}"/>
              </a:ext>
            </a:extLst>
          </p:cNvPr>
          <p:cNvSpPr/>
          <p:nvPr/>
        </p:nvSpPr>
        <p:spPr>
          <a:xfrm>
            <a:off x="310682" y="1206951"/>
            <a:ext cx="6472096" cy="9637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2" name="Where possible, use code that works when run.">
            <a:extLst>
              <a:ext uri="{FF2B5EF4-FFF2-40B4-BE49-F238E27FC236}">
                <a16:creationId xmlns:a16="http://schemas.microsoft.com/office/drawing/2014/main" id="{2AA0FC76-F640-4C07-AAB5-A89A59144AA8}"/>
              </a:ext>
            </a:extLst>
          </p:cNvPr>
          <p:cNvSpPr txBox="1"/>
          <p:nvPr/>
        </p:nvSpPr>
        <p:spPr>
          <a:xfrm>
            <a:off x="326837" y="8563120"/>
            <a:ext cx="2931663" cy="1538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i.numdep </a:t>
            </a:r>
            <a:r>
              <a:rPr lang="es-E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`numdep` como variable de factor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c.educ#c.exper </a:t>
            </a:r>
            <a:r>
              <a:rPr lang="es-E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solo el término de interacción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c.educ##c.exper </a:t>
            </a:r>
            <a:r>
              <a:rPr lang="es-E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especificación factorial completa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s-ES" sz="105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reg lwage c.exper##i.numdep </a:t>
            </a:r>
            <a:r>
              <a:rPr lang="es-ES" sz="1050" b="0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ource Sans Pro Light"/>
              </a:rPr>
              <a:t>// completa, interacción continua × categórica</a:t>
            </a:r>
            <a:endParaRPr lang="en-US" sz="1050" b="0" dirty="0">
              <a:solidFill>
                <a:schemeClr val="bg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Source Sans Pro Light"/>
            </a:endParaRPr>
          </a:p>
        </p:txBody>
      </p:sp>
      <p:sp>
        <p:nvSpPr>
          <p:cNvPr id="103" name="Line">
            <a:extLst>
              <a:ext uri="{FF2B5EF4-FFF2-40B4-BE49-F238E27FC236}">
                <a16:creationId xmlns:a16="http://schemas.microsoft.com/office/drawing/2014/main" id="{AEECE36A-DDA8-40C7-9578-B3E9F0706C9B}"/>
              </a:ext>
            </a:extLst>
          </p:cNvPr>
          <p:cNvSpPr/>
          <p:nvPr/>
        </p:nvSpPr>
        <p:spPr>
          <a:xfrm>
            <a:off x="7124371" y="9254665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4" name="Line">
            <a:extLst>
              <a:ext uri="{FF2B5EF4-FFF2-40B4-BE49-F238E27FC236}">
                <a16:creationId xmlns:a16="http://schemas.microsoft.com/office/drawing/2014/main" id="{E5EED1EE-13EB-4203-8A11-0C1461ED423E}"/>
              </a:ext>
            </a:extLst>
          </p:cNvPr>
          <p:cNvSpPr/>
          <p:nvPr/>
        </p:nvSpPr>
        <p:spPr>
          <a:xfrm>
            <a:off x="10540889" y="9259776"/>
            <a:ext cx="3031484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6" name="Where possible, use code that works when run.">
            <a:extLst>
              <a:ext uri="{FF2B5EF4-FFF2-40B4-BE49-F238E27FC236}">
                <a16:creationId xmlns:a16="http://schemas.microsoft.com/office/drawing/2014/main" id="{0E3DC87A-E731-4553-BDB9-820111AB33AC}"/>
              </a:ext>
            </a:extLst>
          </p:cNvPr>
          <p:cNvSpPr txBox="1"/>
          <p:nvPr/>
        </p:nvSpPr>
        <p:spPr>
          <a:xfrm>
            <a:off x="3643533" y="8596303"/>
            <a:ext cx="3025489" cy="1472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t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dirty="0">
                <a:solidFill>
                  <a:srgbClr val="2066B9"/>
                </a:solidFill>
                <a:latin typeface="Lucida Console" panose="020B0609040504020204" pitchFamily="49" charset="0"/>
              </a:rPr>
              <a:t>lm(lwage ~ as.factor(numdep), data = wage1)</a:t>
            </a: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# `numdep` como factor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lm(lwage ~ educ:exper, data = wage1)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solo el término de interacción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lm(lwage ~ educ*exper, data = wage1)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especificación factorial completa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  <a:sym typeface="Source Sans Pro Light"/>
              </a:rPr>
              <a:t>lm(wage ~ exper*as.factor(numdep), data = wage1)</a:t>
            </a:r>
            <a:r>
              <a:rPr lang="en-US" sz="1000" b="0" dirty="0">
                <a:solidFill>
                  <a:srgbClr val="000000"/>
                </a:solidFill>
                <a:latin typeface="Lucida Console" panose="020B0609040504020204" pitchFamily="49" charset="0"/>
                <a:sym typeface="Source Sans Pro Light"/>
              </a:rPr>
              <a:t> </a:t>
            </a:r>
            <a:r>
              <a:rPr lang="en-US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  <a:sym typeface="Source Sans Pro Light"/>
              </a:rPr>
              <a:t># completa, interacción continua × categórica</a:t>
            </a:r>
            <a:endParaRPr sz="10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Layout Suggestions">
            <a:extLst>
              <a:ext uri="{FF2B5EF4-FFF2-40B4-BE49-F238E27FC236}">
                <a16:creationId xmlns:a16="http://schemas.microsoft.com/office/drawing/2014/main" id="{5873BE96-A1B1-43BF-857E-FD373332FB8E}"/>
              </a:ext>
            </a:extLst>
          </p:cNvPr>
          <p:cNvSpPr txBox="1"/>
          <p:nvPr/>
        </p:nvSpPr>
        <p:spPr>
          <a:xfrm>
            <a:off x="5765146" y="7735491"/>
            <a:ext cx="913712" cy="113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sz="700" i="1" dirty="0"/>
              <a:t>datos de ejemplo</a:t>
            </a:r>
            <a:r>
              <a:rPr lang="en-US" sz="700" dirty="0"/>
              <a:t>: `wage1`</a:t>
            </a:r>
            <a:endParaRPr sz="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DA926-CC6D-435B-947A-6E5D1EC0C30A}"/>
              </a:ext>
            </a:extLst>
          </p:cNvPr>
          <p:cNvSpPr/>
          <p:nvPr/>
        </p:nvSpPr>
        <p:spPr>
          <a:xfrm>
            <a:off x="264556" y="7906338"/>
            <a:ext cx="647160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050" b="0" dirty="0"/>
              <a:t>En 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Stata</a:t>
            </a:r>
            <a:r>
              <a:rPr lang="es-ES" sz="1050" b="0" dirty="0"/>
              <a:t> es común usar operadores especiales para indicar si las variables son continuas (`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c.`</a:t>
            </a:r>
            <a:r>
              <a:rPr lang="es-ES" sz="1050" b="0" dirty="0"/>
              <a:t>) o categóricas (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`i.`</a:t>
            </a:r>
            <a:r>
              <a:rPr lang="es-ES" sz="1050" b="0" dirty="0"/>
              <a:t>).  Del mismo modo, el operador `</a:t>
            </a:r>
            <a:r>
              <a:rPr lang="en-US" sz="1050" b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s-ES" sz="1050" b="0" dirty="0"/>
              <a:t>` indica distintas formas de obtener la interacción de esas variables. Aquí mostramos algunos usos comunes de estos operadores y sus equivalentes en </a:t>
            </a:r>
            <a:r>
              <a:rPr lang="en-US" sz="1050" b="0" dirty="0">
                <a:latin typeface="Lucida Console" panose="020B0609040504020204" pitchFamily="49" charset="0"/>
              </a:rPr>
              <a:t>R</a:t>
            </a:r>
            <a:r>
              <a:rPr lang="es-ES" sz="1050" b="0" dirty="0"/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21B85A-2839-D865-347E-68145A6E8FDD}"/>
              </a:ext>
            </a:extLst>
          </p:cNvPr>
          <p:cNvSpPr txBox="1"/>
          <p:nvPr/>
        </p:nvSpPr>
        <p:spPr>
          <a:xfrm>
            <a:off x="3747584" y="4793239"/>
            <a:ext cx="3275030" cy="6052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wage1$experlvl &lt;- 3</a:t>
            </a:r>
            <a:r>
              <a:rPr lang="en-GB" sz="1000" b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# </a:t>
            </a:r>
            <a:r>
              <a:rPr lang="en-GB" sz="1000" b="0" dirty="0" err="1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recodifica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 `</a:t>
            </a:r>
            <a:r>
              <a:rPr lang="en-GB" sz="1000" b="0" dirty="0" err="1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exper</a:t>
            </a:r>
            <a:r>
              <a:rPr lang="en-GB" sz="1000" b="0" dirty="0">
                <a:solidFill>
                  <a:schemeClr val="bg2">
                    <a:lumMod val="75000"/>
                  </a:schemeClr>
                </a:solidFill>
                <a:latin typeface="Lucida Console" panose="020B0609040504020204" pitchFamily="49" charset="0"/>
              </a:rPr>
              <a:t>`</a:t>
            </a:r>
          </a:p>
          <a:p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wage1$experlvl[wage1$exper &lt; 41] &lt;- 2</a:t>
            </a:r>
          </a:p>
          <a:p>
            <a:r>
              <a:rPr lang="en-GB" sz="1000" b="0" dirty="0">
                <a:solidFill>
                  <a:srgbClr val="2066B9"/>
                </a:solidFill>
                <a:latin typeface="Lucida Console" panose="020B0609040504020204" pitchFamily="49" charset="0"/>
              </a:rPr>
              <a:t>wage1$experlvl[wage1$exper &lt; 21] &lt;- 1</a:t>
            </a:r>
          </a:p>
        </p:txBody>
      </p:sp>
    </p:spTree>
    <p:extLst>
      <p:ext uri="{BB962C8B-B14F-4D97-AF65-F5344CB8AC3E}">
        <p14:creationId xmlns:p14="http://schemas.microsoft.com/office/powerpoint/2010/main" val="149911368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37336</TotalTime>
  <Words>2306</Words>
  <Application>Microsoft Office PowerPoint</Application>
  <PresentationFormat>Personalizado</PresentationFormat>
  <Paragraphs>201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Avenir Roman</vt:lpstr>
      <vt:lpstr>Calibri Light</vt:lpstr>
      <vt:lpstr>Courier New</vt:lpstr>
      <vt:lpstr>Helvetica Light</vt:lpstr>
      <vt:lpstr>Lucida Console</vt:lpstr>
      <vt:lpstr>Source Sans Pro</vt:lpstr>
      <vt:lpstr>Source Sans Pro Light</vt:lpstr>
      <vt:lpstr>Source Sans Pro Semibold</vt:lpstr>
      <vt:lpstr>White</vt:lpstr>
      <vt:lpstr>Stata a R :: CHEAT SHEET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Anthony Nguyen</dc:creator>
  <cp:lastModifiedBy>Anthony Romero</cp:lastModifiedBy>
  <cp:revision>130</cp:revision>
  <dcterms:modified xsi:type="dcterms:W3CDTF">2026-10-12T16:52:06Z</dcterms:modified>
</cp:coreProperties>
</file>