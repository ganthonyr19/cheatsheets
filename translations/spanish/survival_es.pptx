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3972032" cy="10799064"/>
  <p:notesSz cx="10799064" cy="1397203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ES" sz="4000" dirty="0">
                <a:solidFill>
                  <a:srgbClr val="0B4F6C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Análisis de supervivencia con survival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survival modela el tiempo hasta un evento (muerte, recaída, alta) cuando algunos sujetos solo se siguen una parte del tiempo.</a:t>
            </a:r>
            <a:endParaRPr lang="en-US" sz="1300" dirty="0"/>
          </a:p>
        </p:txBody>
      </p:sp>
      <p:pic>
        <p:nvPicPr>
          <p:cNvPr id="5" name="Image 0" descr="/home/claude/sheets/survival/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objeto Surv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194560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Cada sujeto aporta un </a:t>
            </a:r>
            <a:pPr indent="0" marL="0">
              <a:buNone/>
            </a:pPr>
            <a:r>
              <a:rPr lang="es-E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tiempo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un </a:t>
            </a:r>
            <a:pPr indent="0" marL="0">
              <a:buNone/>
            </a:pPr>
            <a:r>
              <a:rPr lang="es-E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indicador de evento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Si el evento no se observó, el tiempo está </a:t>
            </a:r>
            <a:pPr indent="0" marL="0">
              <a:buNone/>
            </a:pPr>
            <a:r>
              <a:rPr lang="es-ES" sz="10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censurado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(+): solo sabemos que sobrevivió al menos ese tiempo.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04088" y="3108960"/>
            <a:ext cx="755477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95557" y="30449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32461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04088" y="3337560"/>
            <a:ext cx="1123340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63420" y="32735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3474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04088" y="3566160"/>
            <a:ext cx="2493569" cy="0"/>
          </a:xfrm>
          <a:prstGeom prst="line">
            <a:avLst/>
          </a:prstGeom>
          <a:noFill/>
          <a:ln w="25400">
            <a:solidFill>
              <a:srgbClr val="8FB3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6217" y="34290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37033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04088" y="3794760"/>
            <a:ext cx="518465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58545" y="37307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1480" y="39319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04088" y="4023360"/>
            <a:ext cx="2180021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20101" y="3959352"/>
            <a:ext cx="128016" cy="12801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1480" y="4160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04088" y="4251960"/>
            <a:ext cx="2523195" cy="0"/>
          </a:xfrm>
          <a:prstGeom prst="line">
            <a:avLst/>
          </a:prstGeom>
          <a:noFill/>
          <a:ln w="25400">
            <a:solidFill>
              <a:srgbClr val="8FB3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135843" y="41148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04088" y="4462272"/>
            <a:ext cx="271576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548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09270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250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70992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232714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750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2944368" y="4480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1000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" y="4626864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días de seguimiento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2029968" y="28895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● </a:t>
            </a:r>
            <a:pPr algn="r" indent="0" marL="0">
              <a:buNone/>
            </a:pPr>
            <a:r>
              <a:rPr lang="es-E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muerte   </a:t>
            </a:r>
            <a:pPr algn="r" indent="0" marL="0">
              <a:buNone/>
            </a:pPr>
            <a:r>
              <a:rPr lang="en-U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 </a:t>
            </a:r>
            <a:pPr algn="r" indent="0" marL="0">
              <a:buNone/>
            </a:pPr>
            <a:r>
              <a:rPr lang="es-E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censurado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11480" y="4901184"/>
            <a:ext cx="3172968" cy="598932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4632" y="4965192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(survival)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(lung$time, lung$status)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#&gt; 306  455  1010+  210  883  1022+ ...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11480" y="564642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CÓMO CODIFICAR EL EVENTO (status =)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11480" y="5893308"/>
            <a:ext cx="1170432" cy="23774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11480" y="58933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673352" y="5893308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= evento (lo habitual)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6158484"/>
            <a:ext cx="1170432" cy="23774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11480" y="61584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673352" y="615848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= evento (como en lung)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11480" y="6423660"/>
            <a:ext cx="1170432" cy="23774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11480" y="64236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/ TRUE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673352" y="642366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TRUE = evento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67619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OTROS FORMATOS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411480" y="700887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Surv(start, stop, event)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proceso de conteo: datos que cambian en el tiempo, entrada tardía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11480" y="742950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Surv(time, time2, type = "interval2")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censura por intervalo (NA = extremo abierto)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11480" y="7886700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02920" y="7950708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censura debe ser </a:t>
            </a:r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informativa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si un paciente se pierde porque empeoró, todos los métodos de esta hoja fallan. Revisa por qué se pierde el seguimiento.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411480" y="86730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TIEMPO A PARTIR DE FECHAS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11480" y="8919972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84632" y="8983980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df$time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as.numeric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df$end, df$start, units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11480" y="940460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end = fecha del evento, o último contacto si está censurado.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Kaplan–Meier</a:t>
            </a:r>
            <a:endParaRPr lang="en-US" sz="2000" dirty="0"/>
          </a:p>
        </p:txBody>
      </p:sp>
      <p:sp>
        <p:nvSpPr>
          <p:cNvPr id="60" name="Shape 57"/>
          <p:cNvSpPr/>
          <p:nvPr/>
        </p:nvSpPr>
        <p:spPr>
          <a:xfrm>
            <a:off x="3767328" y="2194560"/>
            <a:ext cx="3172968" cy="900684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840480" y="2258568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lung$sex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(lung$sex, 1:2,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"Female"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data = lung)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67328" y="3186684"/>
            <a:ext cx="3172968" cy="22860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813048" y="31866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4681728" y="31866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5093208" y="31866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eventos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5623560" y="318668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mediana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6208776" y="31866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IC 95%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3813048" y="34152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4681728" y="34152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138</a:t>
            </a:r>
            <a:endParaRPr lang="en-US" sz="950" dirty="0"/>
          </a:p>
        </p:txBody>
      </p:sp>
      <p:sp>
        <p:nvSpPr>
          <p:cNvPr id="70" name="Text 67"/>
          <p:cNvSpPr txBox="1"/>
          <p:nvPr/>
        </p:nvSpPr>
        <p:spPr>
          <a:xfrm>
            <a:off x="5093208" y="34152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112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5623560" y="341528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9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270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6208776" y="34152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212–310</a:t>
            </a:r>
            <a:endParaRPr lang="en-US" sz="950" dirty="0"/>
          </a:p>
        </p:txBody>
      </p:sp>
      <p:sp>
        <p:nvSpPr>
          <p:cNvPr id="73" name="Text 70"/>
          <p:cNvSpPr txBox="1"/>
          <p:nvPr/>
        </p:nvSpPr>
        <p:spPr>
          <a:xfrm>
            <a:off x="3813048" y="364388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950" dirty="0"/>
          </a:p>
        </p:txBody>
      </p:sp>
      <p:sp>
        <p:nvSpPr>
          <p:cNvPr id="74" name="Text 71"/>
          <p:cNvSpPr txBox="1"/>
          <p:nvPr/>
        </p:nvSpPr>
        <p:spPr>
          <a:xfrm>
            <a:off x="4681728" y="3643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90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5093208" y="36438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53</a:t>
            </a:r>
            <a:endParaRPr lang="en-US" sz="950" dirty="0"/>
          </a:p>
        </p:txBody>
      </p:sp>
      <p:sp>
        <p:nvSpPr>
          <p:cNvPr id="76" name="Text 73"/>
          <p:cNvSpPr txBox="1"/>
          <p:nvPr/>
        </p:nvSpPr>
        <p:spPr>
          <a:xfrm>
            <a:off x="5623560" y="364388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426</a:t>
            </a:r>
            <a:endParaRPr lang="en-US" sz="950" dirty="0"/>
          </a:p>
        </p:txBody>
      </p:sp>
      <p:sp>
        <p:nvSpPr>
          <p:cNvPr id="77" name="Text 74"/>
          <p:cNvSpPr txBox="1"/>
          <p:nvPr/>
        </p:nvSpPr>
        <p:spPr>
          <a:xfrm>
            <a:off x="6208776" y="36438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348–550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4114800" y="652424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3749040" y="644194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4114800" y="594131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749040" y="585901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0.25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4114800" y="535838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3749040" y="527608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4114800" y="477545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3749040" y="469315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0.75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4114800" y="4192524"/>
            <a:ext cx="2715768" cy="0"/>
          </a:xfrm>
          <a:prstGeom prst="line">
            <a:avLst/>
          </a:prstGeom>
          <a:noFill/>
          <a:ln w="6350">
            <a:solidFill>
              <a:srgbClr val="E3E8EC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749040" y="41102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114800" y="4192524"/>
            <a:ext cx="2715768" cy="2331720"/>
          </a:xfrm>
          <a:custGeom>
            <a:avLst/>
            <a:gdLst/>
            <a:ahLst/>
            <a:cxnLst/>
            <a:rect l="l" t="t" r="r" b="b"/>
            <a:pathLst>
              <a:path w="2715768" h="2331720">
                <a:moveTo>
                  <a:pt x="0" y="0"/>
                </a:moveTo>
                <a:lnTo>
                  <a:pt x="28451" y="0"/>
                </a:lnTo>
                <a:lnTo>
                  <a:pt x="28451" y="50690"/>
                </a:lnTo>
                <a:lnTo>
                  <a:pt x="31037" y="50690"/>
                </a:lnTo>
                <a:lnTo>
                  <a:pt x="31037" y="67586"/>
                </a:lnTo>
                <a:lnTo>
                  <a:pt x="33624" y="67586"/>
                </a:lnTo>
                <a:lnTo>
                  <a:pt x="33624" y="101379"/>
                </a:lnTo>
                <a:lnTo>
                  <a:pt x="38797" y="101379"/>
                </a:lnTo>
                <a:lnTo>
                  <a:pt x="38797" y="118276"/>
                </a:lnTo>
                <a:lnTo>
                  <a:pt x="67248" y="118276"/>
                </a:lnTo>
                <a:lnTo>
                  <a:pt x="67248" y="135172"/>
                </a:lnTo>
                <a:lnTo>
                  <a:pt x="77593" y="135172"/>
                </a:lnTo>
                <a:lnTo>
                  <a:pt x="77593" y="152069"/>
                </a:lnTo>
                <a:lnTo>
                  <a:pt x="80180" y="152069"/>
                </a:lnTo>
                <a:lnTo>
                  <a:pt x="80180" y="168965"/>
                </a:lnTo>
                <a:lnTo>
                  <a:pt x="137082" y="168965"/>
                </a:lnTo>
                <a:lnTo>
                  <a:pt x="137082" y="202758"/>
                </a:lnTo>
                <a:lnTo>
                  <a:pt x="139668" y="202758"/>
                </a:lnTo>
                <a:lnTo>
                  <a:pt x="139668" y="219655"/>
                </a:lnTo>
                <a:lnTo>
                  <a:pt x="152600" y="219655"/>
                </a:lnTo>
                <a:lnTo>
                  <a:pt x="152600" y="236551"/>
                </a:lnTo>
                <a:lnTo>
                  <a:pt x="155187" y="236551"/>
                </a:lnTo>
                <a:lnTo>
                  <a:pt x="155187" y="253448"/>
                </a:lnTo>
                <a:lnTo>
                  <a:pt x="168119" y="253448"/>
                </a:lnTo>
                <a:lnTo>
                  <a:pt x="168119" y="287241"/>
                </a:lnTo>
                <a:lnTo>
                  <a:pt x="183638" y="287241"/>
                </a:lnTo>
                <a:lnTo>
                  <a:pt x="183638" y="304137"/>
                </a:lnTo>
                <a:lnTo>
                  <a:pt x="209502" y="304137"/>
                </a:lnTo>
                <a:lnTo>
                  <a:pt x="209502" y="321034"/>
                </a:lnTo>
                <a:lnTo>
                  <a:pt x="227607" y="321034"/>
                </a:lnTo>
                <a:lnTo>
                  <a:pt x="227607" y="354827"/>
                </a:lnTo>
                <a:lnTo>
                  <a:pt x="237953" y="354827"/>
                </a:lnTo>
                <a:lnTo>
                  <a:pt x="237953" y="371723"/>
                </a:lnTo>
                <a:lnTo>
                  <a:pt x="240539" y="371723"/>
                </a:lnTo>
                <a:lnTo>
                  <a:pt x="240539" y="388620"/>
                </a:lnTo>
                <a:lnTo>
                  <a:pt x="245712" y="388620"/>
                </a:lnTo>
                <a:lnTo>
                  <a:pt x="245712" y="405517"/>
                </a:lnTo>
                <a:lnTo>
                  <a:pt x="271577" y="405517"/>
                </a:lnTo>
                <a:lnTo>
                  <a:pt x="271577" y="422413"/>
                </a:lnTo>
                <a:lnTo>
                  <a:pt x="276750" y="422413"/>
                </a:lnTo>
                <a:lnTo>
                  <a:pt x="276750" y="439310"/>
                </a:lnTo>
                <a:lnTo>
                  <a:pt x="284509" y="439310"/>
                </a:lnTo>
                <a:lnTo>
                  <a:pt x="284509" y="456206"/>
                </a:lnTo>
                <a:lnTo>
                  <a:pt x="300028" y="456206"/>
                </a:lnTo>
                <a:lnTo>
                  <a:pt x="300028" y="473103"/>
                </a:lnTo>
                <a:lnTo>
                  <a:pt x="305201" y="473103"/>
                </a:lnTo>
                <a:lnTo>
                  <a:pt x="305201" y="489999"/>
                </a:lnTo>
                <a:lnTo>
                  <a:pt x="338824" y="489999"/>
                </a:lnTo>
                <a:lnTo>
                  <a:pt x="338824" y="506896"/>
                </a:lnTo>
                <a:lnTo>
                  <a:pt x="341411" y="506896"/>
                </a:lnTo>
                <a:lnTo>
                  <a:pt x="341411" y="540689"/>
                </a:lnTo>
                <a:lnTo>
                  <a:pt x="349170" y="540689"/>
                </a:lnTo>
                <a:lnTo>
                  <a:pt x="349170" y="557585"/>
                </a:lnTo>
                <a:lnTo>
                  <a:pt x="367275" y="557585"/>
                </a:lnTo>
                <a:lnTo>
                  <a:pt x="367275" y="574482"/>
                </a:lnTo>
                <a:lnTo>
                  <a:pt x="372448" y="574482"/>
                </a:lnTo>
                <a:lnTo>
                  <a:pt x="372448" y="591378"/>
                </a:lnTo>
                <a:lnTo>
                  <a:pt x="380208" y="591378"/>
                </a:lnTo>
                <a:lnTo>
                  <a:pt x="380208" y="608275"/>
                </a:lnTo>
                <a:lnTo>
                  <a:pt x="403486" y="608275"/>
                </a:lnTo>
                <a:lnTo>
                  <a:pt x="403486" y="642068"/>
                </a:lnTo>
                <a:lnTo>
                  <a:pt x="421591" y="642068"/>
                </a:lnTo>
                <a:lnTo>
                  <a:pt x="421591" y="692757"/>
                </a:lnTo>
                <a:lnTo>
                  <a:pt x="429350" y="692757"/>
                </a:lnTo>
                <a:lnTo>
                  <a:pt x="429350" y="709654"/>
                </a:lnTo>
                <a:lnTo>
                  <a:pt x="439696" y="709654"/>
                </a:lnTo>
                <a:lnTo>
                  <a:pt x="439696" y="726550"/>
                </a:lnTo>
                <a:lnTo>
                  <a:pt x="452628" y="726550"/>
                </a:lnTo>
                <a:lnTo>
                  <a:pt x="452628" y="743627"/>
                </a:lnTo>
                <a:lnTo>
                  <a:pt x="455214" y="743627"/>
                </a:lnTo>
                <a:lnTo>
                  <a:pt x="455214" y="760703"/>
                </a:lnTo>
                <a:lnTo>
                  <a:pt x="457801" y="760703"/>
                </a:lnTo>
                <a:lnTo>
                  <a:pt x="457801" y="777779"/>
                </a:lnTo>
                <a:lnTo>
                  <a:pt x="462974" y="777779"/>
                </a:lnTo>
                <a:lnTo>
                  <a:pt x="462974" y="811932"/>
                </a:lnTo>
                <a:lnTo>
                  <a:pt x="465560" y="811932"/>
                </a:lnTo>
                <a:lnTo>
                  <a:pt x="465560" y="829008"/>
                </a:lnTo>
                <a:lnTo>
                  <a:pt x="468147" y="829008"/>
                </a:lnTo>
                <a:lnTo>
                  <a:pt x="468147" y="863161"/>
                </a:lnTo>
                <a:lnTo>
                  <a:pt x="473320" y="863161"/>
                </a:lnTo>
                <a:lnTo>
                  <a:pt x="473320" y="880237"/>
                </a:lnTo>
                <a:lnTo>
                  <a:pt x="488838" y="880237"/>
                </a:lnTo>
                <a:lnTo>
                  <a:pt x="488838" y="897725"/>
                </a:lnTo>
                <a:lnTo>
                  <a:pt x="509530" y="897725"/>
                </a:lnTo>
                <a:lnTo>
                  <a:pt x="509530" y="915650"/>
                </a:lnTo>
                <a:lnTo>
                  <a:pt x="522462" y="915650"/>
                </a:lnTo>
                <a:lnTo>
                  <a:pt x="522462" y="933804"/>
                </a:lnTo>
                <a:lnTo>
                  <a:pt x="535394" y="933804"/>
                </a:lnTo>
                <a:lnTo>
                  <a:pt x="535394" y="951959"/>
                </a:lnTo>
                <a:lnTo>
                  <a:pt x="543154" y="951959"/>
                </a:lnTo>
                <a:lnTo>
                  <a:pt x="543154" y="970114"/>
                </a:lnTo>
                <a:lnTo>
                  <a:pt x="548326" y="970114"/>
                </a:lnTo>
                <a:lnTo>
                  <a:pt x="548326" y="988269"/>
                </a:lnTo>
                <a:lnTo>
                  <a:pt x="563845" y="988269"/>
                </a:lnTo>
                <a:lnTo>
                  <a:pt x="563845" y="1006423"/>
                </a:lnTo>
                <a:lnTo>
                  <a:pt x="574191" y="1006423"/>
                </a:lnTo>
                <a:lnTo>
                  <a:pt x="574191" y="1024830"/>
                </a:lnTo>
                <a:lnTo>
                  <a:pt x="576777" y="1024830"/>
                </a:lnTo>
                <a:lnTo>
                  <a:pt x="576777" y="1043500"/>
                </a:lnTo>
                <a:lnTo>
                  <a:pt x="592296" y="1043500"/>
                </a:lnTo>
                <a:lnTo>
                  <a:pt x="592296" y="1062727"/>
                </a:lnTo>
                <a:lnTo>
                  <a:pt x="594883" y="1062727"/>
                </a:lnTo>
                <a:lnTo>
                  <a:pt x="594883" y="1081954"/>
                </a:lnTo>
                <a:lnTo>
                  <a:pt x="618161" y="1081954"/>
                </a:lnTo>
                <a:lnTo>
                  <a:pt x="618161" y="1101482"/>
                </a:lnTo>
                <a:lnTo>
                  <a:pt x="636266" y="1101482"/>
                </a:lnTo>
                <a:lnTo>
                  <a:pt x="636266" y="1121010"/>
                </a:lnTo>
                <a:lnTo>
                  <a:pt x="690581" y="1121010"/>
                </a:lnTo>
                <a:lnTo>
                  <a:pt x="690581" y="1140857"/>
                </a:lnTo>
                <a:lnTo>
                  <a:pt x="695754" y="1140857"/>
                </a:lnTo>
                <a:lnTo>
                  <a:pt x="695754" y="1160705"/>
                </a:lnTo>
                <a:lnTo>
                  <a:pt x="698340" y="1160705"/>
                </a:lnTo>
                <a:lnTo>
                  <a:pt x="698340" y="1180553"/>
                </a:lnTo>
                <a:lnTo>
                  <a:pt x="731964" y="1180553"/>
                </a:lnTo>
                <a:lnTo>
                  <a:pt x="731964" y="1200749"/>
                </a:lnTo>
                <a:lnTo>
                  <a:pt x="734551" y="1200749"/>
                </a:lnTo>
                <a:lnTo>
                  <a:pt x="734551" y="1220945"/>
                </a:lnTo>
                <a:lnTo>
                  <a:pt x="737137" y="1220945"/>
                </a:lnTo>
                <a:lnTo>
                  <a:pt x="737137" y="1241514"/>
                </a:lnTo>
                <a:lnTo>
                  <a:pt x="739723" y="1241514"/>
                </a:lnTo>
                <a:lnTo>
                  <a:pt x="739723" y="1262084"/>
                </a:lnTo>
                <a:lnTo>
                  <a:pt x="744896" y="1262084"/>
                </a:lnTo>
                <a:lnTo>
                  <a:pt x="744896" y="1282654"/>
                </a:lnTo>
                <a:lnTo>
                  <a:pt x="752656" y="1282654"/>
                </a:lnTo>
                <a:lnTo>
                  <a:pt x="752656" y="1303224"/>
                </a:lnTo>
                <a:lnTo>
                  <a:pt x="778520" y="1303224"/>
                </a:lnTo>
                <a:lnTo>
                  <a:pt x="778520" y="1324651"/>
                </a:lnTo>
                <a:lnTo>
                  <a:pt x="783693" y="1324651"/>
                </a:lnTo>
                <a:lnTo>
                  <a:pt x="783693" y="1346544"/>
                </a:lnTo>
                <a:lnTo>
                  <a:pt x="791452" y="1346544"/>
                </a:lnTo>
                <a:lnTo>
                  <a:pt x="791452" y="1368934"/>
                </a:lnTo>
                <a:lnTo>
                  <a:pt x="801798" y="1368934"/>
                </a:lnTo>
                <a:lnTo>
                  <a:pt x="801798" y="1391325"/>
                </a:lnTo>
                <a:lnTo>
                  <a:pt x="827663" y="1391325"/>
                </a:lnTo>
                <a:lnTo>
                  <a:pt x="827663" y="1413715"/>
                </a:lnTo>
                <a:lnTo>
                  <a:pt x="850941" y="1413715"/>
                </a:lnTo>
                <a:lnTo>
                  <a:pt x="850941" y="1436105"/>
                </a:lnTo>
                <a:lnTo>
                  <a:pt x="871632" y="1436105"/>
                </a:lnTo>
                <a:lnTo>
                  <a:pt x="871632" y="1458496"/>
                </a:lnTo>
                <a:lnTo>
                  <a:pt x="913015" y="1458496"/>
                </a:lnTo>
                <a:lnTo>
                  <a:pt x="913015" y="1503277"/>
                </a:lnTo>
                <a:lnTo>
                  <a:pt x="938880" y="1503277"/>
                </a:lnTo>
                <a:lnTo>
                  <a:pt x="938880" y="1525667"/>
                </a:lnTo>
                <a:lnTo>
                  <a:pt x="941466" y="1525667"/>
                </a:lnTo>
                <a:lnTo>
                  <a:pt x="941466" y="1548057"/>
                </a:lnTo>
                <a:lnTo>
                  <a:pt x="959571" y="1548057"/>
                </a:lnTo>
                <a:lnTo>
                  <a:pt x="959571" y="1570448"/>
                </a:lnTo>
                <a:lnTo>
                  <a:pt x="1000954" y="1570448"/>
                </a:lnTo>
                <a:lnTo>
                  <a:pt x="1000954" y="1592838"/>
                </a:lnTo>
                <a:lnTo>
                  <a:pt x="1008714" y="1592838"/>
                </a:lnTo>
                <a:lnTo>
                  <a:pt x="1008714" y="1615228"/>
                </a:lnTo>
                <a:lnTo>
                  <a:pt x="1019060" y="1615228"/>
                </a:lnTo>
                <a:lnTo>
                  <a:pt x="1019060" y="1637619"/>
                </a:lnTo>
                <a:lnTo>
                  <a:pt x="1106999" y="1637619"/>
                </a:lnTo>
                <a:lnTo>
                  <a:pt x="1106999" y="1661553"/>
                </a:lnTo>
                <a:lnTo>
                  <a:pt x="1109585" y="1661553"/>
                </a:lnTo>
                <a:lnTo>
                  <a:pt x="1109585" y="1685488"/>
                </a:lnTo>
                <a:lnTo>
                  <a:pt x="1143209" y="1685488"/>
                </a:lnTo>
                <a:lnTo>
                  <a:pt x="1143209" y="1709422"/>
                </a:lnTo>
                <a:lnTo>
                  <a:pt x="1176833" y="1709422"/>
                </a:lnTo>
                <a:lnTo>
                  <a:pt x="1176833" y="1734314"/>
                </a:lnTo>
                <a:lnTo>
                  <a:pt x="1182006" y="1734314"/>
                </a:lnTo>
                <a:lnTo>
                  <a:pt x="1182006" y="1759206"/>
                </a:lnTo>
                <a:lnTo>
                  <a:pt x="1189765" y="1759206"/>
                </a:lnTo>
                <a:lnTo>
                  <a:pt x="1189765" y="1785229"/>
                </a:lnTo>
                <a:lnTo>
                  <a:pt x="1233735" y="1785229"/>
                </a:lnTo>
                <a:lnTo>
                  <a:pt x="1233735" y="1811253"/>
                </a:lnTo>
                <a:lnTo>
                  <a:pt x="1342365" y="1811253"/>
                </a:lnTo>
                <a:lnTo>
                  <a:pt x="1342365" y="1837276"/>
                </a:lnTo>
                <a:lnTo>
                  <a:pt x="1355298" y="1837276"/>
                </a:lnTo>
                <a:lnTo>
                  <a:pt x="1355298" y="1863300"/>
                </a:lnTo>
                <a:lnTo>
                  <a:pt x="1378576" y="1863300"/>
                </a:lnTo>
                <a:lnTo>
                  <a:pt x="1378576" y="1889323"/>
                </a:lnTo>
                <a:lnTo>
                  <a:pt x="1443237" y="1889323"/>
                </a:lnTo>
                <a:lnTo>
                  <a:pt x="1443237" y="1915346"/>
                </a:lnTo>
                <a:lnTo>
                  <a:pt x="1466515" y="1915346"/>
                </a:lnTo>
                <a:lnTo>
                  <a:pt x="1466515" y="1941370"/>
                </a:lnTo>
                <a:lnTo>
                  <a:pt x="1484620" y="1941370"/>
                </a:lnTo>
                <a:lnTo>
                  <a:pt x="1484620" y="1967393"/>
                </a:lnTo>
                <a:lnTo>
                  <a:pt x="1507898" y="1967393"/>
                </a:lnTo>
                <a:lnTo>
                  <a:pt x="1507898" y="1993416"/>
                </a:lnTo>
                <a:lnTo>
                  <a:pt x="1585491" y="1993416"/>
                </a:lnTo>
                <a:lnTo>
                  <a:pt x="1585491" y="2019440"/>
                </a:lnTo>
                <a:lnTo>
                  <a:pt x="1613942" y="2019440"/>
                </a:lnTo>
                <a:lnTo>
                  <a:pt x="1613942" y="2045463"/>
                </a:lnTo>
                <a:lnTo>
                  <a:pt x="1663085" y="2045463"/>
                </a:lnTo>
                <a:lnTo>
                  <a:pt x="1663085" y="2071486"/>
                </a:lnTo>
                <a:lnTo>
                  <a:pt x="1694122" y="2071486"/>
                </a:lnTo>
                <a:lnTo>
                  <a:pt x="1694122" y="2097510"/>
                </a:lnTo>
                <a:lnTo>
                  <a:pt x="1782061" y="2097510"/>
                </a:lnTo>
                <a:lnTo>
                  <a:pt x="1782061" y="2123533"/>
                </a:lnTo>
                <a:lnTo>
                  <a:pt x="1828617" y="2123533"/>
                </a:lnTo>
                <a:lnTo>
                  <a:pt x="1828617" y="2149556"/>
                </a:lnTo>
                <a:lnTo>
                  <a:pt x="2045879" y="2149556"/>
                </a:lnTo>
                <a:lnTo>
                  <a:pt x="2045879" y="2175580"/>
                </a:lnTo>
                <a:lnTo>
                  <a:pt x="2105367" y="2175580"/>
                </a:lnTo>
                <a:lnTo>
                  <a:pt x="2105367" y="2206808"/>
                </a:lnTo>
                <a:lnTo>
                  <a:pt x="2283832" y="2206808"/>
                </a:lnTo>
                <a:lnTo>
                  <a:pt x="2283832" y="2248445"/>
                </a:lnTo>
                <a:lnTo>
                  <a:pt x="2643348" y="2248445"/>
                </a:lnTo>
              </a:path>
            </a:pathLst>
          </a:custGeom>
          <a:ln w="25400">
            <a:solidFill>
              <a:srgbClr val="8FB3C6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564842" y="487335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593292" y="5027041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601052" y="5027041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608811" y="504452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621743" y="504452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624330" y="506245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686405" y="5153227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688991" y="517163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696750" y="519030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727788" y="522875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784689" y="526781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836418" y="5327357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849351" y="536774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4870042" y="545002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890734" y="545002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893320" y="5471455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98493" y="5493348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5159724" y="5784423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5183002" y="5784423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5263182" y="5856226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299392" y="5906010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199475" y="6322384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6287414" y="6353612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6727110" y="639524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6758148" y="6395249"/>
            <a:ext cx="0" cy="91440"/>
          </a:xfrm>
          <a:prstGeom prst="line">
            <a:avLst/>
          </a:prstGeom>
          <a:noFill/>
          <a:ln w="12700">
            <a:solidFill>
              <a:srgbClr val="8FB3C6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114800" y="4192524"/>
            <a:ext cx="2715768" cy="2331720"/>
          </a:xfrm>
          <a:custGeom>
            <a:avLst/>
            <a:gdLst/>
            <a:ahLst/>
            <a:cxnLst/>
            <a:rect l="l" t="t" r="r" b="b"/>
            <a:pathLst>
              <a:path w="2715768" h="2331720">
                <a:moveTo>
                  <a:pt x="0" y="0"/>
                </a:moveTo>
                <a:lnTo>
                  <a:pt x="12932" y="0"/>
                </a:lnTo>
                <a:lnTo>
                  <a:pt x="12932" y="25908"/>
                </a:lnTo>
                <a:lnTo>
                  <a:pt x="155187" y="25908"/>
                </a:lnTo>
                <a:lnTo>
                  <a:pt x="155187" y="51816"/>
                </a:lnTo>
                <a:lnTo>
                  <a:pt x="157773" y="51816"/>
                </a:lnTo>
                <a:lnTo>
                  <a:pt x="157773" y="77724"/>
                </a:lnTo>
                <a:lnTo>
                  <a:pt x="160360" y="77724"/>
                </a:lnTo>
                <a:lnTo>
                  <a:pt x="160360" y="103632"/>
                </a:lnTo>
                <a:lnTo>
                  <a:pt x="204329" y="103632"/>
                </a:lnTo>
                <a:lnTo>
                  <a:pt x="204329" y="129540"/>
                </a:lnTo>
                <a:lnTo>
                  <a:pt x="209502" y="129540"/>
                </a:lnTo>
                <a:lnTo>
                  <a:pt x="209502" y="155448"/>
                </a:lnTo>
                <a:lnTo>
                  <a:pt x="245712" y="155448"/>
                </a:lnTo>
                <a:lnTo>
                  <a:pt x="245712" y="181668"/>
                </a:lnTo>
                <a:lnTo>
                  <a:pt x="276750" y="181668"/>
                </a:lnTo>
                <a:lnTo>
                  <a:pt x="276750" y="208212"/>
                </a:lnTo>
                <a:lnTo>
                  <a:pt x="315546" y="208212"/>
                </a:lnTo>
                <a:lnTo>
                  <a:pt x="315546" y="234756"/>
                </a:lnTo>
                <a:lnTo>
                  <a:pt x="375035" y="234756"/>
                </a:lnTo>
                <a:lnTo>
                  <a:pt x="375035" y="287844"/>
                </a:lnTo>
                <a:lnTo>
                  <a:pt x="395726" y="287844"/>
                </a:lnTo>
                <a:lnTo>
                  <a:pt x="395726" y="314387"/>
                </a:lnTo>
                <a:lnTo>
                  <a:pt x="429350" y="314387"/>
                </a:lnTo>
                <a:lnTo>
                  <a:pt x="429350" y="340931"/>
                </a:lnTo>
                <a:lnTo>
                  <a:pt x="431936" y="340931"/>
                </a:lnTo>
                <a:lnTo>
                  <a:pt x="431936" y="367475"/>
                </a:lnTo>
                <a:lnTo>
                  <a:pt x="470733" y="367475"/>
                </a:lnTo>
                <a:lnTo>
                  <a:pt x="470733" y="395141"/>
                </a:lnTo>
                <a:lnTo>
                  <a:pt x="481079" y="395141"/>
                </a:lnTo>
                <a:lnTo>
                  <a:pt x="481079" y="422806"/>
                </a:lnTo>
                <a:lnTo>
                  <a:pt x="501770" y="422806"/>
                </a:lnTo>
                <a:lnTo>
                  <a:pt x="501770" y="450878"/>
                </a:lnTo>
                <a:lnTo>
                  <a:pt x="514703" y="450878"/>
                </a:lnTo>
                <a:lnTo>
                  <a:pt x="514703" y="478950"/>
                </a:lnTo>
                <a:lnTo>
                  <a:pt x="519876" y="478950"/>
                </a:lnTo>
                <a:lnTo>
                  <a:pt x="519876" y="535095"/>
                </a:lnTo>
                <a:lnTo>
                  <a:pt x="537981" y="535095"/>
                </a:lnTo>
                <a:lnTo>
                  <a:pt x="537981" y="564073"/>
                </a:lnTo>
                <a:lnTo>
                  <a:pt x="584537" y="564073"/>
                </a:lnTo>
                <a:lnTo>
                  <a:pt x="584537" y="594033"/>
                </a:lnTo>
                <a:lnTo>
                  <a:pt x="618161" y="594033"/>
                </a:lnTo>
                <a:lnTo>
                  <a:pt x="618161" y="624519"/>
                </a:lnTo>
                <a:lnTo>
                  <a:pt x="633679" y="624519"/>
                </a:lnTo>
                <a:lnTo>
                  <a:pt x="633679" y="656134"/>
                </a:lnTo>
                <a:lnTo>
                  <a:pt x="693167" y="656134"/>
                </a:lnTo>
                <a:lnTo>
                  <a:pt x="693167" y="688988"/>
                </a:lnTo>
                <a:lnTo>
                  <a:pt x="737137" y="688988"/>
                </a:lnTo>
                <a:lnTo>
                  <a:pt x="737137" y="723940"/>
                </a:lnTo>
                <a:lnTo>
                  <a:pt x="757829" y="723940"/>
                </a:lnTo>
                <a:lnTo>
                  <a:pt x="757829" y="759668"/>
                </a:lnTo>
                <a:lnTo>
                  <a:pt x="788866" y="759668"/>
                </a:lnTo>
                <a:lnTo>
                  <a:pt x="788866" y="796228"/>
                </a:lnTo>
                <a:lnTo>
                  <a:pt x="801798" y="796228"/>
                </a:lnTo>
                <a:lnTo>
                  <a:pt x="801798" y="832787"/>
                </a:lnTo>
                <a:lnTo>
                  <a:pt x="879392" y="832787"/>
                </a:lnTo>
                <a:lnTo>
                  <a:pt x="879392" y="871221"/>
                </a:lnTo>
                <a:lnTo>
                  <a:pt x="892324" y="871221"/>
                </a:lnTo>
                <a:lnTo>
                  <a:pt x="892324" y="909655"/>
                </a:lnTo>
                <a:lnTo>
                  <a:pt x="900083" y="909655"/>
                </a:lnTo>
                <a:lnTo>
                  <a:pt x="900083" y="948090"/>
                </a:lnTo>
                <a:lnTo>
                  <a:pt x="905256" y="948090"/>
                </a:lnTo>
                <a:lnTo>
                  <a:pt x="905256" y="986524"/>
                </a:lnTo>
                <a:lnTo>
                  <a:pt x="907842" y="986524"/>
                </a:lnTo>
                <a:lnTo>
                  <a:pt x="907842" y="1024958"/>
                </a:lnTo>
                <a:lnTo>
                  <a:pt x="933707" y="1024958"/>
                </a:lnTo>
                <a:lnTo>
                  <a:pt x="933707" y="1064557"/>
                </a:lnTo>
                <a:lnTo>
                  <a:pt x="938880" y="1064557"/>
                </a:lnTo>
                <a:lnTo>
                  <a:pt x="938880" y="1104156"/>
                </a:lnTo>
                <a:lnTo>
                  <a:pt x="959571" y="1104156"/>
                </a:lnTo>
                <a:lnTo>
                  <a:pt x="959571" y="1145074"/>
                </a:lnTo>
                <a:lnTo>
                  <a:pt x="1101826" y="1145074"/>
                </a:lnTo>
                <a:lnTo>
                  <a:pt x="1101826" y="1190715"/>
                </a:lnTo>
                <a:lnTo>
                  <a:pt x="1119931" y="1190715"/>
                </a:lnTo>
                <a:lnTo>
                  <a:pt x="1119931" y="1236355"/>
                </a:lnTo>
                <a:lnTo>
                  <a:pt x="1148382" y="1236355"/>
                </a:lnTo>
                <a:lnTo>
                  <a:pt x="1148382" y="1281995"/>
                </a:lnTo>
                <a:lnTo>
                  <a:pt x="1163901" y="1281995"/>
                </a:lnTo>
                <a:lnTo>
                  <a:pt x="1163901" y="1327635"/>
                </a:lnTo>
                <a:lnTo>
                  <a:pt x="1223389" y="1327635"/>
                </a:lnTo>
                <a:lnTo>
                  <a:pt x="1223389" y="1373276"/>
                </a:lnTo>
                <a:lnTo>
                  <a:pt x="1344952" y="1373276"/>
                </a:lnTo>
                <a:lnTo>
                  <a:pt x="1344952" y="1423720"/>
                </a:lnTo>
                <a:lnTo>
                  <a:pt x="1355298" y="1423720"/>
                </a:lnTo>
                <a:lnTo>
                  <a:pt x="1355298" y="1474164"/>
                </a:lnTo>
                <a:lnTo>
                  <a:pt x="1422545" y="1474164"/>
                </a:lnTo>
                <a:lnTo>
                  <a:pt x="1422545" y="1531335"/>
                </a:lnTo>
                <a:lnTo>
                  <a:pt x="1657912" y="1531335"/>
                </a:lnTo>
                <a:lnTo>
                  <a:pt x="1657912" y="1604097"/>
                </a:lnTo>
                <a:lnTo>
                  <a:pt x="1691535" y="1604097"/>
                </a:lnTo>
                <a:lnTo>
                  <a:pt x="1691535" y="1676859"/>
                </a:lnTo>
                <a:lnTo>
                  <a:pt x="1776888" y="1676859"/>
                </a:lnTo>
                <a:lnTo>
                  <a:pt x="1776888" y="1749622"/>
                </a:lnTo>
                <a:lnTo>
                  <a:pt x="1823444" y="1749622"/>
                </a:lnTo>
                <a:lnTo>
                  <a:pt x="1823444" y="1822384"/>
                </a:lnTo>
                <a:lnTo>
                  <a:pt x="1882932" y="1822384"/>
                </a:lnTo>
                <a:lnTo>
                  <a:pt x="1882932" y="1895146"/>
                </a:lnTo>
                <a:lnTo>
                  <a:pt x="1890692" y="1895146"/>
                </a:lnTo>
                <a:lnTo>
                  <a:pt x="1890692" y="1967909"/>
                </a:lnTo>
                <a:lnTo>
                  <a:pt x="1901038" y="1967909"/>
                </a:lnTo>
                <a:lnTo>
                  <a:pt x="1901038" y="2040671"/>
                </a:lnTo>
                <a:lnTo>
                  <a:pt x="1978631" y="2040671"/>
                </a:lnTo>
                <a:lnTo>
                  <a:pt x="1978631" y="2137687"/>
                </a:lnTo>
                <a:lnTo>
                  <a:pt x="2495920" y="2137687"/>
                </a:lnTo>
              </a:path>
            </a:pathLst>
          </a:custGeom>
          <a:ln w="25400">
            <a:solidFill>
              <a:srgbClr val="0B4F6C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352753" y="430225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386377" y="432847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562255" y="451427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67428" y="451427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572601" y="451427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611398" y="4569610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637262" y="468189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639848" y="468189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660540" y="4710877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694164" y="4710877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722615" y="4740837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735547" y="4771323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743306" y="4771323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766584" y="480293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802795" y="480293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810554" y="483579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818313" y="483579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828659" y="483579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870042" y="4870744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880388" y="490647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929530" y="49795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973500" y="49795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035575" y="5171762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056266" y="5250960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087304" y="529187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102822" y="529187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107995" y="529187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436474" y="5520080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483030" y="562096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519240" y="5620968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539932" y="567813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560623" y="567813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635630" y="5678139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6028770" y="6187475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6238272" y="62844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610720" y="6284491"/>
            <a:ext cx="0" cy="91440"/>
          </a:xfrm>
          <a:prstGeom prst="line">
            <a:avLst/>
          </a:prstGeom>
          <a:noFill/>
          <a:ln w="12700">
            <a:solidFill>
              <a:srgbClr val="0B4F6C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114800" y="5358384"/>
            <a:ext cx="1101826" cy="0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</p:sp>
      <p:sp>
        <p:nvSpPr>
          <p:cNvPr id="152" name="Shape 149"/>
          <p:cNvSpPr/>
          <p:nvPr/>
        </p:nvSpPr>
        <p:spPr>
          <a:xfrm>
            <a:off x="4813140" y="5358384"/>
            <a:ext cx="0" cy="1165860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</p:sp>
      <p:sp>
        <p:nvSpPr>
          <p:cNvPr id="153" name="Text 150"/>
          <p:cNvSpPr txBox="1"/>
          <p:nvPr/>
        </p:nvSpPr>
        <p:spPr>
          <a:xfrm>
            <a:off x="4584540" y="65425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270</a:t>
            </a:r>
            <a:endParaRPr lang="en-US" sz="850" dirty="0"/>
          </a:p>
        </p:txBody>
      </p:sp>
      <p:sp>
        <p:nvSpPr>
          <p:cNvPr id="154" name="Shape 151"/>
          <p:cNvSpPr/>
          <p:nvPr/>
        </p:nvSpPr>
        <p:spPr>
          <a:xfrm>
            <a:off x="5216626" y="5358384"/>
            <a:ext cx="0" cy="1165860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</p:sp>
      <p:sp>
        <p:nvSpPr>
          <p:cNvPr id="155" name="Text 152"/>
          <p:cNvSpPr txBox="1"/>
          <p:nvPr/>
        </p:nvSpPr>
        <p:spPr>
          <a:xfrm>
            <a:off x="4988026" y="65425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426</a:t>
            </a:r>
            <a:endParaRPr lang="en-US" sz="850" dirty="0"/>
          </a:p>
        </p:txBody>
      </p:sp>
      <p:sp>
        <p:nvSpPr>
          <p:cNvPr id="156" name="Shape 153"/>
          <p:cNvSpPr/>
          <p:nvPr/>
        </p:nvSpPr>
        <p:spPr>
          <a:xfrm>
            <a:off x="4114800" y="6524244"/>
            <a:ext cx="271576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4114800" y="4192524"/>
            <a:ext cx="0" cy="2331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58" name="Text 155"/>
          <p:cNvSpPr txBox="1"/>
          <p:nvPr/>
        </p:nvSpPr>
        <p:spPr>
          <a:xfrm>
            <a:off x="3886200" y="66888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159" name="Text 156"/>
          <p:cNvSpPr txBox="1"/>
          <p:nvPr/>
        </p:nvSpPr>
        <p:spPr>
          <a:xfrm>
            <a:off x="5179423" y="66888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800" dirty="0"/>
          </a:p>
        </p:txBody>
      </p:sp>
      <p:sp>
        <p:nvSpPr>
          <p:cNvPr id="160" name="Text 157"/>
          <p:cNvSpPr txBox="1"/>
          <p:nvPr/>
        </p:nvSpPr>
        <p:spPr>
          <a:xfrm>
            <a:off x="6472646" y="66888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1000</a:t>
            </a:r>
            <a:endParaRPr lang="en-US" sz="800" dirty="0"/>
          </a:p>
        </p:txBody>
      </p:sp>
      <p:sp>
        <p:nvSpPr>
          <p:cNvPr id="161" name="Text 158"/>
          <p:cNvSpPr txBox="1"/>
          <p:nvPr/>
        </p:nvSpPr>
        <p:spPr>
          <a:xfrm>
            <a:off x="5925312" y="66888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días</a:t>
            </a:r>
            <a:endParaRPr lang="en-US" sz="800" dirty="0"/>
          </a:p>
        </p:txBody>
      </p:sp>
      <p:sp>
        <p:nvSpPr>
          <p:cNvPr id="162" name="Text 159"/>
          <p:cNvSpPr txBox="1"/>
          <p:nvPr/>
        </p:nvSpPr>
        <p:spPr>
          <a:xfrm>
            <a:off x="6144768" y="42656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8FB3C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950" dirty="0"/>
          </a:p>
        </p:txBody>
      </p:sp>
      <p:sp>
        <p:nvSpPr>
          <p:cNvPr id="163" name="Text 160"/>
          <p:cNvSpPr txBox="1"/>
          <p:nvPr/>
        </p:nvSpPr>
        <p:spPr>
          <a:xfrm>
            <a:off x="5272692" y="51572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i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mediana: S(t) = 0.5</a:t>
            </a:r>
            <a:endParaRPr lang="en-US" sz="850" dirty="0"/>
          </a:p>
        </p:txBody>
      </p:sp>
      <p:sp>
        <p:nvSpPr>
          <p:cNvPr id="164" name="Text 161"/>
          <p:cNvSpPr txBox="1"/>
          <p:nvPr/>
        </p:nvSpPr>
        <p:spPr>
          <a:xfrm>
            <a:off x="3749040" y="39730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S(t)</a:t>
            </a:r>
            <a:endParaRPr lang="en-US" sz="850" dirty="0"/>
          </a:p>
        </p:txBody>
      </p:sp>
      <p:sp>
        <p:nvSpPr>
          <p:cNvPr id="165" name="Text 162"/>
          <p:cNvSpPr txBox="1"/>
          <p:nvPr/>
        </p:nvSpPr>
        <p:spPr>
          <a:xfrm>
            <a:off x="3767328" y="693572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escalones marcan tiempos con eventos; las marcas, censuras. </a:t>
            </a:r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Curva global: </a:t>
            </a:r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1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(mediana 310 días).</a:t>
            </a:r>
            <a:endParaRPr lang="en-US" sz="950" dirty="0"/>
          </a:p>
        </p:txBody>
      </p:sp>
      <p:sp>
        <p:nvSpPr>
          <p:cNvPr id="166" name="Shape 163"/>
          <p:cNvSpPr/>
          <p:nvPr/>
        </p:nvSpPr>
        <p:spPr>
          <a:xfrm>
            <a:off x="3767328" y="7374636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7" name="Text 164"/>
          <p:cNvSpPr txBox="1"/>
          <p:nvPr/>
        </p:nvSpPr>
        <p:spPr>
          <a:xfrm>
            <a:off x="3840480" y="743864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col = 1:2, conf.int = TRUE,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mark.time = TRUE, xlab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8" name="Text 165"/>
          <p:cNvSpPr txBox="1"/>
          <p:nvPr/>
        </p:nvSpPr>
        <p:spPr>
          <a:xfrm>
            <a:off x="3767328" y="78592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 rápido. Para publicar: survminer o ggsurvfit.</a:t>
            </a:r>
            <a:endParaRPr lang="en-US" sz="850" dirty="0"/>
          </a:p>
        </p:txBody>
      </p:sp>
      <p:sp>
        <p:nvSpPr>
          <p:cNvPr id="169" name="Text 166"/>
          <p:cNvSpPr txBox="1"/>
          <p:nvPr/>
        </p:nvSpPr>
        <p:spPr>
          <a:xfrm>
            <a:off x="3767328" y="81518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INCIDENCIA ACUMULADA  1 − S(t)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3767328" y="8398764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71" name="Text 168"/>
          <p:cNvSpPr txBox="1"/>
          <p:nvPr/>
        </p:nvSpPr>
        <p:spPr>
          <a:xfrm>
            <a:off x="3840480" y="846277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fun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las curvas suben</a:t>
            </a:r>
            <a:endParaRPr lang="en-US" sz="1100" dirty="0"/>
          </a:p>
        </p:txBody>
      </p:sp>
      <p:sp>
        <p:nvSpPr>
          <p:cNvPr id="172" name="Text 169"/>
          <p:cNvSpPr txBox="1"/>
          <p:nvPr/>
        </p:nvSpPr>
        <p:spPr>
          <a:xfrm>
            <a:off x="3767328" y="873252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Solo con un tipo de evento; con eventos competitivos, ver página 2.</a:t>
            </a:r>
            <a:endParaRPr lang="en-US" sz="900" dirty="0"/>
          </a:p>
        </p:txBody>
      </p:sp>
      <p:sp>
        <p:nvSpPr>
          <p:cNvPr id="173" name="Text 170"/>
          <p:cNvSpPr txBox="1"/>
          <p:nvPr/>
        </p:nvSpPr>
        <p:spPr>
          <a:xfrm>
            <a:off x="3767328" y="906170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REVISA RIESGOS PROPORCIONALES A OJO</a:t>
            </a:r>
            <a:endParaRPr lang="en-US" sz="1000" dirty="0"/>
          </a:p>
        </p:txBody>
      </p:sp>
      <p:sp>
        <p:nvSpPr>
          <p:cNvPr id="174" name="Shape 171"/>
          <p:cNvSpPr/>
          <p:nvPr/>
        </p:nvSpPr>
        <p:spPr>
          <a:xfrm>
            <a:off x="3767328" y="9308592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75" name="Text 172"/>
          <p:cNvSpPr txBox="1"/>
          <p:nvPr/>
        </p:nvSpPr>
        <p:spPr>
          <a:xfrm>
            <a:off x="3840480" y="9372600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fun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"cloglog"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76" name="Text 173"/>
          <p:cNvSpPr txBox="1"/>
          <p:nvPr/>
        </p:nvSpPr>
        <p:spPr>
          <a:xfrm>
            <a:off x="3767328" y="964234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log(−log S) vs log(tiempo): curvas aprox. paralelas apoyan un modelo de Cox.</a:t>
            </a:r>
            <a:endParaRPr lang="en-US" sz="900" dirty="0"/>
          </a:p>
        </p:txBody>
      </p:sp>
      <p:sp>
        <p:nvSpPr>
          <p:cNvPr id="177" name="Shape 174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78" name="Text 175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1600" dirty="0"/>
          </a:p>
        </p:txBody>
      </p:sp>
      <p:sp>
        <p:nvSpPr>
          <p:cNvPr id="179" name="Text 176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 grupos</a:t>
            </a:r>
            <a:endParaRPr lang="en-US" sz="2000" dirty="0"/>
          </a:p>
        </p:txBody>
      </p:sp>
      <p:sp>
        <p:nvSpPr>
          <p:cNvPr id="180" name="Shape 177"/>
          <p:cNvSpPr/>
          <p:nvPr/>
        </p:nvSpPr>
        <p:spPr>
          <a:xfrm>
            <a:off x="7123176" y="2194560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1" name="Text 178"/>
          <p:cNvSpPr txBox="1"/>
          <p:nvPr/>
        </p:nvSpPr>
        <p:spPr>
          <a:xfrm>
            <a:off x="7196328" y="225856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survdiff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data = lung)</a:t>
            </a:r>
            <a:endParaRPr lang="en-US" sz="1100" dirty="0"/>
          </a:p>
        </p:txBody>
      </p:sp>
      <p:sp>
        <p:nvSpPr>
          <p:cNvPr id="182" name="Text 179"/>
          <p:cNvSpPr txBox="1"/>
          <p:nvPr/>
        </p:nvSpPr>
        <p:spPr>
          <a:xfrm>
            <a:off x="7123176" y="275234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prueba compara las muertes observadas con las esperadas si ambos grupos compartieran una sola curva:</a:t>
            </a:r>
            <a:endParaRPr lang="en-US" sz="1000" dirty="0"/>
          </a:p>
        </p:txBody>
      </p:sp>
      <p:sp>
        <p:nvSpPr>
          <p:cNvPr id="183" name="Text 180"/>
          <p:cNvSpPr txBox="1"/>
          <p:nvPr/>
        </p:nvSpPr>
        <p:spPr>
          <a:xfrm>
            <a:off x="7123176" y="32095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9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1050" dirty="0"/>
          </a:p>
        </p:txBody>
      </p:sp>
      <p:sp>
        <p:nvSpPr>
          <p:cNvPr id="184" name="Shape 181"/>
          <p:cNvSpPr/>
          <p:nvPr/>
        </p:nvSpPr>
        <p:spPr>
          <a:xfrm>
            <a:off x="7900416" y="3246120"/>
            <a:ext cx="1937309" cy="219456"/>
          </a:xfrm>
          <a:prstGeom prst="rect">
            <a:avLst/>
          </a:prstGeom>
          <a:solidFill>
            <a:srgbClr val="8FB3C6"/>
          </a:solidFill>
          <a:ln w="12700">
            <a:solidFill>
              <a:srgbClr val="8FB3C6"/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9883445" y="32461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 112</a:t>
            </a:r>
            <a:endParaRPr lang="en-US" sz="950" dirty="0"/>
          </a:p>
        </p:txBody>
      </p:sp>
      <p:sp>
        <p:nvSpPr>
          <p:cNvPr id="186" name="Shape 183"/>
          <p:cNvSpPr/>
          <p:nvPr/>
        </p:nvSpPr>
        <p:spPr>
          <a:xfrm>
            <a:off x="7900416" y="3502152"/>
            <a:ext cx="158444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8FB3C6"/>
            </a:solidFill>
            <a:prstDash val="dash"/>
          </a:ln>
        </p:spPr>
      </p:sp>
      <p:sp>
        <p:nvSpPr>
          <p:cNvPr id="187" name="Text 184"/>
          <p:cNvSpPr txBox="1"/>
          <p:nvPr/>
        </p:nvSpPr>
        <p:spPr>
          <a:xfrm>
            <a:off x="9530578" y="35021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 91.6</a:t>
            </a:r>
            <a:endParaRPr lang="en-US" sz="950" dirty="0"/>
          </a:p>
        </p:txBody>
      </p:sp>
      <p:sp>
        <p:nvSpPr>
          <p:cNvPr id="188" name="Text 185"/>
          <p:cNvSpPr txBox="1"/>
          <p:nvPr/>
        </p:nvSpPr>
        <p:spPr>
          <a:xfrm>
            <a:off x="7123176" y="3867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1050" dirty="0"/>
          </a:p>
        </p:txBody>
      </p:sp>
      <p:sp>
        <p:nvSpPr>
          <p:cNvPr id="189" name="Shape 186"/>
          <p:cNvSpPr/>
          <p:nvPr/>
        </p:nvSpPr>
        <p:spPr>
          <a:xfrm>
            <a:off x="7900416" y="3904488"/>
            <a:ext cx="916762" cy="219456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90" name="Text 187"/>
          <p:cNvSpPr txBox="1"/>
          <p:nvPr/>
        </p:nvSpPr>
        <p:spPr>
          <a:xfrm>
            <a:off x="8862898" y="3904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 53</a:t>
            </a:r>
            <a:endParaRPr lang="en-US" sz="950" dirty="0"/>
          </a:p>
        </p:txBody>
      </p:sp>
      <p:sp>
        <p:nvSpPr>
          <p:cNvPr id="191" name="Shape 188"/>
          <p:cNvSpPr/>
          <p:nvPr/>
        </p:nvSpPr>
        <p:spPr>
          <a:xfrm>
            <a:off x="7900416" y="4160520"/>
            <a:ext cx="1269629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B4F6C"/>
            </a:solidFill>
            <a:prstDash val="dash"/>
          </a:ln>
        </p:spPr>
      </p:sp>
      <p:sp>
        <p:nvSpPr>
          <p:cNvPr id="192" name="Text 189"/>
          <p:cNvSpPr txBox="1"/>
          <p:nvPr/>
        </p:nvSpPr>
        <p:spPr>
          <a:xfrm>
            <a:off x="9215765" y="4160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 73.4</a:t>
            </a:r>
            <a:endParaRPr lang="en-US" sz="950" dirty="0"/>
          </a:p>
        </p:txBody>
      </p:sp>
      <p:sp>
        <p:nvSpPr>
          <p:cNvPr id="193" name="Text 190"/>
          <p:cNvSpPr txBox="1"/>
          <p:nvPr/>
        </p:nvSpPr>
        <p:spPr>
          <a:xfrm>
            <a:off x="7123176" y="458114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Hombres: más muertes de las esperadas · mujeres: menos → </a:t>
            </a:r>
            <a:pPr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χ²(1) = 10.3, p = 0.001</a:t>
            </a:r>
            <a:endParaRPr lang="en-US" sz="1000" dirty="0"/>
          </a:p>
        </p:txBody>
      </p:sp>
      <p:sp>
        <p:nvSpPr>
          <p:cNvPr id="194" name="Text 191"/>
          <p:cNvSpPr txBox="1"/>
          <p:nvPr/>
        </p:nvSpPr>
        <p:spPr>
          <a:xfrm>
            <a:off x="7123176" y="50840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ELIGE LA PONDERACIÓN:  rho =</a:t>
            </a:r>
            <a:endParaRPr lang="en-US" sz="1000" dirty="0"/>
          </a:p>
        </p:txBody>
      </p:sp>
      <p:sp>
        <p:nvSpPr>
          <p:cNvPr id="195" name="Shape 192"/>
          <p:cNvSpPr/>
          <p:nvPr/>
        </p:nvSpPr>
        <p:spPr>
          <a:xfrm>
            <a:off x="7123176" y="5340096"/>
            <a:ext cx="3172968" cy="713232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96" name="Text 193"/>
          <p:cNvSpPr txBox="1"/>
          <p:nvPr/>
        </p:nvSpPr>
        <p:spPr>
          <a:xfrm>
            <a:off x="7196328" y="5413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 = 0</a:t>
            </a:r>
            <a:endParaRPr lang="en-US" sz="950" dirty="0"/>
          </a:p>
        </p:txBody>
      </p:sp>
      <p:sp>
        <p:nvSpPr>
          <p:cNvPr id="197" name="Text 194"/>
          <p:cNvSpPr txBox="1"/>
          <p:nvPr/>
        </p:nvSpPr>
        <p:spPr>
          <a:xfrm>
            <a:off x="9518904" y="541324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 10.3</a:t>
            </a:r>
            <a:endParaRPr lang="en-US" sz="950" dirty="0"/>
          </a:p>
        </p:txBody>
      </p:sp>
      <p:sp>
        <p:nvSpPr>
          <p:cNvPr id="198" name="Text 195"/>
          <p:cNvSpPr txBox="1"/>
          <p:nvPr/>
        </p:nvSpPr>
        <p:spPr>
          <a:xfrm>
            <a:off x="7196328" y="5632704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Log-rank (por defecto). Pesa igual todos los tiempos; más potencia si los riesgos son proporcionales.</a:t>
            </a:r>
            <a:endParaRPr lang="en-US" sz="950" dirty="0"/>
          </a:p>
        </p:txBody>
      </p:sp>
      <p:sp>
        <p:nvSpPr>
          <p:cNvPr id="199" name="Shape 196"/>
          <p:cNvSpPr/>
          <p:nvPr/>
        </p:nvSpPr>
        <p:spPr>
          <a:xfrm>
            <a:off x="7123176" y="6108192"/>
            <a:ext cx="3172968" cy="713232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200" name="Text 197"/>
          <p:cNvSpPr txBox="1"/>
          <p:nvPr/>
        </p:nvSpPr>
        <p:spPr>
          <a:xfrm>
            <a:off x="7196328" y="6181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 = 1</a:t>
            </a:r>
            <a:endParaRPr lang="en-US" sz="950" dirty="0"/>
          </a:p>
        </p:txBody>
      </p:sp>
      <p:sp>
        <p:nvSpPr>
          <p:cNvPr id="201" name="Text 198"/>
          <p:cNvSpPr txBox="1"/>
          <p:nvPr/>
        </p:nvSpPr>
        <p:spPr>
          <a:xfrm>
            <a:off x="9518904" y="6181344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 12.7</a:t>
            </a:r>
            <a:endParaRPr lang="en-US" sz="950" dirty="0"/>
          </a:p>
        </p:txBody>
      </p:sp>
      <p:sp>
        <p:nvSpPr>
          <p:cNvPr id="202" name="Text 199"/>
          <p:cNvSpPr txBox="1"/>
          <p:nvPr/>
        </p:nvSpPr>
        <p:spPr>
          <a:xfrm>
            <a:off x="7196328" y="6400800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Peto–Peto (tipo Gehan–Wilcoxon). Más peso a los eventos tempranos.</a:t>
            </a:r>
            <a:endParaRPr lang="en-US" sz="950" dirty="0"/>
          </a:p>
        </p:txBody>
      </p:sp>
      <p:sp>
        <p:nvSpPr>
          <p:cNvPr id="203" name="Text 200"/>
          <p:cNvSpPr txBox="1"/>
          <p:nvPr/>
        </p:nvSpPr>
        <p:spPr>
          <a:xfrm>
            <a:off x="7123176" y="69494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AJUSTA POR UN CONFUSOR</a:t>
            </a:r>
            <a:endParaRPr lang="en-US" sz="1000" dirty="0"/>
          </a:p>
        </p:txBody>
      </p:sp>
      <p:sp>
        <p:nvSpPr>
          <p:cNvPr id="204" name="Shape 201"/>
          <p:cNvSpPr/>
          <p:nvPr/>
        </p:nvSpPr>
        <p:spPr>
          <a:xfrm>
            <a:off x="7123176" y="7196328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5" name="Text 202"/>
          <p:cNvSpPr txBox="1"/>
          <p:nvPr/>
        </p:nvSpPr>
        <p:spPr>
          <a:xfrm>
            <a:off x="7196328" y="726033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survdiff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strata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(ph.ecog), data = lung)</a:t>
            </a:r>
            <a:endParaRPr lang="en-US" sz="1100" dirty="0"/>
          </a:p>
        </p:txBody>
      </p:sp>
      <p:sp>
        <p:nvSpPr>
          <p:cNvPr id="206" name="Text 203"/>
          <p:cNvSpPr txBox="1"/>
          <p:nvPr/>
        </p:nvSpPr>
        <p:spPr>
          <a:xfrm>
            <a:off x="7123176" y="768096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Log-rank estratificado: compara por sexo dentro de cada nivel ECOG (χ² 10.8).</a:t>
            </a:r>
            <a:endParaRPr lang="en-US" sz="950" dirty="0"/>
          </a:p>
        </p:txBody>
      </p:sp>
      <p:sp>
        <p:nvSpPr>
          <p:cNvPr id="207" name="Shape 204"/>
          <p:cNvSpPr/>
          <p:nvPr/>
        </p:nvSpPr>
        <p:spPr>
          <a:xfrm>
            <a:off x="7123176" y="8119872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208" name="Text 205"/>
          <p:cNvSpPr txBox="1"/>
          <p:nvPr/>
        </p:nvSpPr>
        <p:spPr>
          <a:xfrm>
            <a:off x="7214616" y="81838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las curvas se </a:t>
            </a:r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cruzan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no hay riesgos proporcionales: el log-rank puede no detectar una diferencia real. Reporta la supervivencia a tiempos fijos o el RMST (ver 4).</a:t>
            </a:r>
            <a:endParaRPr lang="en-US" sz="950" dirty="0"/>
          </a:p>
        </p:txBody>
      </p:sp>
      <p:sp>
        <p:nvSpPr>
          <p:cNvPr id="209" name="Text 206"/>
          <p:cNvSpPr txBox="1"/>
          <p:nvPr/>
        </p:nvSpPr>
        <p:spPr>
          <a:xfrm>
            <a:off x="7123176" y="89062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MÁS DE DOS GRUPOS</a:t>
            </a:r>
            <a:endParaRPr lang="en-US" sz="1000" dirty="0"/>
          </a:p>
        </p:txBody>
      </p:sp>
      <p:sp>
        <p:nvSpPr>
          <p:cNvPr id="210" name="Shape 207"/>
          <p:cNvSpPr/>
          <p:nvPr/>
        </p:nvSpPr>
        <p:spPr>
          <a:xfrm>
            <a:off x="7123176" y="9153144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11" name="Text 208"/>
          <p:cNvSpPr txBox="1"/>
          <p:nvPr/>
        </p:nvSpPr>
        <p:spPr>
          <a:xfrm>
            <a:off x="7196328" y="921715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survdiff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ph.ecog,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data = lung)</a:t>
            </a:r>
            <a:endParaRPr lang="en-US" sz="1100" dirty="0"/>
          </a:p>
        </p:txBody>
      </p:sp>
      <p:sp>
        <p:nvSpPr>
          <p:cNvPr id="212" name="Text 209"/>
          <p:cNvSpPr txBox="1"/>
          <p:nvPr/>
        </p:nvSpPr>
        <p:spPr>
          <a:xfrm>
            <a:off x="7123176" y="963777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prueba global (χ²(3) = 22, p &lt; 0.001). Por pares: survminer::pairwise_survdiff().</a:t>
            </a:r>
            <a:endParaRPr lang="en-US" sz="950" dirty="0"/>
          </a:p>
        </p:txBody>
      </p:sp>
      <p:sp>
        <p:nvSpPr>
          <p:cNvPr id="213" name="Shape 210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14" name="Text 211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1600" dirty="0"/>
          </a:p>
        </p:txBody>
      </p:sp>
      <p:sp>
        <p:nvSpPr>
          <p:cNvPr id="215" name="Text 212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Extrae los números</a:t>
            </a:r>
            <a:endParaRPr lang="en-US" sz="2000" dirty="0"/>
          </a:p>
        </p:txBody>
      </p:sp>
      <p:sp>
        <p:nvSpPr>
          <p:cNvPr id="216" name="Text 213"/>
          <p:cNvSpPr txBox="1"/>
          <p:nvPr/>
        </p:nvSpPr>
        <p:spPr>
          <a:xfrm>
            <a:off x="10479024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SUPERVIVENCIA A TIEMPOS ELEGIDOS</a:t>
            </a:r>
            <a:endParaRPr lang="en-US" sz="1000" dirty="0"/>
          </a:p>
        </p:txBody>
      </p:sp>
      <p:sp>
        <p:nvSpPr>
          <p:cNvPr id="217" name="Shape 214"/>
          <p:cNvSpPr/>
          <p:nvPr/>
        </p:nvSpPr>
        <p:spPr>
          <a:xfrm>
            <a:off x="10479024" y="2441448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18" name="Text 215"/>
          <p:cNvSpPr txBox="1"/>
          <p:nvPr/>
        </p:nvSpPr>
        <p:spPr>
          <a:xfrm>
            <a:off x="10552176" y="250545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times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(180, 365))</a:t>
            </a:r>
            <a:endParaRPr lang="en-US" sz="1100" dirty="0"/>
          </a:p>
        </p:txBody>
      </p:sp>
      <p:sp>
        <p:nvSpPr>
          <p:cNvPr id="219" name="Shape 216"/>
          <p:cNvSpPr/>
          <p:nvPr/>
        </p:nvSpPr>
        <p:spPr>
          <a:xfrm>
            <a:off x="10479024" y="2830068"/>
            <a:ext cx="3172968" cy="237744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20" name="Text 217"/>
          <p:cNvSpPr txBox="1"/>
          <p:nvPr/>
        </p:nvSpPr>
        <p:spPr>
          <a:xfrm>
            <a:off x="10533888" y="28300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21" name="Text 218"/>
          <p:cNvSpPr txBox="1"/>
          <p:nvPr/>
        </p:nvSpPr>
        <p:spPr>
          <a:xfrm>
            <a:off x="11256264" y="28300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día 180</a:t>
            </a:r>
            <a:endParaRPr lang="en-US" sz="950" dirty="0"/>
          </a:p>
        </p:txBody>
      </p:sp>
      <p:sp>
        <p:nvSpPr>
          <p:cNvPr id="222" name="Text 219"/>
          <p:cNvSpPr txBox="1"/>
          <p:nvPr/>
        </p:nvSpPr>
        <p:spPr>
          <a:xfrm>
            <a:off x="12444984" y="28300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día 365</a:t>
            </a:r>
            <a:endParaRPr lang="en-US" sz="950" dirty="0"/>
          </a:p>
        </p:txBody>
      </p:sp>
      <p:sp>
        <p:nvSpPr>
          <p:cNvPr id="223" name="Shape 220"/>
          <p:cNvSpPr/>
          <p:nvPr/>
        </p:nvSpPr>
        <p:spPr>
          <a:xfrm>
            <a:off x="10479024" y="3067812"/>
            <a:ext cx="3172968" cy="237744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24" name="Text 221"/>
          <p:cNvSpPr txBox="1"/>
          <p:nvPr/>
        </p:nvSpPr>
        <p:spPr>
          <a:xfrm>
            <a:off x="10533888" y="30678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Male</a:t>
            </a:r>
            <a:endParaRPr lang="en-US" sz="950" dirty="0"/>
          </a:p>
        </p:txBody>
      </p:sp>
      <p:sp>
        <p:nvSpPr>
          <p:cNvPr id="225" name="Text 222"/>
          <p:cNvSpPr txBox="1"/>
          <p:nvPr/>
        </p:nvSpPr>
        <p:spPr>
          <a:xfrm>
            <a:off x="11256264" y="30678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64% (57–73)</a:t>
            </a:r>
            <a:endParaRPr lang="en-US" sz="950" dirty="0"/>
          </a:p>
        </p:txBody>
      </p:sp>
      <p:sp>
        <p:nvSpPr>
          <p:cNvPr id="226" name="Text 223"/>
          <p:cNvSpPr txBox="1"/>
          <p:nvPr/>
        </p:nvSpPr>
        <p:spPr>
          <a:xfrm>
            <a:off x="12444984" y="30678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34% (26–43)</a:t>
            </a:r>
            <a:endParaRPr lang="en-US" sz="950" dirty="0"/>
          </a:p>
        </p:txBody>
      </p:sp>
      <p:sp>
        <p:nvSpPr>
          <p:cNvPr id="227" name="Text 224"/>
          <p:cNvSpPr txBox="1"/>
          <p:nvPr/>
        </p:nvSpPr>
        <p:spPr>
          <a:xfrm>
            <a:off x="10533888" y="33055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Female</a:t>
            </a:r>
            <a:endParaRPr lang="en-US" sz="950" dirty="0"/>
          </a:p>
        </p:txBody>
      </p:sp>
      <p:sp>
        <p:nvSpPr>
          <p:cNvPr id="228" name="Text 225"/>
          <p:cNvSpPr txBox="1"/>
          <p:nvPr/>
        </p:nvSpPr>
        <p:spPr>
          <a:xfrm>
            <a:off x="11256264" y="330555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84% (77–92)</a:t>
            </a:r>
            <a:endParaRPr lang="en-US" sz="950" dirty="0"/>
          </a:p>
        </p:txBody>
      </p:sp>
      <p:sp>
        <p:nvSpPr>
          <p:cNvPr id="229" name="Text 226"/>
          <p:cNvSpPr txBox="1"/>
          <p:nvPr/>
        </p:nvSpPr>
        <p:spPr>
          <a:xfrm>
            <a:off x="12444984" y="330555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53% (42–66)</a:t>
            </a:r>
            <a:endParaRPr lang="en-US" sz="950" dirty="0"/>
          </a:p>
        </p:txBody>
      </p:sp>
      <p:sp>
        <p:nvSpPr>
          <p:cNvPr id="230" name="Shape 227"/>
          <p:cNvSpPr/>
          <p:nvPr/>
        </p:nvSpPr>
        <p:spPr>
          <a:xfrm>
            <a:off x="10479024" y="3543300"/>
            <a:ext cx="3172968" cy="237744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31" name="Text 228"/>
          <p:cNvSpPr txBox="1"/>
          <p:nvPr/>
        </p:nvSpPr>
        <p:spPr>
          <a:xfrm>
            <a:off x="10533888" y="35433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9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riesgo</a:t>
            </a:r>
            <a:endParaRPr lang="en-US" sz="950" dirty="0"/>
          </a:p>
        </p:txBody>
      </p:sp>
      <p:sp>
        <p:nvSpPr>
          <p:cNvPr id="232" name="Text 229"/>
          <p:cNvSpPr txBox="1"/>
          <p:nvPr/>
        </p:nvSpPr>
        <p:spPr>
          <a:xfrm>
            <a:off x="11256264" y="35433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89 / 71</a:t>
            </a:r>
            <a:endParaRPr lang="en-US" sz="950" dirty="0"/>
          </a:p>
        </p:txBody>
      </p:sp>
      <p:sp>
        <p:nvSpPr>
          <p:cNvPr id="233" name="Text 230"/>
          <p:cNvSpPr txBox="1"/>
          <p:nvPr/>
        </p:nvSpPr>
        <p:spPr>
          <a:xfrm>
            <a:off x="12444984" y="35433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35 / 30</a:t>
            </a:r>
            <a:endParaRPr lang="en-US" sz="950" dirty="0"/>
          </a:p>
        </p:txBody>
      </p:sp>
      <p:sp>
        <p:nvSpPr>
          <p:cNvPr id="234" name="Text 231"/>
          <p:cNvSpPr txBox="1"/>
          <p:nvPr/>
        </p:nvSpPr>
        <p:spPr>
          <a:xfrm>
            <a:off x="10479024" y="38724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MEDIANA Y OTROS CUANTILES</a:t>
            </a:r>
            <a:endParaRPr lang="en-US" sz="1000" dirty="0"/>
          </a:p>
        </p:txBody>
      </p:sp>
      <p:sp>
        <p:nvSpPr>
          <p:cNvPr id="235" name="Shape 232"/>
          <p:cNvSpPr/>
          <p:nvPr/>
        </p:nvSpPr>
        <p:spPr>
          <a:xfrm>
            <a:off x="10479024" y="4119372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36" name="Text 233"/>
          <p:cNvSpPr txBox="1"/>
          <p:nvPr/>
        </p:nvSpPr>
        <p:spPr>
          <a:xfrm>
            <a:off x="10552176" y="4183380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probs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(0.25, 0.5, 0.75))</a:t>
            </a:r>
            <a:endParaRPr lang="en-US" sz="1100" dirty="0"/>
          </a:p>
        </p:txBody>
      </p:sp>
      <p:sp>
        <p:nvSpPr>
          <p:cNvPr id="237" name="Text 234"/>
          <p:cNvSpPr txBox="1"/>
          <p:nvPr/>
        </p:nvSpPr>
        <p:spPr>
          <a:xfrm>
            <a:off x="10479024" y="447141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Mediana Male 270 (212–310) · Female 426 (348–550). </a:t>
            </a:r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Sin mediana si S(t) nunca llega a 0.5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repórtala como “no alcanzada”.</a:t>
            </a:r>
            <a:endParaRPr lang="en-US" sz="950" dirty="0"/>
          </a:p>
        </p:txBody>
      </p:sp>
      <p:sp>
        <p:nvSpPr>
          <p:cNvPr id="238" name="Text 235"/>
          <p:cNvSpPr txBox="1"/>
          <p:nvPr/>
        </p:nvSpPr>
        <p:spPr>
          <a:xfrm>
            <a:off x="10479024" y="509320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SUPERVIVENCIA MEDIA RESTRINGIDA (RMST)</a:t>
            </a:r>
            <a:endParaRPr lang="en-US" sz="1000" dirty="0"/>
          </a:p>
        </p:txBody>
      </p:sp>
      <p:sp>
        <p:nvSpPr>
          <p:cNvPr id="239" name="Shape 236"/>
          <p:cNvSpPr/>
          <p:nvPr/>
        </p:nvSpPr>
        <p:spPr>
          <a:xfrm>
            <a:off x="10479024" y="5340096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0" name="Text 237"/>
          <p:cNvSpPr txBox="1"/>
          <p:nvPr/>
        </p:nvSpPr>
        <p:spPr>
          <a:xfrm>
            <a:off x="10552176" y="540410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(km, rmean = 365)</a:t>
            </a:r>
            <a:endParaRPr lang="en-US" sz="1100" dirty="0"/>
          </a:p>
        </p:txBody>
      </p:sp>
      <p:sp>
        <p:nvSpPr>
          <p:cNvPr id="241" name="Text 238"/>
          <p:cNvSpPr txBox="1"/>
          <p:nvPr/>
        </p:nvSpPr>
        <p:spPr>
          <a:xfrm>
            <a:off x="10479024" y="569214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Días vividos en promedio en el primer año (área bajo S(t) hasta 365): Male 241, Female 297. Sirve aunque las curvas se crucen.</a:t>
            </a:r>
            <a:endParaRPr lang="en-US" sz="950" dirty="0"/>
          </a:p>
        </p:txBody>
      </p:sp>
      <p:sp>
        <p:nvSpPr>
          <p:cNvPr id="242" name="Text 239"/>
          <p:cNvSpPr txBox="1"/>
          <p:nvPr/>
        </p:nvSpPr>
        <p:spPr>
          <a:xfrm>
            <a:off x="10479024" y="61493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COMO DATA FRAME</a:t>
            </a:r>
            <a:endParaRPr lang="en-US" sz="1000" dirty="0"/>
          </a:p>
        </p:txBody>
      </p:sp>
      <p:sp>
        <p:nvSpPr>
          <p:cNvPr id="243" name="Shape 240"/>
          <p:cNvSpPr/>
          <p:nvPr/>
        </p:nvSpPr>
        <p:spPr>
          <a:xfrm>
            <a:off x="10479024" y="6396228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4" name="Text 241"/>
          <p:cNvSpPr txBox="1"/>
          <p:nvPr/>
        </p:nvSpPr>
        <p:spPr>
          <a:xfrm>
            <a:off x="10552176" y="646023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(km)$table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n, eventos, mediana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broom::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(km) 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una fila por tiempo</a:t>
            </a:r>
            <a:endParaRPr lang="en-US" sz="1100" dirty="0"/>
          </a:p>
        </p:txBody>
      </p:sp>
      <p:sp>
        <p:nvSpPr>
          <p:cNvPr id="245" name="Text 242"/>
          <p:cNvSpPr txBox="1"/>
          <p:nvPr/>
        </p:nvSpPr>
        <p:spPr>
          <a:xfrm>
            <a:off x="10479024" y="69540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ARGUMENTOS ÚTILES DE survfit()</a:t>
            </a:r>
            <a:endParaRPr lang="en-US" sz="1000" dirty="0"/>
          </a:p>
        </p:txBody>
      </p:sp>
      <p:sp>
        <p:nvSpPr>
          <p:cNvPr id="246" name="Text 243"/>
          <p:cNvSpPr txBox="1"/>
          <p:nvPr/>
        </p:nvSpPr>
        <p:spPr>
          <a:xfrm>
            <a:off x="10479024" y="72009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conf.type = "log-log"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IC que queda entre 0 y 1</a:t>
            </a:r>
            <a:endParaRPr lang="en-US" sz="1100" dirty="0"/>
          </a:p>
        </p:txBody>
      </p:sp>
      <p:sp>
        <p:nvSpPr>
          <p:cNvPr id="247" name="Text 244"/>
          <p:cNvSpPr txBox="1"/>
          <p:nvPr/>
        </p:nvSpPr>
        <p:spPr>
          <a:xfrm>
            <a:off x="10479024" y="74386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conf.int = 0.90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nivel del IC</a:t>
            </a:r>
            <a:endParaRPr lang="en-US" sz="1100" dirty="0"/>
          </a:p>
        </p:txBody>
      </p:sp>
      <p:sp>
        <p:nvSpPr>
          <p:cNvPr id="248" name="Text 245"/>
          <p:cNvSpPr txBox="1"/>
          <p:nvPr/>
        </p:nvSpPr>
        <p:spPr>
          <a:xfrm>
            <a:off x="10479024" y="76763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start.time = 30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condiciona a sobrevivir 30 días</a:t>
            </a:r>
            <a:endParaRPr lang="en-US" sz="1100" dirty="0"/>
          </a:p>
        </p:txBody>
      </p:sp>
      <p:sp>
        <p:nvSpPr>
          <p:cNvPr id="249" name="Shape 246"/>
          <p:cNvSpPr/>
          <p:nvPr/>
        </p:nvSpPr>
        <p:spPr>
          <a:xfrm>
            <a:off x="10479024" y="7987284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250" name="Text 247"/>
          <p:cNvSpPr txBox="1"/>
          <p:nvPr/>
        </p:nvSpPr>
        <p:spPr>
          <a:xfrm>
            <a:off x="10570464" y="8051292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Muestra siempre el </a:t>
            </a:r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número en riesgo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bajo la curva de KM: la cola derecha se basa en pocos sujetos y es inestable.</a:t>
            </a:r>
            <a:endParaRPr lang="en-US" sz="950" dirty="0"/>
          </a:p>
        </p:txBody>
      </p:sp>
      <p:sp>
        <p:nvSpPr>
          <p:cNvPr id="251" name="Text 248"/>
          <p:cNvSpPr txBox="1"/>
          <p:nvPr/>
        </p:nvSpPr>
        <p:spPr>
          <a:xfrm>
            <a:off x="10479024" y="87736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SEGUIMIENTO MEDIANO (KM INVERSO)</a:t>
            </a:r>
            <a:endParaRPr lang="en-US" sz="1000" dirty="0"/>
          </a:p>
        </p:txBody>
      </p:sp>
      <p:sp>
        <p:nvSpPr>
          <p:cNvPr id="252" name="Shape 249"/>
          <p:cNvSpPr/>
          <p:nvPr/>
        </p:nvSpPr>
        <p:spPr>
          <a:xfrm>
            <a:off x="10479024" y="9020556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53" name="Text 250"/>
          <p:cNvSpPr txBox="1"/>
          <p:nvPr/>
        </p:nvSpPr>
        <p:spPr>
          <a:xfrm>
            <a:off x="10552176" y="908456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 == 1) ~ 1,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lung)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censura = evento</a:t>
            </a:r>
            <a:endParaRPr lang="en-US" sz="1100" dirty="0"/>
          </a:p>
        </p:txBody>
      </p:sp>
      <p:sp>
        <p:nvSpPr>
          <p:cNvPr id="254" name="Text 251"/>
          <p:cNvSpPr txBox="1"/>
          <p:nvPr/>
        </p:nvSpPr>
        <p:spPr>
          <a:xfrm>
            <a:off x="10479024" y="950518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588 días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(511 – 1010). Repórtalo en todo análisis de supervivencia.</a:t>
            </a:r>
            <a:endParaRPr lang="en-US" sz="950" dirty="0"/>
          </a:p>
        </p:txBody>
      </p:sp>
      <p:sp>
        <p:nvSpPr>
          <p:cNvPr id="255" name="Text 252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Más información en 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vignette("survival")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versión de survival 3.8-12  •  Actualizado: 2026-10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ES" sz="4000" dirty="0">
                <a:solidFill>
                  <a:srgbClr val="0B4F6C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Análisis de supervivencia con survival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 las curvas a los modelos: hazard ratios ajustados por covariables, sus supuestos y las extensiones que encontrarás en la práctica.</a:t>
            </a:r>
            <a:endParaRPr lang="en-US" sz="1300" dirty="0"/>
          </a:p>
        </p:txBody>
      </p:sp>
      <p:pic>
        <p:nvPicPr>
          <p:cNvPr id="5" name="Image 0" descr="/home/claude/sheets/survival/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Regresión de Cox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2194560"/>
            <a:ext cx="3172968" cy="598932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" y="22585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sex + age + ph.ecog, data = lung)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290322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hazard ratio (HR) compara el riesgo instantáneo del evento, en cualquier momento, entre grupos: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990088" y="331470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HR (IC 95%)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343716" y="3470148"/>
            <a:ext cx="0" cy="1152144"/>
          </a:xfrm>
          <a:prstGeom prst="line">
            <a:avLst/>
          </a:prstGeom>
          <a:noFill/>
          <a:ln w="9525">
            <a:solidFill>
              <a:srgbClr val="5F6675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11480" y="34975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Mujer vs hombre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759250" y="3662172"/>
            <a:ext cx="438189" cy="0"/>
          </a:xfrm>
          <a:prstGeom prst="line">
            <a:avLst/>
          </a:prstGeom>
          <a:noFill/>
          <a:ln w="19050">
            <a:solidFill>
              <a:srgbClr val="0B4F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31769" y="3607308"/>
            <a:ext cx="109728" cy="109728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62656" y="34975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0.58</a:t>
            </a:r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(0.41–0.80)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8816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Edad, por año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37127" y="4046220"/>
            <a:ext cx="25965" cy="0"/>
          </a:xfrm>
          <a:prstGeom prst="line">
            <a:avLst/>
          </a:prstGeom>
          <a:noFill/>
          <a:ln w="19050">
            <a:solidFill>
              <a:srgbClr val="0B4F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95374" y="3991356"/>
            <a:ext cx="109728" cy="109728"/>
          </a:xfrm>
          <a:prstGeom prst="rect">
            <a:avLst/>
          </a:prstGeom>
          <a:solidFill>
            <a:srgbClr val="8FB3C6"/>
          </a:solidFill>
          <a:ln w="12700">
            <a:solidFill>
              <a:srgbClr val="8FB3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62656" y="38816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1.01</a:t>
            </a:r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(0.99–1.03)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" y="426567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ECOG, por punto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500397" y="4430268"/>
            <a:ext cx="294408" cy="0"/>
          </a:xfrm>
          <a:prstGeom prst="line">
            <a:avLst/>
          </a:prstGeom>
          <a:noFill/>
          <a:ln w="19050">
            <a:solidFill>
              <a:srgbClr val="0B4F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92841" y="4375404"/>
            <a:ext cx="109728" cy="109728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62656" y="426567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1.59</a:t>
            </a:r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(1.27–1.99)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554480" y="4668012"/>
            <a:ext cx="138988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706460" y="46863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160836" y="46863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2615212" y="46863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483260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← menor riesgo   mayor riesgo →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11480" y="5088636"/>
            <a:ext cx="3172968" cy="603504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5143500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i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Léelo así: </a:t>
            </a:r>
            <a:pPr indent="0" marL="0">
              <a:buNone/>
            </a:pPr>
            <a:r>
              <a:rPr lang="es-ES" sz="950" i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cualquier momento, las mujeres tuvieron un riesgo (hazard) de muerte 42% menor que los hombres (HR 0.58, IC 95% 0.41–0.80), ajustando por edad y ECOG.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58018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TAMBIÉN EN summary(cx)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60487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 de razón de verosimilitud  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30.5 con 3 gl, p &lt; 0.001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62865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Concordancia (C)  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0.64: discriminación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411480" y="65242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/ eventos  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227 / 164 (1 fila con NA excluida)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11480" y="68534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TABLA ORDENADA DE HR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11480" y="7100316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84632" y="716432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broom::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(cx, exponentiate = TRUE,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conf.int = TRUE)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11480" y="76581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CURVAS DE SUPERVIVENCIA AJUSTADAS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7904988"/>
            <a:ext cx="3172968" cy="598932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84632" y="7968996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(sex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"Female"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age = 62, ph.ecog = 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(cx, newdata = nd)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11480" y="854049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Supervivencia a 1 año 33% vs 53%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alguien de 62 años con ECOG 1.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899769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NIVEL DE REFERENCIA Y PRUEBAS GLOBALES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11480" y="924458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relevel(sex, ref = "Female")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invierte el HR (1/0.58 = 1.7)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411480" y="965606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anova(cx)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prueba RV secuencial por término, p. ej., para un factor con &gt; 2 niveles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Revisa los supuestos</a:t>
            </a:r>
            <a:endParaRPr lang="en-US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3767328" y="219456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Cox asume </a:t>
            </a:r>
            <a:pPr indent="0" marL="0">
              <a:buNone/>
            </a:pPr>
            <a:r>
              <a:rPr lang="es-ES" sz="10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riesgos proporcionales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el HR es constante durante el seguimiento. Pruébalo con los residuos de Schoenfeld escalados.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3767328" y="2816352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840480" y="2880360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zph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cox.zph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zph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67328" y="3355848"/>
            <a:ext cx="3172968" cy="22860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822192" y="3355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4956048" y="3355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chisq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5779008" y="3355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6327648" y="3355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3822192" y="35844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sex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4956048" y="3584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2.31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5779008" y="3584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6327648" y="3584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0.13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3822192" y="3813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age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4956048" y="3813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0.19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5779008" y="3813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6327648" y="3813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0.66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3822192" y="40416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ph.ecog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4956048" y="4041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2.05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5779008" y="4041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6327648" y="4041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0.15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3767328" y="4270248"/>
            <a:ext cx="3172968" cy="228600"/>
          </a:xfrm>
          <a:prstGeom prst="rect">
            <a:avLst/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822192" y="4270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GLOBAL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4956048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4.46</a:t>
            </a:r>
            <a:endParaRPr lang="en-US" sz="950" dirty="0"/>
          </a:p>
        </p:txBody>
      </p:sp>
      <p:sp>
        <p:nvSpPr>
          <p:cNvPr id="73" name="Text 70"/>
          <p:cNvSpPr txBox="1"/>
          <p:nvPr/>
        </p:nvSpPr>
        <p:spPr>
          <a:xfrm>
            <a:off x="5779008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950" dirty="0"/>
          </a:p>
        </p:txBody>
      </p:sp>
      <p:sp>
        <p:nvSpPr>
          <p:cNvPr id="74" name="Text 71"/>
          <p:cNvSpPr txBox="1"/>
          <p:nvPr/>
        </p:nvSpPr>
        <p:spPr>
          <a:xfrm>
            <a:off x="6327648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0.22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3767328" y="456285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Todos los p &gt; 0.05 → sin evidencia contra RP.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valor p pequeño señala esa variable.</a:t>
            </a:r>
            <a:endParaRPr lang="en-US" sz="950" dirty="0"/>
          </a:p>
        </p:txBody>
      </p:sp>
      <p:sp>
        <p:nvSpPr>
          <p:cNvPr id="76" name="Text 73"/>
          <p:cNvSpPr txBox="1"/>
          <p:nvPr/>
        </p:nvSpPr>
        <p:spPr>
          <a:xfrm>
            <a:off x="3767328" y="50017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MIRA, NO SOLO PRUEBES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3767328" y="5248656"/>
            <a:ext cx="3172968" cy="29718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840480" y="531266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(zph[1])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residuos de sex vs tiempo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3767328" y="5637276"/>
            <a:ext cx="1495044" cy="777240"/>
          </a:xfrm>
          <a:prstGeom prst="rect">
            <a:avLst/>
          </a:prstGeom>
          <a:solidFill>
            <a:srgbClr val="F3F8FA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877056" y="6025896"/>
            <a:ext cx="1275588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877056" y="6025896"/>
            <a:ext cx="1275588" cy="0"/>
          </a:xfrm>
          <a:prstGeom prst="line">
            <a:avLst/>
          </a:prstGeom>
          <a:noFill/>
          <a:ln w="6350">
            <a:solidFill>
              <a:srgbClr val="5F6675"/>
            </a:solidFill>
            <a:prstDash val="dash"/>
          </a:ln>
        </p:spPr>
      </p:sp>
      <p:sp>
        <p:nvSpPr>
          <p:cNvPr id="82" name="Text 79"/>
          <p:cNvSpPr txBox="1"/>
          <p:nvPr/>
        </p:nvSpPr>
        <p:spPr>
          <a:xfrm>
            <a:off x="3767328" y="6432804"/>
            <a:ext cx="1495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cumple RP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5445252" y="5637276"/>
            <a:ext cx="1495044" cy="777240"/>
          </a:xfrm>
          <a:prstGeom prst="rect">
            <a:avLst/>
          </a:prstGeom>
          <a:solidFill>
            <a:srgbClr val="F3F8FA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 flipV="1">
            <a:off x="5554980" y="5797296"/>
            <a:ext cx="1275588" cy="457200"/>
          </a:xfrm>
          <a:prstGeom prst="line">
            <a:avLst/>
          </a:prstGeom>
          <a:noFill/>
          <a:ln w="25400">
            <a:solidFill>
              <a:srgbClr val="D9731E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554980" y="6025896"/>
            <a:ext cx="1275588" cy="0"/>
          </a:xfrm>
          <a:prstGeom prst="line">
            <a:avLst/>
          </a:prstGeom>
          <a:noFill/>
          <a:ln w="6350">
            <a:solidFill>
              <a:srgbClr val="5F6675"/>
            </a:solidFill>
            <a:prstDash val="dash"/>
          </a:ln>
        </p:spPr>
      </p:sp>
      <p:sp>
        <p:nvSpPr>
          <p:cNvPr id="86" name="Text 83"/>
          <p:cNvSpPr txBox="1"/>
          <p:nvPr/>
        </p:nvSpPr>
        <p:spPr>
          <a:xfrm>
            <a:off x="5445252" y="6432804"/>
            <a:ext cx="1495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se cumple RP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3767328" y="663397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Esquema: una línea suavizada plana indica efecto constante; una tendencia indica que el HR cambia con el tiempo.</a:t>
            </a:r>
            <a:endParaRPr lang="en-US" sz="850" dirty="0"/>
          </a:p>
        </p:txBody>
      </p:sp>
      <p:sp>
        <p:nvSpPr>
          <p:cNvPr id="88" name="Text 85"/>
          <p:cNvSpPr txBox="1"/>
          <p:nvPr/>
        </p:nvSpPr>
        <p:spPr>
          <a:xfrm>
            <a:off x="3767328" y="70728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UNA VARIABLE NO CUMPLE RP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3767328" y="739292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931920" y="7328916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strata(ph.ecog)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riesgo basal propio por nivel; no da HR para ella, el resto sigue ajustado.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3767328" y="794156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931920" y="7877556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tt(age)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deja que el efecto cambie con el tiempo, p. ej. </a:t>
            </a:r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 = function(x, t, ...) x * log(t)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3767328" y="849020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3931920" y="8426196"/>
            <a:ext cx="3008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survSplit(..., cut = 180)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divide el seguimiento y estima un HR por periodo.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3767328" y="8993124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840480" y="905713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 age 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strata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(ph.ecog), data = lung)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</a:t>
            </a:r>
            <a:endParaRPr lang="en-US" sz="1600" dirty="0"/>
          </a:p>
        </p:txBody>
      </p:sp>
      <p:sp>
        <p:nvSpPr>
          <p:cNvPr id="99" name="Text 96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Más allá de lo básico</a:t>
            </a:r>
            <a:endParaRPr lang="en-US" sz="2000" dirty="0"/>
          </a:p>
        </p:txBody>
      </p:sp>
      <p:sp>
        <p:nvSpPr>
          <p:cNvPr id="100" name="Text 97"/>
          <p:cNvSpPr txBox="1"/>
          <p:nvPr/>
        </p:nvSpPr>
        <p:spPr>
          <a:xfrm>
            <a:off x="71231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COVARIABLES QUE CAMBIAN EN EL TIEMPO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7123176" y="244144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Valores que cambian durante el seguimiento (laboratorio, tratamiento) requieren una fila por intervalo: (tstart, tstop].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7123176" y="2880360"/>
            <a:ext cx="3172968" cy="12862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7196328" y="2944368"/>
            <a:ext cx="304495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&lt;-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(pbc, id &lt;= 312,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=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(id:sex, stage))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pbc2 &lt;-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tmerge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(temp, temp, id = id,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death =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 == 2))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pbc2 &lt;-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tmerge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(pbc2, pbcseq, id = id,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bili =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(day, bili))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(tstart, tstop, death) ~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(bili), data = pbc2)</a:t>
            </a:r>
            <a:endParaRPr lang="en-US" sz="1100" dirty="0"/>
          </a:p>
        </p:txBody>
      </p:sp>
      <p:sp>
        <p:nvSpPr>
          <p:cNvPr id="104" name="Text 101"/>
          <p:cNvSpPr txBox="1"/>
          <p:nvPr/>
        </p:nvSpPr>
        <p:spPr>
          <a:xfrm>
            <a:off x="7123176" y="420319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HR 3.94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por unidad logarítmica de bilirrubina actual.</a:t>
            </a:r>
            <a:endParaRPr lang="en-US" sz="950" dirty="0"/>
          </a:p>
        </p:txBody>
      </p:sp>
      <p:sp>
        <p:nvSpPr>
          <p:cNvPr id="105" name="Text 102"/>
          <p:cNvSpPr txBox="1"/>
          <p:nvPr/>
        </p:nvSpPr>
        <p:spPr>
          <a:xfrm>
            <a:off x="7123176" y="45323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EFECTOS NO LINEALES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7123176" y="4779264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7196328" y="484327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pspline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(age) + ph.ecog, data = lung)</a:t>
            </a:r>
            <a:endParaRPr lang="en-US" sz="1100" dirty="0"/>
          </a:p>
        </p:txBody>
      </p:sp>
      <p:sp>
        <p:nvSpPr>
          <p:cNvPr id="108" name="Text 105"/>
          <p:cNvSpPr txBox="1"/>
          <p:nvPr/>
        </p:nvSpPr>
        <p:spPr>
          <a:xfrm>
            <a:off x="7123176" y="526389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 las partes lineal y no lineal (edad: no lineal p = 0.41).</a:t>
            </a:r>
            <a:endParaRPr lang="en-US" sz="900" dirty="0"/>
          </a:p>
        </p:txBody>
      </p:sp>
      <p:sp>
        <p:nvSpPr>
          <p:cNvPr id="109" name="Text 106"/>
          <p:cNvSpPr txBox="1"/>
          <p:nvPr/>
        </p:nvSpPr>
        <p:spPr>
          <a:xfrm>
            <a:off x="7123176" y="5593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RIESGOS COMPETITIVOS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7123176" y="5839968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otro evento impide el que estudias (muerte antes de la progresión), usa un </a:t>
            </a:r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factor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como status: primer nivel = censurado.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7123176" y="6278880"/>
            <a:ext cx="3172968" cy="1428750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7196328" y="6342888"/>
            <a:ext cx="3044952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etime &lt;-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(mgus2,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ifelse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(pstat == 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futime, ptime))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&lt;-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(mgus2,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ifelse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(pstat == 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* death, 1))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&lt;-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(event, 0:2, labels =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"censor"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"pcm"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"death"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 &lt;- 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survfit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(etime, event) ~ 1,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data = mgus2)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(cr, times = 120)$pstate</a:t>
            </a:r>
            <a:endParaRPr lang="en-US" sz="1100" dirty="0"/>
          </a:p>
        </p:txBody>
      </p:sp>
      <p:sp>
        <p:nvSpPr>
          <p:cNvPr id="113" name="Text 110"/>
          <p:cNvSpPr txBox="1"/>
          <p:nvPr/>
        </p:nvSpPr>
        <p:spPr>
          <a:xfrm>
            <a:off x="7123176" y="774420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11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Incidencia acumulada a 10 años: PCM 6.4%, muerte 53%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(Aalen–Johansen).</a:t>
            </a:r>
            <a:endParaRPr lang="en-US" sz="950" dirty="0"/>
          </a:p>
        </p:txBody>
      </p:sp>
      <p:sp>
        <p:nvSpPr>
          <p:cNvPr id="114" name="Text 111"/>
          <p:cNvSpPr txBox="1"/>
          <p:nvPr/>
        </p:nvSpPr>
        <p:spPr>
          <a:xfrm>
            <a:off x="7123176" y="814654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Regresión sobre la incidencia acumulada (Fine–Gray): </a:t>
            </a:r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finegray()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luego </a:t>
            </a:r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coxph(..., weight = fgwt)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950" dirty="0"/>
          </a:p>
        </p:txBody>
      </p:sp>
      <p:sp>
        <p:nvSpPr>
          <p:cNvPr id="115" name="Text 112"/>
          <p:cNvSpPr txBox="1"/>
          <p:nvPr/>
        </p:nvSpPr>
        <p:spPr>
          <a:xfrm>
            <a:off x="7123176" y="864946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DATOS AGRUPADOS O RECURRENTES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7123176" y="8896350"/>
            <a:ext cx="3172968" cy="448056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7196328" y="896035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 sex + age,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cluster = inst, data = lung)</a:t>
            </a:r>
            <a:endParaRPr lang="en-US" sz="1100" dirty="0"/>
          </a:p>
        </p:txBody>
      </p:sp>
      <p:sp>
        <p:nvSpPr>
          <p:cNvPr id="118" name="Text 115"/>
          <p:cNvSpPr txBox="1"/>
          <p:nvPr/>
        </p:nvSpPr>
        <p:spPr>
          <a:xfrm>
            <a:off x="7123176" y="938098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Agrega EE robustos (sándwich) para pacientes anidados en centros o eventos repetidos por sujeto.</a:t>
            </a:r>
            <a:endParaRPr lang="en-US" sz="900" dirty="0"/>
          </a:p>
        </p:txBody>
      </p:sp>
      <p:sp>
        <p:nvSpPr>
          <p:cNvPr id="119" name="Shape 116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</a:t>
            </a:r>
            <a:endParaRPr lang="en-US" sz="1600" dirty="0"/>
          </a:p>
        </p:txBody>
      </p:sp>
      <p:sp>
        <p:nvSpPr>
          <p:cNvPr id="121" name="Text 118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Modelos AFT y errores</a:t>
            </a:r>
            <a:endParaRPr lang="en-US" sz="2000" dirty="0"/>
          </a:p>
        </p:txBody>
      </p:sp>
      <p:sp>
        <p:nvSpPr>
          <p:cNvPr id="122" name="Text 119"/>
          <p:cNvSpPr txBox="1"/>
          <p:nvPr/>
        </p:nvSpPr>
        <p:spPr>
          <a:xfrm>
            <a:off x="10479024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TIEMPO DE FALLA ACELERADO (survreg)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2441448"/>
            <a:ext cx="3172968" cy="749808"/>
          </a:xfrm>
          <a:prstGeom prst="rect">
            <a:avLst/>
          </a:prstGeom>
          <a:solidFill>
            <a:srgbClr val="F3F8FA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10552176" y="250545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survreg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(time, status) ~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sex + age + ph.ecog, data = lung,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"weibull"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(wb))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razones de tiempo</a:t>
            </a:r>
            <a:endParaRPr lang="en-US" sz="1100" dirty="0"/>
          </a:p>
        </p:txBody>
      </p:sp>
      <p:sp>
        <p:nvSpPr>
          <p:cNvPr id="125" name="Text 122"/>
          <p:cNvSpPr txBox="1"/>
          <p:nvPr/>
        </p:nvSpPr>
        <p:spPr>
          <a:xfrm>
            <a:off x="10479024" y="322783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Razón de tiempo 1.49: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el tiempo de supervivencia de las mujeres se alarga 49%. Aquí &gt; 1 es protector (al revés que el HR).</a:t>
            </a:r>
            <a:endParaRPr lang="en-US" sz="950" dirty="0"/>
          </a:p>
        </p:txBody>
      </p:sp>
      <p:sp>
        <p:nvSpPr>
          <p:cNvPr id="126" name="Text 123"/>
          <p:cNvSpPr txBox="1"/>
          <p:nvPr/>
        </p:nvSpPr>
        <p:spPr>
          <a:xfrm>
            <a:off x="10479024" y="37947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"weibull" · "exponential" · "lognormal" · "loglogistic"</a:t>
            </a:r>
            <a:endParaRPr lang="en-US" sz="1100" dirty="0"/>
          </a:p>
        </p:txBody>
      </p:sp>
      <p:sp>
        <p:nvSpPr>
          <p:cNvPr id="127" name="Text 124"/>
          <p:cNvSpPr txBox="1"/>
          <p:nvPr/>
        </p:nvSpPr>
        <p:spPr>
          <a:xfrm>
            <a:off x="10479024" y="42519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ERRORES FRECUENTES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10479024" y="4572000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29" name="Text 126"/>
          <p:cNvSpPr txBox="1"/>
          <p:nvPr/>
        </p:nvSpPr>
        <p:spPr>
          <a:xfrm>
            <a:off x="10643616" y="450799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Demasiadas covariables.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Apunta a ≥ 10 eventos por parámetro: 164 eventos admiten unos 16 parámetros (cuenta eventos, no pacientes).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10479024" y="5047488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31" name="Text 128"/>
          <p:cNvSpPr txBox="1"/>
          <p:nvPr/>
        </p:nvSpPr>
        <p:spPr>
          <a:xfrm>
            <a:off x="10643616" y="498348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HR ≠ RR.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HR de 0.58 es una razón de riesgos instantáneos (tasas), no un riesgo acumulado 42% menor.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10479024" y="5522976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10643616" y="545896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Sesgo de tiempo inmortal.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clasifiques la exposición con información posterior al tiempo cero (p. ej., “alguna vez tratado”). Usa una covariable dependiente del tiempo.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479024" y="5998464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35" name="Text 132"/>
          <p:cNvSpPr txBox="1"/>
          <p:nvPr/>
        </p:nvSpPr>
        <p:spPr>
          <a:xfrm>
            <a:off x="10643616" y="5934456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1 − KM con riesgos competitivos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sobreestima la incidencia acumulada. Usa el status como factor (ver 7).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10479024" y="6473952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10643616" y="64099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Filas excluidas en silencio.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filas con covariables faltantes se eliminan: revisa n y eventos en summary().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10479024" y="6949440"/>
            <a:ext cx="82296" cy="82296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39" name="Text 136"/>
          <p:cNvSpPr txBox="1"/>
          <p:nvPr/>
        </p:nvSpPr>
        <p:spPr>
          <a:xfrm>
            <a:off x="10643616" y="688543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Empates.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coxph() usa Efron por defecto y Stata, Breslow, así que los resultados difieren un poco.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479024" y="7397496"/>
            <a:ext cx="3172968" cy="658368"/>
          </a:xfrm>
          <a:prstGeom prst="roundRect">
            <a:avLst>
              <a:gd name="adj" fmla="val 8333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10570464" y="746150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CHECKLIST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Reporta: n, eventos, seguimiento mediano, curvas de KM con número en riesgo, HR con IC 95% y cómo se revisó RP.</a:t>
            </a:r>
            <a:endParaRPr lang="en-US" sz="950" dirty="0"/>
          </a:p>
        </p:txBody>
      </p:sp>
      <p:sp>
        <p:nvSpPr>
          <p:cNvPr id="142" name="Text 139"/>
          <p:cNvSpPr txBox="1"/>
          <p:nvPr/>
        </p:nvSpPr>
        <p:spPr>
          <a:xfrm>
            <a:off x="10479024" y="81838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PAQUETES COMPLEMENTARIOS</a:t>
            </a:r>
            <a:endParaRPr lang="en-US" sz="1000" dirty="0"/>
          </a:p>
        </p:txBody>
      </p:sp>
      <p:sp>
        <p:nvSpPr>
          <p:cNvPr id="143" name="Text 140"/>
          <p:cNvSpPr txBox="1"/>
          <p:nvPr/>
        </p:nvSpPr>
        <p:spPr>
          <a:xfrm>
            <a:off x="10479024" y="84307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survminer · ggsurvfit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curvas de KM con tabla de riesgo</a:t>
            </a:r>
            <a:endParaRPr lang="en-US" sz="950" dirty="0"/>
          </a:p>
        </p:txBody>
      </p:sp>
      <p:sp>
        <p:nvSpPr>
          <p:cNvPr id="144" name="Text 141"/>
          <p:cNvSpPr txBox="1"/>
          <p:nvPr/>
        </p:nvSpPr>
        <p:spPr>
          <a:xfrm>
            <a:off x="10479024" y="86685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gtsummary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tbl_regression(cx, exponentiate = TRUE)</a:t>
            </a:r>
            <a:endParaRPr lang="en-US" sz="950" dirty="0"/>
          </a:p>
        </p:txBody>
      </p:sp>
      <p:sp>
        <p:nvSpPr>
          <p:cNvPr id="145" name="Text 142"/>
          <p:cNvSpPr txBox="1"/>
          <p:nvPr/>
        </p:nvSpPr>
        <p:spPr>
          <a:xfrm>
            <a:off x="10479024" y="89062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cmprsk · tidycmprsk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prueba de Gray, regresión de Fine–Gray</a:t>
            </a:r>
            <a:endParaRPr lang="en-US" sz="950" dirty="0"/>
          </a:p>
        </p:txBody>
      </p:sp>
      <p:sp>
        <p:nvSpPr>
          <p:cNvPr id="146" name="Text 143"/>
          <p:cNvSpPr txBox="1"/>
          <p:nvPr/>
        </p:nvSpPr>
        <p:spPr>
          <a:xfrm>
            <a:off x="10479024" y="91440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flexsurv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modelos paramétricos flexibles</a:t>
            </a:r>
            <a:endParaRPr lang="en-US" sz="950" dirty="0"/>
          </a:p>
        </p:txBody>
      </p:sp>
      <p:sp>
        <p:nvSpPr>
          <p:cNvPr id="147" name="Text 144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0B4F6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Más información en 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vignette("survival")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versión de survival 3.8-12  •  Actualizado: 2026-10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ans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Survival analysis with survival :: CHEAT SHEET</dc:title>
  <dc:subject>PptxGenJS Presentation</dc:subject>
  <dc:creator>Anthony Romero-Cerdán</dc:creator>
  <cp:lastModifiedBy>Anthony Romero-Cerdán</cp:lastModifiedBy>
  <cp:revision>1</cp:revision>
  <dcterms:created xsi:type="dcterms:W3CDTF">2026-10-12T20:36:19Z</dcterms:created>
  <dcterms:modified xsi:type="dcterms:W3CDTF">2026-10-12T20:36:19Z</dcterms:modified>
</cp:coreProperties>
</file>