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13970000" cy="10795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1pPr>
    <a:lvl2pPr marL="0" marR="0" indent="2286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2pPr>
    <a:lvl3pPr marL="0" marR="0" indent="4572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3pPr>
    <a:lvl4pPr marL="0" marR="0" indent="6858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4pPr>
    <a:lvl5pPr marL="0" marR="0" indent="9144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5pPr>
    <a:lvl6pPr marL="0" marR="0" indent="11430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6pPr>
    <a:lvl7pPr marL="0" marR="0" indent="13716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7pPr>
    <a:lvl8pPr marL="0" marR="0" indent="16002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8pPr>
    <a:lvl9pPr marL="0" marR="0" indent="18288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rill, Esther N./Epidemiology-Biostatistics" initials="DEN" lastIdx="1" clrIdx="0">
    <p:extLst>
      <p:ext uri="{19B8F6BF-5375-455C-9EA6-DF929625EA0E}">
        <p15:presenceInfo xmlns:p15="http://schemas.microsoft.com/office/powerpoint/2012/main" userId="S::drille@mskcc.org::4e8c3332-7371-40c7-8502-8f71433d75f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CC14B"/>
    <a:srgbClr val="B0CD6F"/>
    <a:srgbClr val="51831D"/>
    <a:srgbClr val="FA694E"/>
    <a:srgbClr val="FB7860"/>
    <a:srgbClr val="9CC173"/>
    <a:srgbClr val="DAEAC5"/>
    <a:srgbClr val="A52A2A"/>
    <a:srgbClr val="228B22"/>
    <a:srgbClr val="FB87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911" autoAdjust="0"/>
    <p:restoredTop sz="94640"/>
  </p:normalViewPr>
  <p:slideViewPr>
    <p:cSldViewPr snapToGrid="0" snapToObjects="1">
      <p:cViewPr>
        <p:scale>
          <a:sx n="100" d="100"/>
          <a:sy n="100" d="100"/>
        </p:scale>
        <p:origin x="-144" y="-13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hony Romero" userId="6b0392680c44eebc" providerId="LiveId" clId="{DEF369C7-D875-4089-BC3A-2A58E6AC2C22}"/>
    <pc:docChg chg="custSel modSld">
      <pc:chgData name="Anthony Romero" userId="6b0392680c44eebc" providerId="LiveId" clId="{DEF369C7-D875-4089-BC3A-2A58E6AC2C22}" dt="2026-10-12T15:27:38.315" v="33" actId="14100"/>
      <pc:docMkLst>
        <pc:docMk/>
      </pc:docMkLst>
      <pc:sldChg chg="modSp mod">
        <pc:chgData name="Anthony Romero" userId="6b0392680c44eebc" providerId="LiveId" clId="{DEF369C7-D875-4089-BC3A-2A58E6AC2C22}" dt="2026-10-12T15:26:38.513" v="29" actId="1076"/>
        <pc:sldMkLst>
          <pc:docMk/>
          <pc:sldMk cId="0" sldId="256"/>
        </pc:sldMkLst>
        <pc:spChg chg="mod">
          <ac:chgData name="Anthony Romero" userId="6b0392680c44eebc" providerId="LiveId" clId="{DEF369C7-D875-4089-BC3A-2A58E6AC2C22}" dt="2026-10-12T15:16:30.775" v="0" actId="790"/>
          <ac:spMkLst>
            <pc:docMk/>
            <pc:sldMk cId="0" sldId="256"/>
            <ac:spMk id="31" creationId="{B747411B-F904-4FC4-9AB8-D40FB3CDC6E6}"/>
          </ac:spMkLst>
        </pc:spChg>
        <pc:spChg chg="mod">
          <ac:chgData name="Anthony Romero" userId="6b0392680c44eebc" providerId="LiveId" clId="{DEF369C7-D875-4089-BC3A-2A58E6AC2C22}" dt="2026-10-12T15:16:30.775" v="0" actId="790"/>
          <ac:spMkLst>
            <pc:docMk/>
            <pc:sldMk cId="0" sldId="256"/>
            <ac:spMk id="66" creationId="{16677AA7-DB5D-4DD6-AC9A-5EB7E60BE714}"/>
          </ac:spMkLst>
        </pc:spChg>
        <pc:spChg chg="mod">
          <ac:chgData name="Anthony Romero" userId="6b0392680c44eebc" providerId="LiveId" clId="{DEF369C7-D875-4089-BC3A-2A58E6AC2C22}" dt="2026-10-12T15:16:30.775" v="0" actId="790"/>
          <ac:spMkLst>
            <pc:docMk/>
            <pc:sldMk cId="0" sldId="256"/>
            <ac:spMk id="67" creationId="{4DA4D1D9-37C4-4336-86E8-CBE254F434F4}"/>
          </ac:spMkLst>
        </pc:spChg>
        <pc:spChg chg="mod">
          <ac:chgData name="Anthony Romero" userId="6b0392680c44eebc" providerId="LiveId" clId="{DEF369C7-D875-4089-BC3A-2A58E6AC2C22}" dt="2026-10-12T15:26:38.513" v="29" actId="1076"/>
          <ac:spMkLst>
            <pc:docMk/>
            <pc:sldMk cId="0" sldId="256"/>
            <ac:spMk id="71" creationId="{73DEEC64-65F6-4BD2-88D9-4BD8D998E1D6}"/>
          </ac:spMkLst>
        </pc:spChg>
        <pc:spChg chg="mod">
          <ac:chgData name="Anthony Romero" userId="6b0392680c44eebc" providerId="LiveId" clId="{DEF369C7-D875-4089-BC3A-2A58E6AC2C22}" dt="2026-10-12T15:16:30.775" v="0" actId="790"/>
          <ac:spMkLst>
            <pc:docMk/>
            <pc:sldMk cId="0" sldId="256"/>
            <ac:spMk id="77" creationId="{BFB53198-5AB9-4B99-851E-C688526D57F8}"/>
          </ac:spMkLst>
        </pc:spChg>
        <pc:spChg chg="mod">
          <ac:chgData name="Anthony Romero" userId="6b0392680c44eebc" providerId="LiveId" clId="{DEF369C7-D875-4089-BC3A-2A58E6AC2C22}" dt="2026-10-12T15:17:21.235" v="12" actId="20577"/>
          <ac:spMkLst>
            <pc:docMk/>
            <pc:sldMk cId="0" sldId="256"/>
            <ac:spMk id="78" creationId="{36E85A4D-C568-4230-AAF2-D3CAD719262F}"/>
          </ac:spMkLst>
        </pc:spChg>
        <pc:spChg chg="mod">
          <ac:chgData name="Anthony Romero" userId="6b0392680c44eebc" providerId="LiveId" clId="{DEF369C7-D875-4089-BC3A-2A58E6AC2C22}" dt="2026-10-12T15:16:30.775" v="0" actId="790"/>
          <ac:spMkLst>
            <pc:docMk/>
            <pc:sldMk cId="0" sldId="256"/>
            <ac:spMk id="79" creationId="{81057967-A5ED-4630-A3E0-52A832454C68}"/>
          </ac:spMkLst>
        </pc:spChg>
        <pc:spChg chg="mod">
          <ac:chgData name="Anthony Romero" userId="6b0392680c44eebc" providerId="LiveId" clId="{DEF369C7-D875-4089-BC3A-2A58E6AC2C22}" dt="2026-10-12T15:16:30.775" v="0" actId="790"/>
          <ac:spMkLst>
            <pc:docMk/>
            <pc:sldMk cId="0" sldId="256"/>
            <ac:spMk id="83" creationId="{96924F94-866C-4656-BFAC-D2069D23FB7C}"/>
          </ac:spMkLst>
        </pc:spChg>
        <pc:spChg chg="mod">
          <ac:chgData name="Anthony Romero" userId="6b0392680c44eebc" providerId="LiveId" clId="{DEF369C7-D875-4089-BC3A-2A58E6AC2C22}" dt="2026-10-12T15:16:30.775" v="0" actId="790"/>
          <ac:spMkLst>
            <pc:docMk/>
            <pc:sldMk cId="0" sldId="256"/>
            <ac:spMk id="113" creationId="{567413AD-15D6-4049-97C1-21A895ABC165}"/>
          </ac:spMkLst>
        </pc:spChg>
        <pc:spChg chg="mod">
          <ac:chgData name="Anthony Romero" userId="6b0392680c44eebc" providerId="LiveId" clId="{DEF369C7-D875-4089-BC3A-2A58E6AC2C22}" dt="2026-10-12T15:16:30.775" v="0" actId="790"/>
          <ac:spMkLst>
            <pc:docMk/>
            <pc:sldMk cId="0" sldId="256"/>
            <ac:spMk id="149" creationId="{00000000-0000-0000-0000-000000000000}"/>
          </ac:spMkLst>
        </pc:spChg>
        <pc:spChg chg="mod">
          <ac:chgData name="Anthony Romero" userId="6b0392680c44eebc" providerId="LiveId" clId="{DEF369C7-D875-4089-BC3A-2A58E6AC2C22}" dt="2026-10-12T15:25:20.645" v="25" actId="1076"/>
          <ac:spMkLst>
            <pc:docMk/>
            <pc:sldMk cId="0" sldId="256"/>
            <ac:spMk id="152" creationId="{00000000-0000-0000-0000-000000000000}"/>
          </ac:spMkLst>
        </pc:spChg>
        <pc:spChg chg="mod">
          <ac:chgData name="Anthony Romero" userId="6b0392680c44eebc" providerId="LiveId" clId="{DEF369C7-D875-4089-BC3A-2A58E6AC2C22}" dt="2026-10-12T15:16:30.775" v="0" actId="790"/>
          <ac:spMkLst>
            <pc:docMk/>
            <pc:sldMk cId="0" sldId="256"/>
            <ac:spMk id="167" creationId="{00000000-0000-0000-0000-000000000000}"/>
          </ac:spMkLst>
        </pc:spChg>
        <pc:spChg chg="mod">
          <ac:chgData name="Anthony Romero" userId="6b0392680c44eebc" providerId="LiveId" clId="{DEF369C7-D875-4089-BC3A-2A58E6AC2C22}" dt="2026-10-12T15:17:03.315" v="9" actId="6549"/>
          <ac:spMkLst>
            <pc:docMk/>
            <pc:sldMk cId="0" sldId="256"/>
            <ac:spMk id="198" creationId="{8D57C423-EE0F-4CBE-83DF-F86E130F69E3}"/>
          </ac:spMkLst>
        </pc:spChg>
        <pc:graphicFrameChg chg="modGraphic">
          <ac:chgData name="Anthony Romero" userId="6b0392680c44eebc" providerId="LiveId" clId="{DEF369C7-D875-4089-BC3A-2A58E6AC2C22}" dt="2026-10-12T15:24:46.697" v="16" actId="14734"/>
          <ac:graphicFrameMkLst>
            <pc:docMk/>
            <pc:sldMk cId="0" sldId="256"/>
            <ac:graphicFrameMk id="335" creationId="{566BE965-8354-4D7B-B39F-85C5EF730FFD}"/>
          </ac:graphicFrameMkLst>
        </pc:graphicFrameChg>
      </pc:sldChg>
      <pc:sldChg chg="addSp delSp modSp mod">
        <pc:chgData name="Anthony Romero" userId="6b0392680c44eebc" providerId="LiveId" clId="{DEF369C7-D875-4089-BC3A-2A58E6AC2C22}" dt="2026-10-12T15:27:38.315" v="33" actId="14100"/>
        <pc:sldMkLst>
          <pc:docMk/>
          <pc:sldMk cId="355668212" sldId="258"/>
        </pc:sldMkLst>
        <pc:spChg chg="add mod">
          <ac:chgData name="Anthony Romero" userId="6b0392680c44eebc" providerId="LiveId" clId="{DEF369C7-D875-4089-BC3A-2A58E6AC2C22}" dt="2026-10-12T15:25:42.720" v="28" actId="1076"/>
          <ac:spMkLst>
            <pc:docMk/>
            <pc:sldMk cId="355668212" sldId="258"/>
            <ac:spMk id="6" creationId="{721D4749-2541-551E-747F-7DBE6AB02A36}"/>
          </ac:spMkLst>
        </pc:spChg>
        <pc:spChg chg="mod">
          <ac:chgData name="Anthony Romero" userId="6b0392680c44eebc" providerId="LiveId" clId="{DEF369C7-D875-4089-BC3A-2A58E6AC2C22}" dt="2026-10-12T15:27:24.040" v="30" actId="1076"/>
          <ac:spMkLst>
            <pc:docMk/>
            <pc:sldMk cId="355668212" sldId="258"/>
            <ac:spMk id="121" creationId="{C3FA9CCA-0C64-4C8A-B91F-E3DEB8D0A2A1}"/>
          </ac:spMkLst>
        </pc:spChg>
        <pc:spChg chg="del">
          <ac:chgData name="Anthony Romero" userId="6b0392680c44eebc" providerId="LiveId" clId="{DEF369C7-D875-4089-BC3A-2A58E6AC2C22}" dt="2026-10-12T15:25:35.635" v="26" actId="478"/>
          <ac:spMkLst>
            <pc:docMk/>
            <pc:sldMk cId="355668212" sldId="258"/>
            <ac:spMk id="152" creationId="{00000000-0000-0000-0000-000000000000}"/>
          </ac:spMkLst>
        </pc:spChg>
        <pc:spChg chg="mod">
          <ac:chgData name="Anthony Romero" userId="6b0392680c44eebc" providerId="LiveId" clId="{DEF369C7-D875-4089-BC3A-2A58E6AC2C22}" dt="2026-10-12T15:27:38.315" v="33" actId="14100"/>
          <ac:spMkLst>
            <pc:docMk/>
            <pc:sldMk cId="355668212" sldId="258"/>
            <ac:spMk id="158" creationId="{CE1512B9-7E5A-4E25-AF71-8F8BCE9DA00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6" name="Shape 12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1pPr>
    <a:lvl2pPr indent="2286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2pPr>
    <a:lvl3pPr indent="4572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3pPr>
    <a:lvl4pPr indent="6858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4pPr>
    <a:lvl5pPr indent="9144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5pPr>
    <a:lvl6pPr indent="11430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6pPr>
    <a:lvl7pPr indent="13716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7pPr>
    <a:lvl8pPr indent="16002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8pPr>
    <a:lvl9pPr indent="18288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9675" y="685800"/>
            <a:ext cx="44386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846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9675" y="685800"/>
            <a:ext cx="44386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510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364257" y="1918642"/>
            <a:ext cx="11241486" cy="3547071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64257" y="5561210"/>
            <a:ext cx="11241486" cy="1214191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1725786" y="840878"/>
            <a:ext cx="10504786" cy="635744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1364257" y="7375673"/>
            <a:ext cx="11241486" cy="152797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64257" y="8958212"/>
            <a:ext cx="11241486" cy="1214191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790156" y="10090546"/>
            <a:ext cx="376045" cy="38854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364257" y="3623964"/>
            <a:ext cx="11241486" cy="354707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7216923" y="840878"/>
            <a:ext cx="5729884" cy="884039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023193" y="840878"/>
            <a:ext cx="5729884" cy="4283771"/>
          </a:xfrm>
          <a:prstGeom prst="rect">
            <a:avLst/>
          </a:prstGeom>
        </p:spPr>
        <p:txBody>
          <a:bodyPr anchor="b"/>
          <a:lstStyle>
            <a:lvl1pPr>
              <a:defRPr sz="3300"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23193" y="5274716"/>
            <a:ext cx="5729884" cy="4406554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7216923" y="2955478"/>
            <a:ext cx="5729884" cy="675307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23193" y="2955478"/>
            <a:ext cx="5729884" cy="6753077"/>
          </a:xfrm>
          <a:prstGeom prst="rect">
            <a:avLst/>
          </a:prstGeom>
        </p:spPr>
        <p:txBody>
          <a:bodyPr/>
          <a:lstStyle>
            <a:lvl1pPr marL="146957" indent="-146957">
              <a:defRPr b="1"/>
            </a:lvl1pPr>
            <a:lvl2pPr marL="489857" indent="-146957">
              <a:defRPr b="1"/>
            </a:lvl2pPr>
            <a:lvl3pPr marL="832757" indent="-146957">
              <a:defRPr b="1"/>
            </a:lvl3pPr>
            <a:lvl4pPr marL="1175657" indent="-146957">
              <a:defRPr b="1"/>
            </a:lvl4pPr>
            <a:lvl5pPr marL="1518557" indent="-146957">
              <a:defRPr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023193" y="1523007"/>
            <a:ext cx="11923614" cy="774898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half" idx="13"/>
          </p:nvPr>
        </p:nvSpPr>
        <p:spPr>
          <a:xfrm>
            <a:off x="1023193" y="1113730"/>
            <a:ext cx="5729884" cy="856754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7216923" y="5629423"/>
            <a:ext cx="5729884" cy="40518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sz="quarter" idx="15"/>
          </p:nvPr>
        </p:nvSpPr>
        <p:spPr>
          <a:xfrm>
            <a:off x="7223603" y="1113730"/>
            <a:ext cx="5729884" cy="40518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>
            <a:spLocks noGrp="1"/>
          </p:cNvSpPr>
          <p:nvPr>
            <p:ph type="body" sz="quarter" idx="13"/>
          </p:nvPr>
        </p:nvSpPr>
        <p:spPr>
          <a:xfrm>
            <a:off x="1364257" y="6993681"/>
            <a:ext cx="11241486" cy="50800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r">
              <a:lnSpc>
                <a:spcPct val="90000"/>
              </a:lnSpc>
              <a:buSzTx/>
              <a:buNone/>
              <a:defRPr sz="900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>
            <a:spLocks noGrp="1"/>
          </p:cNvSpPr>
          <p:nvPr>
            <p:ph type="body" sz="quarter" idx="14"/>
          </p:nvPr>
        </p:nvSpPr>
        <p:spPr>
          <a:xfrm>
            <a:off x="1364257" y="4742656"/>
            <a:ext cx="11241486" cy="7367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SzTx/>
              <a:buNone/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158750"/>
            <a:ext cx="13964218" cy="10477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8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123472" indent="-123472">
              <a:defRPr sz="1000"/>
            </a:lvl1pPr>
            <a:lvl2pPr marL="567972" indent="-123472">
              <a:defRPr sz="1000"/>
            </a:lvl2pPr>
            <a:lvl3pPr marL="1012472" indent="-123472">
              <a:defRPr sz="1000"/>
            </a:lvl3pPr>
            <a:lvl4pPr marL="1456972" indent="-123472">
              <a:defRPr sz="1000"/>
            </a:lvl4pPr>
            <a:lvl5pPr marL="1901472" indent="-123472">
              <a:defRPr sz="1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023193" y="636240"/>
            <a:ext cx="11923614" cy="231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570" tIns="54570" rIns="54570" bIns="5457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023193" y="2955478"/>
            <a:ext cx="11923614" cy="6753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570" tIns="54570" rIns="54570" bIns="5457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790156" y="10097368"/>
            <a:ext cx="376045" cy="388541"/>
          </a:xfrm>
          <a:prstGeom prst="rect">
            <a:avLst/>
          </a:prstGeom>
          <a:ln w="12700">
            <a:miter lim="400000"/>
          </a:ln>
        </p:spPr>
        <p:txBody>
          <a:bodyPr wrap="none" lIns="54570" tIns="54570" rIns="54570" bIns="54570">
            <a:spAutoFit/>
          </a:bodyPr>
          <a:lstStyle>
            <a:lvl1pPr algn="ctr">
              <a:spcBef>
                <a:spcPts val="0"/>
              </a:spcBef>
              <a:defRPr sz="1800" b="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/>
  <p:txStyles>
    <p:titleStyle>
      <a:lvl1pPr marL="0" marR="0" indent="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1pPr>
      <a:lvl2pPr marL="0" marR="0" indent="2286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2pPr>
      <a:lvl3pPr marL="0" marR="0" indent="4572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3pPr>
      <a:lvl4pPr marL="0" marR="0" indent="6858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4pPr>
      <a:lvl5pPr marL="0" marR="0" indent="9144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5pPr>
      <a:lvl6pPr marL="0" marR="0" indent="11430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6pPr>
      <a:lvl7pPr marL="0" marR="0" indent="13716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7pPr>
      <a:lvl8pPr marL="0" marR="0" indent="16002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8pPr>
      <a:lvl9pPr marL="0" marR="0" indent="18288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9pPr>
    </p:titleStyle>
    <p:bodyStyle>
      <a:lvl1pPr marL="148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1pPr>
      <a:lvl2pPr marL="592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2pPr>
      <a:lvl3pPr marL="1037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3pPr>
      <a:lvl4pPr marL="1481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4pPr>
      <a:lvl5pPr marL="1926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5pPr>
      <a:lvl6pPr marL="2370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6pPr>
      <a:lvl7pPr marL="2815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7pPr>
      <a:lvl8pPr marL="3259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8pPr>
      <a:lvl9pPr marL="3704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5.png"/><Relationship Id="rId3" Type="http://schemas.openxmlformats.org/officeDocument/2006/relationships/hyperlink" Target="https://creativecommons.org/licenses/by-sa/4.0/" TargetMode="External"/><Relationship Id="rId7" Type="http://schemas.openxmlformats.org/officeDocument/2006/relationships/image" Target="../media/image2.png"/><Relationship Id="rId12" Type="http://schemas.openxmlformats.org/officeDocument/2006/relationships/hyperlink" Target="http://www.danieldsjoberg.com/gtsummary/articles/tbl_summary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://www.danieldsjoberg.com/gtsummary/reference/tbl_summary.html" TargetMode="External"/><Relationship Id="rId11" Type="http://schemas.openxmlformats.org/officeDocument/2006/relationships/hyperlink" Target="http://www.danieldsjoberg.com/gtsummary/reference/tbl_svysummary.html" TargetMode="External"/><Relationship Id="rId5" Type="http://schemas.openxmlformats.org/officeDocument/2006/relationships/hyperlink" Target="http://www.danieldsjoberg.com/gtsummary/index.html" TargetMode="External"/><Relationship Id="rId10" Type="http://schemas.openxmlformats.org/officeDocument/2006/relationships/hyperlink" Target="http://www.danieldsjoberg.com/gtsummary/reference/index.html" TargetMode="External"/><Relationship Id="rId4" Type="http://schemas.openxmlformats.org/officeDocument/2006/relationships/hyperlink" Target="mailto:drille@mskcc.org" TargetMode="External"/><Relationship Id="rId9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hyperlink" Target="https://www.danieldsjoberg.com/gtsummary/reference/" TargetMode="External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6" Type="http://schemas.openxmlformats.org/officeDocument/2006/relationships/hyperlink" Target="http://www.danieldsjoberg.com/gtsummary/index.html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danieldsjoberg.com/gtsummary/reference/tbl_uvregression.html" TargetMode="External"/><Relationship Id="rId11" Type="http://schemas.openxmlformats.org/officeDocument/2006/relationships/hyperlink" Target="http://www.danieldsjoberg.com/gtsummary/reference/tbl_survift.html" TargetMode="External"/><Relationship Id="rId5" Type="http://schemas.openxmlformats.org/officeDocument/2006/relationships/image" Target="../media/image7.png"/><Relationship Id="rId15" Type="http://schemas.openxmlformats.org/officeDocument/2006/relationships/hyperlink" Target="mailto:drille@mskcc.org" TargetMode="External"/><Relationship Id="rId10" Type="http://schemas.openxmlformats.org/officeDocument/2006/relationships/image" Target="../media/image11.png"/><Relationship Id="rId4" Type="http://schemas.openxmlformats.org/officeDocument/2006/relationships/hyperlink" Target="http://www.danieldsjoberg.com/gtsummary/reference/tbl_regression.html" TargetMode="External"/><Relationship Id="rId9" Type="http://schemas.openxmlformats.org/officeDocument/2006/relationships/image" Target="../media/image10.png"/><Relationship Id="rId14" Type="http://schemas.openxmlformats.org/officeDocument/2006/relationships/hyperlink" Target="https://creativecommons.org/licenses/by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076C710-22C9-4E57-9063-4C638321FF28}"/>
              </a:ext>
            </a:extLst>
          </p:cNvPr>
          <p:cNvSpPr/>
          <p:nvPr/>
        </p:nvSpPr>
        <p:spPr>
          <a:xfrm>
            <a:off x="270248" y="1745748"/>
            <a:ext cx="13304520" cy="8751268"/>
          </a:xfrm>
          <a:prstGeom prst="rect">
            <a:avLst/>
          </a:prstGeom>
          <a:solidFill>
            <a:srgbClr val="DEEAC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PE" sz="12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6B02F41-7775-4D24-9665-498441AE09E3}"/>
              </a:ext>
            </a:extLst>
          </p:cNvPr>
          <p:cNvSpPr/>
          <p:nvPr/>
        </p:nvSpPr>
        <p:spPr>
          <a:xfrm>
            <a:off x="8631748" y="8296371"/>
            <a:ext cx="4454216" cy="301813"/>
          </a:xfrm>
          <a:prstGeom prst="rect">
            <a:avLst/>
          </a:prstGeom>
          <a:solidFill>
            <a:srgbClr val="9CC173">
              <a:alpha val="25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PE" sz="1200" b="0" i="0" u="none" strike="noStrike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47" name="Line"/>
          <p:cNvSpPr/>
          <p:nvPr/>
        </p:nvSpPr>
        <p:spPr>
          <a:xfrm>
            <a:off x="241300" y="10337513"/>
            <a:ext cx="13434202" cy="1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lang="es-PE" noProof="0" dirty="0"/>
          </a:p>
        </p:txBody>
      </p:sp>
      <p:sp>
        <p:nvSpPr>
          <p:cNvPr id="149" name="Basics"/>
          <p:cNvSpPr txBox="1"/>
          <p:nvPr/>
        </p:nvSpPr>
        <p:spPr>
          <a:xfrm>
            <a:off x="282688" y="1265085"/>
            <a:ext cx="25713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endParaRPr lang="es-PE" noProof="0" dirty="0"/>
          </a:p>
        </p:txBody>
      </p:sp>
      <p:sp>
        <p:nvSpPr>
          <p:cNvPr id="152" name="RStudio® is a trademark of RStudio, Inc.  •  CC BY SA Your Name •  your@email.com  •  844-448-1212 • your.website.com •  Learn more at webpage or vignette   •  package version  0.5.0 •  Updated: 2017-01"/>
          <p:cNvSpPr txBox="1"/>
          <p:nvPr/>
        </p:nvSpPr>
        <p:spPr>
          <a:xfrm>
            <a:off x="2253764" y="10510530"/>
            <a:ext cx="11322666" cy="234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defRPr sz="900" b="0">
                <a:solidFill>
                  <a:srgbClr val="000000"/>
                </a:solidFill>
              </a:defRPr>
            </a:pPr>
            <a:r>
              <a:rPr lang="es-PE" noProof="0" dirty="0">
                <a:hlinkClick r:id="rId3"/>
              </a:rPr>
              <a:t>CC BY SA</a:t>
            </a:r>
            <a:r>
              <a:rPr lang="es-PE" noProof="0" dirty="0"/>
              <a:t> Esther Drill •  </a:t>
            </a:r>
            <a:r>
              <a:rPr lang="es-PE" noProof="0" dirty="0">
                <a:hlinkClick r:id="rId4"/>
              </a:rPr>
              <a:t>drille@mskcc.org  </a:t>
            </a:r>
            <a:r>
              <a:rPr lang="es-PE" noProof="0" dirty="0"/>
              <a:t>•  Más información en </a:t>
            </a:r>
            <a:r>
              <a:rPr lang="es-PE" noProof="0" dirty="0" err="1">
                <a:hlinkClick r:id="rId5"/>
              </a:rPr>
              <a:t>gtsummary</a:t>
            </a:r>
            <a:r>
              <a:rPr lang="es-PE" noProof="0" dirty="0"/>
              <a:t> •  versión del paquete 1.5.2</a:t>
            </a:r>
            <a:r>
              <a:rPr lang="es-PE" b="1" noProof="0" dirty="0"/>
              <a:t> </a:t>
            </a:r>
            <a:r>
              <a:rPr lang="es-PE" noProof="0" dirty="0"/>
              <a:t> •  Actualizado: 2026-10  •  Traducido por Anthony Romero-Cerdán  •  </a:t>
            </a:r>
            <a:r>
              <a:rPr lang="es-PE" noProof="0" dirty="0" err="1"/>
              <a:t>anthonyromero.netlify.app</a:t>
            </a:r>
            <a:endParaRPr lang="es-PE" noProof="0" dirty="0"/>
          </a:p>
        </p:txBody>
      </p:sp>
      <p:sp>
        <p:nvSpPr>
          <p:cNvPr id="167" name="Line"/>
          <p:cNvSpPr/>
          <p:nvPr/>
        </p:nvSpPr>
        <p:spPr>
          <a:xfrm>
            <a:off x="3884203" y="4195895"/>
            <a:ext cx="2794946" cy="0"/>
          </a:xfrm>
          <a:prstGeom prst="line">
            <a:avLst/>
          </a:prstGeom>
          <a:noFill/>
          <a:ln w="12700" cap="flat">
            <a:solidFill>
              <a:srgbClr val="E0E0E0"/>
            </a:solidFill>
            <a:custDash>
              <a:ds d="100000" sp="200000"/>
            </a:custDash>
            <a:round/>
          </a:ln>
          <a:effectLst/>
        </p:spPr>
        <p:txBody>
          <a:bodyPr wrap="square" lIns="54570" tIns="54570" rIns="54570" bIns="54570" numCol="1" anchor="ctr">
            <a:noAutofit/>
          </a:bodyPr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lang="es-PE" noProof="0" dirty="0"/>
          </a:p>
        </p:txBody>
      </p:sp>
      <p:sp>
        <p:nvSpPr>
          <p:cNvPr id="196" name="Remember that the best cheatsheets are visual—not written—documents. Whenever possible use visual elements to make it easier for readers to find the information they need.">
            <a:extLst>
              <a:ext uri="{FF2B5EF4-FFF2-40B4-BE49-F238E27FC236}">
                <a16:creationId xmlns:a16="http://schemas.microsoft.com/office/drawing/2014/main" id="{707EB27C-C2BF-403A-A6A7-8291C27C02E5}"/>
              </a:ext>
            </a:extLst>
          </p:cNvPr>
          <p:cNvSpPr txBox="1"/>
          <p:nvPr/>
        </p:nvSpPr>
        <p:spPr>
          <a:xfrm>
            <a:off x="81492" y="140749"/>
            <a:ext cx="3079729" cy="70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r>
              <a:rPr lang="es-PE" sz="3600" noProof="0" dirty="0" err="1">
                <a:ln>
                  <a:solidFill>
                    <a:srgbClr val="9CC14B"/>
                  </a:solidFill>
                </a:ln>
                <a:solidFill>
                  <a:srgbClr val="9CC14B"/>
                </a:solidFill>
              </a:rPr>
              <a:t>gt</a:t>
            </a:r>
            <a:r>
              <a:rPr lang="es-PE" sz="3600" noProof="0" dirty="0">
                <a:ln>
                  <a:solidFill>
                    <a:srgbClr val="9CC14B"/>
                  </a:solidFill>
                </a:ln>
                <a:solidFill>
                  <a:srgbClr val="9CC14B"/>
                </a:solidFill>
              </a:rPr>
              <a:t> </a:t>
            </a:r>
            <a:r>
              <a:rPr lang="es-PE" sz="3600" noProof="0" dirty="0" err="1">
                <a:ln>
                  <a:solidFill>
                    <a:srgbClr val="9CC14B"/>
                  </a:solidFill>
                </a:ln>
                <a:solidFill>
                  <a:srgbClr val="9CC14B"/>
                </a:solidFill>
              </a:rPr>
              <a:t>summary</a:t>
            </a:r>
            <a:endParaRPr lang="es-PE" sz="3600" noProof="0" dirty="0">
              <a:ln>
                <a:solidFill>
                  <a:srgbClr val="9CC14B"/>
                </a:solidFill>
              </a:ln>
              <a:solidFill>
                <a:srgbClr val="9CC14B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C6553BF-0147-4067-B6FA-8E505CACFDE7}"/>
              </a:ext>
            </a:extLst>
          </p:cNvPr>
          <p:cNvSpPr/>
          <p:nvPr/>
        </p:nvSpPr>
        <p:spPr>
          <a:xfrm>
            <a:off x="2934425" y="100057"/>
            <a:ext cx="9388710" cy="367103"/>
          </a:xfrm>
          <a:prstGeom prst="roundRect">
            <a:avLst/>
          </a:prstGeom>
          <a:solidFill>
            <a:srgbClr val="9CC14B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PE" sz="1800" i="0" u="none" strike="noStrike" cap="none" spc="0" normalizeH="0" baseline="0" noProof="0" dirty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Funciones principales para tablas</a:t>
            </a:r>
          </a:p>
        </p:txBody>
      </p:sp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9BCC9B51-9112-4C80-A7AD-4CFACBB24756}"/>
              </a:ext>
            </a:extLst>
          </p:cNvPr>
          <p:cNvSpPr/>
          <p:nvPr/>
        </p:nvSpPr>
        <p:spPr>
          <a:xfrm>
            <a:off x="261958" y="1386585"/>
            <a:ext cx="11700829" cy="367103"/>
          </a:xfrm>
          <a:prstGeom prst="roundRect">
            <a:avLst/>
          </a:prstGeom>
          <a:solidFill>
            <a:srgbClr val="9CC14B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PE" sz="1800" noProof="0" dirty="0" err="1">
                <a:solidFill>
                  <a:schemeClr val="bg1"/>
                </a:solidFill>
              </a:rPr>
              <a:t>t</a:t>
            </a:r>
            <a:r>
              <a:rPr kumimoji="0" lang="es-PE" sz="1800" i="0" u="none" strike="noStrike" cap="none" spc="0" normalizeH="0" baseline="0" noProof="0" dirty="0" err="1">
                <a:solidFill>
                  <a:schemeClr val="bg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bl_summary</a:t>
            </a:r>
            <a:r>
              <a:rPr kumimoji="0" lang="es-PE" sz="1800" i="0" u="none" strike="noStrike" cap="none" spc="0" normalizeH="0" baseline="0" noProof="0" dirty="0">
                <a:solidFill>
                  <a:schemeClr val="bg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()</a:t>
            </a:r>
            <a:r>
              <a:rPr kumimoji="0" lang="es-PE" sz="1800" i="0" u="none" strike="noStrike" cap="none" spc="0" normalizeH="0" baseline="0" noProof="0" dirty="0">
                <a:noFill/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(</a:t>
            </a:r>
            <a:r>
              <a:rPr kumimoji="0" lang="es-PE" b="0" i="0" u="none" strike="noStrike" cap="none" spc="0" normalizeH="0" baseline="0" noProof="0" dirty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resume columnas específicas de los datos con sintaxis tidyverse y personalización flexible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272D7A3-6415-4AF1-A031-1A8BB9B2D7E9}"/>
              </a:ext>
            </a:extLst>
          </p:cNvPr>
          <p:cNvGrpSpPr/>
          <p:nvPr/>
        </p:nvGrpSpPr>
        <p:grpSpPr>
          <a:xfrm>
            <a:off x="2998369" y="566928"/>
            <a:ext cx="2926080" cy="685800"/>
            <a:chOff x="2860141" y="579646"/>
            <a:chExt cx="2743217" cy="685800"/>
          </a:xfrm>
        </p:grpSpPr>
        <p:sp>
          <p:nvSpPr>
            <p:cNvPr id="218" name="i + geom_area() x, y, alpha, color, fill, linetype, size…">
              <a:extLst>
                <a:ext uri="{FF2B5EF4-FFF2-40B4-BE49-F238E27FC236}">
                  <a16:creationId xmlns:a16="http://schemas.microsoft.com/office/drawing/2014/main" id="{3D4211A8-4F2B-4757-8541-C07FCA417336}"/>
                </a:ext>
              </a:extLst>
            </p:cNvPr>
            <p:cNvSpPr txBox="1"/>
            <p:nvPr/>
          </p:nvSpPr>
          <p:spPr>
            <a:xfrm>
              <a:off x="2945058" y="855782"/>
              <a:ext cx="2538928" cy="2987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blurRad="50800" dist="50800" dir="5400000" algn="ctr" rotWithShape="0">
                <a:schemeClr val="bg1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/>
            <a:p>
              <a:pPr>
                <a:spcBef>
                  <a:spcPts val="1100"/>
                </a:spcBef>
                <a:defRPr sz="1000">
                  <a:solidFill>
                    <a:srgbClr val="000000"/>
                  </a:solidFill>
                </a:defRPr>
              </a:pPr>
              <a:r>
                <a:rPr lang="es-PE" sz="1100" b="0" noProof="0" dirty="0"/>
                <a:t>Estadísticos descriptivos para variables continuas, categóricas y dicotómicas</a:t>
              </a:r>
              <a:r>
                <a:rPr lang="es-PE" b="0" noProof="0" dirty="0"/>
                <a:t>.</a:t>
              </a:r>
            </a:p>
          </p:txBody>
        </p:sp>
        <p:sp>
          <p:nvSpPr>
            <p:cNvPr id="219" name="i + geom_area() x, y, alpha, color, fill, linetype, size…">
              <a:extLst>
                <a:ext uri="{FF2B5EF4-FFF2-40B4-BE49-F238E27FC236}">
                  <a16:creationId xmlns:a16="http://schemas.microsoft.com/office/drawing/2014/main" id="{A1ADD3AD-3737-48DA-BDF7-5C039D41ABFF}"/>
                </a:ext>
              </a:extLst>
            </p:cNvPr>
            <p:cNvSpPr txBox="1"/>
            <p:nvPr/>
          </p:nvSpPr>
          <p:spPr>
            <a:xfrm>
              <a:off x="2966325" y="649280"/>
              <a:ext cx="1414290" cy="1289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/>
            <a:p>
              <a:pPr>
                <a:lnSpc>
                  <a:spcPct val="70000"/>
                </a:lnSpc>
                <a:spcBef>
                  <a:spcPts val="1100"/>
                </a:spcBef>
                <a:defRPr sz="1000">
                  <a:solidFill>
                    <a:srgbClr val="000000"/>
                  </a:solidFill>
                </a:defRPr>
              </a:pPr>
              <a:r>
                <a:rPr lang="es-PE" sz="1600" noProof="0" dirty="0" err="1"/>
                <a:t>tbl_summary</a:t>
              </a:r>
              <a:r>
                <a:rPr lang="es-PE" sz="1600" noProof="0" dirty="0"/>
                <a:t>()</a:t>
              </a:r>
              <a:br>
                <a:rPr lang="es-PE" noProof="0" dirty="0"/>
              </a:br>
              <a:endParaRPr lang="es-PE" sz="1500" b="0" noProof="0" dirty="0"/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E0487D70-EADC-49F9-8C09-0ED8EEAD65FB}"/>
                </a:ext>
              </a:extLst>
            </p:cNvPr>
            <p:cNvSpPr/>
            <p:nvPr/>
          </p:nvSpPr>
          <p:spPr>
            <a:xfrm>
              <a:off x="2860141" y="579646"/>
              <a:ext cx="2743217" cy="685800"/>
            </a:xfrm>
            <a:prstGeom prst="rect">
              <a:avLst/>
            </a:prstGeom>
            <a:noFill/>
            <a:ln w="12700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s-PE" sz="12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0FC849E6-DED3-4F39-A77B-05310A67A2EE}"/>
              </a:ext>
            </a:extLst>
          </p:cNvPr>
          <p:cNvGrpSpPr/>
          <p:nvPr/>
        </p:nvGrpSpPr>
        <p:grpSpPr>
          <a:xfrm>
            <a:off x="6142398" y="569175"/>
            <a:ext cx="2926080" cy="685800"/>
            <a:chOff x="276112" y="2732535"/>
            <a:chExt cx="2743200" cy="685800"/>
          </a:xfrm>
          <a:effectLst/>
        </p:grpSpPr>
        <p:sp>
          <p:nvSpPr>
            <p:cNvPr id="307" name="i + geom_area() x, y, alpha, color, fill, linetype, size…">
              <a:extLst>
                <a:ext uri="{FF2B5EF4-FFF2-40B4-BE49-F238E27FC236}">
                  <a16:creationId xmlns:a16="http://schemas.microsoft.com/office/drawing/2014/main" id="{11FDA69C-5CA7-4970-A318-7A5AC972A3F3}"/>
                </a:ext>
              </a:extLst>
            </p:cNvPr>
            <p:cNvSpPr txBox="1"/>
            <p:nvPr/>
          </p:nvSpPr>
          <p:spPr>
            <a:xfrm>
              <a:off x="392605" y="3005681"/>
              <a:ext cx="2551668" cy="4051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/>
            <a:p>
              <a:pPr>
                <a:spcBef>
                  <a:spcPts val="1100"/>
                </a:spcBef>
                <a:defRPr sz="1000">
                  <a:solidFill>
                    <a:srgbClr val="000000"/>
                  </a:solidFill>
                </a:defRPr>
              </a:pPr>
              <a:r>
                <a:rPr lang="es-PE" sz="1100" b="0" noProof="0" dirty="0"/>
                <a:t>Convierte un objeto de modelo de regresión en una tabla formateada y personalizada. </a:t>
              </a:r>
            </a:p>
          </p:txBody>
        </p:sp>
        <p:sp>
          <p:nvSpPr>
            <p:cNvPr id="308" name="i + geom_area() x, y, alpha, color, fill, linetype, size…">
              <a:extLst>
                <a:ext uri="{FF2B5EF4-FFF2-40B4-BE49-F238E27FC236}">
                  <a16:creationId xmlns:a16="http://schemas.microsoft.com/office/drawing/2014/main" id="{44B83EFB-AC4A-4BC4-A34C-69B1B9448B66}"/>
                </a:ext>
              </a:extLst>
            </p:cNvPr>
            <p:cNvSpPr txBox="1"/>
            <p:nvPr/>
          </p:nvSpPr>
          <p:spPr>
            <a:xfrm>
              <a:off x="392842" y="2826176"/>
              <a:ext cx="1545175" cy="2741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/>
            <a:p>
              <a:pPr>
                <a:lnSpc>
                  <a:spcPct val="70000"/>
                </a:lnSpc>
                <a:spcBef>
                  <a:spcPts val="1100"/>
                </a:spcBef>
                <a:defRPr sz="1000">
                  <a:solidFill>
                    <a:srgbClr val="000000"/>
                  </a:solidFill>
                </a:defRPr>
              </a:pPr>
              <a:r>
                <a:rPr lang="es-PE" sz="1600" noProof="0" dirty="0" err="1"/>
                <a:t>tbl_regression</a:t>
              </a:r>
              <a:r>
                <a:rPr lang="es-PE" sz="1600" noProof="0" dirty="0"/>
                <a:t>()</a:t>
              </a:r>
              <a:br>
                <a:rPr lang="es-PE" noProof="0" dirty="0"/>
              </a:br>
              <a:endParaRPr lang="es-PE" sz="1500" b="0" noProof="0" dirty="0"/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1412E807-CAF1-4D0B-A525-6265B536AE50}"/>
                </a:ext>
              </a:extLst>
            </p:cNvPr>
            <p:cNvSpPr/>
            <p:nvPr/>
          </p:nvSpPr>
          <p:spPr>
            <a:xfrm>
              <a:off x="276112" y="2732535"/>
              <a:ext cx="2743200" cy="685800"/>
            </a:xfrm>
            <a:prstGeom prst="rect">
              <a:avLst/>
            </a:prstGeom>
            <a:noFill/>
            <a:ln w="12700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s-PE" sz="12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ED3BC356-C2C8-4BF9-93B7-F9768A0E3955}"/>
              </a:ext>
            </a:extLst>
          </p:cNvPr>
          <p:cNvGrpSpPr/>
          <p:nvPr/>
        </p:nvGrpSpPr>
        <p:grpSpPr>
          <a:xfrm>
            <a:off x="9290148" y="566928"/>
            <a:ext cx="2926080" cy="688348"/>
            <a:chOff x="285318" y="3520985"/>
            <a:chExt cx="2743200" cy="688348"/>
          </a:xfrm>
        </p:grpSpPr>
        <p:sp>
          <p:nvSpPr>
            <p:cNvPr id="311" name="i + geom_area() x, y, alpha, color, fill, linetype, size…">
              <a:extLst>
                <a:ext uri="{FF2B5EF4-FFF2-40B4-BE49-F238E27FC236}">
                  <a16:creationId xmlns:a16="http://schemas.microsoft.com/office/drawing/2014/main" id="{8016C7D7-AE65-46BA-B01B-58EEAABF29BD}"/>
                </a:ext>
              </a:extLst>
            </p:cNvPr>
            <p:cNvSpPr txBox="1"/>
            <p:nvPr/>
          </p:nvSpPr>
          <p:spPr>
            <a:xfrm>
              <a:off x="351968" y="3804037"/>
              <a:ext cx="2588112" cy="4052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/>
            <a:p>
              <a:pPr>
                <a:spcBef>
                  <a:spcPts val="1100"/>
                </a:spcBef>
                <a:defRPr sz="1000">
                  <a:solidFill>
                    <a:srgbClr val="000000"/>
                  </a:solidFill>
                </a:defRPr>
              </a:pPr>
              <a:r>
                <a:rPr lang="es-PE" sz="1100" b="0" noProof="0" dirty="0"/>
                <a:t>Convierte un objeto </a:t>
              </a:r>
              <a:r>
                <a:rPr lang="es-PE" sz="1100" b="0" noProof="0" dirty="0" err="1"/>
                <a:t>survfit</a:t>
              </a:r>
              <a:r>
                <a:rPr lang="es-PE" sz="1100" b="0" noProof="0" dirty="0"/>
                <a:t> en una tabla con estimaciones de tiempo hasta el evento</a:t>
              </a:r>
              <a:r>
                <a:rPr lang="es-PE" b="0" noProof="0" dirty="0"/>
                <a:t>.</a:t>
              </a:r>
            </a:p>
          </p:txBody>
        </p:sp>
        <p:sp>
          <p:nvSpPr>
            <p:cNvPr id="312" name="i + geom_area() x, y, alpha, color, fill, linetype, size…">
              <a:extLst>
                <a:ext uri="{FF2B5EF4-FFF2-40B4-BE49-F238E27FC236}">
                  <a16:creationId xmlns:a16="http://schemas.microsoft.com/office/drawing/2014/main" id="{329D525C-CDE8-4C21-A267-524BADD72A32}"/>
                </a:ext>
              </a:extLst>
            </p:cNvPr>
            <p:cNvSpPr txBox="1"/>
            <p:nvPr/>
          </p:nvSpPr>
          <p:spPr>
            <a:xfrm>
              <a:off x="371255" y="3625834"/>
              <a:ext cx="1266078" cy="2253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/>
            <a:p>
              <a:pPr>
                <a:lnSpc>
                  <a:spcPct val="70000"/>
                </a:lnSpc>
                <a:spcBef>
                  <a:spcPts val="1100"/>
                </a:spcBef>
                <a:defRPr sz="1000">
                  <a:solidFill>
                    <a:srgbClr val="000000"/>
                  </a:solidFill>
                </a:defRPr>
              </a:pPr>
              <a:r>
                <a:rPr lang="es-PE" sz="1600" noProof="0" dirty="0" err="1"/>
                <a:t>tbl_survfit</a:t>
              </a:r>
              <a:r>
                <a:rPr lang="es-PE" sz="1600" noProof="0" dirty="0"/>
                <a:t>()</a:t>
              </a:r>
              <a:br>
                <a:rPr lang="es-PE" sz="1600" noProof="0" dirty="0"/>
              </a:br>
              <a:endParaRPr lang="es-PE" sz="1600" b="0" noProof="0" dirty="0"/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4677FC49-F4B4-4355-9326-BF25DEC94F2B}"/>
                </a:ext>
              </a:extLst>
            </p:cNvPr>
            <p:cNvSpPr/>
            <p:nvPr/>
          </p:nvSpPr>
          <p:spPr>
            <a:xfrm>
              <a:off x="285318" y="3520985"/>
              <a:ext cx="2743200" cy="685800"/>
            </a:xfrm>
            <a:prstGeom prst="rect">
              <a:avLst/>
            </a:prstGeom>
            <a:noFill/>
            <a:ln w="12700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s-PE" sz="12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181" name="Title"/>
          <p:cNvSpPr txBox="1"/>
          <p:nvPr/>
        </p:nvSpPr>
        <p:spPr>
          <a:xfrm>
            <a:off x="360365" y="2468758"/>
            <a:ext cx="1009892" cy="2268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12700" tIns="12700" rIns="12700" bIns="12700" numCol="1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>
                <a:solidFill>
                  <a:srgbClr val="628DB5"/>
                </a:solidFill>
              </a:defRPr>
            </a:pPr>
            <a:r>
              <a:rPr lang="es-PE" sz="1600" noProof="0" dirty="0">
                <a:solidFill>
                  <a:srgbClr val="5D7529"/>
                </a:solidFill>
              </a:rPr>
              <a:t>Tabla básica</a:t>
            </a:r>
          </a:p>
        </p:txBody>
      </p:sp>
      <p:graphicFrame>
        <p:nvGraphicFramePr>
          <p:cNvPr id="335" name="Table 335">
            <a:extLst>
              <a:ext uri="{FF2B5EF4-FFF2-40B4-BE49-F238E27FC236}">
                <a16:creationId xmlns:a16="http://schemas.microsoft.com/office/drawing/2014/main" id="{566BE965-8354-4D7B-B39F-85C5EF730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624130"/>
              </p:ext>
            </p:extLst>
          </p:nvPr>
        </p:nvGraphicFramePr>
        <p:xfrm>
          <a:off x="271080" y="5811291"/>
          <a:ext cx="5460561" cy="4597629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903244">
                  <a:extLst>
                    <a:ext uri="{9D8B030D-6E8A-4147-A177-3AD203B41FA5}">
                      <a16:colId xmlns:a16="http://schemas.microsoft.com/office/drawing/2014/main" val="3537709012"/>
                    </a:ext>
                  </a:extLst>
                </a:gridCol>
                <a:gridCol w="1873825">
                  <a:extLst>
                    <a:ext uri="{9D8B030D-6E8A-4147-A177-3AD203B41FA5}">
                      <a16:colId xmlns:a16="http://schemas.microsoft.com/office/drawing/2014/main" val="377489258"/>
                    </a:ext>
                  </a:extLst>
                </a:gridCol>
                <a:gridCol w="2683492">
                  <a:extLst>
                    <a:ext uri="{9D8B030D-6E8A-4147-A177-3AD203B41FA5}">
                      <a16:colId xmlns:a16="http://schemas.microsoft.com/office/drawing/2014/main" val="2674764155"/>
                    </a:ext>
                  </a:extLst>
                </a:gridCol>
              </a:tblGrid>
              <a:tr h="399009">
                <a:tc>
                  <a:txBody>
                    <a:bodyPr/>
                    <a:lstStyle/>
                    <a:p>
                      <a:pPr algn="r"/>
                      <a:r>
                        <a:rPr lang="es-PE" sz="1000" b="1" noProof="0" dirty="0" err="1"/>
                        <a:t>by</a:t>
                      </a:r>
                      <a:endParaRPr lang="es-PE" sz="1000" b="1" noProof="0" dirty="0"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00" b="1" noProof="0" dirty="0"/>
                        <a:t>Columna para la tabulación cruzada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00" b="1" noProof="0" dirty="0"/>
                        <a:t>Los estadísticos de resumen se calcularán por separado para cada nivel de la variable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6558817"/>
                  </a:ext>
                </a:extLst>
              </a:tr>
              <a:tr h="282736">
                <a:tc>
                  <a:txBody>
                    <a:bodyPr/>
                    <a:lstStyle/>
                    <a:p>
                      <a:pPr algn="r"/>
                      <a:r>
                        <a:rPr lang="es-PE" sz="1000" b="1" noProof="0" dirty="0" err="1">
                          <a:solidFill>
                            <a:schemeClr val="tx1"/>
                          </a:solidFill>
                        </a:rPr>
                        <a:t>label</a:t>
                      </a:r>
                      <a:endParaRPr lang="es-PE" sz="10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00" b="1" noProof="0" dirty="0"/>
                        <a:t>Lista de fórmulas con las etiquetas de las variables</a:t>
                      </a:r>
                    </a:p>
                  </a:txBody>
                  <a:tcPr marL="45720" marR="45720" anchor="ctr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00" b="1" noProof="0" dirty="0"/>
                        <a:t>Cambia el texto del nombre de la variable en la tabla</a:t>
                      </a:r>
                    </a:p>
                  </a:txBody>
                  <a:tcPr marL="45720" marR="45720" anchor="ctr"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18951420"/>
                  </a:ext>
                </a:extLst>
              </a:tr>
              <a:tr h="459446">
                <a:tc>
                  <a:txBody>
                    <a:bodyPr/>
                    <a:lstStyle/>
                    <a:p>
                      <a:pPr algn="r"/>
                      <a:r>
                        <a:rPr lang="es-PE" sz="1000" b="1" noProof="0" dirty="0" err="1"/>
                        <a:t>statistic</a:t>
                      </a:r>
                      <a:endParaRPr lang="es-PE" sz="1000" b="1" noProof="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00" b="1" noProof="0" dirty="0"/>
                        <a:t>Lista de fórmulas con el tipo de estadístico de resumen para cada variable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00" b="1" noProof="0" dirty="0"/>
                        <a:t>Cambia los estadísticos de resumen mostrados para las variables indicadas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834593798"/>
                  </a:ext>
                </a:extLst>
              </a:tr>
              <a:tr h="459446">
                <a:tc>
                  <a:txBody>
                    <a:bodyPr/>
                    <a:lstStyle/>
                    <a:p>
                      <a:pPr algn="r"/>
                      <a:r>
                        <a:rPr lang="es-PE" sz="1000" b="1" noProof="0" dirty="0" err="1"/>
                        <a:t>digits</a:t>
                      </a:r>
                      <a:endParaRPr lang="es-PE" sz="1000" b="1" noProof="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00" b="1" noProof="0" dirty="0"/>
                        <a:t>Lista de fórmulas con el número de decimales a mostrar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00" b="1" noProof="0" dirty="0"/>
                        <a:t>Cambia el número de decimales redondeados en la tabla para las variables continuas indicadas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62738576"/>
                  </a:ext>
                </a:extLst>
              </a:tr>
              <a:tr h="459446">
                <a:tc>
                  <a:txBody>
                    <a:bodyPr/>
                    <a:lstStyle/>
                    <a:p>
                      <a:pPr algn="r"/>
                      <a:r>
                        <a:rPr lang="es-PE" sz="1000" b="1" noProof="0" dirty="0" err="1"/>
                        <a:t>type</a:t>
                      </a:r>
                      <a:endParaRPr lang="es-PE" sz="1000" b="1" noProof="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00" b="1" noProof="0" dirty="0"/>
                        <a:t>Lista de fórmulas que especifica el tipo de cada variable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00" b="1" noProof="0" dirty="0"/>
                        <a:t>Cambia el tipo de las variables indicadas, lo que define qué estadísticos de resumen se muestran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737361894"/>
                  </a:ext>
                </a:extLst>
              </a:tr>
              <a:tr h="459446">
                <a:tc>
                  <a:txBody>
                    <a:bodyPr/>
                    <a:lstStyle/>
                    <a:p>
                      <a:pPr algn="r"/>
                      <a:r>
                        <a:rPr lang="es-PE" sz="1000" b="1" noProof="0" dirty="0" err="1"/>
                        <a:t>value</a:t>
                      </a:r>
                      <a:endParaRPr lang="es-PE" sz="1000" b="1" noProof="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00" b="1" noProof="0" dirty="0"/>
                        <a:t>Lista de fórmulas con el valor a mostrar para variables dicotómicas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00" b="1" noProof="0" dirty="0"/>
                        <a:t>Cambia el valor mostrado para las variables de tipo dicotómico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860264010"/>
                  </a:ext>
                </a:extLst>
              </a:tr>
              <a:tr h="361268">
                <a:tc>
                  <a:txBody>
                    <a:bodyPr/>
                    <a:lstStyle/>
                    <a:p>
                      <a:pPr algn="r"/>
                      <a:r>
                        <a:rPr lang="es-PE" sz="1000" b="1" noProof="0" dirty="0" err="1"/>
                        <a:t>missing</a:t>
                      </a:r>
                      <a:endParaRPr lang="es-PE" sz="1000" b="1" noProof="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00" b="1" noProof="0" dirty="0"/>
                        <a:t>“no”, “</a:t>
                      </a:r>
                      <a:r>
                        <a:rPr lang="es-PE" sz="1000" b="1" noProof="0" dirty="0" err="1"/>
                        <a:t>ifany</a:t>
                      </a:r>
                      <a:r>
                        <a:rPr lang="es-PE" sz="1000" b="1" noProof="0" dirty="0"/>
                        <a:t>”, “</a:t>
                      </a:r>
                      <a:r>
                        <a:rPr lang="es-PE" sz="1000" b="1" noProof="0" dirty="0" err="1"/>
                        <a:t>always</a:t>
                      </a:r>
                      <a:r>
                        <a:rPr lang="es-PE" sz="1000" b="1" noProof="0" dirty="0"/>
                        <a:t>”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00" b="1" noProof="0" dirty="0"/>
                        <a:t>Define si se reportan las observaciones faltantes 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775294432"/>
                  </a:ext>
                </a:extLst>
              </a:tr>
              <a:tr h="459446">
                <a:tc>
                  <a:txBody>
                    <a:bodyPr/>
                    <a:lstStyle/>
                    <a:p>
                      <a:pPr algn="r"/>
                      <a:r>
                        <a:rPr lang="es-PE" sz="1000" b="1" noProof="0" dirty="0" err="1"/>
                        <a:t>missing_text</a:t>
                      </a:r>
                      <a:endParaRPr lang="es-PE" sz="1000" b="1" noProof="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00" b="1" noProof="0" dirty="0"/>
                        <a:t>Texto a mostrar para el conteo de observaciones faltantes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00" b="1" noProof="0" dirty="0"/>
                        <a:t>Cambia el nombre del nivel de datos faltantes en las variables correspondientes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823102385"/>
                  </a:ext>
                </a:extLst>
              </a:tr>
              <a:tr h="584494">
                <a:tc>
                  <a:txBody>
                    <a:bodyPr/>
                    <a:lstStyle/>
                    <a:p>
                      <a:pPr algn="r"/>
                      <a:r>
                        <a:rPr lang="es-PE" sz="1000" b="1" noProof="0" dirty="0" err="1"/>
                        <a:t>sort</a:t>
                      </a:r>
                      <a:endParaRPr lang="es-PE" sz="1000" b="1" noProof="0" dirty="0"/>
                    </a:p>
                  </a:txBody>
                  <a:tcPr marL="45720" marR="45720" anchor="ctr"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00" b="1" noProof="0" dirty="0"/>
                        <a:t>Lista de fórmulas con el tipo de ordenamiento a aplicar (“</a:t>
                      </a:r>
                      <a:r>
                        <a:rPr lang="es-PE" sz="1000" b="1" noProof="0" dirty="0" err="1"/>
                        <a:t>frequency</a:t>
                      </a:r>
                      <a:r>
                        <a:rPr lang="es-PE" sz="1000" b="1" noProof="0" dirty="0"/>
                        <a:t>” o “</a:t>
                      </a:r>
                      <a:r>
                        <a:rPr lang="es-PE" sz="1000" b="1" noProof="0" dirty="0" err="1"/>
                        <a:t>alphanumeric</a:t>
                      </a:r>
                      <a:r>
                        <a:rPr lang="es-PE" sz="1000" b="1" noProof="0" dirty="0"/>
                        <a:t>”)</a:t>
                      </a:r>
                    </a:p>
                  </a:txBody>
                  <a:tcPr marL="45720" marR="45720" anchor="ctr"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00" b="1" noProof="0" dirty="0"/>
                        <a:t>Cambia el tipo de ordenamiento de las variables categóricas</a:t>
                      </a:r>
                    </a:p>
                  </a:txBody>
                  <a:tcPr marL="45720" marR="45720" anchor="ctr"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707235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es-PE" sz="1000" b="1" noProof="0" dirty="0" err="1"/>
                        <a:t>percent</a:t>
                      </a:r>
                      <a:endParaRPr lang="es-PE" sz="1000" b="1" noProof="0" dirty="0"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00" b="1" noProof="0" dirty="0"/>
                        <a:t>“</a:t>
                      </a:r>
                      <a:r>
                        <a:rPr lang="es-PE" sz="1000" b="1" noProof="0" dirty="0" err="1"/>
                        <a:t>column</a:t>
                      </a:r>
                      <a:r>
                        <a:rPr lang="es-PE" sz="1000" b="1" noProof="0" dirty="0"/>
                        <a:t>”, “</a:t>
                      </a:r>
                      <a:r>
                        <a:rPr lang="es-PE" sz="1000" b="1" noProof="0" dirty="0" err="1"/>
                        <a:t>row</a:t>
                      </a:r>
                      <a:r>
                        <a:rPr lang="es-PE" sz="1000" b="1" noProof="0" dirty="0"/>
                        <a:t>” o “</a:t>
                      </a:r>
                      <a:r>
                        <a:rPr lang="es-PE" sz="1000" b="1" noProof="0" dirty="0" err="1"/>
                        <a:t>cell</a:t>
                      </a:r>
                      <a:r>
                        <a:rPr lang="es-PE" sz="1000" b="1" noProof="0" dirty="0"/>
                        <a:t>”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00" b="1" noProof="0" dirty="0"/>
                        <a:t>Cambia el cálculo y la visualización de porcentajes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9534441"/>
                  </a:ext>
                </a:extLst>
              </a:tr>
            </a:tbl>
          </a:graphicData>
        </a:graphic>
      </p:graphicFrame>
      <p:sp>
        <p:nvSpPr>
          <p:cNvPr id="337" name="Title">
            <a:extLst>
              <a:ext uri="{FF2B5EF4-FFF2-40B4-BE49-F238E27FC236}">
                <a16:creationId xmlns:a16="http://schemas.microsoft.com/office/drawing/2014/main" id="{8478643D-81F8-4899-B8F1-61FA49E57484}"/>
              </a:ext>
            </a:extLst>
          </p:cNvPr>
          <p:cNvSpPr txBox="1"/>
          <p:nvPr/>
        </p:nvSpPr>
        <p:spPr>
          <a:xfrm>
            <a:off x="2974075" y="4956453"/>
            <a:ext cx="8710718" cy="1765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12700" tIns="12700" rIns="12700" bIns="12700" numCol="1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>
                <a:solidFill>
                  <a:srgbClr val="628DB5"/>
                </a:solidFill>
              </a:defRPr>
            </a:pPr>
            <a:r>
              <a:rPr lang="es-PE" b="0" noProof="0" dirty="0">
                <a:solidFill>
                  <a:srgbClr val="5D7529"/>
                </a:solidFill>
              </a:rPr>
              <a:t>Más información sobre argumentos y opciones de personalización en </a:t>
            </a:r>
            <a:r>
              <a:rPr lang="es-PE" b="0" noProof="0" dirty="0">
                <a:solidFill>
                  <a:srgbClr val="5D7529"/>
                </a:solidFill>
                <a:hlinkClick r:id="rId6"/>
              </a:rPr>
              <a:t>http://www.</a:t>
            </a:r>
            <a:r>
              <a:rPr lang="es-PE" b="0" noProof="0" dirty="0">
                <a:solidFill>
                  <a:srgbClr val="6F8B31"/>
                </a:solidFill>
                <a:hlinkClick r:id="rId6"/>
              </a:rPr>
              <a:t>danieldsjoberg</a:t>
            </a:r>
            <a:r>
              <a:rPr lang="es-PE" b="0" noProof="0" dirty="0">
                <a:solidFill>
                  <a:srgbClr val="5D7529"/>
                </a:solidFill>
                <a:hlinkClick r:id="rId6"/>
              </a:rPr>
              <a:t>.com/gtsummary/reference/tbl_summary.html</a:t>
            </a:r>
            <a:endParaRPr lang="es-PE" b="0" noProof="0" dirty="0">
              <a:solidFill>
                <a:srgbClr val="5D7529"/>
              </a:solidFill>
            </a:endParaRPr>
          </a:p>
        </p:txBody>
      </p:sp>
      <p:sp>
        <p:nvSpPr>
          <p:cNvPr id="343" name="Title">
            <a:extLst>
              <a:ext uri="{FF2B5EF4-FFF2-40B4-BE49-F238E27FC236}">
                <a16:creationId xmlns:a16="http://schemas.microsoft.com/office/drawing/2014/main" id="{9022FA9A-57F5-4159-B4C9-D0183E464418}"/>
              </a:ext>
            </a:extLst>
          </p:cNvPr>
          <p:cNvSpPr txBox="1"/>
          <p:nvPr/>
        </p:nvSpPr>
        <p:spPr>
          <a:xfrm>
            <a:off x="10013220" y="1875310"/>
            <a:ext cx="1646285" cy="2268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12700" tIns="12700" rIns="12700" bIns="12700" numCol="1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>
                <a:solidFill>
                  <a:srgbClr val="628DB5"/>
                </a:solidFill>
              </a:defRPr>
            </a:pPr>
            <a:r>
              <a:rPr lang="es-PE" sz="1600" noProof="0" dirty="0">
                <a:solidFill>
                  <a:srgbClr val="5D7529"/>
                </a:solidFill>
              </a:rPr>
              <a:t>Tabla personalizada </a:t>
            </a:r>
          </a:p>
        </p:txBody>
      </p:sp>
      <p:sp>
        <p:nvSpPr>
          <p:cNvPr id="345" name="Title">
            <a:extLst>
              <a:ext uri="{FF2B5EF4-FFF2-40B4-BE49-F238E27FC236}">
                <a16:creationId xmlns:a16="http://schemas.microsoft.com/office/drawing/2014/main" id="{E163C593-2F46-42A3-B6B8-7CE479150028}"/>
              </a:ext>
            </a:extLst>
          </p:cNvPr>
          <p:cNvSpPr txBox="1"/>
          <p:nvPr/>
        </p:nvSpPr>
        <p:spPr>
          <a:xfrm>
            <a:off x="344039" y="1880721"/>
            <a:ext cx="974626" cy="2268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12700" tIns="12700" rIns="12700" bIns="12700" numCol="1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>
                <a:solidFill>
                  <a:srgbClr val="628DB5"/>
                </a:solidFill>
              </a:defRPr>
            </a:pPr>
            <a:r>
              <a:rPr lang="es-PE" sz="1600" noProof="0" dirty="0">
                <a:solidFill>
                  <a:srgbClr val="5D7529"/>
                </a:solidFill>
              </a:rPr>
              <a:t>Código básico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BAC42C-3777-4F4C-A985-17554AA928D6}"/>
              </a:ext>
            </a:extLst>
          </p:cNvPr>
          <p:cNvSpPr/>
          <p:nvPr/>
        </p:nvSpPr>
        <p:spPr>
          <a:xfrm>
            <a:off x="5933005" y="5593453"/>
            <a:ext cx="7497879" cy="4839512"/>
          </a:xfrm>
          <a:prstGeom prst="rect">
            <a:avLst/>
          </a:prstGeom>
          <a:solidFill>
            <a:srgbClr val="ECF6DD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PE" sz="12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46" name="Title">
            <a:extLst>
              <a:ext uri="{FF2B5EF4-FFF2-40B4-BE49-F238E27FC236}">
                <a16:creationId xmlns:a16="http://schemas.microsoft.com/office/drawing/2014/main" id="{5E6AC665-01F4-47FF-BFB9-5896116AF3FC}"/>
              </a:ext>
            </a:extLst>
          </p:cNvPr>
          <p:cNvSpPr txBox="1"/>
          <p:nvPr/>
        </p:nvSpPr>
        <p:spPr>
          <a:xfrm>
            <a:off x="5933005" y="1943858"/>
            <a:ext cx="1593450" cy="2268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6576" tIns="12700" rIns="12700" bIns="12700" numCol="1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>
                <a:solidFill>
                  <a:srgbClr val="628DB5"/>
                </a:solidFill>
              </a:defRPr>
            </a:pPr>
            <a:r>
              <a:rPr lang="es-PE" sz="1600" noProof="0" dirty="0">
                <a:solidFill>
                  <a:srgbClr val="5D7529"/>
                </a:solidFill>
              </a:rPr>
              <a:t>Código personalizado</a:t>
            </a:r>
          </a:p>
        </p:txBody>
      </p:sp>
      <p:sp>
        <p:nvSpPr>
          <p:cNvPr id="355" name="Rectangle: Rounded Corners 354">
            <a:extLst>
              <a:ext uri="{FF2B5EF4-FFF2-40B4-BE49-F238E27FC236}">
                <a16:creationId xmlns:a16="http://schemas.microsoft.com/office/drawing/2014/main" id="{C724CA1D-495D-45C0-8214-FB9F308FB396}"/>
              </a:ext>
            </a:extLst>
          </p:cNvPr>
          <p:cNvSpPr/>
          <p:nvPr/>
        </p:nvSpPr>
        <p:spPr>
          <a:xfrm>
            <a:off x="5924448" y="5244768"/>
            <a:ext cx="7507607" cy="352101"/>
          </a:xfrm>
          <a:prstGeom prst="roundRect">
            <a:avLst/>
          </a:prstGeom>
          <a:solidFill>
            <a:srgbClr val="9CC17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PE" sz="1600" i="0" u="none" strike="noStrike" cap="none" spc="0" normalizeH="0" baseline="0" noProof="0" dirty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Funciones auxiliares  </a:t>
            </a:r>
            <a:r>
              <a:rPr kumimoji="0" lang="es-PE" b="0" i="0" u="none" strike="noStrike" cap="none" spc="0" normalizeH="0" baseline="0" noProof="0" dirty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extensiones útiles para </a:t>
            </a:r>
            <a:r>
              <a:rPr kumimoji="0" lang="es-PE" b="0" i="0" u="none" strike="noStrike" cap="none" spc="0" normalizeH="0" baseline="0" noProof="0" dirty="0" err="1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tbl_summary</a:t>
            </a:r>
            <a:r>
              <a:rPr kumimoji="0" lang="es-PE" b="0" i="0" u="none" strike="noStrike" cap="none" spc="0" normalizeH="0" baseline="0" noProof="0" dirty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() </a:t>
            </a:r>
          </a:p>
        </p:txBody>
      </p:sp>
      <p:pic>
        <p:nvPicPr>
          <p:cNvPr id="9" name="Picture 8" descr="Table&#10;&#10;Description automatically generated">
            <a:extLst>
              <a:ext uri="{FF2B5EF4-FFF2-40B4-BE49-F238E27FC236}">
                <a16:creationId xmlns:a16="http://schemas.microsoft.com/office/drawing/2014/main" id="{69E343BF-1716-43EE-8E47-B89A9B40488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4086" y="2118993"/>
            <a:ext cx="3179364" cy="272517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52851BF-9F85-4C66-B557-F03A13247EA7}"/>
              </a:ext>
            </a:extLst>
          </p:cNvPr>
          <p:cNvGrpSpPr/>
          <p:nvPr/>
        </p:nvGrpSpPr>
        <p:grpSpPr>
          <a:xfrm>
            <a:off x="8543117" y="5991819"/>
            <a:ext cx="4828359" cy="2236943"/>
            <a:chOff x="8632723" y="6088075"/>
            <a:chExt cx="4828359" cy="2236943"/>
          </a:xfrm>
        </p:grpSpPr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84F170F6-5BE6-42FF-86C0-D217FB186BF1}"/>
                </a:ext>
              </a:extLst>
            </p:cNvPr>
            <p:cNvGrpSpPr/>
            <p:nvPr/>
          </p:nvGrpSpPr>
          <p:grpSpPr>
            <a:xfrm>
              <a:off x="8632723" y="7335959"/>
              <a:ext cx="1543862" cy="789431"/>
              <a:chOff x="8632723" y="7367763"/>
              <a:chExt cx="1543862" cy="789431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0AFFA008-3EE2-469A-B0B5-248CCD054853}"/>
                  </a:ext>
                </a:extLst>
              </p:cNvPr>
              <p:cNvSpPr/>
              <p:nvPr/>
            </p:nvSpPr>
            <p:spPr>
              <a:xfrm>
                <a:off x="8632723" y="7367763"/>
                <a:ext cx="1543862" cy="789431"/>
              </a:xfrm>
              <a:prstGeom prst="rect">
                <a:avLst/>
              </a:prstGeom>
              <a:solidFill>
                <a:srgbClr val="9CC173">
                  <a:alpha val="22000"/>
                </a:srgb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s-PE" sz="1200" b="0" i="0" u="none" strike="noStrike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67" name="i + geom_area() x, y, alpha, color, fill, linetype, size…">
                <a:extLst>
                  <a:ext uri="{FF2B5EF4-FFF2-40B4-BE49-F238E27FC236}">
                    <a16:creationId xmlns:a16="http://schemas.microsoft.com/office/drawing/2014/main" id="{4DA4D1D9-37C4-4336-86E8-CBE254F434F4}"/>
                  </a:ext>
                </a:extLst>
              </p:cNvPr>
              <p:cNvSpPr txBox="1"/>
              <p:nvPr/>
            </p:nvSpPr>
            <p:spPr>
              <a:xfrm>
                <a:off x="8778891" y="7663555"/>
                <a:ext cx="1273104" cy="3813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>
                <a:outerShdw blurRad="50800" dist="50800" dir="5400000" algn="ctr" rotWithShape="0">
                  <a:schemeClr val="bg1"/>
                </a:outerShdw>
              </a:effectLst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spcBef>
                    <a:spcPts val="1100"/>
                  </a:spcBef>
                  <a:defRPr sz="1000">
                    <a:solidFill>
                      <a:srgbClr val="000000"/>
                    </a:solidFill>
                  </a:defRPr>
                </a:pPr>
                <a:r>
                  <a:rPr lang="es-PE" sz="1000" b="0" noProof="0" dirty="0"/>
                  <a:t>Añade columna con el total de observaciones no faltantes</a:t>
                </a:r>
                <a:endParaRPr lang="es-PE" b="0" noProof="0" dirty="0"/>
              </a:p>
            </p:txBody>
          </p:sp>
          <p:sp>
            <p:nvSpPr>
              <p:cNvPr id="68" name="i + geom_area() x, y, alpha, color, fill, linetype, size…">
                <a:extLst>
                  <a:ext uri="{FF2B5EF4-FFF2-40B4-BE49-F238E27FC236}">
                    <a16:creationId xmlns:a16="http://schemas.microsoft.com/office/drawing/2014/main" id="{F5CD8819-BDF4-413D-A93A-0D4041716F19}"/>
                  </a:ext>
                </a:extLst>
              </p:cNvPr>
              <p:cNvSpPr txBox="1"/>
              <p:nvPr/>
            </p:nvSpPr>
            <p:spPr>
              <a:xfrm>
                <a:off x="8756310" y="7419292"/>
                <a:ext cx="692537" cy="2665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 anchorCtr="1">
                <a:noAutofit/>
              </a:bodyPr>
              <a:lstStyle/>
              <a:p>
                <a:pPr>
                  <a:lnSpc>
                    <a:spcPct val="70000"/>
                  </a:lnSpc>
                  <a:spcBef>
                    <a:spcPts val="1100"/>
                  </a:spcBef>
                  <a:defRPr sz="1000">
                    <a:solidFill>
                      <a:srgbClr val="000000"/>
                    </a:solidFill>
                  </a:defRPr>
                </a:pPr>
                <a:r>
                  <a:rPr lang="es-PE" sz="1400" noProof="0" dirty="0" err="1"/>
                  <a:t>add_n</a:t>
                </a:r>
                <a:r>
                  <a:rPr lang="es-PE" sz="1400" noProof="0" dirty="0"/>
                  <a:t>()</a:t>
                </a:r>
                <a:endParaRPr lang="es-PE" sz="1500" b="0" noProof="0" dirty="0"/>
              </a:p>
            </p:txBody>
          </p: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0343F307-1E29-4763-9585-1C14B0AF8898}"/>
                </a:ext>
              </a:extLst>
            </p:cNvPr>
            <p:cNvGrpSpPr/>
            <p:nvPr/>
          </p:nvGrpSpPr>
          <p:grpSpPr>
            <a:xfrm>
              <a:off x="10303827" y="7353191"/>
              <a:ext cx="1543862" cy="789431"/>
              <a:chOff x="10151427" y="7232595"/>
              <a:chExt cx="1543862" cy="789431"/>
            </a:xfrm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8D71D31F-518C-46C3-AB79-BECE0F3FEFB4}"/>
                  </a:ext>
                </a:extLst>
              </p:cNvPr>
              <p:cNvSpPr/>
              <p:nvPr/>
            </p:nvSpPr>
            <p:spPr>
              <a:xfrm>
                <a:off x="10151427" y="7232595"/>
                <a:ext cx="1543862" cy="789431"/>
              </a:xfrm>
              <a:prstGeom prst="rect">
                <a:avLst/>
              </a:prstGeom>
              <a:solidFill>
                <a:srgbClr val="9CC173">
                  <a:alpha val="22000"/>
                </a:srgb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s-PE" sz="1200" b="0" i="0" u="none" strike="noStrike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107" name="i + geom_area() x, y, alpha, color, fill, linetype, size…">
                <a:extLst>
                  <a:ext uri="{FF2B5EF4-FFF2-40B4-BE49-F238E27FC236}">
                    <a16:creationId xmlns:a16="http://schemas.microsoft.com/office/drawing/2014/main" id="{5EADE8F9-D3E2-43CE-8A68-8C0DFD517EE2}"/>
                  </a:ext>
                </a:extLst>
              </p:cNvPr>
              <p:cNvSpPr txBox="1"/>
              <p:nvPr/>
            </p:nvSpPr>
            <p:spPr>
              <a:xfrm>
                <a:off x="10273739" y="7516809"/>
                <a:ext cx="1273104" cy="3813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>
                <a:outerShdw blurRad="50800" dist="50800" dir="5400000" algn="ctr" rotWithShape="0">
                  <a:schemeClr val="bg1"/>
                </a:outerShdw>
              </a:effectLst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spcBef>
                    <a:spcPts val="1100"/>
                  </a:spcBef>
                  <a:defRPr sz="1000">
                    <a:solidFill>
                      <a:srgbClr val="000000"/>
                    </a:solidFill>
                  </a:defRPr>
                </a:pPr>
                <a:r>
                  <a:rPr lang="es-PE" sz="1000" b="0" noProof="0" dirty="0"/>
                  <a:t>Añade una columna con los estadísticos de resumen globales</a:t>
                </a:r>
                <a:endParaRPr lang="es-PE" b="0" noProof="0" dirty="0"/>
              </a:p>
            </p:txBody>
          </p:sp>
          <p:sp>
            <p:nvSpPr>
              <p:cNvPr id="108" name="i + geom_area() x, y, alpha, color, fill, linetype, size…">
                <a:extLst>
                  <a:ext uri="{FF2B5EF4-FFF2-40B4-BE49-F238E27FC236}">
                    <a16:creationId xmlns:a16="http://schemas.microsoft.com/office/drawing/2014/main" id="{1273A8FF-E8D7-4EBE-9EDC-86AE0DFE7A5D}"/>
                  </a:ext>
                </a:extLst>
              </p:cNvPr>
              <p:cNvSpPr txBox="1"/>
              <p:nvPr/>
            </p:nvSpPr>
            <p:spPr>
              <a:xfrm>
                <a:off x="10251158" y="7313055"/>
                <a:ext cx="1093415" cy="22703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 anchorCtr="1">
                <a:noAutofit/>
              </a:bodyPr>
              <a:lstStyle/>
              <a:p>
                <a:pPr>
                  <a:lnSpc>
                    <a:spcPct val="70000"/>
                  </a:lnSpc>
                  <a:spcBef>
                    <a:spcPts val="1100"/>
                  </a:spcBef>
                  <a:defRPr sz="1000">
                    <a:solidFill>
                      <a:srgbClr val="000000"/>
                    </a:solidFill>
                  </a:defRPr>
                </a:pPr>
                <a:r>
                  <a:rPr lang="es-PE" sz="1400" noProof="0" dirty="0" err="1"/>
                  <a:t>add_overall</a:t>
                </a:r>
                <a:r>
                  <a:rPr lang="es-PE" sz="1400" noProof="0" dirty="0"/>
                  <a:t>()</a:t>
                </a:r>
                <a:endParaRPr lang="es-PE" sz="1500" b="0" noProof="0" dirty="0"/>
              </a:p>
            </p:txBody>
          </p:sp>
        </p:grpSp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id="{170D5C29-7904-47B2-A18A-A8746F5BCC5D}"/>
                </a:ext>
              </a:extLst>
            </p:cNvPr>
            <p:cNvGrpSpPr/>
            <p:nvPr/>
          </p:nvGrpSpPr>
          <p:grpSpPr>
            <a:xfrm>
              <a:off x="8635704" y="6088075"/>
              <a:ext cx="4825378" cy="2236943"/>
              <a:chOff x="8635704" y="6151683"/>
              <a:chExt cx="4825378" cy="2236943"/>
            </a:xfrm>
          </p:grpSpPr>
          <p:grpSp>
            <p:nvGrpSpPr>
              <p:cNvPr id="224" name="Group 223">
                <a:extLst>
                  <a:ext uri="{FF2B5EF4-FFF2-40B4-BE49-F238E27FC236}">
                    <a16:creationId xmlns:a16="http://schemas.microsoft.com/office/drawing/2014/main" id="{E0500A97-2FEB-47D8-8904-6CC5C27E269E}"/>
                  </a:ext>
                </a:extLst>
              </p:cNvPr>
              <p:cNvGrpSpPr/>
              <p:nvPr/>
            </p:nvGrpSpPr>
            <p:grpSpPr>
              <a:xfrm>
                <a:off x="8635704" y="6151683"/>
                <a:ext cx="4825378" cy="1084355"/>
                <a:chOff x="8572204" y="6151683"/>
                <a:chExt cx="4825378" cy="1084355"/>
              </a:xfrm>
            </p:grpSpPr>
            <p:pic>
              <p:nvPicPr>
                <p:cNvPr id="15" name="Picture 14" descr="Table&#10;&#10;Description automatically generated">
                  <a:extLst>
                    <a:ext uri="{FF2B5EF4-FFF2-40B4-BE49-F238E27FC236}">
                      <a16:creationId xmlns:a16="http://schemas.microsoft.com/office/drawing/2014/main" id="{CBF4AEC9-B2D5-4D79-B788-AE538F1F55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72204" y="6151683"/>
                  <a:ext cx="4825378" cy="1084355"/>
                </a:xfrm>
                <a:prstGeom prst="rect">
                  <a:avLst/>
                </a:prstGeom>
              </p:spPr>
            </p:pic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B747411B-F904-4FC4-9AB8-D40FB3CDC6E6}"/>
                    </a:ext>
                  </a:extLst>
                </p:cNvPr>
                <p:cNvSpPr/>
                <p:nvPr/>
              </p:nvSpPr>
              <p:spPr>
                <a:xfrm>
                  <a:off x="9559539" y="6178620"/>
                  <a:ext cx="257561" cy="649330"/>
                </a:xfrm>
                <a:prstGeom prst="rect">
                  <a:avLst/>
                </a:prstGeom>
                <a:solidFill>
                  <a:srgbClr val="9CC173">
                    <a:alpha val="10000"/>
                  </a:srgbClr>
                </a:solidFill>
                <a:ln w="12700" cap="flat">
                  <a:noFill/>
                  <a:miter lim="400000"/>
                </a:ln>
                <a:effectLst>
                  <a:outerShdw blurRad="38100" dist="25400" dir="5400000" rotWithShape="0">
                    <a:srgbClr val="9CC173">
                      <a:alpha val="30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4570" tIns="54570" rIns="54570" bIns="54570" numCol="1" spcCol="38100" rtlCol="0" anchor="ctr">
                  <a:spAutoFit/>
                </a:bodyPr>
                <a:lstStyle/>
                <a:p>
                  <a:pPr marL="0" marR="0" indent="0" algn="l" defTabSz="584200" rtl="0" fontAlgn="auto" latinLnBrk="0" hangingPunct="0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s-PE" sz="1200" b="0" i="0" u="none" strike="noStrike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Source Sans Pro"/>
                    <a:ea typeface="Source Sans Pro"/>
                    <a:cs typeface="Source Sans Pro"/>
                    <a:sym typeface="Source Sans Pro"/>
                  </a:endParaRPr>
                </a:p>
              </p:txBody>
            </p:sp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6FC98705-C7C5-46B0-B79A-AD3053CD0602}"/>
                    </a:ext>
                  </a:extLst>
                </p:cNvPr>
                <p:cNvSpPr/>
                <p:nvPr/>
              </p:nvSpPr>
              <p:spPr>
                <a:xfrm>
                  <a:off x="9881885" y="6162216"/>
                  <a:ext cx="922550" cy="649330"/>
                </a:xfrm>
                <a:prstGeom prst="rect">
                  <a:avLst/>
                </a:prstGeom>
                <a:solidFill>
                  <a:srgbClr val="9CC173">
                    <a:alpha val="10000"/>
                  </a:srgbClr>
                </a:solidFill>
                <a:ln w="12700" cap="flat">
                  <a:noFill/>
                  <a:miter lim="400000"/>
                </a:ln>
                <a:effectLst>
                  <a:outerShdw blurRad="38100" dist="25400" dir="5400000" rotWithShape="0">
                    <a:srgbClr val="9CC173">
                      <a:alpha val="30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4570" tIns="54570" rIns="54570" bIns="54570" numCol="1" spcCol="38100" rtlCol="0" anchor="ctr">
                  <a:spAutoFit/>
                </a:bodyPr>
                <a:lstStyle/>
                <a:p>
                  <a:pPr marL="0" marR="0" indent="0" algn="l" defTabSz="584200" rtl="0" fontAlgn="auto" latinLnBrk="0" hangingPunct="0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s-PE" sz="1200" b="0" i="0" u="none" strike="noStrike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Source Sans Pro"/>
                    <a:ea typeface="Source Sans Pro"/>
                    <a:cs typeface="Source Sans Pro"/>
                    <a:sym typeface="Source Sans Pro"/>
                  </a:endParaRPr>
                </a:p>
              </p:txBody>
            </p:sp>
          </p:grpSp>
          <p:cxnSp>
            <p:nvCxnSpPr>
              <p:cNvPr id="226" name="Straight Arrow Connector 225">
                <a:extLst>
                  <a:ext uri="{FF2B5EF4-FFF2-40B4-BE49-F238E27FC236}">
                    <a16:creationId xmlns:a16="http://schemas.microsoft.com/office/drawing/2014/main" id="{79B1C15C-1EC6-4FFC-AB4A-BE6DDCE6E0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58866" y="6868905"/>
                <a:ext cx="0" cy="560801"/>
              </a:xfrm>
              <a:prstGeom prst="straightConnector1">
                <a:avLst/>
              </a:prstGeom>
              <a:noFill/>
              <a:ln w="47625" cap="flat">
                <a:solidFill>
                  <a:srgbClr val="9CC173">
                    <a:alpha val="40000"/>
                  </a:srgbClr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25E618A9-9744-4EC7-8217-FB39452BF7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14770" y="6864663"/>
                <a:ext cx="0" cy="576072"/>
              </a:xfrm>
              <a:prstGeom prst="straightConnector1">
                <a:avLst/>
              </a:prstGeom>
              <a:noFill/>
              <a:ln w="47625" cap="flat">
                <a:solidFill>
                  <a:srgbClr val="9CC173">
                    <a:alpha val="40000"/>
                  </a:srgbClr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DB4349AC-42EF-447F-AA4F-F5222BD1D31A}"/>
                  </a:ext>
                </a:extLst>
              </p:cNvPr>
              <p:cNvSpPr/>
              <p:nvPr/>
            </p:nvSpPr>
            <p:spPr>
              <a:xfrm>
                <a:off x="12865210" y="6189670"/>
                <a:ext cx="553127" cy="649330"/>
              </a:xfrm>
              <a:prstGeom prst="rect">
                <a:avLst/>
              </a:prstGeom>
              <a:solidFill>
                <a:srgbClr val="9CC173">
                  <a:alpha val="10000"/>
                </a:srgbClr>
              </a:solidFill>
              <a:ln w="12700" cap="flat">
                <a:noFill/>
                <a:miter lim="400000"/>
              </a:ln>
              <a:effectLst>
                <a:outerShdw blurRad="38100" dist="25400" dir="5400000" rotWithShape="0">
                  <a:srgbClr val="9CC173">
                    <a:alpha val="3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s-PE" sz="1200" b="0" i="0" u="none" strike="noStrike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2781EF80-01A0-46E9-8C65-21FE269313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215872" y="6868905"/>
                <a:ext cx="0" cy="1519721"/>
              </a:xfrm>
              <a:prstGeom prst="straightConnector1">
                <a:avLst/>
              </a:prstGeom>
              <a:noFill/>
              <a:ln w="47625" cap="flat">
                <a:solidFill>
                  <a:srgbClr val="9CC173">
                    <a:alpha val="40000"/>
                  </a:srgbClr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113" name="Title">
              <a:extLst>
                <a:ext uri="{FF2B5EF4-FFF2-40B4-BE49-F238E27FC236}">
                  <a16:creationId xmlns:a16="http://schemas.microsoft.com/office/drawing/2014/main" id="{567413AD-15D6-4049-97C1-21A895ABC165}"/>
                </a:ext>
              </a:extLst>
            </p:cNvPr>
            <p:cNvSpPr txBox="1"/>
            <p:nvPr/>
          </p:nvSpPr>
          <p:spPr>
            <a:xfrm>
              <a:off x="11958185" y="7363463"/>
              <a:ext cx="801501" cy="7180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12700" tIns="12700" rIns="12700" bIns="12700" numCol="1" anchor="ctr">
              <a:spAutoFit/>
            </a:bodyPr>
            <a:lstStyle/>
            <a:p>
              <a:pPr lvl="1" indent="0">
                <a:lnSpc>
                  <a:spcPct val="80000"/>
                </a:lnSpc>
                <a:spcBef>
                  <a:spcPts val="0"/>
                </a:spcBef>
                <a:defRPr>
                  <a:solidFill>
                    <a:srgbClr val="628DB5"/>
                  </a:solidFill>
                </a:defRPr>
              </a:pPr>
              <a:r>
                <a:rPr lang="es-PE" b="0" noProof="0" dirty="0">
                  <a:solidFill>
                    <a:srgbClr val="5D7529"/>
                  </a:solidFill>
                </a:rPr>
                <a:t>Ver también:</a:t>
              </a:r>
            </a:p>
            <a:p>
              <a:pPr lvl="1" indent="0">
                <a:lnSpc>
                  <a:spcPct val="80000"/>
                </a:lnSpc>
                <a:spcBef>
                  <a:spcPts val="0"/>
                </a:spcBef>
                <a:defRPr>
                  <a:solidFill>
                    <a:srgbClr val="628DB5"/>
                  </a:solidFill>
                </a:defRPr>
              </a:pPr>
              <a:r>
                <a:rPr lang="es-PE" sz="1100" b="0" noProof="0" dirty="0" err="1">
                  <a:solidFill>
                    <a:schemeClr val="tx1"/>
                  </a:solidFill>
                </a:rPr>
                <a:t>add_q</a:t>
              </a:r>
              <a:r>
                <a:rPr lang="es-PE" sz="1100" b="0" noProof="0" dirty="0">
                  <a:solidFill>
                    <a:schemeClr val="tx1"/>
                  </a:solidFill>
                </a:rPr>
                <a:t>()</a:t>
              </a:r>
            </a:p>
            <a:p>
              <a:pPr lvl="1" indent="0">
                <a:lnSpc>
                  <a:spcPct val="80000"/>
                </a:lnSpc>
                <a:spcBef>
                  <a:spcPts val="0"/>
                </a:spcBef>
                <a:defRPr>
                  <a:solidFill>
                    <a:srgbClr val="628DB5"/>
                  </a:solidFill>
                </a:defRPr>
              </a:pPr>
              <a:r>
                <a:rPr lang="es-PE" sz="1100" b="0" noProof="0" dirty="0" err="1">
                  <a:solidFill>
                    <a:schemeClr val="tx1"/>
                  </a:solidFill>
                </a:rPr>
                <a:t>bold_p</a:t>
              </a:r>
              <a:r>
                <a:rPr lang="es-PE" sz="1100" b="0" noProof="0" dirty="0">
                  <a:solidFill>
                    <a:schemeClr val="tx1"/>
                  </a:solidFill>
                </a:rPr>
                <a:t>()</a:t>
              </a:r>
            </a:p>
            <a:p>
              <a:pPr lvl="1" indent="0">
                <a:lnSpc>
                  <a:spcPct val="80000"/>
                </a:lnSpc>
                <a:spcBef>
                  <a:spcPts val="0"/>
                </a:spcBef>
                <a:defRPr>
                  <a:solidFill>
                    <a:srgbClr val="628DB5"/>
                  </a:solidFill>
                </a:defRPr>
              </a:pPr>
              <a:r>
                <a:rPr lang="es-PE" sz="1100" b="0" noProof="0" dirty="0" err="1">
                  <a:solidFill>
                    <a:schemeClr val="tx1"/>
                  </a:solidFill>
                </a:rPr>
                <a:t>bold_labels</a:t>
              </a:r>
              <a:r>
                <a:rPr lang="es-PE" sz="1100" b="0" noProof="0" dirty="0">
                  <a:solidFill>
                    <a:schemeClr val="tx1"/>
                  </a:solidFill>
                </a:rPr>
                <a:t>()</a:t>
              </a:r>
            </a:p>
            <a:p>
              <a:pPr lvl="1" indent="0">
                <a:lnSpc>
                  <a:spcPct val="80000"/>
                </a:lnSpc>
                <a:spcBef>
                  <a:spcPts val="0"/>
                </a:spcBef>
                <a:defRPr>
                  <a:solidFill>
                    <a:srgbClr val="628DB5"/>
                  </a:solidFill>
                </a:defRPr>
              </a:pPr>
              <a:r>
                <a:rPr lang="es-PE" sz="1100" b="0" noProof="0" dirty="0" err="1">
                  <a:solidFill>
                    <a:schemeClr val="tx1"/>
                  </a:solidFill>
                </a:rPr>
                <a:t>add_stat</a:t>
              </a:r>
              <a:r>
                <a:rPr lang="es-PE" sz="1100" b="0" noProof="0" dirty="0">
                  <a:solidFill>
                    <a:schemeClr val="tx1"/>
                  </a:solidFill>
                </a:rPr>
                <a:t>()</a:t>
              </a:r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16677AA7-DB5D-4DD6-AC9A-5EB7E60BE714}"/>
              </a:ext>
            </a:extLst>
          </p:cNvPr>
          <p:cNvSpPr/>
          <p:nvPr/>
        </p:nvSpPr>
        <p:spPr>
          <a:xfrm>
            <a:off x="6048971" y="8194761"/>
            <a:ext cx="7246406" cy="360202"/>
          </a:xfrm>
          <a:prstGeom prst="rect">
            <a:avLst/>
          </a:prstGeom>
          <a:solidFill>
            <a:srgbClr val="9CC173">
              <a:alpha val="22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PE" sz="12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20" name="Picture 1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60AE410-0188-433E-869F-7960181C5D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3606" y="82194"/>
            <a:ext cx="1123950" cy="1276350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73A6DA6A-7CF4-4678-987E-501A666FD182}"/>
              </a:ext>
            </a:extLst>
          </p:cNvPr>
          <p:cNvSpPr txBox="1"/>
          <p:nvPr/>
        </p:nvSpPr>
        <p:spPr>
          <a:xfrm>
            <a:off x="6139201" y="6020458"/>
            <a:ext cx="2257674" cy="1980029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9CC14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3152" tIns="91440" rIns="18288" bIns="91440" numCol="1" spcCol="38100" rtlCol="0" anchor="ctr">
            <a:spAutoFit/>
          </a:bodyPr>
          <a:lstStyle/>
          <a:p>
            <a:r>
              <a:rPr lang="es-PE" sz="1000" b="0" noProof="0" dirty="0">
                <a:latin typeface="Lucida Console" panose="020B0609040504020204" pitchFamily="49" charset="0"/>
              </a:rPr>
              <a:t>trial </a:t>
            </a:r>
            <a:r>
              <a:rPr lang="es-PE" sz="1000" b="0" noProof="0" dirty="0">
                <a:solidFill>
                  <a:schemeClr val="tx1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%&gt;%</a:t>
            </a:r>
            <a:r>
              <a:rPr lang="es-PE" sz="1000" b="0" noProof="0" dirty="0">
                <a:latin typeface="Lucida Console" panose="020B0609040504020204" pitchFamily="49" charset="0"/>
              </a:rPr>
              <a:t> </a:t>
            </a:r>
          </a:p>
          <a:p>
            <a:r>
              <a:rPr lang="es-PE" sz="1000" b="0" noProof="0" dirty="0">
                <a:latin typeface="Lucida Console" panose="020B0609040504020204" pitchFamily="49" charset="0"/>
              </a:rPr>
              <a:t>  </a:t>
            </a:r>
            <a:r>
              <a:rPr lang="es-PE" sz="1000" b="0" noProof="0" dirty="0" err="1">
                <a:latin typeface="Lucida Console" panose="020B0609040504020204" pitchFamily="49" charset="0"/>
              </a:rPr>
              <a:t>select</a:t>
            </a:r>
            <a:r>
              <a:rPr lang="es-PE" sz="1000" b="0" noProof="0" dirty="0">
                <a:solidFill>
                  <a:srgbClr val="FA694E"/>
                </a:solidFill>
                <a:latin typeface="Lucida Console" panose="020B0609040504020204" pitchFamily="49" charset="0"/>
              </a:rPr>
              <a:t>(</a:t>
            </a:r>
            <a:r>
              <a:rPr lang="es-PE" sz="1000" b="0" noProof="0" dirty="0" err="1">
                <a:latin typeface="Lucida Console" panose="020B0609040504020204" pitchFamily="49" charset="0"/>
              </a:rPr>
              <a:t>trt</a:t>
            </a:r>
            <a:r>
              <a:rPr lang="es-PE" sz="1000" b="0" noProof="0" dirty="0">
                <a:latin typeface="Lucida Console" panose="020B0609040504020204" pitchFamily="49" charset="0"/>
              </a:rPr>
              <a:t>, </a:t>
            </a:r>
            <a:r>
              <a:rPr lang="es-PE" sz="1000" b="0" noProof="0" dirty="0" err="1">
                <a:latin typeface="Lucida Console" panose="020B0609040504020204" pitchFamily="49" charset="0"/>
              </a:rPr>
              <a:t>age</a:t>
            </a:r>
            <a:r>
              <a:rPr lang="es-PE" sz="1000" b="0" noProof="0" dirty="0">
                <a:latin typeface="Lucida Console" panose="020B0609040504020204" pitchFamily="49" charset="0"/>
              </a:rPr>
              <a:t>, </a:t>
            </a:r>
          </a:p>
          <a:p>
            <a:r>
              <a:rPr lang="es-PE" sz="1000" b="0" noProof="0" dirty="0">
                <a:latin typeface="Lucida Console" panose="020B0609040504020204" pitchFamily="49" charset="0"/>
              </a:rPr>
              <a:t>         response</a:t>
            </a:r>
            <a:r>
              <a:rPr lang="es-PE" sz="1000" b="0" noProof="0" dirty="0">
                <a:solidFill>
                  <a:srgbClr val="FA694E"/>
                </a:solidFill>
                <a:latin typeface="Lucida Console" panose="020B0609040504020204" pitchFamily="49" charset="0"/>
              </a:rPr>
              <a:t>)</a:t>
            </a:r>
            <a:r>
              <a:rPr lang="es-PE" sz="1000" b="0" noProof="0" dirty="0">
                <a:latin typeface="Lucida Console" panose="020B0609040504020204" pitchFamily="49" charset="0"/>
              </a:rPr>
              <a:t> </a:t>
            </a:r>
            <a:r>
              <a:rPr lang="es-PE" sz="1000" b="0" noProof="0" dirty="0">
                <a:solidFill>
                  <a:schemeClr val="tx1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%&gt;%</a:t>
            </a:r>
            <a:r>
              <a:rPr lang="es-PE" sz="1000" b="0" noProof="0" dirty="0">
                <a:latin typeface="Lucida Console" panose="020B0609040504020204" pitchFamily="49" charset="0"/>
              </a:rPr>
              <a:t> </a:t>
            </a:r>
          </a:p>
          <a:p>
            <a:r>
              <a:rPr lang="es-PE" sz="1000" b="0" noProof="0" dirty="0">
                <a:latin typeface="Lucida Console" panose="020B0609040504020204" pitchFamily="49" charset="0"/>
              </a:rPr>
              <a:t>  </a:t>
            </a:r>
            <a:r>
              <a:rPr lang="es-PE" sz="1000" b="0" noProof="0" dirty="0" err="1">
                <a:latin typeface="Lucida Console" panose="020B0609040504020204" pitchFamily="49" charset="0"/>
              </a:rPr>
              <a:t>tbl_summary</a:t>
            </a:r>
            <a:r>
              <a:rPr lang="es-PE" sz="1000" b="0" noProof="0" dirty="0">
                <a:solidFill>
                  <a:srgbClr val="FA694E"/>
                </a:solidFill>
                <a:latin typeface="Lucida Console" panose="020B0609040504020204" pitchFamily="49" charset="0"/>
              </a:rPr>
              <a:t>(</a:t>
            </a:r>
          </a:p>
          <a:p>
            <a:r>
              <a:rPr lang="es-PE" sz="1000" b="0" noProof="0" dirty="0">
                <a:latin typeface="Lucida Console" panose="020B0609040504020204" pitchFamily="49" charset="0"/>
              </a:rPr>
              <a:t>    </a:t>
            </a:r>
            <a:r>
              <a:rPr lang="es-PE" sz="1000" b="0" noProof="0" dirty="0" err="1">
                <a:latin typeface="Lucida Console" panose="020B0609040504020204" pitchFamily="49" charset="0"/>
              </a:rPr>
              <a:t>by</a:t>
            </a:r>
            <a:r>
              <a:rPr lang="es-PE" sz="1000" b="0" noProof="0" dirty="0">
                <a:latin typeface="Lucida Console" panose="020B0609040504020204" pitchFamily="49" charset="0"/>
              </a:rPr>
              <a:t> = </a:t>
            </a:r>
            <a:r>
              <a:rPr lang="es-PE" sz="1000" b="0" noProof="0" dirty="0" err="1">
                <a:latin typeface="Lucida Console" panose="020B0609040504020204" pitchFamily="49" charset="0"/>
              </a:rPr>
              <a:t>trt</a:t>
            </a:r>
            <a:r>
              <a:rPr lang="es-PE" sz="1000" b="0" noProof="0" dirty="0">
                <a:latin typeface="Lucida Console" panose="020B0609040504020204" pitchFamily="49" charset="0"/>
              </a:rPr>
              <a:t>, </a:t>
            </a:r>
          </a:p>
          <a:p>
            <a:r>
              <a:rPr lang="es-PE" sz="1000" b="0" noProof="0" dirty="0">
                <a:latin typeface="Lucida Console" panose="020B0609040504020204" pitchFamily="49" charset="0"/>
              </a:rPr>
              <a:t>    </a:t>
            </a:r>
            <a:r>
              <a:rPr lang="es-PE" sz="1000" b="0" noProof="0" dirty="0" err="1">
                <a:latin typeface="Lucida Console" panose="020B0609040504020204" pitchFamily="49" charset="0"/>
              </a:rPr>
              <a:t>missing</a:t>
            </a:r>
            <a:r>
              <a:rPr lang="es-PE" sz="1000" b="0" noProof="0" dirty="0">
                <a:latin typeface="Lucida Console" panose="020B0609040504020204" pitchFamily="49" charset="0"/>
              </a:rPr>
              <a:t>= </a:t>
            </a:r>
            <a:r>
              <a:rPr lang="es-PE" sz="1000" b="0" noProof="0" dirty="0">
                <a:solidFill>
                  <a:srgbClr val="51831D"/>
                </a:solidFill>
                <a:latin typeface="Lucida Console" panose="020B0609040504020204" pitchFamily="49" charset="0"/>
              </a:rPr>
              <a:t>"no"</a:t>
            </a:r>
          </a:p>
          <a:p>
            <a:r>
              <a:rPr lang="es-PE" sz="1000" b="0" noProof="0" dirty="0">
                <a:latin typeface="Lucida Console" panose="020B0609040504020204" pitchFamily="49" charset="0"/>
              </a:rPr>
              <a:t>    </a:t>
            </a:r>
            <a:r>
              <a:rPr lang="es-PE" sz="1000" b="0" noProof="0" dirty="0">
                <a:solidFill>
                  <a:srgbClr val="FA694E"/>
                </a:solidFill>
                <a:latin typeface="Lucida Console" panose="020B0609040504020204" pitchFamily="49" charset="0"/>
              </a:rPr>
              <a:t>)</a:t>
            </a:r>
            <a:r>
              <a:rPr lang="es-PE" sz="1000" b="0" noProof="0" dirty="0">
                <a:latin typeface="Lucida Console" panose="020B0609040504020204" pitchFamily="49" charset="0"/>
              </a:rPr>
              <a:t> </a:t>
            </a:r>
            <a:r>
              <a:rPr lang="es-PE" sz="1000" b="0" noProof="0" dirty="0">
                <a:solidFill>
                  <a:schemeClr val="tx1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%&gt;%</a:t>
            </a:r>
            <a:r>
              <a:rPr lang="es-PE" sz="1000" b="0" noProof="0" dirty="0">
                <a:latin typeface="Lucida Console" panose="020B0609040504020204" pitchFamily="49" charset="0"/>
              </a:rPr>
              <a:t> </a:t>
            </a:r>
          </a:p>
          <a:p>
            <a:r>
              <a:rPr lang="es-PE" sz="1000" noProof="0" dirty="0">
                <a:latin typeface="Lucida Console" panose="020B0609040504020204" pitchFamily="49" charset="0"/>
              </a:rPr>
              <a:t>  </a:t>
            </a:r>
            <a:r>
              <a:rPr lang="es-PE" sz="1000" noProof="0" dirty="0" err="1">
                <a:latin typeface="Lucida Console" panose="020B0609040504020204" pitchFamily="49" charset="0"/>
              </a:rPr>
              <a:t>add_n</a:t>
            </a:r>
            <a:r>
              <a:rPr lang="es-PE" sz="1000" noProof="0" dirty="0">
                <a:solidFill>
                  <a:srgbClr val="FA694E"/>
                </a:solidFill>
                <a:latin typeface="Lucida Console" panose="020B0609040504020204" pitchFamily="49" charset="0"/>
              </a:rPr>
              <a:t>()</a:t>
            </a:r>
            <a:r>
              <a:rPr lang="es-PE" sz="1000" noProof="0" dirty="0">
                <a:latin typeface="Lucida Console" panose="020B0609040504020204" pitchFamily="49" charset="0"/>
              </a:rPr>
              <a:t> </a:t>
            </a:r>
            <a:r>
              <a:rPr lang="es-PE" sz="1000" b="0" noProof="0" dirty="0">
                <a:solidFill>
                  <a:schemeClr val="tx1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%&gt;%</a:t>
            </a:r>
          </a:p>
          <a:p>
            <a:r>
              <a:rPr lang="es-PE" sz="1000" noProof="0" dirty="0">
                <a:latin typeface="Lucida Console" panose="020B0609040504020204" pitchFamily="49" charset="0"/>
              </a:rPr>
              <a:t>  </a:t>
            </a:r>
            <a:r>
              <a:rPr lang="es-PE" sz="1000" noProof="0" dirty="0" err="1">
                <a:latin typeface="Lucida Console" panose="020B0609040504020204" pitchFamily="49" charset="0"/>
              </a:rPr>
              <a:t>add_overall</a:t>
            </a:r>
            <a:r>
              <a:rPr lang="es-PE" sz="1000" noProof="0" dirty="0">
                <a:solidFill>
                  <a:srgbClr val="FA694E"/>
                </a:solidFill>
                <a:latin typeface="Lucida Console" panose="020B0609040504020204" pitchFamily="49" charset="0"/>
              </a:rPr>
              <a:t>()</a:t>
            </a:r>
            <a:r>
              <a:rPr lang="es-PE" sz="1000" noProof="0" dirty="0">
                <a:latin typeface="Lucida Console" panose="020B0609040504020204" pitchFamily="49" charset="0"/>
              </a:rPr>
              <a:t> </a:t>
            </a:r>
            <a:r>
              <a:rPr lang="es-PE" sz="1000" b="0" noProof="0" dirty="0">
                <a:solidFill>
                  <a:schemeClr val="tx1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%&gt;%</a:t>
            </a:r>
            <a:r>
              <a:rPr lang="es-PE" sz="1000" b="0" noProof="0" dirty="0">
                <a:latin typeface="Lucida Console" panose="020B0609040504020204" pitchFamily="49" charset="0"/>
              </a:rPr>
              <a:t> </a:t>
            </a:r>
          </a:p>
          <a:p>
            <a:r>
              <a:rPr lang="es-PE" sz="1000" noProof="0" dirty="0">
                <a:latin typeface="Lucida Console" panose="020B0609040504020204" pitchFamily="49" charset="0"/>
              </a:rPr>
              <a:t>  </a:t>
            </a:r>
            <a:r>
              <a:rPr lang="es-PE" sz="1000" noProof="0" dirty="0" err="1">
                <a:latin typeface="Lucida Console" panose="020B0609040504020204" pitchFamily="49" charset="0"/>
              </a:rPr>
              <a:t>add_p</a:t>
            </a:r>
            <a:r>
              <a:rPr lang="es-PE" sz="1000" noProof="0" dirty="0">
                <a:solidFill>
                  <a:srgbClr val="FA694E"/>
                </a:solidFill>
                <a:latin typeface="Lucida Console" panose="020B0609040504020204" pitchFamily="49" charset="0"/>
              </a:rPr>
              <a:t>()</a:t>
            </a:r>
          </a:p>
        </p:txBody>
      </p:sp>
      <p:sp>
        <p:nvSpPr>
          <p:cNvPr id="82" name="Title">
            <a:extLst>
              <a:ext uri="{FF2B5EF4-FFF2-40B4-BE49-F238E27FC236}">
                <a16:creationId xmlns:a16="http://schemas.microsoft.com/office/drawing/2014/main" id="{7F9C0756-E838-476A-8C6E-D473C101ACCB}"/>
              </a:ext>
            </a:extLst>
          </p:cNvPr>
          <p:cNvSpPr txBox="1"/>
          <p:nvPr/>
        </p:nvSpPr>
        <p:spPr>
          <a:xfrm>
            <a:off x="6114376" y="5759341"/>
            <a:ext cx="1432173" cy="2268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12700" tIns="12700" rIns="12700" bIns="12700" numCol="1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>
                <a:solidFill>
                  <a:srgbClr val="628DB5"/>
                </a:solidFill>
              </a:defRPr>
            </a:pPr>
            <a:r>
              <a:rPr lang="es-PE" sz="1600" noProof="0" dirty="0">
                <a:solidFill>
                  <a:srgbClr val="5D7529"/>
                </a:solidFill>
              </a:rPr>
              <a:t>Código ampliado</a:t>
            </a:r>
          </a:p>
        </p:txBody>
      </p:sp>
      <p:sp>
        <p:nvSpPr>
          <p:cNvPr id="84" name="Title">
            <a:extLst>
              <a:ext uri="{FF2B5EF4-FFF2-40B4-BE49-F238E27FC236}">
                <a16:creationId xmlns:a16="http://schemas.microsoft.com/office/drawing/2014/main" id="{69B974FC-A3A1-4663-8623-A02D0DAFA8FC}"/>
              </a:ext>
            </a:extLst>
          </p:cNvPr>
          <p:cNvSpPr txBox="1"/>
          <p:nvPr/>
        </p:nvSpPr>
        <p:spPr>
          <a:xfrm>
            <a:off x="8557316" y="5759341"/>
            <a:ext cx="1432173" cy="2268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2700" tIns="12700" rIns="12700" bIns="12700" numCol="1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>
                <a:solidFill>
                  <a:srgbClr val="628DB5"/>
                </a:solidFill>
              </a:defRPr>
            </a:pPr>
            <a:r>
              <a:rPr lang="es-PE" sz="1600" noProof="0" dirty="0">
                <a:solidFill>
                  <a:srgbClr val="5D7529"/>
                </a:solidFill>
              </a:rPr>
              <a:t>Tabla ampliada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190FACC0-24DB-4B97-9213-4B9FE7ECEA20}"/>
              </a:ext>
            </a:extLst>
          </p:cNvPr>
          <p:cNvSpPr/>
          <p:nvPr/>
        </p:nvSpPr>
        <p:spPr>
          <a:xfrm>
            <a:off x="6048971" y="8545925"/>
            <a:ext cx="7246406" cy="285379"/>
          </a:xfrm>
          <a:prstGeom prst="roundRect">
            <a:avLst/>
          </a:prstGeom>
          <a:solidFill>
            <a:srgbClr val="9CC173">
              <a:alpha val="50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s-PE" b="0" noProof="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Argumento    Predeterminado		                     Entrada			                     Efecto en la tabla</a:t>
            </a:r>
            <a:endParaRPr kumimoji="0" lang="es-PE" b="0" i="0" u="none" strike="noStrike" cap="none" spc="0" normalizeH="0" baseline="0" noProof="0" dirty="0">
              <a:ln>
                <a:solidFill>
                  <a:schemeClr val="bg1">
                    <a:lumMod val="95000"/>
                  </a:schemeClr>
                </a:solidFill>
              </a:ln>
              <a:solidFill>
                <a:schemeClr val="bg1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4" name="i + geom_area() x, y, alpha, color, fill, linetype, size…">
            <a:extLst>
              <a:ext uri="{FF2B5EF4-FFF2-40B4-BE49-F238E27FC236}">
                <a16:creationId xmlns:a16="http://schemas.microsoft.com/office/drawing/2014/main" id="{26A39C01-1337-45A8-80F8-CB7E701FA20D}"/>
              </a:ext>
            </a:extLst>
          </p:cNvPr>
          <p:cNvSpPr txBox="1"/>
          <p:nvPr/>
        </p:nvSpPr>
        <p:spPr>
          <a:xfrm>
            <a:off x="6891982" y="8303300"/>
            <a:ext cx="6168110" cy="2019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50800" dist="50800" dir="5400000" algn="ctr" rotWithShape="0">
              <a:schemeClr val="bg1"/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/>
          <a:p>
            <a:pPr>
              <a:spcBef>
                <a:spcPts val="1100"/>
              </a:spcBef>
              <a:defRPr sz="1000">
                <a:solidFill>
                  <a:srgbClr val="000000"/>
                </a:solidFill>
              </a:defRPr>
            </a:pPr>
            <a:r>
              <a:rPr lang="es-PE" b="0" noProof="0" dirty="0"/>
              <a:t>Añade una columna con valores p de pruebas de diferencias entre grupos. Argumentos:</a:t>
            </a:r>
          </a:p>
        </p:txBody>
      </p:sp>
      <p:sp>
        <p:nvSpPr>
          <p:cNvPr id="73" name="i + geom_area() x, y, alpha, color, fill, linetype, size…">
            <a:extLst>
              <a:ext uri="{FF2B5EF4-FFF2-40B4-BE49-F238E27FC236}">
                <a16:creationId xmlns:a16="http://schemas.microsoft.com/office/drawing/2014/main" id="{A6D739B4-F9BE-422D-A4F6-F567705F3435}"/>
              </a:ext>
            </a:extLst>
          </p:cNvPr>
          <p:cNvSpPr txBox="1"/>
          <p:nvPr/>
        </p:nvSpPr>
        <p:spPr>
          <a:xfrm>
            <a:off x="6076268" y="8218262"/>
            <a:ext cx="709528" cy="3186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ctr" anchorCtr="1">
            <a:noAutofit/>
          </a:bodyPr>
          <a:lstStyle/>
          <a:p>
            <a:pPr algn="r">
              <a:lnSpc>
                <a:spcPct val="70000"/>
              </a:lnSpc>
              <a:spcBef>
                <a:spcPts val="1100"/>
              </a:spcBef>
              <a:defRPr sz="1000">
                <a:solidFill>
                  <a:srgbClr val="000000"/>
                </a:solidFill>
              </a:defRPr>
            </a:pPr>
            <a:r>
              <a:rPr lang="es-PE" sz="1400" noProof="0" dirty="0" err="1"/>
              <a:t>add_p</a:t>
            </a:r>
            <a:r>
              <a:rPr lang="es-PE" sz="1400" noProof="0" dirty="0"/>
              <a:t>()</a:t>
            </a:r>
            <a:endParaRPr lang="es-PE" sz="1500" b="0" noProof="0" dirty="0"/>
          </a:p>
        </p:txBody>
      </p:sp>
      <p:graphicFrame>
        <p:nvGraphicFramePr>
          <p:cNvPr id="80" name="Table 335">
            <a:extLst>
              <a:ext uri="{FF2B5EF4-FFF2-40B4-BE49-F238E27FC236}">
                <a16:creationId xmlns:a16="http://schemas.microsoft.com/office/drawing/2014/main" id="{0B5579E8-337A-4154-A3FB-18E9FC073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753746"/>
              </p:ext>
            </p:extLst>
          </p:nvPr>
        </p:nvGraphicFramePr>
        <p:xfrm>
          <a:off x="6076268" y="8889572"/>
          <a:ext cx="7201081" cy="12944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6718">
                  <a:extLst>
                    <a:ext uri="{9D8B030D-6E8A-4147-A177-3AD203B41FA5}">
                      <a16:colId xmlns:a16="http://schemas.microsoft.com/office/drawing/2014/main" val="3537709012"/>
                    </a:ext>
                  </a:extLst>
                </a:gridCol>
                <a:gridCol w="2145070">
                  <a:extLst>
                    <a:ext uri="{9D8B030D-6E8A-4147-A177-3AD203B41FA5}">
                      <a16:colId xmlns:a16="http://schemas.microsoft.com/office/drawing/2014/main" val="956245227"/>
                    </a:ext>
                  </a:extLst>
                </a:gridCol>
                <a:gridCol w="2310809">
                  <a:extLst>
                    <a:ext uri="{9D8B030D-6E8A-4147-A177-3AD203B41FA5}">
                      <a16:colId xmlns:a16="http://schemas.microsoft.com/office/drawing/2014/main" val="377489258"/>
                    </a:ext>
                  </a:extLst>
                </a:gridCol>
                <a:gridCol w="1978484">
                  <a:extLst>
                    <a:ext uri="{9D8B030D-6E8A-4147-A177-3AD203B41FA5}">
                      <a16:colId xmlns:a16="http://schemas.microsoft.com/office/drawing/2014/main" val="2674764155"/>
                    </a:ext>
                  </a:extLst>
                </a:gridCol>
              </a:tblGrid>
              <a:tr h="780165">
                <a:tc>
                  <a:txBody>
                    <a:bodyPr/>
                    <a:lstStyle/>
                    <a:p>
                      <a:pPr algn="r"/>
                      <a:r>
                        <a:rPr lang="es-PE" sz="1000" b="1" noProof="0" dirty="0"/>
                        <a:t>test</a:t>
                      </a:r>
                      <a:endParaRPr lang="es-PE" sz="10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00" noProof="0" dirty="0"/>
                        <a:t>Continuas: </a:t>
                      </a:r>
                      <a:r>
                        <a:rPr lang="es-PE" sz="1000" b="1" noProof="0" dirty="0"/>
                        <a:t>"</a:t>
                      </a:r>
                      <a:r>
                        <a:rPr lang="es-PE" sz="1000" b="1" noProof="0" dirty="0" err="1"/>
                        <a:t>wilcox.test</a:t>
                      </a:r>
                      <a:r>
                        <a:rPr lang="es-PE" sz="1000" b="1" noProof="0" dirty="0"/>
                        <a:t>" (2 grupos), "</a:t>
                      </a:r>
                      <a:r>
                        <a:rPr lang="es-PE" sz="1000" b="1" noProof="0" dirty="0" err="1"/>
                        <a:t>kruskal.test</a:t>
                      </a:r>
                      <a:r>
                        <a:rPr lang="es-PE" sz="1000" b="1" noProof="0" dirty="0"/>
                        <a:t>" (&gt;2)</a:t>
                      </a:r>
                      <a:r>
                        <a:rPr lang="es-PE" sz="1000" b="0" noProof="0" dirty="0"/>
                        <a:t>; </a:t>
                      </a:r>
                    </a:p>
                    <a:p>
                      <a:pPr algn="l"/>
                      <a:r>
                        <a:rPr lang="es-PE" sz="1000" noProof="0" dirty="0"/>
                        <a:t>Categóricas (≥5): </a:t>
                      </a:r>
                      <a:r>
                        <a:rPr lang="es-PE" sz="1000" b="1" noProof="0" dirty="0"/>
                        <a:t>"</a:t>
                      </a:r>
                      <a:r>
                        <a:rPr lang="es-PE" sz="1000" b="1" u="none" strike="noStrike" cap="none" spc="0" baseline="0" noProof="0" dirty="0" err="1">
                          <a:ln>
                            <a:noFill/>
                          </a:ln>
                          <a:effectLst/>
                          <a:uFillTx/>
                          <a:sym typeface="Helvetica Light"/>
                        </a:rPr>
                        <a:t>chisq.test.no.correct</a:t>
                      </a:r>
                      <a:r>
                        <a:rPr lang="es-PE" sz="1000" b="1" u="none" strike="noStrike" cap="none" spc="0" baseline="0" noProof="0" dirty="0">
                          <a:ln>
                            <a:noFill/>
                          </a:ln>
                          <a:effectLst/>
                          <a:uFillTx/>
                          <a:sym typeface="Helvetica Light"/>
                        </a:rPr>
                        <a:t>";</a:t>
                      </a:r>
                    </a:p>
                    <a:p>
                      <a:pPr algn="l"/>
                      <a:r>
                        <a:rPr lang="es-PE" sz="1000" noProof="0" dirty="0"/>
                        <a:t>Categóricas (&lt;5): </a:t>
                      </a:r>
                      <a:r>
                        <a:rPr lang="es-PE" sz="1000" b="1" noProof="0" dirty="0"/>
                        <a:t>"</a:t>
                      </a:r>
                      <a:r>
                        <a:rPr lang="es-PE" sz="1000" b="1" noProof="0" dirty="0" err="1"/>
                        <a:t>fisher.test</a:t>
                      </a:r>
                      <a:r>
                        <a:rPr lang="es-PE" sz="1000" b="1" noProof="0" dirty="0"/>
                        <a:t>"</a:t>
                      </a:r>
                      <a:endParaRPr lang="es-PE" sz="10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00" b="1" noProof="0" dirty="0"/>
                        <a:t>Lista de fórmulas </a:t>
                      </a:r>
                      <a:r>
                        <a:rPr lang="es-PE" sz="1000" b="1" u="none" strike="noStrike" cap="none" spc="0" baseline="0" noProof="0" dirty="0">
                          <a:ln>
                            <a:noFill/>
                          </a:ln>
                          <a:effectLst/>
                          <a:uFillTx/>
                          <a:sym typeface="Helvetica Light"/>
                        </a:rPr>
                        <a:t>con la prueba para cada variable: </a:t>
                      </a:r>
                      <a:r>
                        <a:rPr lang="es-PE" sz="1000" b="1" noProof="0" dirty="0"/>
                        <a:t>"</a:t>
                      </a:r>
                      <a:r>
                        <a:rPr lang="es-PE" sz="1000" b="1" noProof="0" dirty="0" err="1"/>
                        <a:t>t.test</a:t>
                      </a:r>
                      <a:r>
                        <a:rPr lang="es-PE" sz="1000" b="1" noProof="0" dirty="0"/>
                        <a:t>", "</a:t>
                      </a:r>
                      <a:r>
                        <a:rPr lang="es-PE" sz="1000" b="1" noProof="0" dirty="0" err="1"/>
                        <a:t>aov</a:t>
                      </a:r>
                      <a:r>
                        <a:rPr lang="es-PE" sz="1000" b="1" noProof="0" dirty="0"/>
                        <a:t>"</a:t>
                      </a:r>
                      <a:r>
                        <a:rPr lang="es-PE" sz="1000" b="1" u="none" strike="noStrike" cap="none" spc="0" baseline="0" noProof="0" dirty="0">
                          <a:ln>
                            <a:noFill/>
                          </a:ln>
                          <a:effectLst/>
                          <a:uFillTx/>
                          <a:sym typeface="Helvetica Light"/>
                        </a:rPr>
                        <a:t>, </a:t>
                      </a:r>
                      <a:r>
                        <a:rPr lang="es-PE" sz="1000" b="1" noProof="0" dirty="0"/>
                        <a:t>"</a:t>
                      </a:r>
                      <a:r>
                        <a:rPr lang="es-PE" sz="1000" b="1" noProof="0" dirty="0" err="1"/>
                        <a:t>wilcox.test</a:t>
                      </a:r>
                      <a:r>
                        <a:rPr lang="es-PE" sz="1000" b="1" noProof="0" dirty="0"/>
                        <a:t>"</a:t>
                      </a:r>
                      <a:r>
                        <a:rPr lang="es-PE" sz="1000" b="1" u="none" strike="noStrike" cap="none" spc="0" baseline="0" noProof="0" dirty="0">
                          <a:ln>
                            <a:noFill/>
                          </a:ln>
                          <a:effectLst/>
                          <a:uFillTx/>
                          <a:sym typeface="Helvetica Light"/>
                        </a:rPr>
                        <a:t>, </a:t>
                      </a:r>
                      <a:r>
                        <a:rPr lang="es-PE" sz="1000" b="1" noProof="0" dirty="0"/>
                        <a:t>"</a:t>
                      </a:r>
                      <a:r>
                        <a:rPr lang="es-PE" sz="1000" b="1" noProof="0" dirty="0" err="1"/>
                        <a:t>kruskal.test</a:t>
                      </a:r>
                      <a:r>
                        <a:rPr lang="es-PE" sz="1000" b="1" noProof="0" dirty="0"/>
                        <a:t>"</a:t>
                      </a:r>
                      <a:r>
                        <a:rPr lang="es-PE" sz="1000" b="1" u="none" strike="noStrike" cap="none" spc="0" baseline="0" noProof="0" dirty="0">
                          <a:ln>
                            <a:noFill/>
                          </a:ln>
                          <a:effectLst/>
                          <a:uFillTx/>
                          <a:sym typeface="Helvetica Light"/>
                        </a:rPr>
                        <a:t>, </a:t>
                      </a:r>
                      <a:r>
                        <a:rPr lang="es-PE" sz="1000" b="1" noProof="0" dirty="0"/>
                        <a:t>"</a:t>
                      </a:r>
                      <a:r>
                        <a:rPr lang="es-PE" sz="1000" b="1" noProof="0" dirty="0" err="1"/>
                        <a:t>chisq.test</a:t>
                      </a:r>
                      <a:r>
                        <a:rPr lang="es-PE" sz="1000" b="1" noProof="0" dirty="0"/>
                        <a:t>"</a:t>
                      </a:r>
                      <a:r>
                        <a:rPr lang="es-PE" sz="1000" b="1" u="none" strike="noStrike" cap="none" spc="0" baseline="0" noProof="0" dirty="0">
                          <a:ln>
                            <a:noFill/>
                          </a:ln>
                          <a:effectLst/>
                          <a:uFillTx/>
                          <a:sym typeface="Helvetica Light"/>
                        </a:rPr>
                        <a:t> y </a:t>
                      </a:r>
                      <a:r>
                        <a:rPr lang="es-PE" sz="1000" b="1" noProof="0" dirty="0"/>
                        <a:t>"lme4"</a:t>
                      </a:r>
                      <a:r>
                        <a:rPr lang="es-PE" sz="1000" b="1" u="none" strike="noStrike" cap="none" spc="0" baseline="0" noProof="0" dirty="0">
                          <a:ln>
                            <a:noFill/>
                          </a:ln>
                          <a:effectLst/>
                          <a:uFillTx/>
                          <a:sym typeface="Helvetica Light"/>
                        </a:rPr>
                        <a:t>; también pruebas personalizadas</a:t>
                      </a:r>
                      <a:endParaRPr lang="es-PE" sz="10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00" b="1" noProof="0" dirty="0"/>
                        <a:t>Cambia el valor p de la tabla según la prueba estadística indicada</a:t>
                      </a:r>
                      <a:endParaRPr lang="es-PE" sz="10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951420"/>
                  </a:ext>
                </a:extLst>
              </a:tr>
              <a:tr h="440963">
                <a:tc>
                  <a:txBody>
                    <a:bodyPr/>
                    <a:lstStyle/>
                    <a:p>
                      <a:pPr algn="r"/>
                      <a:r>
                        <a:rPr lang="es-PE" sz="1000" b="1" noProof="0" dirty="0" err="1"/>
                        <a:t>pvalue_fun</a:t>
                      </a:r>
                      <a:endParaRPr lang="es-PE" sz="10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00" b="1" u="sng" strike="noStrike" cap="none" spc="0" baseline="0" noProof="0" dirty="0" err="1">
                          <a:ln>
                            <a:noFill/>
                          </a:ln>
                          <a:effectLst/>
                          <a:uFillTx/>
                          <a:sym typeface="Helvetica Light"/>
                        </a:rPr>
                        <a:t>style_pvalue</a:t>
                      </a:r>
                      <a:r>
                        <a:rPr lang="es-PE" sz="1000" b="1" u="sng" strike="noStrike" cap="none" spc="0" baseline="0" noProof="0" dirty="0">
                          <a:ln>
                            <a:noFill/>
                          </a:ln>
                          <a:effectLst/>
                          <a:uFillTx/>
                          <a:sym typeface="Helvetica Light"/>
                        </a:rPr>
                        <a:t>()</a:t>
                      </a:r>
                      <a:endParaRPr lang="es-PE" sz="10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00" b="1" noProof="0" dirty="0"/>
                        <a:t>Función para redondear y dar formato a los valores p</a:t>
                      </a:r>
                      <a:endParaRPr lang="es-PE" sz="10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00" b="1" noProof="0" dirty="0"/>
                        <a:t>Cambia el formato de los valores p en la tabla</a:t>
                      </a:r>
                      <a:endParaRPr lang="es-PE" sz="10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593798"/>
                  </a:ext>
                </a:extLst>
              </a:tr>
            </a:tbl>
          </a:graphicData>
        </a:graphic>
      </p:graphicFrame>
      <p:sp>
        <p:nvSpPr>
          <p:cNvPr id="71" name="Rectangle 70">
            <a:extLst>
              <a:ext uri="{FF2B5EF4-FFF2-40B4-BE49-F238E27FC236}">
                <a16:creationId xmlns:a16="http://schemas.microsoft.com/office/drawing/2014/main" id="{73DEEC64-65F6-4BD2-88D9-4BD8D998E1D6}"/>
              </a:ext>
            </a:extLst>
          </p:cNvPr>
          <p:cNvSpPr/>
          <p:nvPr/>
        </p:nvSpPr>
        <p:spPr>
          <a:xfrm>
            <a:off x="6046057" y="9770993"/>
            <a:ext cx="7246406" cy="331177"/>
          </a:xfrm>
          <a:prstGeom prst="rect">
            <a:avLst/>
          </a:prstGeom>
          <a:solidFill>
            <a:srgbClr val="9CC173">
              <a:alpha val="22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PE" sz="12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0" name="Title">
            <a:extLst>
              <a:ext uri="{FF2B5EF4-FFF2-40B4-BE49-F238E27FC236}">
                <a16:creationId xmlns:a16="http://schemas.microsoft.com/office/drawing/2014/main" id="{467D27F6-7FEB-4171-8398-3D4F2EB38CF5}"/>
              </a:ext>
            </a:extLst>
          </p:cNvPr>
          <p:cNvSpPr txBox="1"/>
          <p:nvPr/>
        </p:nvSpPr>
        <p:spPr>
          <a:xfrm>
            <a:off x="7027530" y="10178939"/>
            <a:ext cx="5089535" cy="1640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12700" tIns="12700" rIns="12700" bIns="12700" numCol="1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>
                <a:solidFill>
                  <a:srgbClr val="628DB5"/>
                </a:solidFill>
              </a:defRPr>
            </a:pPr>
            <a:r>
              <a:rPr lang="es-PE" sz="1100" b="0" noProof="0" dirty="0">
                <a:solidFill>
                  <a:srgbClr val="5D7529"/>
                </a:solidFill>
              </a:rPr>
              <a:t>Para más información, visita </a:t>
            </a:r>
            <a:r>
              <a:rPr lang="es-PE" sz="1100" b="0" noProof="0" dirty="0">
                <a:solidFill>
                  <a:srgbClr val="5D7529"/>
                </a:solidFill>
                <a:hlinkClick r:id="rId10"/>
              </a:rPr>
              <a:t>http://www.</a:t>
            </a:r>
            <a:r>
              <a:rPr lang="es-PE" sz="1100" b="0" noProof="0" dirty="0">
                <a:solidFill>
                  <a:srgbClr val="6F8B31"/>
                </a:solidFill>
                <a:hlinkClick r:id="rId10"/>
              </a:rPr>
              <a:t>danieldsjoberg</a:t>
            </a:r>
            <a:r>
              <a:rPr lang="es-PE" sz="1100" b="0" noProof="0" dirty="0">
                <a:solidFill>
                  <a:srgbClr val="5D7529"/>
                </a:solidFill>
                <a:hlinkClick r:id="rId10"/>
              </a:rPr>
              <a:t>.com/gtsummary/reference/index.html</a:t>
            </a:r>
            <a:endParaRPr lang="es-PE" sz="1100" b="0" noProof="0" dirty="0">
              <a:solidFill>
                <a:srgbClr val="5D7529"/>
              </a:solidFill>
            </a:endParaRPr>
          </a:p>
        </p:txBody>
      </p:sp>
      <p:sp>
        <p:nvSpPr>
          <p:cNvPr id="197" name="Remember that the best cheatsheets are visual—not written—documents. Whenever possible use visual elements to make it easier for readers to find the information they need.">
            <a:extLst>
              <a:ext uri="{FF2B5EF4-FFF2-40B4-BE49-F238E27FC236}">
                <a16:creationId xmlns:a16="http://schemas.microsoft.com/office/drawing/2014/main" id="{727DFDCC-88C1-460C-B327-85AC90FB64FC}"/>
              </a:ext>
            </a:extLst>
          </p:cNvPr>
          <p:cNvSpPr txBox="1"/>
          <p:nvPr/>
        </p:nvSpPr>
        <p:spPr>
          <a:xfrm>
            <a:off x="353259" y="662633"/>
            <a:ext cx="2482590" cy="70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r>
              <a:rPr lang="es-PE" sz="1400" noProof="0" dirty="0">
                <a:ln>
                  <a:solidFill>
                    <a:srgbClr val="9CC14B"/>
                  </a:solidFill>
                </a:ln>
                <a:solidFill>
                  <a:srgbClr val="9CC14B"/>
                </a:solidFill>
              </a:rPr>
              <a:t>Tablas analíticas y de resumen 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r>
              <a:rPr lang="es-PE" sz="1400" noProof="0" dirty="0">
                <a:ln>
                  <a:solidFill>
                    <a:srgbClr val="9CC14B"/>
                  </a:solidFill>
                </a:ln>
                <a:solidFill>
                  <a:srgbClr val="9CC14B"/>
                </a:solidFill>
              </a:rPr>
              <a:t>listas para publicar con 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r>
              <a:rPr lang="es-PE" sz="1600" noProof="0" dirty="0" err="1">
                <a:solidFill>
                  <a:srgbClr val="9CC14B"/>
                </a:solidFill>
              </a:rPr>
              <a:t>Cheat</a:t>
            </a:r>
            <a:r>
              <a:rPr lang="es-PE" sz="1600" noProof="0" dirty="0">
                <a:solidFill>
                  <a:srgbClr val="9CC14B"/>
                </a:solidFill>
              </a:rPr>
              <a:t> </a:t>
            </a:r>
            <a:r>
              <a:rPr lang="es-PE" sz="1600" noProof="0" dirty="0" err="1">
                <a:solidFill>
                  <a:srgbClr val="9CC14B"/>
                </a:solidFill>
              </a:rPr>
              <a:t>Sheet</a:t>
            </a:r>
            <a:endParaRPr lang="es-PE" sz="1600" noProof="0" dirty="0">
              <a:solidFill>
                <a:srgbClr val="9CC14B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8EE6B58-F816-442B-90E0-FAB7F147640C}"/>
              </a:ext>
            </a:extLst>
          </p:cNvPr>
          <p:cNvSpPr/>
          <p:nvPr/>
        </p:nvSpPr>
        <p:spPr>
          <a:xfrm>
            <a:off x="9544653" y="6132220"/>
            <a:ext cx="257561" cy="640385"/>
          </a:xfrm>
          <a:prstGeom prst="rect">
            <a:avLst/>
          </a:prstGeom>
          <a:solidFill>
            <a:srgbClr val="9CC173">
              <a:alpha val="22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PE" sz="12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050CCB7-8351-4D25-8C84-C7A3FBAF052C}"/>
              </a:ext>
            </a:extLst>
          </p:cNvPr>
          <p:cNvSpPr/>
          <p:nvPr/>
        </p:nvSpPr>
        <p:spPr>
          <a:xfrm>
            <a:off x="9853145" y="6130997"/>
            <a:ext cx="936404" cy="640385"/>
          </a:xfrm>
          <a:prstGeom prst="rect">
            <a:avLst/>
          </a:prstGeom>
          <a:solidFill>
            <a:srgbClr val="9CC173">
              <a:alpha val="22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PE" sz="12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FB53198-5AB9-4B99-851E-C688526D57F8}"/>
              </a:ext>
            </a:extLst>
          </p:cNvPr>
          <p:cNvSpPr/>
          <p:nvPr/>
        </p:nvSpPr>
        <p:spPr>
          <a:xfrm>
            <a:off x="12818429" y="6129541"/>
            <a:ext cx="476948" cy="640385"/>
          </a:xfrm>
          <a:prstGeom prst="rect">
            <a:avLst/>
          </a:prstGeom>
          <a:solidFill>
            <a:srgbClr val="9CC173">
              <a:alpha val="22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PE" sz="12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6E85A4D-C568-4230-AAF2-D3CAD719262F}"/>
              </a:ext>
            </a:extLst>
          </p:cNvPr>
          <p:cNvSpPr txBox="1"/>
          <p:nvPr/>
        </p:nvSpPr>
        <p:spPr>
          <a:xfrm>
            <a:off x="332084" y="2105906"/>
            <a:ext cx="5251054" cy="289742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9CC14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6576" tIns="54570" rIns="18288" bIns="54570" numCol="1" spcCol="38100" rtlCol="0" anchor="ctr">
            <a:spAutoFit/>
          </a:bodyPr>
          <a:lstStyle/>
          <a:p>
            <a:r>
              <a:rPr lang="es-PE" sz="1000" b="0" noProof="0" dirty="0">
                <a:solidFill>
                  <a:srgbClr val="333333"/>
                </a:solidFill>
                <a:latin typeface="Lucida Console" panose="020B0609040504020204" pitchFamily="49" charset="0"/>
              </a:rPr>
              <a:t> trial </a:t>
            </a:r>
            <a:r>
              <a:rPr lang="es-PE" sz="1000" b="0" noProof="0" dirty="0">
                <a:solidFill>
                  <a:schemeClr val="tx1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%&gt;%</a:t>
            </a:r>
            <a:r>
              <a:rPr lang="es-PE" sz="1000" b="0" noProof="0" dirty="0">
                <a:solidFill>
                  <a:srgbClr val="333333"/>
                </a:solidFill>
                <a:latin typeface="Lucida Console" panose="020B0609040504020204" pitchFamily="49" charset="0"/>
              </a:rPr>
              <a:t> </a:t>
            </a:r>
            <a:r>
              <a:rPr lang="es-PE" sz="1000" b="0" noProof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select</a:t>
            </a:r>
            <a:r>
              <a:rPr lang="es-PE" sz="1000" b="0" noProof="0" dirty="0">
                <a:solidFill>
                  <a:schemeClr val="accent5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(</a:t>
            </a:r>
            <a:r>
              <a:rPr lang="es-PE" sz="1000" b="0" noProof="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trt</a:t>
            </a:r>
            <a:r>
              <a:rPr lang="es-PE" sz="1000" b="0" noProof="0" dirty="0">
                <a:solidFill>
                  <a:srgbClr val="333333"/>
                </a:solidFill>
                <a:latin typeface="Lucida Console" panose="020B0609040504020204" pitchFamily="49" charset="0"/>
              </a:rPr>
              <a:t>, </a:t>
            </a:r>
            <a:r>
              <a:rPr lang="es-PE" sz="1000" b="0" noProof="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age</a:t>
            </a:r>
            <a:r>
              <a:rPr lang="es-PE" sz="1000" b="0" noProof="0" dirty="0">
                <a:solidFill>
                  <a:srgbClr val="333333"/>
                </a:solidFill>
                <a:latin typeface="Lucida Console" panose="020B0609040504020204" pitchFamily="49" charset="0"/>
              </a:rPr>
              <a:t>, grade, response</a:t>
            </a:r>
            <a:r>
              <a:rPr lang="es-PE" sz="1000" b="0" noProof="0" dirty="0">
                <a:solidFill>
                  <a:schemeClr val="accent5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)</a:t>
            </a:r>
            <a:r>
              <a:rPr lang="es-PE" sz="1000" noProof="0" dirty="0">
                <a:solidFill>
                  <a:srgbClr val="FFFFFF"/>
                </a:solidFill>
                <a:latin typeface="Lucida Console" panose="020B0609040504020204" pitchFamily="49" charset="0"/>
              </a:rPr>
              <a:t> </a:t>
            </a:r>
            <a:r>
              <a:rPr lang="es-PE" sz="1000" b="0" noProof="0" dirty="0">
                <a:solidFill>
                  <a:schemeClr val="tx1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%&gt;%</a:t>
            </a:r>
            <a:r>
              <a:rPr lang="es-PE" sz="1000" b="0" noProof="0" dirty="0">
                <a:solidFill>
                  <a:srgbClr val="333333"/>
                </a:solidFill>
                <a:latin typeface="Lucida Console" panose="020B0609040504020204" pitchFamily="49" charset="0"/>
              </a:rPr>
              <a:t> </a:t>
            </a:r>
            <a:r>
              <a:rPr lang="es-PE" sz="1000" b="0" noProof="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tbl_summary</a:t>
            </a:r>
            <a:r>
              <a:rPr lang="es-PE" sz="1000" b="0" noProof="0" dirty="0">
                <a:solidFill>
                  <a:schemeClr val="accent5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()</a:t>
            </a:r>
            <a:r>
              <a:rPr lang="es-PE" sz="1000" b="0" noProof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1057967-A5ED-4630-A3E0-52A832454C68}"/>
              </a:ext>
            </a:extLst>
          </p:cNvPr>
          <p:cNvSpPr txBox="1"/>
          <p:nvPr/>
        </p:nvSpPr>
        <p:spPr>
          <a:xfrm>
            <a:off x="2920910" y="3182881"/>
            <a:ext cx="2810731" cy="1609375"/>
          </a:xfrm>
          <a:prstGeom prst="rect">
            <a:avLst/>
          </a:prstGeom>
          <a:noFill/>
          <a:ln w="12700" cap="flat">
            <a:solidFill>
              <a:srgbClr val="9CC14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82880" tIns="54570" rIns="54570" bIns="182880" numCol="1" spcCol="38100" rtlCol="0" anchor="ctr">
            <a:spAutoFit/>
          </a:bodyPr>
          <a:lstStyle/>
          <a:p>
            <a:r>
              <a:rPr lang="es-PE" b="0" noProof="0" dirty="0">
                <a:solidFill>
                  <a:schemeClr val="tx1"/>
                </a:solidFill>
              </a:rPr>
              <a:t>Igual que </a:t>
            </a:r>
            <a:r>
              <a:rPr lang="es-PE" b="0" noProof="0" dirty="0" err="1">
                <a:solidFill>
                  <a:schemeClr val="tx1"/>
                </a:solidFill>
              </a:rPr>
              <a:t>tbl_summary</a:t>
            </a:r>
            <a:r>
              <a:rPr lang="es-PE" b="0" noProof="0" dirty="0">
                <a:solidFill>
                  <a:schemeClr val="tx1"/>
                </a:solidFill>
              </a:rPr>
              <a:t>(), pero recibe un objeto de encuesta y toma en cuenta los pesos y el diseño de la encuesta.</a:t>
            </a:r>
          </a:p>
          <a:p>
            <a:endParaRPr lang="es-PE" b="0" noProof="0" dirty="0">
              <a:solidFill>
                <a:schemeClr val="tx1"/>
              </a:solidFill>
            </a:endParaRPr>
          </a:p>
          <a:p>
            <a:r>
              <a:rPr lang="es-PE" b="0" noProof="0" dirty="0">
                <a:solidFill>
                  <a:schemeClr val="tx1"/>
                </a:solidFill>
              </a:rPr>
              <a:t>Más información en:  </a:t>
            </a:r>
            <a:r>
              <a:rPr lang="es-PE" b="0" noProof="0" dirty="0">
                <a:solidFill>
                  <a:schemeClr val="tx1"/>
                </a:solidFill>
                <a:hlinkClick r:id="rId11"/>
              </a:rPr>
              <a:t>http://www.danieldsjoberg.com/gtsummary/reference/tbl_svysummary.html</a:t>
            </a:r>
            <a:endParaRPr lang="es-PE" b="0" noProof="0" dirty="0">
              <a:solidFill>
                <a:schemeClr val="tx1"/>
              </a:solidFill>
            </a:endParaRP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96924F94-866C-4656-BFAC-D2069D23FB7C}"/>
              </a:ext>
            </a:extLst>
          </p:cNvPr>
          <p:cNvSpPr/>
          <p:nvPr/>
        </p:nvSpPr>
        <p:spPr>
          <a:xfrm>
            <a:off x="2910279" y="2689387"/>
            <a:ext cx="2835778" cy="503311"/>
          </a:xfrm>
          <a:prstGeom prst="roundRect">
            <a:avLst/>
          </a:prstGeom>
          <a:solidFill>
            <a:srgbClr val="9CC14B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PE" sz="1400" noProof="0" dirty="0" err="1">
                <a:solidFill>
                  <a:schemeClr val="bg1"/>
                </a:solidFill>
              </a:rPr>
              <a:t>t</a:t>
            </a:r>
            <a:r>
              <a:rPr kumimoji="0" lang="es-PE" sz="1400" i="0" u="none" strike="noStrike" cap="none" spc="0" normalizeH="0" baseline="0" noProof="0" dirty="0" err="1">
                <a:solidFill>
                  <a:schemeClr val="bg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bl_svysummary</a:t>
            </a:r>
            <a:r>
              <a:rPr kumimoji="0" lang="es-PE" sz="1400" i="0" u="none" strike="noStrike" cap="none" spc="0" normalizeH="0" baseline="0" noProof="0" dirty="0">
                <a:solidFill>
                  <a:schemeClr val="bg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()</a:t>
            </a:r>
          </a:p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PE" noProof="0" dirty="0">
                <a:solidFill>
                  <a:schemeClr val="bg1"/>
                </a:solidFill>
              </a:rPr>
              <a:t>para objetos de encuesta</a:t>
            </a:r>
            <a:r>
              <a:rPr kumimoji="0" lang="es-PE" sz="1400" i="0" u="none" strike="noStrike" cap="none" spc="0" normalizeH="0" baseline="0" noProof="0" dirty="0">
                <a:noFill/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(</a:t>
            </a:r>
            <a:endParaRPr kumimoji="0" lang="es-PE" sz="1400" b="0" i="0" u="none" strike="noStrike" cap="none" spc="0" normalizeH="0" baseline="0" noProof="0" dirty="0">
              <a:ln>
                <a:solidFill>
                  <a:schemeClr val="bg1">
                    <a:lumMod val="95000"/>
                  </a:schemeClr>
                </a:solidFill>
              </a:ln>
              <a:solidFill>
                <a:schemeClr val="bg1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7EC0781-FF0D-4CE0-90DE-2CA38653CC8A}"/>
              </a:ext>
            </a:extLst>
          </p:cNvPr>
          <p:cNvSpPr/>
          <p:nvPr/>
        </p:nvSpPr>
        <p:spPr>
          <a:xfrm>
            <a:off x="11106150" y="2203778"/>
            <a:ext cx="2076449" cy="202871"/>
          </a:xfrm>
          <a:prstGeom prst="rect">
            <a:avLst/>
          </a:prstGeom>
          <a:solidFill>
            <a:srgbClr val="9CC173">
              <a:alpha val="50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PE" sz="12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99B1B8E-CB46-409E-9026-906A8106B011}"/>
              </a:ext>
            </a:extLst>
          </p:cNvPr>
          <p:cNvSpPr txBox="1"/>
          <p:nvPr/>
        </p:nvSpPr>
        <p:spPr>
          <a:xfrm>
            <a:off x="5947802" y="2215251"/>
            <a:ext cx="3890124" cy="2623714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9CC14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6576" tIns="54570" rIns="18288" bIns="54570" numCol="1" spcCol="38100" rtlCol="0" anchor="ctr">
            <a:spAutoFit/>
          </a:bodyPr>
          <a:lstStyle/>
          <a:p>
            <a:r>
              <a:rPr lang="es-PE" sz="1000" b="0" noProof="0" dirty="0">
                <a:latin typeface="Lucida Console" panose="020B0609040504020204" pitchFamily="49" charset="0"/>
              </a:rPr>
              <a:t> trial </a:t>
            </a:r>
            <a:r>
              <a:rPr lang="es-PE" sz="1000" b="0" noProof="0" dirty="0">
                <a:solidFill>
                  <a:schemeClr val="tx1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%&gt;%</a:t>
            </a:r>
            <a:r>
              <a:rPr lang="es-PE" sz="1000" b="0" noProof="0" dirty="0">
                <a:latin typeface="Lucida Console" panose="020B0609040504020204" pitchFamily="49" charset="0"/>
              </a:rPr>
              <a:t> </a:t>
            </a:r>
          </a:p>
          <a:p>
            <a:r>
              <a:rPr lang="es-PE" sz="1000" b="0" noProof="0" dirty="0">
                <a:latin typeface="Lucida Console" panose="020B0609040504020204" pitchFamily="49" charset="0"/>
              </a:rPr>
              <a:t>  </a:t>
            </a:r>
            <a:r>
              <a:rPr lang="es-PE" sz="1000" b="0" noProof="0" dirty="0" err="1">
                <a:latin typeface="Lucida Console" panose="020B0609040504020204" pitchFamily="49" charset="0"/>
              </a:rPr>
              <a:t>select</a:t>
            </a:r>
            <a:r>
              <a:rPr lang="es-PE" sz="1000" b="0" noProof="0" dirty="0">
                <a:solidFill>
                  <a:schemeClr val="accent5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(</a:t>
            </a:r>
            <a:r>
              <a:rPr lang="es-PE" sz="1000" b="0" noProof="0" dirty="0" err="1">
                <a:latin typeface="Lucida Console" panose="020B0609040504020204" pitchFamily="49" charset="0"/>
              </a:rPr>
              <a:t>trt</a:t>
            </a:r>
            <a:r>
              <a:rPr lang="es-PE" sz="1000" b="0" noProof="0" dirty="0">
                <a:latin typeface="Lucida Console" panose="020B0609040504020204" pitchFamily="49" charset="0"/>
              </a:rPr>
              <a:t>, </a:t>
            </a:r>
            <a:r>
              <a:rPr lang="es-PE" sz="1000" b="0" noProof="0" dirty="0" err="1">
                <a:latin typeface="Lucida Console" panose="020B0609040504020204" pitchFamily="49" charset="0"/>
              </a:rPr>
              <a:t>age</a:t>
            </a:r>
            <a:r>
              <a:rPr lang="es-PE" sz="1000" b="0" noProof="0" dirty="0">
                <a:latin typeface="Lucida Console" panose="020B0609040504020204" pitchFamily="49" charset="0"/>
              </a:rPr>
              <a:t>, grade, response</a:t>
            </a:r>
            <a:r>
              <a:rPr lang="es-PE" sz="1000" b="0" noProof="0" dirty="0">
                <a:solidFill>
                  <a:schemeClr val="accent5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)</a:t>
            </a:r>
            <a:r>
              <a:rPr lang="es-PE" sz="1000" b="0" noProof="0" dirty="0">
                <a:latin typeface="Lucida Console" panose="020B0609040504020204" pitchFamily="49" charset="0"/>
              </a:rPr>
              <a:t> </a:t>
            </a:r>
            <a:r>
              <a:rPr lang="es-PE" sz="1000" b="0" noProof="0" dirty="0">
                <a:solidFill>
                  <a:schemeClr val="tx1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%&gt;%</a:t>
            </a:r>
          </a:p>
          <a:p>
            <a:r>
              <a:rPr lang="es-PE" sz="1000" b="0" noProof="0" dirty="0">
                <a:latin typeface="Lucida Console" panose="020B0609040504020204" pitchFamily="49" charset="0"/>
              </a:rPr>
              <a:t>  </a:t>
            </a:r>
            <a:r>
              <a:rPr lang="es-PE" sz="1000" b="0" noProof="0" dirty="0" err="1">
                <a:latin typeface="Lucida Console" panose="020B0609040504020204" pitchFamily="49" charset="0"/>
              </a:rPr>
              <a:t>tbl_summary</a:t>
            </a:r>
            <a:r>
              <a:rPr lang="es-PE" sz="1000" b="0" noProof="0" dirty="0">
                <a:solidFill>
                  <a:schemeClr val="accent5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(</a:t>
            </a:r>
          </a:p>
          <a:p>
            <a:r>
              <a:rPr lang="es-PE" sz="1000" b="0" noProof="0" dirty="0">
                <a:latin typeface="Lucida Console" panose="020B0609040504020204" pitchFamily="49" charset="0"/>
              </a:rPr>
              <a:t>    </a:t>
            </a:r>
            <a:r>
              <a:rPr lang="es-PE" sz="1000" b="0" noProof="0" dirty="0" err="1">
                <a:latin typeface="Lucida Console" panose="020B0609040504020204" pitchFamily="49" charset="0"/>
              </a:rPr>
              <a:t>by</a:t>
            </a:r>
            <a:r>
              <a:rPr lang="es-PE" sz="1000" b="0" noProof="0" dirty="0">
                <a:latin typeface="Lucida Console" panose="020B0609040504020204" pitchFamily="49" charset="0"/>
              </a:rPr>
              <a:t> = </a:t>
            </a:r>
            <a:r>
              <a:rPr lang="es-PE" sz="1000" b="0" noProof="0" dirty="0" err="1">
                <a:latin typeface="Lucida Console" panose="020B0609040504020204" pitchFamily="49" charset="0"/>
              </a:rPr>
              <a:t>trt</a:t>
            </a:r>
            <a:r>
              <a:rPr lang="es-PE" sz="1000" b="0" noProof="0" dirty="0">
                <a:latin typeface="Lucida Console" panose="020B0609040504020204" pitchFamily="49" charset="0"/>
              </a:rPr>
              <a:t>,</a:t>
            </a:r>
          </a:p>
          <a:p>
            <a:r>
              <a:rPr lang="es-PE" sz="1000" b="0" noProof="0" dirty="0">
                <a:latin typeface="Lucida Console" panose="020B0609040504020204" pitchFamily="49" charset="0"/>
              </a:rPr>
              <a:t>    </a:t>
            </a:r>
            <a:r>
              <a:rPr lang="es-PE" sz="1000" b="0" noProof="0" dirty="0" err="1">
                <a:latin typeface="Lucida Console" panose="020B0609040504020204" pitchFamily="49" charset="0"/>
              </a:rPr>
              <a:t>label</a:t>
            </a:r>
            <a:r>
              <a:rPr lang="es-PE" sz="1000" b="0" noProof="0" dirty="0">
                <a:latin typeface="Lucida Console" panose="020B0609040504020204" pitchFamily="49" charset="0"/>
              </a:rPr>
              <a:t> = </a:t>
            </a:r>
            <a:r>
              <a:rPr lang="es-PE" sz="1000" b="0" noProof="0" dirty="0" err="1">
                <a:latin typeface="Lucida Console" panose="020B0609040504020204" pitchFamily="49" charset="0"/>
              </a:rPr>
              <a:t>list</a:t>
            </a:r>
            <a:r>
              <a:rPr lang="es-PE" sz="1000" b="0" noProof="0" dirty="0">
                <a:solidFill>
                  <a:schemeClr val="accent5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(</a:t>
            </a:r>
            <a:r>
              <a:rPr lang="es-PE" sz="1000" b="0" noProof="0" dirty="0" err="1">
                <a:latin typeface="Lucida Console" panose="020B0609040504020204" pitchFamily="49" charset="0"/>
              </a:rPr>
              <a:t>age</a:t>
            </a:r>
            <a:r>
              <a:rPr lang="es-PE" sz="1000" b="0" noProof="0" dirty="0">
                <a:latin typeface="Lucida Console" panose="020B0609040504020204" pitchFamily="49" charset="0"/>
              </a:rPr>
              <a:t> ~ </a:t>
            </a:r>
            <a:r>
              <a:rPr lang="es-PE" sz="1000" b="0" noProof="0" dirty="0">
                <a:solidFill>
                  <a:srgbClr val="228B22"/>
                </a:solidFill>
                <a:latin typeface="Lucida Console" panose="020B0609040504020204" pitchFamily="49" charset="0"/>
              </a:rPr>
              <a:t>"Age (</a:t>
            </a:r>
            <a:r>
              <a:rPr lang="es-PE" sz="1000" b="0" noProof="0" dirty="0" err="1">
                <a:solidFill>
                  <a:srgbClr val="228B22"/>
                </a:solidFill>
                <a:latin typeface="Lucida Console" panose="020B0609040504020204" pitchFamily="49" charset="0"/>
              </a:rPr>
              <a:t>years</a:t>
            </a:r>
            <a:r>
              <a:rPr lang="es-PE" sz="1000" b="0" noProof="0" dirty="0">
                <a:solidFill>
                  <a:srgbClr val="228B22"/>
                </a:solidFill>
                <a:latin typeface="Lucida Console" panose="020B0609040504020204" pitchFamily="49" charset="0"/>
              </a:rPr>
              <a:t>)"</a:t>
            </a:r>
            <a:r>
              <a:rPr lang="es-PE" sz="1000" b="0" noProof="0" dirty="0">
                <a:latin typeface="Lucida Console" panose="020B0609040504020204" pitchFamily="49" charset="0"/>
              </a:rPr>
              <a:t>,</a:t>
            </a:r>
          </a:p>
          <a:p>
            <a:r>
              <a:rPr lang="es-PE" sz="1000" b="0" noProof="0" dirty="0">
                <a:latin typeface="Lucida Console" panose="020B0609040504020204" pitchFamily="49" charset="0"/>
              </a:rPr>
              <a:t>                 grade ~ </a:t>
            </a:r>
            <a:r>
              <a:rPr lang="es-PE" sz="1000" b="0" noProof="0" dirty="0">
                <a:solidFill>
                  <a:srgbClr val="228B22"/>
                </a:solidFill>
                <a:latin typeface="Lucida Console" panose="020B0609040504020204" pitchFamily="49" charset="0"/>
              </a:rPr>
              <a:t>"Tumor grade"</a:t>
            </a:r>
            <a:r>
              <a:rPr lang="es-PE" sz="1000" b="0" noProof="0" dirty="0">
                <a:solidFill>
                  <a:schemeClr val="accent5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)</a:t>
            </a:r>
            <a:r>
              <a:rPr lang="es-PE" sz="1000" b="0" noProof="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endParaRPr lang="es-PE" sz="1000" b="0" noProof="0" dirty="0">
              <a:latin typeface="Lucida Console" panose="020B0609040504020204" pitchFamily="49" charset="0"/>
            </a:endParaRPr>
          </a:p>
          <a:p>
            <a:r>
              <a:rPr lang="es-PE" sz="1000" b="0" noProof="0" dirty="0">
                <a:latin typeface="Lucida Console" panose="020B0609040504020204" pitchFamily="49" charset="0"/>
              </a:rPr>
              <a:t>    </a:t>
            </a:r>
            <a:r>
              <a:rPr lang="es-PE" sz="1000" b="0" noProof="0" dirty="0" err="1">
                <a:latin typeface="Lucida Console" panose="020B0609040504020204" pitchFamily="49" charset="0"/>
              </a:rPr>
              <a:t>percent</a:t>
            </a:r>
            <a:r>
              <a:rPr lang="es-PE" sz="1000" b="0" noProof="0" dirty="0">
                <a:latin typeface="Lucida Console" panose="020B0609040504020204" pitchFamily="49" charset="0"/>
              </a:rPr>
              <a:t> = </a:t>
            </a:r>
            <a:r>
              <a:rPr lang="es-PE" sz="1000" b="0" noProof="0" dirty="0">
                <a:solidFill>
                  <a:srgbClr val="228B22"/>
                </a:solidFill>
                <a:latin typeface="Lucida Console" panose="020B0609040504020204" pitchFamily="49" charset="0"/>
              </a:rPr>
              <a:t>"</a:t>
            </a:r>
            <a:r>
              <a:rPr lang="es-PE" sz="1000" b="0" noProof="0" dirty="0" err="1">
                <a:solidFill>
                  <a:srgbClr val="228B22"/>
                </a:solidFill>
                <a:latin typeface="Lucida Console" panose="020B0609040504020204" pitchFamily="49" charset="0"/>
              </a:rPr>
              <a:t>row</a:t>
            </a:r>
            <a:r>
              <a:rPr lang="es-PE" sz="1000" b="0" noProof="0" dirty="0">
                <a:solidFill>
                  <a:srgbClr val="228B22"/>
                </a:solidFill>
                <a:latin typeface="Lucida Console" panose="020B0609040504020204" pitchFamily="49" charset="0"/>
              </a:rPr>
              <a:t>",</a:t>
            </a:r>
          </a:p>
          <a:p>
            <a:r>
              <a:rPr lang="es-PE" sz="1000" b="0" noProof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s-PE" sz="1000" b="0" noProof="0" dirty="0" err="1">
                <a:latin typeface="Lucida Console" panose="020B0609040504020204" pitchFamily="49" charset="0"/>
              </a:rPr>
              <a:t>digits</a:t>
            </a:r>
            <a:r>
              <a:rPr lang="es-PE" sz="1000" b="0" noProof="0" dirty="0">
                <a:latin typeface="Lucida Console" panose="020B0609040504020204" pitchFamily="49" charset="0"/>
              </a:rPr>
              <a:t> = </a:t>
            </a:r>
            <a:r>
              <a:rPr lang="es-PE" sz="1000" b="0" noProof="0" dirty="0" err="1">
                <a:latin typeface="Lucida Console" panose="020B0609040504020204" pitchFamily="49" charset="0"/>
              </a:rPr>
              <a:t>list</a:t>
            </a:r>
            <a:r>
              <a:rPr lang="es-PE" sz="1000" b="0" noProof="0" dirty="0">
                <a:solidFill>
                  <a:schemeClr val="accent5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(</a:t>
            </a:r>
            <a:r>
              <a:rPr lang="es-PE" sz="1000" b="0" noProof="0" dirty="0" err="1">
                <a:latin typeface="Lucida Console" panose="020B0609040504020204" pitchFamily="49" charset="0"/>
              </a:rPr>
              <a:t>age</a:t>
            </a:r>
            <a:r>
              <a:rPr lang="es-PE" sz="1000" b="0" noProof="0" dirty="0">
                <a:latin typeface="Lucida Console" panose="020B0609040504020204" pitchFamily="49" charset="0"/>
              </a:rPr>
              <a:t> ~ </a:t>
            </a:r>
            <a:r>
              <a:rPr lang="es-PE" sz="1000" b="0" noProof="0" dirty="0">
                <a:solidFill>
                  <a:srgbClr val="0070C0"/>
                </a:solidFill>
                <a:latin typeface="Lucida Console" panose="020B0609040504020204" pitchFamily="49" charset="0"/>
              </a:rPr>
              <a:t>2</a:t>
            </a:r>
            <a:r>
              <a:rPr lang="es-PE" sz="1000" b="0" noProof="0" dirty="0">
                <a:solidFill>
                  <a:schemeClr val="accent5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)</a:t>
            </a:r>
            <a:r>
              <a:rPr lang="es-PE" sz="1000" b="0" noProof="0" dirty="0">
                <a:latin typeface="Lucida Console" panose="020B0609040504020204" pitchFamily="49" charset="0"/>
              </a:rPr>
              <a:t>,</a:t>
            </a:r>
            <a:endParaRPr lang="es-PE" sz="1000" b="0" noProof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r>
              <a:rPr lang="es-PE" sz="1000" b="0" noProof="0" dirty="0">
                <a:latin typeface="Lucida Console" panose="020B0609040504020204" pitchFamily="49" charset="0"/>
              </a:rPr>
              <a:t>    </a:t>
            </a:r>
            <a:r>
              <a:rPr lang="es-PE" sz="1000" b="0" noProof="0" dirty="0" err="1">
                <a:latin typeface="Lucida Console" panose="020B0609040504020204" pitchFamily="49" charset="0"/>
              </a:rPr>
              <a:t>statistic</a:t>
            </a:r>
            <a:r>
              <a:rPr lang="es-PE" sz="1000" b="0" noProof="0" dirty="0">
                <a:latin typeface="Lucida Console" panose="020B0609040504020204" pitchFamily="49" charset="0"/>
              </a:rPr>
              <a:t> = </a:t>
            </a:r>
            <a:r>
              <a:rPr lang="es-PE" sz="1000" b="0" noProof="0" dirty="0" err="1">
                <a:latin typeface="Lucida Console" panose="020B0609040504020204" pitchFamily="49" charset="0"/>
              </a:rPr>
              <a:t>list</a:t>
            </a:r>
            <a:r>
              <a:rPr lang="es-PE" sz="1000" b="0" noProof="0" dirty="0">
                <a:solidFill>
                  <a:schemeClr val="accent5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(</a:t>
            </a:r>
            <a:r>
              <a:rPr lang="es-PE" sz="1000" b="0" noProof="0" dirty="0" err="1">
                <a:latin typeface="Lucida Console" panose="020B0609040504020204" pitchFamily="49" charset="0"/>
              </a:rPr>
              <a:t>age</a:t>
            </a:r>
            <a:r>
              <a:rPr lang="es-PE" sz="1000" b="0" noProof="0" dirty="0">
                <a:latin typeface="Lucida Console" panose="020B0609040504020204" pitchFamily="49" charset="0"/>
              </a:rPr>
              <a:t> ~ </a:t>
            </a:r>
            <a:r>
              <a:rPr lang="es-PE" sz="1000" b="0" noProof="0" dirty="0">
                <a:solidFill>
                  <a:srgbClr val="228B22"/>
                </a:solidFill>
                <a:latin typeface="Lucida Console" panose="020B0609040504020204" pitchFamily="49" charset="0"/>
              </a:rPr>
              <a:t>"{mean} ({</a:t>
            </a:r>
            <a:r>
              <a:rPr lang="es-PE" sz="1000" b="0" noProof="0" dirty="0" err="1">
                <a:solidFill>
                  <a:srgbClr val="228B22"/>
                </a:solidFill>
                <a:latin typeface="Lucida Console" panose="020B0609040504020204" pitchFamily="49" charset="0"/>
              </a:rPr>
              <a:t>sd</a:t>
            </a:r>
            <a:r>
              <a:rPr lang="es-PE" sz="1000" b="0" noProof="0" dirty="0">
                <a:solidFill>
                  <a:srgbClr val="228B22"/>
                </a:solidFill>
                <a:latin typeface="Lucida Console" panose="020B0609040504020204" pitchFamily="49" charset="0"/>
              </a:rPr>
              <a:t>})"</a:t>
            </a:r>
            <a:r>
              <a:rPr lang="es-PE" sz="1000" b="0" noProof="0" dirty="0">
                <a:latin typeface="Lucida Console" panose="020B0609040504020204" pitchFamily="49" charset="0"/>
              </a:rPr>
              <a:t>,</a:t>
            </a:r>
          </a:p>
          <a:p>
            <a:r>
              <a:rPr lang="es-PE" sz="1000" b="0" noProof="0" dirty="0">
                <a:latin typeface="Lucida Console" panose="020B0609040504020204" pitchFamily="49" charset="0"/>
              </a:rPr>
              <a:t>                     response ~ </a:t>
            </a:r>
            <a:r>
              <a:rPr lang="es-PE" sz="1000" b="0" noProof="0" dirty="0">
                <a:solidFill>
                  <a:srgbClr val="228B22"/>
                </a:solidFill>
                <a:latin typeface="Lucida Console" panose="020B0609040504020204" pitchFamily="49" charset="0"/>
              </a:rPr>
              <a:t>"{n}/{N} ({p}%)"</a:t>
            </a:r>
            <a:r>
              <a:rPr lang="es-PE" sz="1000" b="0" noProof="0" dirty="0">
                <a:solidFill>
                  <a:schemeClr val="accent5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)</a:t>
            </a:r>
            <a:r>
              <a:rPr lang="es-PE" sz="1000" b="0" noProof="0" dirty="0">
                <a:latin typeface="Lucida Console" panose="020B0609040504020204" pitchFamily="49" charset="0"/>
              </a:rPr>
              <a:t>,</a:t>
            </a:r>
          </a:p>
          <a:p>
            <a:r>
              <a:rPr lang="es-PE" sz="1000" b="0" noProof="0" dirty="0">
                <a:latin typeface="Lucida Console" panose="020B0609040504020204" pitchFamily="49" charset="0"/>
              </a:rPr>
              <a:t>    </a:t>
            </a:r>
            <a:r>
              <a:rPr lang="es-PE" sz="1000" b="0" noProof="0" dirty="0" err="1">
                <a:latin typeface="Lucida Console" panose="020B0609040504020204" pitchFamily="49" charset="0"/>
              </a:rPr>
              <a:t>type</a:t>
            </a:r>
            <a:r>
              <a:rPr lang="es-PE" sz="1000" b="0" noProof="0" dirty="0">
                <a:latin typeface="Lucida Console" panose="020B0609040504020204" pitchFamily="49" charset="0"/>
              </a:rPr>
              <a:t> = </a:t>
            </a:r>
            <a:r>
              <a:rPr lang="es-PE" sz="1000" b="0" noProof="0" dirty="0" err="1">
                <a:latin typeface="Lucida Console" panose="020B0609040504020204" pitchFamily="49" charset="0"/>
              </a:rPr>
              <a:t>list</a:t>
            </a:r>
            <a:r>
              <a:rPr lang="es-PE" sz="1000" b="0" noProof="0" dirty="0">
                <a:solidFill>
                  <a:schemeClr val="accent5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(</a:t>
            </a:r>
            <a:r>
              <a:rPr lang="es-PE" sz="1000" b="0" noProof="0" dirty="0">
                <a:latin typeface="Lucida Console" panose="020B0609040504020204" pitchFamily="49" charset="0"/>
              </a:rPr>
              <a:t>response ~ </a:t>
            </a:r>
            <a:r>
              <a:rPr lang="es-PE" sz="1000" b="0" noProof="0" dirty="0">
                <a:solidFill>
                  <a:srgbClr val="399739"/>
                </a:solidFill>
                <a:latin typeface="Lucida Console" panose="020B0609040504020204" pitchFamily="49" charset="0"/>
              </a:rPr>
              <a:t>"</a:t>
            </a:r>
            <a:r>
              <a:rPr lang="es-PE" sz="1000" b="0" noProof="0" dirty="0" err="1">
                <a:solidFill>
                  <a:srgbClr val="399739"/>
                </a:solidFill>
                <a:latin typeface="Lucida Console" panose="020B0609040504020204" pitchFamily="49" charset="0"/>
              </a:rPr>
              <a:t>categorical</a:t>
            </a:r>
            <a:r>
              <a:rPr lang="es-PE" sz="1000" b="0" noProof="0" dirty="0">
                <a:solidFill>
                  <a:srgbClr val="399739"/>
                </a:solidFill>
                <a:latin typeface="Lucida Console" panose="020B0609040504020204" pitchFamily="49" charset="0"/>
              </a:rPr>
              <a:t>"</a:t>
            </a:r>
            <a:r>
              <a:rPr lang="es-PE" sz="1000" b="0" noProof="0" dirty="0">
                <a:solidFill>
                  <a:schemeClr val="accent5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)</a:t>
            </a:r>
            <a:r>
              <a:rPr lang="es-PE" sz="1000" b="0" noProof="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</a:p>
          <a:p>
            <a:r>
              <a:rPr lang="es-PE" sz="1000" b="0" noProof="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s-PE" sz="1000" b="0" noProof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missing</a:t>
            </a:r>
            <a:r>
              <a:rPr lang="es-PE" sz="1000" b="0" noProof="0" dirty="0">
                <a:solidFill>
                  <a:schemeClr val="tx1"/>
                </a:solidFill>
                <a:latin typeface="Lucida Console" panose="020B0609040504020204" pitchFamily="49" charset="0"/>
              </a:rPr>
              <a:t> = </a:t>
            </a:r>
            <a:r>
              <a:rPr lang="es-PE" sz="1000" b="0" noProof="0" dirty="0">
                <a:solidFill>
                  <a:srgbClr val="228B22"/>
                </a:solidFill>
                <a:latin typeface="Lucida Console" panose="020B0609040504020204" pitchFamily="49" charset="0"/>
              </a:rPr>
              <a:t>"</a:t>
            </a:r>
            <a:r>
              <a:rPr lang="es-PE" sz="1000" b="0" noProof="0" dirty="0" err="1">
                <a:solidFill>
                  <a:srgbClr val="228B22"/>
                </a:solidFill>
                <a:latin typeface="Lucida Console" panose="020B0609040504020204" pitchFamily="49" charset="0"/>
              </a:rPr>
              <a:t>always</a:t>
            </a:r>
            <a:r>
              <a:rPr lang="es-PE" sz="1000" b="0" noProof="0" dirty="0">
                <a:solidFill>
                  <a:srgbClr val="228B22"/>
                </a:solidFill>
                <a:latin typeface="Lucida Console" panose="020B0609040504020204" pitchFamily="49" charset="0"/>
              </a:rPr>
              <a:t>"</a:t>
            </a:r>
            <a:r>
              <a:rPr lang="es-PE" sz="1000" b="0" noProof="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</a:p>
          <a:p>
            <a:r>
              <a:rPr lang="es-PE" sz="1000" b="0" noProof="0" dirty="0">
                <a:latin typeface="Lucida Console" panose="020B0609040504020204" pitchFamily="49" charset="0"/>
              </a:rPr>
              <a:t>    </a:t>
            </a:r>
            <a:r>
              <a:rPr lang="es-PE" sz="1000" b="0" noProof="0" dirty="0" err="1">
                <a:latin typeface="Lucida Console" panose="020B0609040504020204" pitchFamily="49" charset="0"/>
              </a:rPr>
              <a:t>missing_text</a:t>
            </a:r>
            <a:r>
              <a:rPr lang="es-PE" sz="1000" b="0" noProof="0" dirty="0">
                <a:latin typeface="Lucida Console" panose="020B0609040504020204" pitchFamily="49" charset="0"/>
              </a:rPr>
              <a:t> = </a:t>
            </a:r>
            <a:r>
              <a:rPr lang="es-PE" sz="1000" b="0" noProof="0" dirty="0">
                <a:solidFill>
                  <a:srgbClr val="228B22"/>
                </a:solidFill>
                <a:latin typeface="Lucida Console" panose="020B0609040504020204" pitchFamily="49" charset="0"/>
              </a:rPr>
              <a:t>"</a:t>
            </a:r>
            <a:r>
              <a:rPr lang="es-PE" sz="1000" b="0" noProof="0" dirty="0" err="1">
                <a:solidFill>
                  <a:srgbClr val="228B22"/>
                </a:solidFill>
                <a:latin typeface="Lucida Console" panose="020B0609040504020204" pitchFamily="49" charset="0"/>
              </a:rPr>
              <a:t>Missing</a:t>
            </a:r>
            <a:r>
              <a:rPr lang="es-PE" sz="1000" b="0" noProof="0" dirty="0">
                <a:solidFill>
                  <a:srgbClr val="228B22"/>
                </a:solidFill>
                <a:latin typeface="Lucida Console" panose="020B0609040504020204" pitchFamily="49" charset="0"/>
              </a:rPr>
              <a:t>"</a:t>
            </a:r>
          </a:p>
          <a:p>
            <a:r>
              <a:rPr lang="es-PE" sz="1000" b="0" noProof="0" dirty="0">
                <a:latin typeface="Lucida Console" panose="020B0609040504020204" pitchFamily="49" charset="0"/>
              </a:rPr>
              <a:t>    </a:t>
            </a:r>
            <a:r>
              <a:rPr lang="es-PE" sz="1000" b="0" noProof="0" dirty="0">
                <a:solidFill>
                  <a:srgbClr val="FB8771"/>
                </a:solidFill>
                <a:latin typeface="Lucida Console" panose="020B0609040504020204" pitchFamily="49" charset="0"/>
              </a:rPr>
              <a:t>)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D765A7A-E990-451D-AF20-8E179B8B1C53}"/>
              </a:ext>
            </a:extLst>
          </p:cNvPr>
          <p:cNvSpPr/>
          <p:nvPr/>
        </p:nvSpPr>
        <p:spPr>
          <a:xfrm>
            <a:off x="6247607" y="2840321"/>
            <a:ext cx="698965" cy="158901"/>
          </a:xfrm>
          <a:prstGeom prst="rect">
            <a:avLst/>
          </a:prstGeom>
          <a:solidFill>
            <a:srgbClr val="9CC173">
              <a:alpha val="50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PE" sz="12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349525E3-F6EB-4B88-A9DA-EE88539133A3}"/>
              </a:ext>
            </a:extLst>
          </p:cNvPr>
          <p:cNvCxnSpPr>
            <a:cxnSpLocks/>
          </p:cNvCxnSpPr>
          <p:nvPr/>
        </p:nvCxnSpPr>
        <p:spPr>
          <a:xfrm flipV="1">
            <a:off x="9107208" y="2383600"/>
            <a:ext cx="2028715" cy="3530"/>
          </a:xfrm>
          <a:prstGeom prst="straightConnector1">
            <a:avLst/>
          </a:prstGeom>
          <a:noFill/>
          <a:ln w="47625" cap="flat">
            <a:solidFill>
              <a:srgbClr val="9CC173">
                <a:alpha val="50000"/>
              </a:srgb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009B535-3EDC-4BBC-902C-5BA2A03CDC47}"/>
              </a:ext>
            </a:extLst>
          </p:cNvPr>
          <p:cNvCxnSpPr>
            <a:cxnSpLocks/>
          </p:cNvCxnSpPr>
          <p:nvPr/>
        </p:nvCxnSpPr>
        <p:spPr>
          <a:xfrm flipH="1" flipV="1">
            <a:off x="9080595" y="2364392"/>
            <a:ext cx="6860" cy="484632"/>
          </a:xfrm>
          <a:prstGeom prst="straightConnector1">
            <a:avLst/>
          </a:prstGeom>
          <a:noFill/>
          <a:ln w="47625" cap="flat">
            <a:solidFill>
              <a:srgbClr val="9CC173">
                <a:alpha val="50000"/>
              </a:srgb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68B926C-DDE6-4158-B9A4-5E0F140CA3EB}"/>
              </a:ext>
            </a:extLst>
          </p:cNvPr>
          <p:cNvCxnSpPr>
            <a:cxnSpLocks/>
          </p:cNvCxnSpPr>
          <p:nvPr/>
        </p:nvCxnSpPr>
        <p:spPr>
          <a:xfrm flipV="1">
            <a:off x="6946573" y="2869718"/>
            <a:ext cx="2164122" cy="4592"/>
          </a:xfrm>
          <a:prstGeom prst="straightConnector1">
            <a:avLst/>
          </a:prstGeom>
          <a:noFill/>
          <a:ln w="47625" cap="flat">
            <a:solidFill>
              <a:srgbClr val="9CC173">
                <a:alpha val="50000"/>
              </a:srgb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6E020062-6BE4-4B2B-AF3F-CF4DAC156BA6}"/>
              </a:ext>
            </a:extLst>
          </p:cNvPr>
          <p:cNvCxnSpPr>
            <a:cxnSpLocks/>
          </p:cNvCxnSpPr>
          <p:nvPr/>
        </p:nvCxnSpPr>
        <p:spPr>
          <a:xfrm>
            <a:off x="8706956" y="3073756"/>
            <a:ext cx="522355" cy="0"/>
          </a:xfrm>
          <a:prstGeom prst="straightConnector1">
            <a:avLst/>
          </a:prstGeom>
          <a:noFill/>
          <a:ln w="47625" cap="flat">
            <a:solidFill>
              <a:schemeClr val="accent6">
                <a:alpha val="27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7D9DB6D9-666D-47A8-9398-6EFDA38D4454}"/>
              </a:ext>
            </a:extLst>
          </p:cNvPr>
          <p:cNvCxnSpPr>
            <a:cxnSpLocks/>
          </p:cNvCxnSpPr>
          <p:nvPr/>
        </p:nvCxnSpPr>
        <p:spPr>
          <a:xfrm flipH="1" flipV="1">
            <a:off x="9919142" y="2717091"/>
            <a:ext cx="2756" cy="1801368"/>
          </a:xfrm>
          <a:prstGeom prst="straightConnector1">
            <a:avLst/>
          </a:prstGeom>
          <a:noFill/>
          <a:ln w="47625" cap="flat">
            <a:solidFill>
              <a:schemeClr val="accent4">
                <a:alpha val="25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0B3EDEF1-EB17-4180-90F9-A9DCF2BE5C09}"/>
              </a:ext>
            </a:extLst>
          </p:cNvPr>
          <p:cNvCxnSpPr>
            <a:cxnSpLocks/>
          </p:cNvCxnSpPr>
          <p:nvPr/>
        </p:nvCxnSpPr>
        <p:spPr>
          <a:xfrm>
            <a:off x="9277448" y="2562358"/>
            <a:ext cx="834815" cy="6432"/>
          </a:xfrm>
          <a:prstGeom prst="straightConnector1">
            <a:avLst/>
          </a:prstGeom>
          <a:noFill/>
          <a:ln w="47625" cap="flat">
            <a:solidFill>
              <a:schemeClr val="accent6">
                <a:alpha val="27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C915FC1E-3F13-493E-AD1C-D4F0A16DEA62}"/>
              </a:ext>
            </a:extLst>
          </p:cNvPr>
          <p:cNvCxnSpPr>
            <a:cxnSpLocks/>
          </p:cNvCxnSpPr>
          <p:nvPr/>
        </p:nvCxnSpPr>
        <p:spPr>
          <a:xfrm>
            <a:off x="8856383" y="3268353"/>
            <a:ext cx="581299" cy="0"/>
          </a:xfrm>
          <a:prstGeom prst="straightConnector1">
            <a:avLst/>
          </a:prstGeom>
          <a:noFill/>
          <a:ln w="47625" cap="flat">
            <a:solidFill>
              <a:schemeClr val="accent5">
                <a:alpha val="35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B50A6BE6-354D-4A91-B529-801BDEB92ACE}"/>
              </a:ext>
            </a:extLst>
          </p:cNvPr>
          <p:cNvCxnSpPr>
            <a:cxnSpLocks/>
          </p:cNvCxnSpPr>
          <p:nvPr/>
        </p:nvCxnSpPr>
        <p:spPr>
          <a:xfrm flipV="1">
            <a:off x="9465151" y="2969420"/>
            <a:ext cx="2694" cy="320040"/>
          </a:xfrm>
          <a:prstGeom prst="straightConnector1">
            <a:avLst/>
          </a:prstGeom>
          <a:noFill/>
          <a:ln w="47625" cap="flat">
            <a:solidFill>
              <a:schemeClr val="accent5">
                <a:alpha val="42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953186A9-6C87-4980-A04D-98076B37F292}"/>
              </a:ext>
            </a:extLst>
          </p:cNvPr>
          <p:cNvCxnSpPr>
            <a:cxnSpLocks/>
          </p:cNvCxnSpPr>
          <p:nvPr/>
        </p:nvCxnSpPr>
        <p:spPr>
          <a:xfrm>
            <a:off x="9445522" y="2947988"/>
            <a:ext cx="684320" cy="0"/>
          </a:xfrm>
          <a:prstGeom prst="straightConnector1">
            <a:avLst/>
          </a:prstGeom>
          <a:noFill/>
          <a:ln w="47625" cap="flat">
            <a:solidFill>
              <a:schemeClr val="accent5">
                <a:alpha val="35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F73E986B-70BF-4EAE-8AAA-5E701B92DB17}"/>
              </a:ext>
            </a:extLst>
          </p:cNvPr>
          <p:cNvSpPr/>
          <p:nvPr/>
        </p:nvSpPr>
        <p:spPr>
          <a:xfrm>
            <a:off x="7251568" y="3009009"/>
            <a:ext cx="1476502" cy="181069"/>
          </a:xfrm>
          <a:prstGeom prst="rect">
            <a:avLst/>
          </a:prstGeom>
          <a:solidFill>
            <a:schemeClr val="accent6">
              <a:alpha val="32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PE" sz="12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1563B24-7717-43BB-AA1B-8E0C35C0A529}"/>
              </a:ext>
            </a:extLst>
          </p:cNvPr>
          <p:cNvSpPr/>
          <p:nvPr/>
        </p:nvSpPr>
        <p:spPr>
          <a:xfrm>
            <a:off x="7558840" y="3727363"/>
            <a:ext cx="1646642" cy="157046"/>
          </a:xfrm>
          <a:prstGeom prst="rect">
            <a:avLst/>
          </a:prstGeom>
          <a:solidFill>
            <a:schemeClr val="accent6">
              <a:alpha val="32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PE" sz="12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9DDAC1FC-8CD7-4364-961E-2C24E3A63AEA}"/>
              </a:ext>
            </a:extLst>
          </p:cNvPr>
          <p:cNvCxnSpPr>
            <a:cxnSpLocks/>
          </p:cNvCxnSpPr>
          <p:nvPr/>
        </p:nvCxnSpPr>
        <p:spPr>
          <a:xfrm>
            <a:off x="7915097" y="3606659"/>
            <a:ext cx="3057988" cy="0"/>
          </a:xfrm>
          <a:prstGeom prst="straightConnector1">
            <a:avLst/>
          </a:prstGeom>
          <a:noFill/>
          <a:ln w="47625" cap="flat">
            <a:solidFill>
              <a:schemeClr val="accent6">
                <a:alpha val="32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6A8047E-A0B2-4BCA-8FF8-9AF0EDC0653B}"/>
              </a:ext>
            </a:extLst>
          </p:cNvPr>
          <p:cNvCxnSpPr>
            <a:cxnSpLocks/>
          </p:cNvCxnSpPr>
          <p:nvPr/>
        </p:nvCxnSpPr>
        <p:spPr>
          <a:xfrm flipV="1">
            <a:off x="10988741" y="2533173"/>
            <a:ext cx="0" cy="1097280"/>
          </a:xfrm>
          <a:prstGeom prst="straightConnector1">
            <a:avLst/>
          </a:prstGeom>
          <a:noFill/>
          <a:ln w="47625" cap="flat">
            <a:solidFill>
              <a:schemeClr val="accent6">
                <a:alpha val="32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DC192AC9-8078-4A2A-85AA-B1B2845BEDFD}"/>
              </a:ext>
            </a:extLst>
          </p:cNvPr>
          <p:cNvCxnSpPr>
            <a:cxnSpLocks/>
          </p:cNvCxnSpPr>
          <p:nvPr/>
        </p:nvCxnSpPr>
        <p:spPr>
          <a:xfrm>
            <a:off x="11009584" y="2558653"/>
            <a:ext cx="246888" cy="6867"/>
          </a:xfrm>
          <a:prstGeom prst="straightConnector1">
            <a:avLst/>
          </a:prstGeom>
          <a:noFill/>
          <a:ln w="47625" cap="flat">
            <a:solidFill>
              <a:schemeClr val="accent6">
                <a:alpha val="32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34725287-DFE0-418C-9544-512B2D29E3BB}"/>
              </a:ext>
            </a:extLst>
          </p:cNvPr>
          <p:cNvSpPr/>
          <p:nvPr/>
        </p:nvSpPr>
        <p:spPr>
          <a:xfrm>
            <a:off x="7300538" y="3552061"/>
            <a:ext cx="614559" cy="175771"/>
          </a:xfrm>
          <a:prstGeom prst="rect">
            <a:avLst/>
          </a:prstGeom>
          <a:solidFill>
            <a:schemeClr val="accent6">
              <a:alpha val="32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PE" sz="12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49316C9E-C0AB-4486-B85C-327C954EBB53}"/>
              </a:ext>
            </a:extLst>
          </p:cNvPr>
          <p:cNvCxnSpPr>
            <a:cxnSpLocks/>
          </p:cNvCxnSpPr>
          <p:nvPr/>
        </p:nvCxnSpPr>
        <p:spPr>
          <a:xfrm>
            <a:off x="9650210" y="4011624"/>
            <a:ext cx="1582086" cy="0"/>
          </a:xfrm>
          <a:prstGeom prst="straightConnector1">
            <a:avLst/>
          </a:prstGeom>
          <a:noFill/>
          <a:ln w="47625" cap="flat">
            <a:solidFill>
              <a:schemeClr val="accent1">
                <a:alpha val="22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8" name="Rectangle 117">
            <a:extLst>
              <a:ext uri="{FF2B5EF4-FFF2-40B4-BE49-F238E27FC236}">
                <a16:creationId xmlns:a16="http://schemas.microsoft.com/office/drawing/2014/main" id="{D000B024-DEFE-4D1E-A0F0-5F1AF7834656}"/>
              </a:ext>
            </a:extLst>
          </p:cNvPr>
          <p:cNvSpPr/>
          <p:nvPr/>
        </p:nvSpPr>
        <p:spPr>
          <a:xfrm>
            <a:off x="11237644" y="4007365"/>
            <a:ext cx="1877040" cy="389347"/>
          </a:xfrm>
          <a:prstGeom prst="rect">
            <a:avLst/>
          </a:prstGeom>
          <a:solidFill>
            <a:schemeClr val="accent1">
              <a:alpha val="22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PE" sz="12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5BCC9B9F-B6EF-4975-8EC7-D99B1B700493}"/>
              </a:ext>
            </a:extLst>
          </p:cNvPr>
          <p:cNvCxnSpPr>
            <a:cxnSpLocks/>
          </p:cNvCxnSpPr>
          <p:nvPr/>
        </p:nvCxnSpPr>
        <p:spPr>
          <a:xfrm flipV="1">
            <a:off x="7655255" y="4388062"/>
            <a:ext cx="2240280" cy="8305"/>
          </a:xfrm>
          <a:prstGeom prst="straightConnector1">
            <a:avLst/>
          </a:prstGeom>
          <a:noFill/>
          <a:ln w="47625" cap="flat">
            <a:solidFill>
              <a:schemeClr val="accent4">
                <a:alpha val="25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BD3CD958-2076-488C-B0F8-1257880B30C2}"/>
              </a:ext>
            </a:extLst>
          </p:cNvPr>
          <p:cNvCxnSpPr>
            <a:cxnSpLocks/>
          </p:cNvCxnSpPr>
          <p:nvPr/>
        </p:nvCxnSpPr>
        <p:spPr>
          <a:xfrm flipV="1">
            <a:off x="9249949" y="2536958"/>
            <a:ext cx="3930" cy="557784"/>
          </a:xfrm>
          <a:prstGeom prst="straightConnector1">
            <a:avLst/>
          </a:prstGeom>
          <a:noFill/>
          <a:ln w="47625" cap="flat">
            <a:solidFill>
              <a:schemeClr val="accent6">
                <a:alpha val="27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CCAD7D49-4097-499E-9AF9-D57D3335D6B1}"/>
              </a:ext>
            </a:extLst>
          </p:cNvPr>
          <p:cNvSpPr/>
          <p:nvPr/>
        </p:nvSpPr>
        <p:spPr>
          <a:xfrm>
            <a:off x="10112263" y="2497476"/>
            <a:ext cx="666066" cy="152153"/>
          </a:xfrm>
          <a:prstGeom prst="rect">
            <a:avLst/>
          </a:prstGeom>
          <a:solidFill>
            <a:schemeClr val="accent6">
              <a:alpha val="32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PE" sz="12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ADDFEB36-2C01-41E1-A959-36F1B5147B21}"/>
              </a:ext>
            </a:extLst>
          </p:cNvPr>
          <p:cNvSpPr/>
          <p:nvPr/>
        </p:nvSpPr>
        <p:spPr>
          <a:xfrm>
            <a:off x="7262024" y="3211098"/>
            <a:ext cx="1583526" cy="149930"/>
          </a:xfrm>
          <a:prstGeom prst="rect">
            <a:avLst/>
          </a:prstGeom>
          <a:solidFill>
            <a:schemeClr val="accent5">
              <a:alpha val="3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PE" sz="12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0693CC9F-BEEC-4C20-99EE-C5ECC6718103}"/>
              </a:ext>
            </a:extLst>
          </p:cNvPr>
          <p:cNvCxnSpPr>
            <a:cxnSpLocks/>
          </p:cNvCxnSpPr>
          <p:nvPr/>
        </p:nvCxnSpPr>
        <p:spPr>
          <a:xfrm>
            <a:off x="9205498" y="3795626"/>
            <a:ext cx="439949" cy="0"/>
          </a:xfrm>
          <a:prstGeom prst="straightConnector1">
            <a:avLst/>
          </a:prstGeom>
          <a:noFill/>
          <a:ln w="47625" cap="flat">
            <a:solidFill>
              <a:schemeClr val="accent6">
                <a:alpha val="32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F60BA641-000A-47B7-AC83-A376AB99FB6F}"/>
              </a:ext>
            </a:extLst>
          </p:cNvPr>
          <p:cNvCxnSpPr>
            <a:cxnSpLocks/>
          </p:cNvCxnSpPr>
          <p:nvPr/>
        </p:nvCxnSpPr>
        <p:spPr>
          <a:xfrm flipV="1">
            <a:off x="9669619" y="3626675"/>
            <a:ext cx="0" cy="192024"/>
          </a:xfrm>
          <a:prstGeom prst="straightConnector1">
            <a:avLst/>
          </a:prstGeom>
          <a:noFill/>
          <a:ln w="47625" cap="flat">
            <a:solidFill>
              <a:schemeClr val="accent6">
                <a:alpha val="32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0" name="Rectangle 149">
            <a:extLst>
              <a:ext uri="{FF2B5EF4-FFF2-40B4-BE49-F238E27FC236}">
                <a16:creationId xmlns:a16="http://schemas.microsoft.com/office/drawing/2014/main" id="{9B042841-948F-4869-8EDE-C23D81DFE0D2}"/>
              </a:ext>
            </a:extLst>
          </p:cNvPr>
          <p:cNvSpPr/>
          <p:nvPr/>
        </p:nvSpPr>
        <p:spPr>
          <a:xfrm>
            <a:off x="11260361" y="2457143"/>
            <a:ext cx="1782533" cy="190570"/>
          </a:xfrm>
          <a:prstGeom prst="rect">
            <a:avLst/>
          </a:prstGeom>
          <a:solidFill>
            <a:schemeClr val="accent6">
              <a:alpha val="32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PE" sz="12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A48183D8-BF35-4A2F-B902-E467919D83CC}"/>
              </a:ext>
            </a:extLst>
          </p:cNvPr>
          <p:cNvSpPr/>
          <p:nvPr/>
        </p:nvSpPr>
        <p:spPr>
          <a:xfrm>
            <a:off x="10104419" y="2862168"/>
            <a:ext cx="783582" cy="157567"/>
          </a:xfrm>
          <a:prstGeom prst="rect">
            <a:avLst/>
          </a:prstGeom>
          <a:solidFill>
            <a:schemeClr val="accent5">
              <a:alpha val="3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PE" sz="12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F2029767-450D-488E-9FB6-1A546E78509D}"/>
              </a:ext>
            </a:extLst>
          </p:cNvPr>
          <p:cNvSpPr/>
          <p:nvPr/>
        </p:nvSpPr>
        <p:spPr>
          <a:xfrm>
            <a:off x="7545315" y="3911656"/>
            <a:ext cx="2104895" cy="157046"/>
          </a:xfrm>
          <a:prstGeom prst="rect">
            <a:avLst/>
          </a:prstGeom>
          <a:solidFill>
            <a:schemeClr val="accent1">
              <a:alpha val="22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PE" sz="12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93EB4A6C-6255-44E7-BE88-225CE8592FF7}"/>
              </a:ext>
            </a:extLst>
          </p:cNvPr>
          <p:cNvSpPr/>
          <p:nvPr/>
        </p:nvSpPr>
        <p:spPr>
          <a:xfrm>
            <a:off x="7203998" y="4093065"/>
            <a:ext cx="1847852" cy="137198"/>
          </a:xfrm>
          <a:prstGeom prst="rect">
            <a:avLst/>
          </a:prstGeom>
          <a:solidFill>
            <a:schemeClr val="accent1">
              <a:alpha val="22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PE" sz="12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4131ECF2-812D-4CBE-94E3-F2C1C2BEC6BB}"/>
              </a:ext>
            </a:extLst>
          </p:cNvPr>
          <p:cNvCxnSpPr>
            <a:cxnSpLocks/>
          </p:cNvCxnSpPr>
          <p:nvPr/>
        </p:nvCxnSpPr>
        <p:spPr>
          <a:xfrm>
            <a:off x="9076342" y="4161664"/>
            <a:ext cx="1131529" cy="0"/>
          </a:xfrm>
          <a:prstGeom prst="straightConnector1">
            <a:avLst/>
          </a:prstGeom>
          <a:noFill/>
          <a:ln w="47625" cap="flat">
            <a:solidFill>
              <a:schemeClr val="accent1">
                <a:alpha val="22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9" name="Rectangle 158">
            <a:extLst>
              <a:ext uri="{FF2B5EF4-FFF2-40B4-BE49-F238E27FC236}">
                <a16:creationId xmlns:a16="http://schemas.microsoft.com/office/drawing/2014/main" id="{BD5E8571-9377-4229-A02D-FF454F73AB95}"/>
              </a:ext>
            </a:extLst>
          </p:cNvPr>
          <p:cNvSpPr/>
          <p:nvPr/>
        </p:nvSpPr>
        <p:spPr>
          <a:xfrm>
            <a:off x="10178756" y="4029932"/>
            <a:ext cx="184019" cy="348464"/>
          </a:xfrm>
          <a:prstGeom prst="rect">
            <a:avLst/>
          </a:prstGeom>
          <a:solidFill>
            <a:schemeClr val="accent1">
              <a:alpha val="22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PE" sz="12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FCC7D7FB-BB36-479B-BF64-9227B8853018}"/>
              </a:ext>
            </a:extLst>
          </p:cNvPr>
          <p:cNvSpPr/>
          <p:nvPr/>
        </p:nvSpPr>
        <p:spPr>
          <a:xfrm>
            <a:off x="6256489" y="4260444"/>
            <a:ext cx="1411998" cy="157046"/>
          </a:xfrm>
          <a:prstGeom prst="rect">
            <a:avLst/>
          </a:prstGeom>
          <a:solidFill>
            <a:schemeClr val="accent4">
              <a:alpha val="2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PE" sz="12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E2C58DA6-2CC3-4018-9DE1-F645E5DAC226}"/>
              </a:ext>
            </a:extLst>
          </p:cNvPr>
          <p:cNvSpPr/>
          <p:nvPr/>
        </p:nvSpPr>
        <p:spPr>
          <a:xfrm>
            <a:off x="6256488" y="4419193"/>
            <a:ext cx="1847851" cy="168811"/>
          </a:xfrm>
          <a:prstGeom prst="rect">
            <a:avLst/>
          </a:prstGeom>
          <a:solidFill>
            <a:schemeClr val="accent4">
              <a:alpha val="2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PE" sz="12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56DD28C1-3C0A-400C-8181-74C3D18D58C9}"/>
              </a:ext>
            </a:extLst>
          </p:cNvPr>
          <p:cNvCxnSpPr>
            <a:cxnSpLocks/>
          </p:cNvCxnSpPr>
          <p:nvPr/>
        </p:nvCxnSpPr>
        <p:spPr>
          <a:xfrm>
            <a:off x="9940531" y="4491118"/>
            <a:ext cx="265176" cy="1"/>
          </a:xfrm>
          <a:prstGeom prst="straightConnector1">
            <a:avLst/>
          </a:prstGeom>
          <a:noFill/>
          <a:ln w="47625" cap="flat">
            <a:solidFill>
              <a:schemeClr val="accent4">
                <a:alpha val="25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4" name="Rectangle 173">
            <a:extLst>
              <a:ext uri="{FF2B5EF4-FFF2-40B4-BE49-F238E27FC236}">
                <a16:creationId xmlns:a16="http://schemas.microsoft.com/office/drawing/2014/main" id="{3E6B3FDC-092F-4345-9E64-F3B0E28BC852}"/>
              </a:ext>
            </a:extLst>
          </p:cNvPr>
          <p:cNvSpPr/>
          <p:nvPr/>
        </p:nvSpPr>
        <p:spPr>
          <a:xfrm>
            <a:off x="10186253" y="4408070"/>
            <a:ext cx="546044" cy="145688"/>
          </a:xfrm>
          <a:prstGeom prst="rect">
            <a:avLst/>
          </a:prstGeom>
          <a:solidFill>
            <a:schemeClr val="accent4">
              <a:alpha val="2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PE" sz="12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68C645CB-20EE-45F8-95DA-F16039C7749B}"/>
              </a:ext>
            </a:extLst>
          </p:cNvPr>
          <p:cNvSpPr/>
          <p:nvPr/>
        </p:nvSpPr>
        <p:spPr>
          <a:xfrm>
            <a:off x="10195523" y="3637913"/>
            <a:ext cx="546044" cy="145688"/>
          </a:xfrm>
          <a:prstGeom prst="rect">
            <a:avLst/>
          </a:prstGeom>
          <a:solidFill>
            <a:schemeClr val="accent4">
              <a:alpha val="2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PE" sz="12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C37BD886-8363-4194-A74A-6ED66F315C10}"/>
              </a:ext>
            </a:extLst>
          </p:cNvPr>
          <p:cNvSpPr/>
          <p:nvPr/>
        </p:nvSpPr>
        <p:spPr>
          <a:xfrm>
            <a:off x="10205706" y="2685150"/>
            <a:ext cx="513047" cy="145688"/>
          </a:xfrm>
          <a:prstGeom prst="rect">
            <a:avLst/>
          </a:prstGeom>
          <a:solidFill>
            <a:schemeClr val="accent4">
              <a:alpha val="2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PE" sz="12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09A93369-4197-4978-BD43-AA533C3B3138}"/>
              </a:ext>
            </a:extLst>
          </p:cNvPr>
          <p:cNvSpPr/>
          <p:nvPr/>
        </p:nvSpPr>
        <p:spPr>
          <a:xfrm>
            <a:off x="6237010" y="3391208"/>
            <a:ext cx="1254494" cy="137855"/>
          </a:xfrm>
          <a:prstGeom prst="rect">
            <a:avLst/>
          </a:prstGeom>
          <a:solidFill>
            <a:srgbClr val="FFFF00">
              <a:alpha val="30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PE" sz="12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888B8F30-077C-4A65-B2AF-FE75ECEBD745}"/>
              </a:ext>
            </a:extLst>
          </p:cNvPr>
          <p:cNvCxnSpPr>
            <a:cxnSpLocks/>
          </p:cNvCxnSpPr>
          <p:nvPr/>
        </p:nvCxnSpPr>
        <p:spPr>
          <a:xfrm>
            <a:off x="9946276" y="3704550"/>
            <a:ext cx="265176" cy="1"/>
          </a:xfrm>
          <a:prstGeom prst="straightConnector1">
            <a:avLst/>
          </a:prstGeom>
          <a:noFill/>
          <a:ln w="47625" cap="flat">
            <a:solidFill>
              <a:schemeClr val="accent4">
                <a:alpha val="25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BE2C9E0B-3498-424D-B797-F2445F3DBF84}"/>
              </a:ext>
            </a:extLst>
          </p:cNvPr>
          <p:cNvCxnSpPr>
            <a:cxnSpLocks/>
          </p:cNvCxnSpPr>
          <p:nvPr/>
        </p:nvCxnSpPr>
        <p:spPr>
          <a:xfrm>
            <a:off x="9946469" y="2744318"/>
            <a:ext cx="265176" cy="1"/>
          </a:xfrm>
          <a:prstGeom prst="straightConnector1">
            <a:avLst/>
          </a:prstGeom>
          <a:noFill/>
          <a:ln w="47625" cap="flat">
            <a:solidFill>
              <a:schemeClr val="accent4">
                <a:alpha val="25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C7872E15-455C-4B35-94E7-0104C3E5115C}"/>
              </a:ext>
            </a:extLst>
          </p:cNvPr>
          <p:cNvCxnSpPr>
            <a:cxnSpLocks/>
          </p:cNvCxnSpPr>
          <p:nvPr/>
        </p:nvCxnSpPr>
        <p:spPr>
          <a:xfrm flipV="1">
            <a:off x="7499794" y="3437551"/>
            <a:ext cx="4103082" cy="12023"/>
          </a:xfrm>
          <a:prstGeom prst="straightConnector1">
            <a:avLst/>
          </a:prstGeom>
          <a:noFill/>
          <a:ln w="47625" cap="flat">
            <a:solidFill>
              <a:srgbClr val="FFFF00">
                <a:alpha val="30000"/>
              </a:srgb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2" name="Rectangle 181">
            <a:extLst>
              <a:ext uri="{FF2B5EF4-FFF2-40B4-BE49-F238E27FC236}">
                <a16:creationId xmlns:a16="http://schemas.microsoft.com/office/drawing/2014/main" id="{DD8D41BE-7666-4208-A7E7-97DAAA0670B9}"/>
              </a:ext>
            </a:extLst>
          </p:cNvPr>
          <p:cNvSpPr/>
          <p:nvPr/>
        </p:nvSpPr>
        <p:spPr>
          <a:xfrm>
            <a:off x="11538455" y="3029581"/>
            <a:ext cx="369283" cy="577077"/>
          </a:xfrm>
          <a:prstGeom prst="rect">
            <a:avLst/>
          </a:prstGeom>
          <a:solidFill>
            <a:srgbClr val="FFFF00">
              <a:alpha val="30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PE" sz="12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D6EE4AEF-8A36-4494-B497-79A15300465B}"/>
              </a:ext>
            </a:extLst>
          </p:cNvPr>
          <p:cNvSpPr/>
          <p:nvPr/>
        </p:nvSpPr>
        <p:spPr>
          <a:xfrm>
            <a:off x="12569604" y="3025620"/>
            <a:ext cx="369283" cy="577077"/>
          </a:xfrm>
          <a:prstGeom prst="rect">
            <a:avLst/>
          </a:prstGeom>
          <a:solidFill>
            <a:srgbClr val="FFFF00">
              <a:alpha val="30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PE" sz="12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A4B8B47B-D335-4045-9BAB-D9FB3AECFBEA}"/>
              </a:ext>
            </a:extLst>
          </p:cNvPr>
          <p:cNvCxnSpPr>
            <a:cxnSpLocks/>
          </p:cNvCxnSpPr>
          <p:nvPr/>
        </p:nvCxnSpPr>
        <p:spPr>
          <a:xfrm flipV="1">
            <a:off x="11939575" y="3412583"/>
            <a:ext cx="622248" cy="20857"/>
          </a:xfrm>
          <a:prstGeom prst="straightConnector1">
            <a:avLst/>
          </a:prstGeom>
          <a:noFill/>
          <a:ln w="47625" cap="flat">
            <a:solidFill>
              <a:srgbClr val="FFFF00">
                <a:alpha val="30000"/>
              </a:srgb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8D3BC961-9825-43DE-B9A4-0D250E12B649}"/>
              </a:ext>
            </a:extLst>
          </p:cNvPr>
          <p:cNvGrpSpPr/>
          <p:nvPr/>
        </p:nvGrpSpPr>
        <p:grpSpPr>
          <a:xfrm>
            <a:off x="266700" y="5242321"/>
            <a:ext cx="5464942" cy="559323"/>
            <a:chOff x="266700" y="5228673"/>
            <a:chExt cx="5266147" cy="559323"/>
          </a:xfrm>
        </p:grpSpPr>
        <p:sp>
          <p:nvSpPr>
            <p:cNvPr id="336" name="Rectangle: Rounded Corners 335">
              <a:extLst>
                <a:ext uri="{FF2B5EF4-FFF2-40B4-BE49-F238E27FC236}">
                  <a16:creationId xmlns:a16="http://schemas.microsoft.com/office/drawing/2014/main" id="{0DEE5FE5-ACFE-4E69-87B4-8D21DA16E94E}"/>
                </a:ext>
              </a:extLst>
            </p:cNvPr>
            <p:cNvSpPr/>
            <p:nvPr/>
          </p:nvSpPr>
          <p:spPr>
            <a:xfrm>
              <a:off x="266700" y="5502617"/>
              <a:ext cx="5258641" cy="285379"/>
            </a:xfrm>
            <a:prstGeom prst="roundRect">
              <a:avLst/>
            </a:prstGeom>
            <a:solidFill>
              <a:srgbClr val="9CC14B">
                <a:alpha val="70000"/>
              </a:srgb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s-PE" b="0" i="0" u="none" strike="noStrike" cap="none" spc="0" normalizeH="0" baseline="0" noProof="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     Argumento   Entrada	</a:t>
              </a:r>
              <a:r>
                <a:rPr lang="es-PE" b="0" noProof="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rPr>
                <a:t>   	               </a:t>
              </a:r>
              <a:r>
                <a:rPr kumimoji="0" lang="es-PE" b="0" i="0" u="none" strike="noStrike" cap="none" spc="0" normalizeH="0" baseline="0" noProof="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Efecto en la tabla</a:t>
              </a:r>
              <a:endParaRPr kumimoji="0" lang="es-PE" b="0" i="0" u="none" strike="noStrike" cap="none" spc="0" normalizeH="0" baseline="0" noProof="0" dirty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87" name="Rectangle: Rounded Corners 186">
              <a:extLst>
                <a:ext uri="{FF2B5EF4-FFF2-40B4-BE49-F238E27FC236}">
                  <a16:creationId xmlns:a16="http://schemas.microsoft.com/office/drawing/2014/main" id="{B933AA63-BBA8-480A-BD4E-E74D9CFDCCA9}"/>
                </a:ext>
              </a:extLst>
            </p:cNvPr>
            <p:cNvSpPr/>
            <p:nvPr/>
          </p:nvSpPr>
          <p:spPr>
            <a:xfrm>
              <a:off x="2837383" y="5228673"/>
              <a:ext cx="2695464" cy="285379"/>
            </a:xfrm>
            <a:prstGeom prst="roundRect">
              <a:avLst/>
            </a:prstGeom>
            <a:solidFill>
              <a:srgbClr val="9CC14B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s-PE" b="0" i="0" u="none" strike="noStrike" cap="none" spc="0" normalizeH="0" baseline="0" noProof="0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  </a:t>
              </a:r>
              <a:r>
                <a:rPr kumimoji="0" lang="es-PE" b="0" i="0" u="none" strike="noStrike" cap="none" spc="0" normalizeH="0" baseline="0" noProof="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Opciones de personalización</a:t>
              </a:r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24CD8026-D8D5-4FFB-9609-220BD1D92568}"/>
                </a:ext>
              </a:extLst>
            </p:cNvPr>
            <p:cNvSpPr/>
            <p:nvPr/>
          </p:nvSpPr>
          <p:spPr>
            <a:xfrm>
              <a:off x="5432679" y="5338600"/>
              <a:ext cx="93216" cy="184531"/>
            </a:xfrm>
            <a:prstGeom prst="rect">
              <a:avLst/>
            </a:prstGeom>
            <a:solidFill>
              <a:srgbClr val="9CC14B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s-PE" sz="12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FEDA7FE8-3859-460F-BAE1-17931BC232BF}"/>
                </a:ext>
              </a:extLst>
            </p:cNvPr>
            <p:cNvSpPr/>
            <p:nvPr/>
          </p:nvSpPr>
          <p:spPr>
            <a:xfrm>
              <a:off x="5434046" y="5520845"/>
              <a:ext cx="93216" cy="184531"/>
            </a:xfrm>
            <a:prstGeom prst="rect">
              <a:avLst/>
            </a:prstGeom>
            <a:solidFill>
              <a:srgbClr val="B0CD6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s-PE" sz="12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198" name="Rectangle: Rounded Corners 197">
            <a:extLst>
              <a:ext uri="{FF2B5EF4-FFF2-40B4-BE49-F238E27FC236}">
                <a16:creationId xmlns:a16="http://schemas.microsoft.com/office/drawing/2014/main" id="{8D57C423-EE0F-4CBE-83DF-F86E130F69E3}"/>
              </a:ext>
            </a:extLst>
          </p:cNvPr>
          <p:cNvSpPr/>
          <p:nvPr/>
        </p:nvSpPr>
        <p:spPr>
          <a:xfrm>
            <a:off x="10192592" y="1389888"/>
            <a:ext cx="3382175" cy="365760"/>
          </a:xfrm>
          <a:prstGeom prst="roundRect">
            <a:avLst/>
          </a:prstGeom>
          <a:solidFill>
            <a:srgbClr val="9CC14B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54570" rIns="54570" bIns="54570" numCol="1" spcCol="38100" rtlCol="0" anchor="ctr">
            <a:noAutofit/>
          </a:bodyPr>
          <a:lstStyle/>
          <a:p>
            <a:pPr marL="0" marR="0" indent="0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PE" b="0" i="0" u="none" strike="noStrike" cap="none" spc="0" normalizeH="0" baseline="0" noProof="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    (¡Revisa la </a:t>
            </a:r>
            <a:r>
              <a:rPr kumimoji="0" lang="es-PE" b="0" i="0" u="none" strike="noStrike" cap="none" spc="0" normalizeH="0" baseline="0" noProof="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  <a:hlinkClick r:id="rId12"/>
              </a:rPr>
              <a:t>viñeta</a:t>
            </a:r>
            <a:r>
              <a:rPr kumimoji="0" lang="es-PE" b="0" i="0" u="none" strike="noStrike" cap="none" spc="0" normalizeH="0" baseline="0" noProof="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!)</a:t>
            </a:r>
            <a:endParaRPr kumimoji="0" lang="es-PE" b="0" i="0" u="none" strike="noStrike" cap="none" spc="0" normalizeH="0" baseline="0" noProof="0" dirty="0">
              <a:ln>
                <a:solidFill>
                  <a:schemeClr val="bg1">
                    <a:lumMod val="95000"/>
                  </a:schemeClr>
                </a:solidFill>
              </a:ln>
              <a:solidFill>
                <a:schemeClr val="bg1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AB1714-471B-4EAB-AEA1-76BA8A6CFEC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5549" y="2689387"/>
            <a:ext cx="2286000" cy="273367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Rectangle 206">
            <a:extLst>
              <a:ext uri="{FF2B5EF4-FFF2-40B4-BE49-F238E27FC236}">
                <a16:creationId xmlns:a16="http://schemas.microsoft.com/office/drawing/2014/main" id="{F586B241-4091-4195-8535-BFC01E269C07}"/>
              </a:ext>
            </a:extLst>
          </p:cNvPr>
          <p:cNvSpPr/>
          <p:nvPr/>
        </p:nvSpPr>
        <p:spPr>
          <a:xfrm>
            <a:off x="265436" y="448208"/>
            <a:ext cx="6675120" cy="9968950"/>
          </a:xfrm>
          <a:prstGeom prst="rect">
            <a:avLst/>
          </a:prstGeom>
          <a:solidFill>
            <a:srgbClr val="DEEAC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36D12363-9B10-43A3-BF70-2B89613539E5}"/>
              </a:ext>
            </a:extLst>
          </p:cNvPr>
          <p:cNvSpPr/>
          <p:nvPr/>
        </p:nvSpPr>
        <p:spPr>
          <a:xfrm>
            <a:off x="7221462" y="452042"/>
            <a:ext cx="6507238" cy="9966960"/>
          </a:xfrm>
          <a:prstGeom prst="rect">
            <a:avLst/>
          </a:prstGeom>
          <a:solidFill>
            <a:srgbClr val="DEEAC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49" name="Basics"/>
          <p:cNvSpPr txBox="1"/>
          <p:nvPr/>
        </p:nvSpPr>
        <p:spPr>
          <a:xfrm>
            <a:off x="282688" y="1265085"/>
            <a:ext cx="25713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endParaRPr dirty="0"/>
          </a:p>
        </p:txBody>
      </p:sp>
      <p:sp>
        <p:nvSpPr>
          <p:cNvPr id="167" name="Line"/>
          <p:cNvSpPr/>
          <p:nvPr/>
        </p:nvSpPr>
        <p:spPr>
          <a:xfrm>
            <a:off x="3884203" y="4195895"/>
            <a:ext cx="2794946" cy="0"/>
          </a:xfrm>
          <a:prstGeom prst="line">
            <a:avLst/>
          </a:prstGeom>
          <a:noFill/>
          <a:ln w="12700" cap="flat">
            <a:solidFill>
              <a:srgbClr val="E0E0E0"/>
            </a:solidFill>
            <a:custDash>
              <a:ds d="100000" sp="200000"/>
            </a:custDash>
            <a:round/>
          </a:ln>
          <a:effectLst/>
        </p:spPr>
        <p:txBody>
          <a:bodyPr wrap="square" lIns="54570" tIns="54570" rIns="54570" bIns="54570" numCol="1" anchor="ctr">
            <a:noAutofit/>
          </a:bodyPr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9BCC9B51-9112-4C80-A7AD-4CFACBB24756}"/>
              </a:ext>
            </a:extLst>
          </p:cNvPr>
          <p:cNvSpPr/>
          <p:nvPr/>
        </p:nvSpPr>
        <p:spPr>
          <a:xfrm>
            <a:off x="274320" y="310324"/>
            <a:ext cx="6675120" cy="367103"/>
          </a:xfrm>
          <a:prstGeom prst="roundRect">
            <a:avLst/>
          </a:prstGeom>
          <a:solidFill>
            <a:srgbClr val="9CC14B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800" dirty="0" err="1">
                <a:solidFill>
                  <a:schemeClr val="bg1"/>
                </a:solidFill>
              </a:rPr>
              <a:t>t</a:t>
            </a:r>
            <a:r>
              <a:rPr kumimoji="0" lang="en-US" sz="1800" i="0" u="none" strike="noStrike" cap="none" spc="0" normalizeH="0" baseline="0" dirty="0" err="1">
                <a:solidFill>
                  <a:schemeClr val="bg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bl_regression</a:t>
            </a:r>
            <a:r>
              <a:rPr kumimoji="0" lang="en-US" sz="1800" i="0" u="none" strike="noStrike" cap="none" spc="0" normalizeH="0" baseline="0" dirty="0">
                <a:solidFill>
                  <a:schemeClr val="bg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()</a:t>
            </a:r>
            <a:r>
              <a:rPr kumimoji="0" lang="en-US" sz="1800" i="0" u="none" strike="noStrike" cap="none" spc="0" normalizeH="0" baseline="0" dirty="0">
                <a:noFill/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(</a:t>
            </a:r>
            <a:r>
              <a:rPr kumimoji="0" lang="es-ES" b="0" i="0" u="none" strike="noStrike" cap="none" spc="0" normalizeH="0" baseline="0" dirty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Presenta un objeto de modelo de regresión en una tabla lista para publicar</a:t>
            </a:r>
          </a:p>
        </p:txBody>
      </p:sp>
      <p:sp>
        <p:nvSpPr>
          <p:cNvPr id="345" name="Title">
            <a:extLst>
              <a:ext uri="{FF2B5EF4-FFF2-40B4-BE49-F238E27FC236}">
                <a16:creationId xmlns:a16="http://schemas.microsoft.com/office/drawing/2014/main" id="{E163C593-2F46-42A3-B6B8-7CE479150028}"/>
              </a:ext>
            </a:extLst>
          </p:cNvPr>
          <p:cNvSpPr txBox="1"/>
          <p:nvPr/>
        </p:nvSpPr>
        <p:spPr>
          <a:xfrm>
            <a:off x="445006" y="3563037"/>
            <a:ext cx="2840864" cy="2268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2700" tIns="12700" rIns="12700" bIns="12700" numCol="1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>
                <a:solidFill>
                  <a:srgbClr val="628DB5"/>
                </a:solidFill>
              </a:defRPr>
            </a:pPr>
            <a:r>
              <a:rPr lang="es-ES" sz="1600" dirty="0" err="1">
                <a:solidFill>
                  <a:srgbClr val="5D7529"/>
                </a:solidFill>
              </a:rPr>
              <a:t>Modelo </a:t>
            </a:r>
            <a:r>
              <a:rPr lang="es-ES" sz="1600" dirty="0">
                <a:solidFill>
                  <a:srgbClr val="5D7529"/>
                </a:solidFill>
              </a:rPr>
              <a:t>glm: código básico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6E85A4D-C568-4230-AAF2-D3CAD719262F}"/>
              </a:ext>
            </a:extLst>
          </p:cNvPr>
          <p:cNvSpPr txBox="1"/>
          <p:nvPr/>
        </p:nvSpPr>
        <p:spPr>
          <a:xfrm>
            <a:off x="412936" y="3823955"/>
            <a:ext cx="3438125" cy="602648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9CC14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54570" rIns="18288" bIns="54570" numCol="1" spcCol="38100" rtlCol="0" anchor="ctr">
            <a:spAutoFit/>
          </a:bodyPr>
          <a:lstStyle/>
          <a:p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m1 &lt;- </a:t>
            </a:r>
            <a:r>
              <a:rPr lang="en-US" altLang="en-US" sz="900" b="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glm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(response ~ age + stage, data = trial,</a:t>
            </a:r>
          </a:p>
          <a:p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          family = binomial)</a:t>
            </a:r>
          </a:p>
          <a:p>
            <a:r>
              <a:rPr lang="en-US" altLang="en-US" sz="90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tbl_regression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(m1, exponentiate = TRUE)</a:t>
            </a: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28553F35-E524-4FAA-BA16-3F31649196B3}"/>
              </a:ext>
            </a:extLst>
          </p:cNvPr>
          <p:cNvSpPr/>
          <p:nvPr/>
        </p:nvSpPr>
        <p:spPr>
          <a:xfrm>
            <a:off x="7223760" y="310324"/>
            <a:ext cx="6480804" cy="367103"/>
          </a:xfrm>
          <a:prstGeom prst="roundRect">
            <a:avLst/>
          </a:prstGeom>
          <a:solidFill>
            <a:srgbClr val="9CC14B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800" dirty="0" err="1">
                <a:solidFill>
                  <a:schemeClr val="bg1"/>
                </a:solidFill>
              </a:rPr>
              <a:t>t</a:t>
            </a:r>
            <a:r>
              <a:rPr kumimoji="0" lang="en-US" sz="1800" i="0" u="none" strike="noStrike" cap="none" spc="0" normalizeH="0" baseline="0" dirty="0" err="1">
                <a:solidFill>
                  <a:schemeClr val="bg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bl_survfit</a:t>
            </a:r>
            <a:r>
              <a:rPr kumimoji="0" lang="en-US" sz="1800" i="0" u="none" strike="noStrike" cap="none" spc="0" normalizeH="0" baseline="0" dirty="0">
                <a:solidFill>
                  <a:schemeClr val="bg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()</a:t>
            </a:r>
            <a:r>
              <a:rPr kumimoji="0" lang="en-US" sz="1800" i="0" u="none" strike="noStrike" cap="none" spc="0" normalizeH="0" baseline="0" dirty="0">
                <a:noFill/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(</a:t>
            </a:r>
            <a:r>
              <a:rPr kumimoji="0" lang="es-ES" b="0" i="0" u="none" strike="noStrike" cap="none" spc="0" normalizeH="0" baseline="0" dirty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Muestra un objeto </a:t>
            </a:r>
            <a:r>
              <a:rPr kumimoji="0" lang="en-US" b="0" i="0" u="none" strike="noStrike" cap="none" spc="0" normalizeH="0" baseline="0" dirty="0" err="1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survfit</a:t>
            </a:r>
            <a:r>
              <a:rPr kumimoji="0" lang="es-ES" b="0" i="0" u="none" strike="noStrike" cap="none" spc="0" normalizeH="0" baseline="0" dirty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s-ES" b="0" dirty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/>
                </a:solidFill>
              </a:rPr>
              <a:t>con estimaciones a medida en tabla para publicar</a:t>
            </a:r>
            <a:r>
              <a:rPr kumimoji="0" lang="en-US" b="0" i="0" u="none" strike="noStrike" cap="none" spc="0" normalizeH="0" baseline="0" dirty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</a:p>
        </p:txBody>
      </p:sp>
      <p:sp>
        <p:nvSpPr>
          <p:cNvPr id="129" name="Title">
            <a:extLst>
              <a:ext uri="{FF2B5EF4-FFF2-40B4-BE49-F238E27FC236}">
                <a16:creationId xmlns:a16="http://schemas.microsoft.com/office/drawing/2014/main" id="{B36D5C6E-14CE-4B60-80BD-FFBD737398FE}"/>
              </a:ext>
            </a:extLst>
          </p:cNvPr>
          <p:cNvSpPr txBox="1"/>
          <p:nvPr/>
        </p:nvSpPr>
        <p:spPr>
          <a:xfrm>
            <a:off x="384340" y="870325"/>
            <a:ext cx="2840864" cy="2268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2700" tIns="12700" rIns="12700" bIns="12700" numCol="1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>
                <a:solidFill>
                  <a:srgbClr val="628DB5"/>
                </a:solidFill>
              </a:defRPr>
            </a:pPr>
            <a:r>
              <a:rPr lang="es-ES" sz="1600" dirty="0">
                <a:solidFill>
                  <a:srgbClr val="5D7529"/>
                </a:solidFill>
              </a:rPr>
              <a:t>Modelo de Cox: código básico  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A1752785-C6FC-4C23-B86F-1A1AA7EF4096}"/>
              </a:ext>
            </a:extLst>
          </p:cNvPr>
          <p:cNvSpPr txBox="1"/>
          <p:nvPr/>
        </p:nvSpPr>
        <p:spPr>
          <a:xfrm>
            <a:off x="373039" y="1147576"/>
            <a:ext cx="3490404" cy="766796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9CC14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54570" rIns="18288" bIns="54570" numCol="1" spcCol="38100" rtlCol="0" anchor="ctr">
            <a:spAutoFit/>
          </a:bodyPr>
          <a:lstStyle/>
          <a:p>
            <a:r>
              <a:rPr lang="en-US" altLang="en-US" sz="900" b="0" dirty="0">
                <a:solidFill>
                  <a:schemeClr val="accent1"/>
                </a:solidFill>
                <a:latin typeface="Lucida Console" panose="020B0609040504020204" pitchFamily="49" charset="0"/>
              </a:rPr>
              <a:t>library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(survival)</a:t>
            </a:r>
          </a:p>
          <a:p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cox1 = </a:t>
            </a:r>
            <a:r>
              <a:rPr lang="en-US" altLang="en-US" sz="900" b="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coxph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900" b="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Surv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900" b="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ttdeath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, death) ~ age + marker, </a:t>
            </a:r>
          </a:p>
          <a:p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             data = trial)  </a:t>
            </a:r>
          </a:p>
          <a:p>
            <a:r>
              <a:rPr lang="en-US" altLang="en-US" sz="90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tbl_regression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(cox1, exponentiate = </a:t>
            </a:r>
            <a:r>
              <a:rPr lang="en-US" altLang="en-US" sz="900" b="0" dirty="0">
                <a:solidFill>
                  <a:schemeClr val="accent1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FF73F40-EC1C-4885-9F34-23472C900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510" y="2342581"/>
            <a:ext cx="2828925" cy="1019175"/>
          </a:xfrm>
          <a:prstGeom prst="rect">
            <a:avLst/>
          </a:prstGeom>
        </p:spPr>
      </p:pic>
      <p:sp>
        <p:nvSpPr>
          <p:cNvPr id="140" name="Title">
            <a:extLst>
              <a:ext uri="{FF2B5EF4-FFF2-40B4-BE49-F238E27FC236}">
                <a16:creationId xmlns:a16="http://schemas.microsoft.com/office/drawing/2014/main" id="{021548C4-DE78-4B04-9FFC-77569F3D6585}"/>
              </a:ext>
            </a:extLst>
          </p:cNvPr>
          <p:cNvSpPr txBox="1"/>
          <p:nvPr/>
        </p:nvSpPr>
        <p:spPr>
          <a:xfrm>
            <a:off x="435856" y="2094265"/>
            <a:ext cx="2035814" cy="2268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12700" tIns="12700" rIns="12700" bIns="12700" numCol="1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>
                <a:solidFill>
                  <a:srgbClr val="628DB5"/>
                </a:solidFill>
              </a:defRPr>
            </a:pPr>
            <a:r>
              <a:rPr lang="es-ES" sz="1600" dirty="0">
                <a:solidFill>
                  <a:srgbClr val="5D7529"/>
                </a:solidFill>
              </a:rPr>
              <a:t>Modelo de Cox: tabla básica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75FFEB66-BC41-467D-9F6D-1A86EA49C5BD}"/>
              </a:ext>
            </a:extLst>
          </p:cNvPr>
          <p:cNvSpPr txBox="1"/>
          <p:nvPr/>
        </p:nvSpPr>
        <p:spPr>
          <a:xfrm>
            <a:off x="4081223" y="727347"/>
            <a:ext cx="2749066" cy="1469849"/>
          </a:xfrm>
          <a:prstGeom prst="rect">
            <a:avLst/>
          </a:prstGeom>
          <a:noFill/>
          <a:ln w="12700" cap="flat">
            <a:solidFill>
              <a:srgbClr val="9CC14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54570" rIns="54570" bIns="54864" numCol="1" spcCol="38100" rtlCol="0" anchor="ctr">
            <a:spAutoFit/>
          </a:bodyPr>
          <a:lstStyle/>
          <a:p>
            <a:pPr marL="228600" indent="-228600">
              <a:buAutoNum type="arabicPeriod"/>
            </a:pPr>
            <a:r>
              <a:rPr lang="es-ES" sz="1000" dirty="0">
                <a:solidFill>
                  <a:schemeClr val="tx1"/>
                </a:solidFill>
              </a:rPr>
              <a:t>Construye el modelo de interés</a:t>
            </a:r>
          </a:p>
          <a:p>
            <a:pPr marL="228600" indent="-228600">
              <a:buAutoNum type="arabicPeriod"/>
            </a:pPr>
            <a:r>
              <a:rPr lang="es-ES" sz="1000" dirty="0">
                <a:solidFill>
                  <a:schemeClr val="tx1"/>
                </a:solidFill>
              </a:rPr>
              <a:t>Muestra resultados con </a:t>
            </a:r>
            <a:r>
              <a:rPr lang="en-US" sz="1000" dirty="0" err="1">
                <a:solidFill>
                  <a:schemeClr val="tx1"/>
                </a:solidFill>
              </a:rPr>
              <a:t>tbl_regression</a:t>
            </a:r>
            <a:r>
              <a:rPr lang="es-ES" sz="1000" dirty="0">
                <a:solidFill>
                  <a:schemeClr val="tx1"/>
                </a:solidFill>
              </a:rPr>
              <a:t>()</a:t>
            </a:r>
          </a:p>
          <a:p>
            <a:r>
              <a:rPr lang="en-US" sz="1000" b="0" dirty="0" err="1">
                <a:solidFill>
                  <a:schemeClr val="tx1"/>
                </a:solidFill>
              </a:rPr>
              <a:t>tbl_regression</a:t>
            </a:r>
            <a:r>
              <a:rPr lang="es-ES" sz="1000" b="0" dirty="0">
                <a:solidFill>
                  <a:schemeClr val="tx1"/>
                </a:solidFill>
              </a:rPr>
              <a:t>() admite los modelos de regresión más usados y usa </a:t>
            </a:r>
            <a:r>
              <a:rPr lang="en-US" sz="1000" b="0" dirty="0">
                <a:solidFill>
                  <a:schemeClr val="tx1"/>
                </a:solidFill>
                <a:latin typeface="Lucida Console" panose="020B0609040504020204" pitchFamily="49" charset="0"/>
              </a:rPr>
              <a:t>broom::tidy(x) </a:t>
            </a:r>
            <a:r>
              <a:rPr lang="es-ES" sz="1000" b="0" dirty="0">
                <a:solidFill>
                  <a:schemeClr val="tx1"/>
                </a:solidFill>
              </a:rPr>
              <a:t>para ordenar inicialmente los resultados. </a:t>
            </a:r>
          </a:p>
          <a:p>
            <a:r>
              <a:rPr lang="es-ES" sz="1000" b="0" dirty="0">
                <a:solidFill>
                  <a:schemeClr val="tx1"/>
                </a:solidFill>
              </a:rPr>
              <a:t>Más información:</a:t>
            </a:r>
          </a:p>
          <a:p>
            <a:r>
              <a:rPr lang="en-US" sz="1000" b="0" dirty="0">
                <a:solidFill>
                  <a:schemeClr val="tx1"/>
                </a:solidFill>
                <a:hlinkClick r:id="rId4"/>
              </a:rPr>
              <a:t>http://www.danieldsjoberg.com/gtsummary/reference/tbl_regression.html</a:t>
            </a:r>
            <a:endParaRPr lang="en-US" sz="1000" b="0" dirty="0">
              <a:solidFill>
                <a:schemeClr val="tx1"/>
              </a:solidFill>
            </a:endParaRPr>
          </a:p>
        </p:txBody>
      </p:sp>
      <p:sp>
        <p:nvSpPr>
          <p:cNvPr id="145" name="Title">
            <a:extLst>
              <a:ext uri="{FF2B5EF4-FFF2-40B4-BE49-F238E27FC236}">
                <a16:creationId xmlns:a16="http://schemas.microsoft.com/office/drawing/2014/main" id="{C1BCF77C-2893-4739-931E-67BB6F2C166D}"/>
              </a:ext>
            </a:extLst>
          </p:cNvPr>
          <p:cNvSpPr txBox="1"/>
          <p:nvPr/>
        </p:nvSpPr>
        <p:spPr>
          <a:xfrm>
            <a:off x="4389059" y="2347776"/>
            <a:ext cx="2412830" cy="2268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2700" tIns="12700" rIns="12700" bIns="12700" numCol="1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>
                <a:solidFill>
                  <a:srgbClr val="628DB5"/>
                </a:solidFill>
              </a:defRPr>
            </a:pPr>
            <a:r>
              <a:rPr lang="es-ES" sz="1600" dirty="0" err="1">
                <a:solidFill>
                  <a:srgbClr val="5D7529"/>
                </a:solidFill>
              </a:rPr>
              <a:t>Modelo </a:t>
            </a:r>
            <a:r>
              <a:rPr lang="es-ES" sz="1600" dirty="0">
                <a:solidFill>
                  <a:srgbClr val="5D7529"/>
                </a:solidFill>
              </a:rPr>
              <a:t>glm: tabla básica  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E030D66C-C4BA-42BC-8B97-F96900462C24}"/>
              </a:ext>
            </a:extLst>
          </p:cNvPr>
          <p:cNvSpPr txBox="1"/>
          <p:nvPr/>
        </p:nvSpPr>
        <p:spPr>
          <a:xfrm>
            <a:off x="363192" y="5269398"/>
            <a:ext cx="3725679" cy="1224654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9CC14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54570" rIns="18288" bIns="91440" numCol="1" spcCol="38100" rtlCol="0" anchor="ctr">
            <a:spAutoFit/>
          </a:bodyPr>
          <a:lstStyle/>
          <a:p>
            <a:r>
              <a:rPr lang="en-US" altLang="en-US" sz="10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m1 %&gt;%</a:t>
            </a:r>
          </a:p>
          <a:p>
            <a:r>
              <a:rPr lang="en-US" altLang="en-US" sz="10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100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tbl_regression</a:t>
            </a:r>
            <a:r>
              <a:rPr lang="en-US" altLang="en-US" sz="10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(exponentiate = TRUE) %&gt;% </a:t>
            </a:r>
          </a:p>
          <a:p>
            <a:r>
              <a:rPr lang="en-US" altLang="en-US" sz="1000" dirty="0">
                <a:solidFill>
                  <a:srgbClr val="333333"/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100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add_global_p</a:t>
            </a:r>
            <a:r>
              <a:rPr lang="en-US" altLang="en-US" sz="10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1000" dirty="0">
                <a:solidFill>
                  <a:srgbClr val="33333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10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%&gt;%</a:t>
            </a:r>
          </a:p>
          <a:p>
            <a:r>
              <a:rPr lang="en-US" altLang="en-US" sz="1000" dirty="0">
                <a:solidFill>
                  <a:srgbClr val="333333"/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100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bold_p</a:t>
            </a:r>
            <a:r>
              <a:rPr lang="en-US" altLang="en-US" sz="10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(t = 0.10) %&gt;%</a:t>
            </a:r>
          </a:p>
          <a:p>
            <a:r>
              <a:rPr lang="en-US" altLang="en-US" sz="10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10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bold_labels</a:t>
            </a:r>
            <a:r>
              <a:rPr lang="en-US" altLang="en-US" sz="1000" b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1000" dirty="0">
                <a:solidFill>
                  <a:schemeClr val="tx1"/>
                </a:solidFill>
                <a:latin typeface="Lucida Console" panose="020B0609040504020204" pitchFamily="49" charset="0"/>
              </a:rPr>
              <a:t> %&gt;%</a:t>
            </a:r>
          </a:p>
          <a:p>
            <a:r>
              <a:rPr lang="en-US" altLang="en-US" sz="1000" dirty="0">
                <a:solidFill>
                  <a:srgbClr val="333333"/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100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italicize_levels</a:t>
            </a:r>
            <a:r>
              <a:rPr lang="en-US" altLang="en-US" sz="10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()</a:t>
            </a:r>
          </a:p>
        </p:txBody>
      </p:sp>
      <p:sp>
        <p:nvSpPr>
          <p:cNvPr id="158" name="Title">
            <a:extLst>
              <a:ext uri="{FF2B5EF4-FFF2-40B4-BE49-F238E27FC236}">
                <a16:creationId xmlns:a16="http://schemas.microsoft.com/office/drawing/2014/main" id="{CE1512B9-7E5A-4E25-AF71-8F8BCE9DA007}"/>
              </a:ext>
            </a:extLst>
          </p:cNvPr>
          <p:cNvSpPr txBox="1"/>
          <p:nvPr/>
        </p:nvSpPr>
        <p:spPr>
          <a:xfrm>
            <a:off x="397020" y="4819086"/>
            <a:ext cx="3438124" cy="42383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2700" tIns="12700" rIns="12700" bIns="12700" numCol="1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>
                <a:solidFill>
                  <a:srgbClr val="628DB5"/>
                </a:solidFill>
              </a:defRPr>
            </a:pPr>
            <a:r>
              <a:rPr lang="es-ES" sz="1600" dirty="0" err="1">
                <a:solidFill>
                  <a:srgbClr val="5D7529"/>
                </a:solidFill>
              </a:rPr>
              <a:t>Modelo </a:t>
            </a:r>
            <a:r>
              <a:rPr lang="es-ES" sz="1600" dirty="0">
                <a:solidFill>
                  <a:srgbClr val="5D7529"/>
                </a:solidFill>
              </a:rPr>
              <a:t>glm: código personalizado</a:t>
            </a:r>
          </a:p>
          <a:p>
            <a:pPr lvl="1" indent="0">
              <a:lnSpc>
                <a:spcPct val="80000"/>
              </a:lnSpc>
              <a:spcBef>
                <a:spcPts val="0"/>
              </a:spcBef>
              <a:defRPr>
                <a:solidFill>
                  <a:srgbClr val="628DB5"/>
                </a:solidFill>
              </a:defRPr>
            </a:pPr>
            <a:r>
              <a:rPr lang="es-ES" sz="1600" dirty="0">
                <a:solidFill>
                  <a:srgbClr val="5D7529"/>
                </a:solidFill>
              </a:rPr>
              <a:t>	            con funciones auxiliares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8AE79EA-FF27-42FF-9EDC-516D8A3FE9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7498" y="4748271"/>
            <a:ext cx="2486025" cy="1809750"/>
          </a:xfrm>
          <a:prstGeom prst="rect">
            <a:avLst/>
          </a:prstGeom>
        </p:spPr>
      </p:pic>
      <p:sp>
        <p:nvSpPr>
          <p:cNvPr id="163" name="Rectangle 162">
            <a:extLst>
              <a:ext uri="{FF2B5EF4-FFF2-40B4-BE49-F238E27FC236}">
                <a16:creationId xmlns:a16="http://schemas.microsoft.com/office/drawing/2014/main" id="{41CEA41A-0090-408D-A842-372CEFB90A8E}"/>
              </a:ext>
            </a:extLst>
          </p:cNvPr>
          <p:cNvSpPr/>
          <p:nvPr/>
        </p:nvSpPr>
        <p:spPr>
          <a:xfrm>
            <a:off x="577964" y="5896857"/>
            <a:ext cx="1290001" cy="137020"/>
          </a:xfrm>
          <a:prstGeom prst="rect">
            <a:avLst/>
          </a:prstGeom>
          <a:solidFill>
            <a:schemeClr val="accent6">
              <a:alpha val="32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728489EF-4C93-4E14-8D8F-D03A78F4A86F}"/>
              </a:ext>
            </a:extLst>
          </p:cNvPr>
          <p:cNvSpPr/>
          <p:nvPr/>
        </p:nvSpPr>
        <p:spPr>
          <a:xfrm>
            <a:off x="6256402" y="5116224"/>
            <a:ext cx="432273" cy="177926"/>
          </a:xfrm>
          <a:prstGeom prst="rect">
            <a:avLst/>
          </a:prstGeom>
          <a:solidFill>
            <a:schemeClr val="accent6">
              <a:alpha val="32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0507142D-ED4E-4965-A5D8-1AB658527D17}"/>
              </a:ext>
            </a:extLst>
          </p:cNvPr>
          <p:cNvSpPr/>
          <p:nvPr/>
        </p:nvSpPr>
        <p:spPr>
          <a:xfrm>
            <a:off x="592533" y="5712599"/>
            <a:ext cx="1090087" cy="164592"/>
          </a:xfrm>
          <a:prstGeom prst="rect">
            <a:avLst/>
          </a:prstGeom>
          <a:solidFill>
            <a:schemeClr val="accent1">
              <a:alpha val="22000"/>
            </a:schemeClr>
          </a:solidFill>
          <a:ln w="12700" cap="flat">
            <a:noFill/>
            <a:miter lim="400000"/>
          </a:ln>
          <a:effectLst>
            <a:outerShdw blurRad="50800" dist="50800" dir="5400000" algn="ctr" rotWithShape="0">
              <a:schemeClr val="bg1"/>
            </a:outerShdw>
          </a:effectLst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0299F1F-5EC7-4132-AEDE-765C33D90CD0}"/>
              </a:ext>
            </a:extLst>
          </p:cNvPr>
          <p:cNvSpPr/>
          <p:nvPr/>
        </p:nvSpPr>
        <p:spPr>
          <a:xfrm>
            <a:off x="591609" y="6058746"/>
            <a:ext cx="1037647" cy="146304"/>
          </a:xfrm>
          <a:prstGeom prst="rect">
            <a:avLst/>
          </a:prstGeom>
          <a:solidFill>
            <a:srgbClr val="9CC173">
              <a:alpha val="50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2E7F28D7-D922-4A0E-B599-63501F04AAA2}"/>
              </a:ext>
            </a:extLst>
          </p:cNvPr>
          <p:cNvSpPr/>
          <p:nvPr/>
        </p:nvSpPr>
        <p:spPr>
          <a:xfrm>
            <a:off x="582483" y="6255290"/>
            <a:ext cx="1411998" cy="157046"/>
          </a:xfrm>
          <a:prstGeom prst="rect">
            <a:avLst/>
          </a:prstGeom>
          <a:solidFill>
            <a:schemeClr val="accent4">
              <a:alpha val="2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8643C1E9-F7AC-4213-8B87-89A14E7F20A5}"/>
              </a:ext>
            </a:extLst>
          </p:cNvPr>
          <p:cNvCxnSpPr>
            <a:cxnSpLocks/>
          </p:cNvCxnSpPr>
          <p:nvPr/>
        </p:nvCxnSpPr>
        <p:spPr>
          <a:xfrm flipV="1">
            <a:off x="1989259" y="6336499"/>
            <a:ext cx="2258568" cy="986"/>
          </a:xfrm>
          <a:prstGeom prst="straightConnector1">
            <a:avLst/>
          </a:prstGeom>
          <a:noFill/>
          <a:ln w="47625" cap="flat">
            <a:solidFill>
              <a:schemeClr val="accent4">
                <a:alpha val="25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0" name="Rectangle 169">
            <a:extLst>
              <a:ext uri="{FF2B5EF4-FFF2-40B4-BE49-F238E27FC236}">
                <a16:creationId xmlns:a16="http://schemas.microsoft.com/office/drawing/2014/main" id="{B54B331C-EB80-404F-8771-E40E6A2E6D1E}"/>
              </a:ext>
            </a:extLst>
          </p:cNvPr>
          <p:cNvSpPr/>
          <p:nvPr/>
        </p:nvSpPr>
        <p:spPr>
          <a:xfrm>
            <a:off x="4455692" y="5522298"/>
            <a:ext cx="245164" cy="732992"/>
          </a:xfrm>
          <a:prstGeom prst="rect">
            <a:avLst/>
          </a:prstGeom>
          <a:solidFill>
            <a:schemeClr val="accent4">
              <a:alpha val="2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DA5F6115-0933-4E36-9DD8-1A7FABDA7036}"/>
              </a:ext>
            </a:extLst>
          </p:cNvPr>
          <p:cNvCxnSpPr>
            <a:cxnSpLocks/>
          </p:cNvCxnSpPr>
          <p:nvPr/>
        </p:nvCxnSpPr>
        <p:spPr>
          <a:xfrm flipH="1" flipV="1">
            <a:off x="4262356" y="6083314"/>
            <a:ext cx="8178" cy="274320"/>
          </a:xfrm>
          <a:prstGeom prst="straightConnector1">
            <a:avLst/>
          </a:prstGeom>
          <a:noFill/>
          <a:ln w="47625" cap="flat">
            <a:solidFill>
              <a:schemeClr val="accent4">
                <a:alpha val="25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99D994D9-8D52-4F96-84FE-3A43D8CCFC09}"/>
              </a:ext>
            </a:extLst>
          </p:cNvPr>
          <p:cNvCxnSpPr>
            <a:cxnSpLocks/>
          </p:cNvCxnSpPr>
          <p:nvPr/>
        </p:nvCxnSpPr>
        <p:spPr>
          <a:xfrm>
            <a:off x="4242512" y="6061287"/>
            <a:ext cx="210312" cy="1"/>
          </a:xfrm>
          <a:prstGeom prst="straightConnector1">
            <a:avLst/>
          </a:prstGeom>
          <a:noFill/>
          <a:ln w="47625" cap="flat">
            <a:solidFill>
              <a:schemeClr val="accent4">
                <a:alpha val="25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4906427C-CD62-4836-BBAF-450BFF27552B}"/>
              </a:ext>
            </a:extLst>
          </p:cNvPr>
          <p:cNvCxnSpPr>
            <a:cxnSpLocks/>
          </p:cNvCxnSpPr>
          <p:nvPr/>
        </p:nvCxnSpPr>
        <p:spPr>
          <a:xfrm>
            <a:off x="1624232" y="6082271"/>
            <a:ext cx="2578878" cy="0"/>
          </a:xfrm>
          <a:prstGeom prst="straightConnector1">
            <a:avLst/>
          </a:prstGeom>
          <a:noFill/>
          <a:ln w="47625" cap="flat">
            <a:solidFill>
              <a:srgbClr val="9CC173">
                <a:alpha val="50000"/>
              </a:srgb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97BD078A-FAFD-4C68-9BD9-019BA67EE439}"/>
              </a:ext>
            </a:extLst>
          </p:cNvPr>
          <p:cNvCxnSpPr>
            <a:cxnSpLocks/>
          </p:cNvCxnSpPr>
          <p:nvPr/>
        </p:nvCxnSpPr>
        <p:spPr>
          <a:xfrm flipH="1" flipV="1">
            <a:off x="4172654" y="5315933"/>
            <a:ext cx="6860" cy="740664"/>
          </a:xfrm>
          <a:prstGeom prst="straightConnector1">
            <a:avLst/>
          </a:prstGeom>
          <a:noFill/>
          <a:ln w="47625" cap="flat">
            <a:solidFill>
              <a:srgbClr val="9CC173">
                <a:alpha val="50000"/>
              </a:srgb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8" name="Rectangle 187">
            <a:extLst>
              <a:ext uri="{FF2B5EF4-FFF2-40B4-BE49-F238E27FC236}">
                <a16:creationId xmlns:a16="http://schemas.microsoft.com/office/drawing/2014/main" id="{BDCB0F67-1C83-43EE-B064-37CE22000BCC}"/>
              </a:ext>
            </a:extLst>
          </p:cNvPr>
          <p:cNvSpPr/>
          <p:nvPr/>
        </p:nvSpPr>
        <p:spPr>
          <a:xfrm>
            <a:off x="4403263" y="5109120"/>
            <a:ext cx="557659" cy="370210"/>
          </a:xfrm>
          <a:prstGeom prst="rect">
            <a:avLst/>
          </a:prstGeom>
          <a:solidFill>
            <a:srgbClr val="9CC173">
              <a:alpha val="50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A843F03C-20A3-4DBB-ACBF-4F869BF6FA52}"/>
              </a:ext>
            </a:extLst>
          </p:cNvPr>
          <p:cNvCxnSpPr>
            <a:cxnSpLocks/>
          </p:cNvCxnSpPr>
          <p:nvPr/>
        </p:nvCxnSpPr>
        <p:spPr>
          <a:xfrm flipV="1">
            <a:off x="4150126" y="5289677"/>
            <a:ext cx="256032" cy="3530"/>
          </a:xfrm>
          <a:prstGeom prst="straightConnector1">
            <a:avLst/>
          </a:prstGeom>
          <a:noFill/>
          <a:ln w="47625" cap="flat">
            <a:solidFill>
              <a:srgbClr val="9CC173">
                <a:alpha val="50000"/>
              </a:srgb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7A97F123-ABE0-491C-9FB6-F5CFDE61D78A}"/>
              </a:ext>
            </a:extLst>
          </p:cNvPr>
          <p:cNvCxnSpPr>
            <a:cxnSpLocks/>
          </p:cNvCxnSpPr>
          <p:nvPr/>
        </p:nvCxnSpPr>
        <p:spPr>
          <a:xfrm>
            <a:off x="1681329" y="5848915"/>
            <a:ext cx="4800600" cy="0"/>
          </a:xfrm>
          <a:prstGeom prst="straightConnector1">
            <a:avLst/>
          </a:prstGeom>
          <a:noFill/>
          <a:ln w="47625" cap="flat">
            <a:solidFill>
              <a:schemeClr val="accent1">
                <a:alpha val="22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DA1A5139-895B-4CAF-A9BF-6F934013AF0B}"/>
              </a:ext>
            </a:extLst>
          </p:cNvPr>
          <p:cNvCxnSpPr>
            <a:cxnSpLocks/>
          </p:cNvCxnSpPr>
          <p:nvPr/>
        </p:nvCxnSpPr>
        <p:spPr>
          <a:xfrm flipV="1">
            <a:off x="6511346" y="5472161"/>
            <a:ext cx="1" cy="411480"/>
          </a:xfrm>
          <a:prstGeom prst="straightConnector1">
            <a:avLst/>
          </a:prstGeom>
          <a:noFill/>
          <a:ln w="47625" cap="flat">
            <a:solidFill>
              <a:schemeClr val="accent1">
                <a:alpha val="22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9F6CB302-6CBD-49EA-A428-AFDE636A6E2D}"/>
              </a:ext>
            </a:extLst>
          </p:cNvPr>
          <p:cNvCxnSpPr>
            <a:cxnSpLocks/>
          </p:cNvCxnSpPr>
          <p:nvPr/>
        </p:nvCxnSpPr>
        <p:spPr>
          <a:xfrm>
            <a:off x="3585510" y="5674004"/>
            <a:ext cx="2658472" cy="0"/>
          </a:xfrm>
          <a:prstGeom prst="straightConnector1">
            <a:avLst/>
          </a:prstGeom>
          <a:noFill/>
          <a:ln w="47625" cap="flat">
            <a:solidFill>
              <a:schemeClr val="accent6">
                <a:alpha val="32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50350853-2B91-46B9-BF66-4ABC680D06EA}"/>
              </a:ext>
            </a:extLst>
          </p:cNvPr>
          <p:cNvCxnSpPr>
            <a:cxnSpLocks/>
          </p:cNvCxnSpPr>
          <p:nvPr/>
        </p:nvCxnSpPr>
        <p:spPr>
          <a:xfrm>
            <a:off x="1862942" y="5917666"/>
            <a:ext cx="1682496" cy="3417"/>
          </a:xfrm>
          <a:prstGeom prst="straightConnector1">
            <a:avLst/>
          </a:prstGeom>
          <a:noFill/>
          <a:ln w="46355" cap="flat">
            <a:solidFill>
              <a:schemeClr val="accent6">
                <a:alpha val="32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B43DE451-5C0C-4B23-8082-55E341A93597}"/>
              </a:ext>
            </a:extLst>
          </p:cNvPr>
          <p:cNvCxnSpPr>
            <a:cxnSpLocks/>
          </p:cNvCxnSpPr>
          <p:nvPr/>
        </p:nvCxnSpPr>
        <p:spPr>
          <a:xfrm flipV="1">
            <a:off x="3567517" y="5651672"/>
            <a:ext cx="0" cy="292608"/>
          </a:xfrm>
          <a:prstGeom prst="straightConnector1">
            <a:avLst/>
          </a:prstGeom>
          <a:noFill/>
          <a:ln w="47625" cap="flat">
            <a:solidFill>
              <a:schemeClr val="accent6">
                <a:alpha val="32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61360B1-360A-41D0-83B1-C731FD757477}"/>
              </a:ext>
            </a:extLst>
          </p:cNvPr>
          <p:cNvCxnSpPr>
            <a:cxnSpLocks/>
          </p:cNvCxnSpPr>
          <p:nvPr/>
        </p:nvCxnSpPr>
        <p:spPr>
          <a:xfrm flipV="1">
            <a:off x="6266938" y="5296102"/>
            <a:ext cx="0" cy="402336"/>
          </a:xfrm>
          <a:prstGeom prst="straightConnector1">
            <a:avLst/>
          </a:prstGeom>
          <a:noFill/>
          <a:ln w="47625" cap="flat">
            <a:solidFill>
              <a:schemeClr val="accent6">
                <a:alpha val="32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8" name="Rectangle 197">
            <a:extLst>
              <a:ext uri="{FF2B5EF4-FFF2-40B4-BE49-F238E27FC236}">
                <a16:creationId xmlns:a16="http://schemas.microsoft.com/office/drawing/2014/main" id="{E7EB264F-F702-4C80-A01C-F458A334433E}"/>
              </a:ext>
            </a:extLst>
          </p:cNvPr>
          <p:cNvSpPr/>
          <p:nvPr/>
        </p:nvSpPr>
        <p:spPr>
          <a:xfrm>
            <a:off x="271398" y="6917679"/>
            <a:ext cx="6661335" cy="3474720"/>
          </a:xfrm>
          <a:prstGeom prst="rect">
            <a:avLst/>
          </a:prstGeom>
          <a:solidFill>
            <a:srgbClr val="ECF6DD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868264E4-11B6-48DF-A1BF-6DECEBB343C8}"/>
              </a:ext>
            </a:extLst>
          </p:cNvPr>
          <p:cNvSpPr/>
          <p:nvPr/>
        </p:nvSpPr>
        <p:spPr>
          <a:xfrm>
            <a:off x="583236" y="5698438"/>
            <a:ext cx="1581665" cy="748847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F3E0FC39-A3F9-474F-983A-013402B4CEB7}"/>
              </a:ext>
            </a:extLst>
          </p:cNvPr>
          <p:cNvCxnSpPr>
            <a:cxnSpLocks/>
          </p:cNvCxnSpPr>
          <p:nvPr/>
        </p:nvCxnSpPr>
        <p:spPr>
          <a:xfrm flipV="1">
            <a:off x="2159059" y="6212303"/>
            <a:ext cx="256032" cy="3530"/>
          </a:xfrm>
          <a:prstGeom prst="straightConnector1">
            <a:avLst/>
          </a:prstGeom>
          <a:noFill/>
          <a:ln w="47625" cap="flat">
            <a:solidFill>
              <a:schemeClr val="tx1">
                <a:alpha val="85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89" name="TextBox 288">
            <a:extLst>
              <a:ext uri="{FF2B5EF4-FFF2-40B4-BE49-F238E27FC236}">
                <a16:creationId xmlns:a16="http://schemas.microsoft.com/office/drawing/2014/main" id="{C149D860-F1D0-4C30-9184-3A351AFA7699}"/>
              </a:ext>
            </a:extLst>
          </p:cNvPr>
          <p:cNvSpPr txBox="1"/>
          <p:nvPr/>
        </p:nvSpPr>
        <p:spPr>
          <a:xfrm>
            <a:off x="2412503" y="6130287"/>
            <a:ext cx="822913" cy="148759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0" rIns="0" bIns="18288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8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Auxiliares</a:t>
            </a:r>
          </a:p>
        </p:txBody>
      </p:sp>
      <p:sp>
        <p:nvSpPr>
          <p:cNvPr id="208" name="Title">
            <a:extLst>
              <a:ext uri="{FF2B5EF4-FFF2-40B4-BE49-F238E27FC236}">
                <a16:creationId xmlns:a16="http://schemas.microsoft.com/office/drawing/2014/main" id="{459F6BDB-E448-413C-905E-0EF5F7A09E63}"/>
              </a:ext>
            </a:extLst>
          </p:cNvPr>
          <p:cNvSpPr txBox="1"/>
          <p:nvPr/>
        </p:nvSpPr>
        <p:spPr>
          <a:xfrm>
            <a:off x="4355888" y="4504630"/>
            <a:ext cx="2510211" cy="2268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2700" tIns="12700" rIns="12700" bIns="12700" numCol="1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>
                <a:solidFill>
                  <a:srgbClr val="628DB5"/>
                </a:solidFill>
              </a:defRPr>
            </a:pPr>
            <a:r>
              <a:rPr lang="es-ES" sz="1600" dirty="0" err="1">
                <a:solidFill>
                  <a:srgbClr val="5D7529"/>
                </a:solidFill>
              </a:rPr>
              <a:t>Modelo </a:t>
            </a:r>
            <a:r>
              <a:rPr lang="es-ES" sz="1600" dirty="0">
                <a:solidFill>
                  <a:srgbClr val="5D7529"/>
                </a:solidFill>
              </a:rPr>
              <a:t>glm: tabla a medida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59AF3527-1759-411B-9826-5DE1CDD1D3D3}"/>
              </a:ext>
            </a:extLst>
          </p:cNvPr>
          <p:cNvSpPr txBox="1"/>
          <p:nvPr/>
        </p:nvSpPr>
        <p:spPr>
          <a:xfrm>
            <a:off x="594697" y="9585841"/>
            <a:ext cx="5998058" cy="774571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0" rIns="54570" bIns="45720" numCol="1" spcCol="38100" rtlCol="0" anchor="ctr">
            <a:spAutoFit/>
          </a:bodyPr>
          <a:lstStyle/>
          <a:p>
            <a:r>
              <a:rPr lang="es-ES" sz="1100" b="0" i="0" dirty="0">
                <a:solidFill>
                  <a:srgbClr val="2C3E50"/>
                </a:solidFill>
                <a:effectLst/>
                <a:latin typeface="Source Sans Pro "/>
              </a:rPr>
              <a:t>Requiere el parámetro </a:t>
            </a:r>
            <a:r>
              <a:rPr lang="en-US" sz="1100" b="0" i="0" dirty="0">
                <a:solidFill>
                  <a:srgbClr val="2C3E50"/>
                </a:solidFill>
                <a:effectLst/>
                <a:latin typeface="Lucida Console" panose="020B0609040504020204" pitchFamily="49" charset="0"/>
              </a:rPr>
              <a:t>“method” </a:t>
            </a:r>
            <a:r>
              <a:rPr lang="es-ES" sz="1100" b="0" i="0" dirty="0">
                <a:solidFill>
                  <a:srgbClr val="2C3E50"/>
                </a:solidFill>
                <a:effectLst/>
                <a:latin typeface="Source Sans Pro "/>
              </a:rPr>
              <a:t>que especifica el tipo de modelo. Puede estimar modelos de regresión univariados manteniendo constante el desenlace (“y”), la covariable </a:t>
            </a:r>
            <a:r>
              <a:rPr lang="en-US" sz="1100" b="0" dirty="0">
                <a:solidFill>
                  <a:srgbClr val="2C3E50"/>
                </a:solidFill>
                <a:latin typeface="Source Sans Pro "/>
              </a:rPr>
              <a:t>(“x”) </a:t>
            </a:r>
            <a:r>
              <a:rPr lang="es-ES" sz="1100" b="0" i="0" dirty="0">
                <a:solidFill>
                  <a:srgbClr val="2C3E50"/>
                </a:solidFill>
                <a:effectLst/>
                <a:latin typeface="Source Sans Pro "/>
              </a:rPr>
              <a:t>o ambos (ver el parámetro </a:t>
            </a:r>
            <a:r>
              <a:rPr lang="en-US" sz="1100" b="0" i="0" dirty="0">
                <a:solidFill>
                  <a:srgbClr val="2C3E50"/>
                </a:solidFill>
                <a:effectLst/>
                <a:latin typeface="Lucida Console" panose="020B0609040504020204" pitchFamily="49" charset="0"/>
              </a:rPr>
              <a:t>“formula” </a:t>
            </a:r>
            <a:r>
              <a:rPr lang="es-ES" sz="1100" b="0" i="0" dirty="0">
                <a:solidFill>
                  <a:srgbClr val="2C3E50"/>
                </a:solidFill>
                <a:effectLst/>
                <a:latin typeface="Source Sans Pro "/>
              </a:rPr>
              <a:t>). </a:t>
            </a:r>
            <a:r>
              <a:rPr lang="es-ES" sz="1100" b="0" dirty="0">
                <a:solidFill>
                  <a:srgbClr val="2C3E50"/>
                </a:solidFill>
                <a:latin typeface="Source Sans Pro "/>
              </a:rPr>
              <a:t>Para más información sobre </a:t>
            </a:r>
            <a:r>
              <a:rPr lang="en-US" sz="1100" b="0" dirty="0">
                <a:solidFill>
                  <a:srgbClr val="2C3E50"/>
                </a:solidFill>
                <a:latin typeface="Lucida Console" panose="020B0609040504020204" pitchFamily="49" charset="0"/>
              </a:rPr>
              <a:t>“formula” </a:t>
            </a:r>
            <a:r>
              <a:rPr lang="es-ES" sz="1100" b="0" dirty="0">
                <a:solidFill>
                  <a:srgbClr val="2C3E50"/>
                </a:solidFill>
                <a:latin typeface="Source Sans Pro "/>
              </a:rPr>
              <a:t>y otros parámetros, ver:</a:t>
            </a:r>
          </a:p>
          <a:p>
            <a:r>
              <a:rPr lang="en-US" sz="1100" b="0" dirty="0">
                <a:solidFill>
                  <a:schemeClr val="accent1"/>
                </a:solidFill>
                <a:latin typeface="Source Sans Pro "/>
                <a:hlinkClick r:id="rId6"/>
              </a:rPr>
              <a:t>https://www.danieldsjoberg.com/gtsummary/reference/tbl_uvregression.html</a:t>
            </a:r>
            <a:endParaRPr lang="en-US" sz="1100" b="0" dirty="0">
              <a:solidFill>
                <a:schemeClr val="accent1"/>
              </a:solidFill>
              <a:latin typeface="Source Sans Pro "/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E01A6169-3389-423E-B06A-40DF28123E75}"/>
              </a:ext>
            </a:extLst>
          </p:cNvPr>
          <p:cNvSpPr/>
          <p:nvPr/>
        </p:nvSpPr>
        <p:spPr>
          <a:xfrm>
            <a:off x="3425520" y="7273925"/>
            <a:ext cx="2513144" cy="257939"/>
          </a:xfrm>
          <a:prstGeom prst="rect">
            <a:avLst/>
          </a:prstGeom>
          <a:solidFill>
            <a:srgbClr val="ECF6DD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>
                <a:solidFill>
                  <a:srgbClr val="628DB5"/>
                </a:solidFill>
              </a:defRPr>
            </a:pPr>
            <a:r>
              <a:rPr lang="es-ES" dirty="0">
                <a:solidFill>
                  <a:srgbClr val="5D7529"/>
                </a:solidFill>
              </a:rPr>
              <a:t>M</a:t>
            </a:r>
            <a:r>
              <a:rPr lang="es-ES" sz="1200" dirty="0">
                <a:solidFill>
                  <a:srgbClr val="5D7529"/>
                </a:solidFill>
              </a:rPr>
              <a:t>odelos de Cox univariados: tabla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3A6DA6A-7CF4-4678-987E-501A666FD182}"/>
              </a:ext>
            </a:extLst>
          </p:cNvPr>
          <p:cNvSpPr txBox="1"/>
          <p:nvPr/>
        </p:nvSpPr>
        <p:spPr>
          <a:xfrm>
            <a:off x="371889" y="7386491"/>
            <a:ext cx="2925903" cy="2089803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9CC14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3152" tIns="27432" rIns="18288" bIns="91440" numCol="1" spcCol="38100" rtlCol="0" anchor="ctr">
            <a:spAutoFit/>
          </a:bodyPr>
          <a:lstStyle/>
          <a:p>
            <a:r>
              <a:rPr lang="en-US" altLang="en-US" sz="900" b="0" dirty="0">
                <a:solidFill>
                  <a:schemeClr val="accent1"/>
                </a:solidFill>
                <a:latin typeface="Lucida Console" panose="020B0609040504020204" pitchFamily="49" charset="0"/>
              </a:rPr>
              <a:t>library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(survival)</a:t>
            </a:r>
          </a:p>
          <a:p>
            <a:r>
              <a:rPr lang="en-US" altLang="en-US" sz="900" dirty="0" err="1">
                <a:latin typeface="Lucida Console" panose="020B0609040504020204" pitchFamily="49" charset="0"/>
              </a:rPr>
              <a:t>tbl_uvregression</a:t>
            </a:r>
            <a:r>
              <a:rPr lang="en-US" altLang="en-US" sz="900" b="0" dirty="0">
                <a:latin typeface="Lucida Console" panose="020B0609040504020204" pitchFamily="49" charset="0"/>
              </a:rPr>
              <a:t>(</a:t>
            </a:r>
          </a:p>
          <a:p>
            <a:r>
              <a:rPr lang="en-US" altLang="en-US" sz="900" b="0" dirty="0">
                <a:latin typeface="Lucida Console" panose="020B0609040504020204" pitchFamily="49" charset="0"/>
              </a:rPr>
              <a:t>    trial %&gt;% select(</a:t>
            </a:r>
            <a:r>
              <a:rPr lang="en-US" altLang="en-US" sz="900" b="0" dirty="0" err="1">
                <a:latin typeface="Lucida Console" panose="020B0609040504020204" pitchFamily="49" charset="0"/>
              </a:rPr>
              <a:t>ttdeath</a:t>
            </a:r>
            <a:r>
              <a:rPr lang="en-US" altLang="en-US" sz="900" b="0" dirty="0">
                <a:latin typeface="Lucida Console" panose="020B0609040504020204" pitchFamily="49" charset="0"/>
              </a:rPr>
              <a:t>, death, age, </a:t>
            </a:r>
          </a:p>
          <a:p>
            <a:r>
              <a:rPr lang="en-US" altLang="en-US" sz="900" b="0" dirty="0">
                <a:latin typeface="Lucida Console" panose="020B0609040504020204" pitchFamily="49" charset="0"/>
              </a:rPr>
              <a:t>                     grade, response),</a:t>
            </a:r>
          </a:p>
          <a:p>
            <a:r>
              <a:rPr lang="en-US" altLang="en-US" sz="900" b="0" dirty="0">
                <a:latin typeface="Lucida Console" panose="020B0609040504020204" pitchFamily="49" charset="0"/>
              </a:rPr>
              <a:t>    method = </a:t>
            </a:r>
            <a:r>
              <a:rPr lang="en-US" altLang="en-US" sz="900" b="0" dirty="0" err="1">
                <a:latin typeface="Lucida Console" panose="020B0609040504020204" pitchFamily="49" charset="0"/>
              </a:rPr>
              <a:t>coxph</a:t>
            </a:r>
            <a:r>
              <a:rPr lang="en-US" altLang="en-US" sz="900" b="0" dirty="0">
                <a:latin typeface="Lucida Console" panose="020B0609040504020204" pitchFamily="49" charset="0"/>
              </a:rPr>
              <a:t>,</a:t>
            </a:r>
          </a:p>
          <a:p>
            <a:r>
              <a:rPr lang="en-US" altLang="en-US" sz="900" b="0" dirty="0">
                <a:latin typeface="Lucida Console" panose="020B0609040504020204" pitchFamily="49" charset="0"/>
              </a:rPr>
              <a:t>    y = </a:t>
            </a:r>
            <a:r>
              <a:rPr lang="en-US" altLang="en-US" sz="900" b="0" dirty="0" err="1">
                <a:latin typeface="Lucida Console" panose="020B0609040504020204" pitchFamily="49" charset="0"/>
              </a:rPr>
              <a:t>Surv</a:t>
            </a:r>
            <a:r>
              <a:rPr lang="en-US" altLang="en-US" sz="900" b="0" dirty="0">
                <a:latin typeface="Lucida Console" panose="020B0609040504020204" pitchFamily="49" charset="0"/>
              </a:rPr>
              <a:t>(</a:t>
            </a:r>
            <a:r>
              <a:rPr lang="en-US" altLang="en-US" sz="900" b="0" dirty="0" err="1">
                <a:latin typeface="Lucida Console" panose="020B0609040504020204" pitchFamily="49" charset="0"/>
              </a:rPr>
              <a:t>ttdeath</a:t>
            </a:r>
            <a:r>
              <a:rPr lang="en-US" altLang="en-US" sz="900" b="0" dirty="0">
                <a:latin typeface="Lucida Console" panose="020B0609040504020204" pitchFamily="49" charset="0"/>
              </a:rPr>
              <a:t>, death),</a:t>
            </a:r>
          </a:p>
          <a:p>
            <a:r>
              <a:rPr lang="en-US" altLang="en-US" sz="900" b="0" dirty="0">
                <a:latin typeface="Lucida Console" panose="020B0609040504020204" pitchFamily="49" charset="0"/>
              </a:rPr>
              <a:t>    exponentiate = TRUE,</a:t>
            </a:r>
          </a:p>
          <a:p>
            <a:r>
              <a:rPr lang="en-US" altLang="en-US" sz="900" b="0" dirty="0">
                <a:latin typeface="Lucida Console" panose="020B0609040504020204" pitchFamily="49" charset="0"/>
              </a:rPr>
              <a:t>    label = list(grade ~ "Tumor grade")</a:t>
            </a:r>
          </a:p>
          <a:p>
            <a:r>
              <a:rPr lang="en-US" altLang="en-US" sz="900" b="0" dirty="0">
                <a:latin typeface="Lucida Console" panose="020B0609040504020204" pitchFamily="49" charset="0"/>
              </a:rPr>
              <a:t>    ) %&gt;%</a:t>
            </a:r>
          </a:p>
          <a:p>
            <a:r>
              <a:rPr lang="en-US" altLang="en-US" sz="900" b="0" dirty="0">
                <a:latin typeface="Lucida Console" panose="020B0609040504020204" pitchFamily="49" charset="0"/>
              </a:rPr>
              <a:t>  </a:t>
            </a:r>
            <a:r>
              <a:rPr lang="en-US" altLang="en-US" sz="900" b="0" dirty="0" err="1">
                <a:latin typeface="Lucida Console" panose="020B0609040504020204" pitchFamily="49" charset="0"/>
              </a:rPr>
              <a:t>add_global_p</a:t>
            </a:r>
            <a:r>
              <a:rPr lang="en-US" altLang="en-US" sz="900" b="0" dirty="0">
                <a:latin typeface="Lucida Console" panose="020B0609040504020204" pitchFamily="49" charset="0"/>
              </a:rPr>
              <a:t>() %&gt;%</a:t>
            </a:r>
          </a:p>
          <a:p>
            <a:r>
              <a:rPr lang="en-US" altLang="en-US" sz="900" b="0" dirty="0">
                <a:latin typeface="Lucida Console" panose="020B0609040504020204" pitchFamily="49" charset="0"/>
              </a:rPr>
              <a:t>  </a:t>
            </a:r>
            <a:r>
              <a:rPr lang="en-US" altLang="en-US" sz="900" b="0" dirty="0" err="1">
                <a:latin typeface="Lucida Console" panose="020B0609040504020204" pitchFamily="49" charset="0"/>
              </a:rPr>
              <a:t>add_n</a:t>
            </a:r>
            <a:r>
              <a:rPr lang="en-US" altLang="en-US" sz="900" b="0" dirty="0">
                <a:latin typeface="Lucida Console" panose="020B0609040504020204" pitchFamily="49" charset="0"/>
              </a:rPr>
              <a:t>(location = "level") %&gt;%</a:t>
            </a:r>
          </a:p>
          <a:p>
            <a:r>
              <a:rPr lang="en-US" altLang="en-US" sz="900" b="0" dirty="0">
                <a:latin typeface="Lucida Console" panose="020B0609040504020204" pitchFamily="49" charset="0"/>
              </a:rPr>
              <a:t>  </a:t>
            </a:r>
            <a:r>
              <a:rPr lang="en-US" altLang="en-US" sz="900" b="0" dirty="0" err="1">
                <a:latin typeface="Lucida Console" panose="020B0609040504020204" pitchFamily="49" charset="0"/>
              </a:rPr>
              <a:t>add_nevent</a:t>
            </a:r>
            <a:r>
              <a:rPr lang="en-US" altLang="en-US" sz="900" b="0" dirty="0">
                <a:latin typeface="Lucida Console" panose="020B0609040504020204" pitchFamily="49" charset="0"/>
              </a:rPr>
              <a:t>(location = "level")</a:t>
            </a:r>
            <a:endParaRPr lang="en-US" altLang="en-US" sz="900" dirty="0">
              <a:solidFill>
                <a:srgbClr val="FA694E"/>
              </a:solidFill>
              <a:latin typeface="Lucida Console" panose="020B060904050402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BAC42C-3777-4F4C-A985-17554AA928D6}"/>
              </a:ext>
            </a:extLst>
          </p:cNvPr>
          <p:cNvSpPr/>
          <p:nvPr/>
        </p:nvSpPr>
        <p:spPr>
          <a:xfrm>
            <a:off x="394045" y="7103424"/>
            <a:ext cx="2513144" cy="239769"/>
          </a:xfrm>
          <a:prstGeom prst="rect">
            <a:avLst/>
          </a:prstGeom>
          <a:solidFill>
            <a:srgbClr val="ECF6DD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36576" numCol="1" spcCol="38100" rtlCol="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>
                <a:solidFill>
                  <a:srgbClr val="628DB5"/>
                </a:solidFill>
              </a:defRPr>
            </a:pPr>
            <a:r>
              <a:rPr lang="es-ES" dirty="0">
                <a:solidFill>
                  <a:srgbClr val="5D7529"/>
                </a:solidFill>
              </a:rPr>
              <a:t>M</a:t>
            </a:r>
            <a:r>
              <a:rPr lang="es-ES" sz="1200" dirty="0">
                <a:solidFill>
                  <a:srgbClr val="5D7529"/>
                </a:solidFill>
              </a:rPr>
              <a:t>odelos de Cox univariados: código</a:t>
            </a:r>
          </a:p>
        </p:txBody>
      </p:sp>
      <p:sp>
        <p:nvSpPr>
          <p:cNvPr id="355" name="Rectangle: Rounded Corners 354">
            <a:extLst>
              <a:ext uri="{FF2B5EF4-FFF2-40B4-BE49-F238E27FC236}">
                <a16:creationId xmlns:a16="http://schemas.microsoft.com/office/drawing/2014/main" id="{C724CA1D-495D-45C0-8214-FB9F308FB396}"/>
              </a:ext>
            </a:extLst>
          </p:cNvPr>
          <p:cNvSpPr/>
          <p:nvPr/>
        </p:nvSpPr>
        <p:spPr>
          <a:xfrm>
            <a:off x="289159" y="6655052"/>
            <a:ext cx="6646495" cy="352101"/>
          </a:xfrm>
          <a:prstGeom prst="roundRect">
            <a:avLst/>
          </a:prstGeom>
          <a:solidFill>
            <a:srgbClr val="9CC17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 err="1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/>
                </a:solidFill>
              </a:rPr>
              <a:t>t</a:t>
            </a:r>
            <a:r>
              <a:rPr kumimoji="0" lang="en-US" sz="1600" i="0" u="none" strike="noStrike" cap="none" spc="0" normalizeH="0" baseline="0" dirty="0" err="1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bl_uvregression</a:t>
            </a:r>
            <a:r>
              <a:rPr kumimoji="0" lang="en-US" sz="1600" i="0" u="none" strike="noStrike" cap="none" spc="0" normalizeH="0" baseline="0" dirty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() </a:t>
            </a:r>
            <a:r>
              <a:rPr kumimoji="0" lang="es-ES" b="0" i="0" u="none" strike="noStrike" cap="none" spc="0" normalizeH="0" baseline="0" dirty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muestra varios modelos de regresión univariados a la vez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9FFFEAE6-DFAF-4B90-917B-C7E3AA322884}"/>
              </a:ext>
            </a:extLst>
          </p:cNvPr>
          <p:cNvSpPr/>
          <p:nvPr/>
        </p:nvSpPr>
        <p:spPr>
          <a:xfrm>
            <a:off x="3909748" y="3904297"/>
            <a:ext cx="370798" cy="265137"/>
          </a:xfrm>
          <a:prstGeom prst="rightArrow">
            <a:avLst/>
          </a:prstGeom>
          <a:solidFill>
            <a:srgbClr val="9CC14B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E523F8-9F77-4020-A34A-83070C695A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0957" y="2567147"/>
            <a:ext cx="2533650" cy="1838325"/>
          </a:xfrm>
          <a:prstGeom prst="rect">
            <a:avLst/>
          </a:prstGeom>
        </p:spPr>
      </p:pic>
      <p:sp>
        <p:nvSpPr>
          <p:cNvPr id="121" name="Arrow: Right 120">
            <a:extLst>
              <a:ext uri="{FF2B5EF4-FFF2-40B4-BE49-F238E27FC236}">
                <a16:creationId xmlns:a16="http://schemas.microsoft.com/office/drawing/2014/main" id="{C3FA9CCA-0C64-4C8A-B91F-E3DEB8D0A2A1}"/>
              </a:ext>
            </a:extLst>
          </p:cNvPr>
          <p:cNvSpPr/>
          <p:nvPr/>
        </p:nvSpPr>
        <p:spPr>
          <a:xfrm rot="5400000">
            <a:off x="3000123" y="2019628"/>
            <a:ext cx="299288" cy="253357"/>
          </a:xfrm>
          <a:prstGeom prst="rightArrow">
            <a:avLst/>
          </a:prstGeom>
          <a:solidFill>
            <a:srgbClr val="9CC14B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334ECC9-FC68-4B38-8BE3-3006396620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6180" y="7533349"/>
            <a:ext cx="3467100" cy="1790700"/>
          </a:xfrm>
          <a:prstGeom prst="rect">
            <a:avLst/>
          </a:prstGeom>
        </p:spPr>
      </p:pic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43232BE3-FB63-41DF-89FB-9B852CD43BFF}"/>
              </a:ext>
            </a:extLst>
          </p:cNvPr>
          <p:cNvCxnSpPr>
            <a:cxnSpLocks/>
          </p:cNvCxnSpPr>
          <p:nvPr/>
        </p:nvCxnSpPr>
        <p:spPr>
          <a:xfrm>
            <a:off x="3769722" y="8662659"/>
            <a:ext cx="2432" cy="0"/>
          </a:xfrm>
          <a:prstGeom prst="straightConnector1">
            <a:avLst/>
          </a:prstGeom>
          <a:noFill/>
          <a:ln w="47625" cap="flat">
            <a:solidFill>
              <a:schemeClr val="accent5">
                <a:alpha val="42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623C36C3-94BC-4D2A-A1C2-DBCEBF589204}"/>
              </a:ext>
            </a:extLst>
          </p:cNvPr>
          <p:cNvCxnSpPr>
            <a:cxnSpLocks/>
          </p:cNvCxnSpPr>
          <p:nvPr/>
        </p:nvCxnSpPr>
        <p:spPr>
          <a:xfrm>
            <a:off x="2973682" y="8179897"/>
            <a:ext cx="548640" cy="0"/>
          </a:xfrm>
          <a:prstGeom prst="straightConnector1">
            <a:avLst/>
          </a:prstGeom>
          <a:noFill/>
          <a:ln w="47625" cap="flat">
            <a:solidFill>
              <a:schemeClr val="accent5">
                <a:alpha val="35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3A2A38DE-F019-4631-8F2E-ECD1F4D4A346}"/>
              </a:ext>
            </a:extLst>
          </p:cNvPr>
          <p:cNvSpPr/>
          <p:nvPr/>
        </p:nvSpPr>
        <p:spPr>
          <a:xfrm>
            <a:off x="1601431" y="8584297"/>
            <a:ext cx="1429527" cy="149930"/>
          </a:xfrm>
          <a:prstGeom prst="rect">
            <a:avLst/>
          </a:prstGeom>
          <a:solidFill>
            <a:schemeClr val="accent5">
              <a:alpha val="3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6688A1E6-D22E-4049-9B79-59C2C5783744}"/>
              </a:ext>
            </a:extLst>
          </p:cNvPr>
          <p:cNvSpPr/>
          <p:nvPr/>
        </p:nvSpPr>
        <p:spPr>
          <a:xfrm>
            <a:off x="3530514" y="8095504"/>
            <a:ext cx="707378" cy="157567"/>
          </a:xfrm>
          <a:prstGeom prst="rect">
            <a:avLst/>
          </a:prstGeom>
          <a:solidFill>
            <a:schemeClr val="accent5">
              <a:alpha val="3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9F9D505D-D26D-480D-8D61-C8319E099EB2}"/>
              </a:ext>
            </a:extLst>
          </p:cNvPr>
          <p:cNvCxnSpPr>
            <a:cxnSpLocks/>
          </p:cNvCxnSpPr>
          <p:nvPr/>
        </p:nvCxnSpPr>
        <p:spPr>
          <a:xfrm flipV="1">
            <a:off x="2993428" y="8199512"/>
            <a:ext cx="2694" cy="381686"/>
          </a:xfrm>
          <a:prstGeom prst="straightConnector1">
            <a:avLst/>
          </a:prstGeom>
          <a:noFill/>
          <a:ln w="47625" cap="flat">
            <a:solidFill>
              <a:schemeClr val="accent5">
                <a:alpha val="42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1" name="Rectangle 200">
            <a:extLst>
              <a:ext uri="{FF2B5EF4-FFF2-40B4-BE49-F238E27FC236}">
                <a16:creationId xmlns:a16="http://schemas.microsoft.com/office/drawing/2014/main" id="{119A864C-437F-4138-9D36-DC24D3564EFD}"/>
              </a:ext>
            </a:extLst>
          </p:cNvPr>
          <p:cNvSpPr/>
          <p:nvPr/>
        </p:nvSpPr>
        <p:spPr>
          <a:xfrm>
            <a:off x="506119" y="8904295"/>
            <a:ext cx="1090087" cy="164592"/>
          </a:xfrm>
          <a:prstGeom prst="rect">
            <a:avLst/>
          </a:prstGeom>
          <a:solidFill>
            <a:schemeClr val="accent1">
              <a:alpha val="22000"/>
            </a:schemeClr>
          </a:solidFill>
          <a:ln w="12700" cap="flat">
            <a:noFill/>
            <a:miter lim="400000"/>
          </a:ln>
          <a:effectLst>
            <a:outerShdw blurRad="50800" dist="50800" dir="5400000" algn="ctr" rotWithShape="0">
              <a:schemeClr val="bg1"/>
            </a:outerShdw>
          </a:effectLst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22F19483-1F89-4A1A-A054-94D385FEFFE9}"/>
              </a:ext>
            </a:extLst>
          </p:cNvPr>
          <p:cNvCxnSpPr>
            <a:cxnSpLocks/>
          </p:cNvCxnSpPr>
          <p:nvPr/>
        </p:nvCxnSpPr>
        <p:spPr>
          <a:xfrm>
            <a:off x="1594047" y="9009934"/>
            <a:ext cx="4797863" cy="0"/>
          </a:xfrm>
          <a:prstGeom prst="straightConnector1">
            <a:avLst/>
          </a:prstGeom>
          <a:noFill/>
          <a:ln w="47625" cap="flat">
            <a:solidFill>
              <a:schemeClr val="accent1">
                <a:alpha val="22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08BF5337-5840-4AC1-91A1-9C14E49E84B0}"/>
              </a:ext>
            </a:extLst>
          </p:cNvPr>
          <p:cNvCxnSpPr>
            <a:cxnSpLocks/>
          </p:cNvCxnSpPr>
          <p:nvPr/>
        </p:nvCxnSpPr>
        <p:spPr>
          <a:xfrm flipH="1" flipV="1">
            <a:off x="6414350" y="8261535"/>
            <a:ext cx="1871" cy="778966"/>
          </a:xfrm>
          <a:prstGeom prst="straightConnector1">
            <a:avLst/>
          </a:prstGeom>
          <a:noFill/>
          <a:ln w="47625" cap="flat">
            <a:solidFill>
              <a:schemeClr val="accent1">
                <a:alpha val="22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4" name="Rectangle 203">
            <a:extLst>
              <a:ext uri="{FF2B5EF4-FFF2-40B4-BE49-F238E27FC236}">
                <a16:creationId xmlns:a16="http://schemas.microsoft.com/office/drawing/2014/main" id="{47A45B0E-6666-4E1C-99B2-510744EA215C}"/>
              </a:ext>
            </a:extLst>
          </p:cNvPr>
          <p:cNvSpPr/>
          <p:nvPr/>
        </p:nvSpPr>
        <p:spPr>
          <a:xfrm>
            <a:off x="6380542" y="8107186"/>
            <a:ext cx="368968" cy="151045"/>
          </a:xfrm>
          <a:prstGeom prst="rect">
            <a:avLst/>
          </a:prstGeom>
          <a:solidFill>
            <a:schemeClr val="accent1">
              <a:alpha val="22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4A75AB99-DDB8-4878-9998-B9E3A0A5DD8A}"/>
              </a:ext>
            </a:extLst>
          </p:cNvPr>
          <p:cNvSpPr/>
          <p:nvPr/>
        </p:nvSpPr>
        <p:spPr>
          <a:xfrm>
            <a:off x="555666" y="9245720"/>
            <a:ext cx="2000532" cy="152032"/>
          </a:xfrm>
          <a:prstGeom prst="rect">
            <a:avLst/>
          </a:prstGeom>
          <a:solidFill>
            <a:schemeClr val="accent6">
              <a:alpha val="32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B8E46537-254D-4142-9E7B-579D494193FD}"/>
              </a:ext>
            </a:extLst>
          </p:cNvPr>
          <p:cNvCxnSpPr>
            <a:cxnSpLocks/>
          </p:cNvCxnSpPr>
          <p:nvPr/>
        </p:nvCxnSpPr>
        <p:spPr>
          <a:xfrm>
            <a:off x="3386375" y="8636443"/>
            <a:ext cx="0" cy="759006"/>
          </a:xfrm>
          <a:prstGeom prst="straightConnector1">
            <a:avLst/>
          </a:prstGeom>
          <a:noFill/>
          <a:ln w="47625" cap="flat">
            <a:solidFill>
              <a:schemeClr val="accent6">
                <a:alpha val="32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604D2ABA-F191-4E5C-AE52-8170273277CE}"/>
              </a:ext>
            </a:extLst>
          </p:cNvPr>
          <p:cNvCxnSpPr>
            <a:cxnSpLocks/>
          </p:cNvCxnSpPr>
          <p:nvPr/>
        </p:nvCxnSpPr>
        <p:spPr>
          <a:xfrm>
            <a:off x="2555983" y="9372929"/>
            <a:ext cx="811076" cy="197"/>
          </a:xfrm>
          <a:prstGeom prst="straightConnector1">
            <a:avLst/>
          </a:prstGeom>
          <a:noFill/>
          <a:ln w="46355" cap="flat">
            <a:solidFill>
              <a:schemeClr val="accent6">
                <a:alpha val="32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11027590-9CCA-40CB-A5CD-30A9A958574A}"/>
              </a:ext>
            </a:extLst>
          </p:cNvPr>
          <p:cNvCxnSpPr>
            <a:cxnSpLocks/>
          </p:cNvCxnSpPr>
          <p:nvPr/>
        </p:nvCxnSpPr>
        <p:spPr>
          <a:xfrm>
            <a:off x="3977021" y="9118997"/>
            <a:ext cx="0" cy="43325"/>
          </a:xfrm>
          <a:prstGeom prst="straightConnector1">
            <a:avLst/>
          </a:prstGeom>
          <a:noFill/>
          <a:ln w="47625" cap="flat">
            <a:solidFill>
              <a:schemeClr val="accent6">
                <a:alpha val="32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5" name="Rectangle 214">
            <a:extLst>
              <a:ext uri="{FF2B5EF4-FFF2-40B4-BE49-F238E27FC236}">
                <a16:creationId xmlns:a16="http://schemas.microsoft.com/office/drawing/2014/main" id="{4E815C6B-48E3-4779-B20B-95945108CEC5}"/>
              </a:ext>
            </a:extLst>
          </p:cNvPr>
          <p:cNvSpPr/>
          <p:nvPr/>
        </p:nvSpPr>
        <p:spPr>
          <a:xfrm>
            <a:off x="4851706" y="7579512"/>
            <a:ext cx="465671" cy="1447431"/>
          </a:xfrm>
          <a:prstGeom prst="rect">
            <a:avLst/>
          </a:prstGeom>
          <a:solidFill>
            <a:schemeClr val="accent6">
              <a:alpha val="32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E83ADC68-D544-4ADA-9670-AFDE52C244D7}"/>
              </a:ext>
            </a:extLst>
          </p:cNvPr>
          <p:cNvSpPr/>
          <p:nvPr/>
        </p:nvSpPr>
        <p:spPr>
          <a:xfrm>
            <a:off x="566316" y="9094976"/>
            <a:ext cx="1716467" cy="111340"/>
          </a:xfrm>
          <a:prstGeom prst="rect">
            <a:avLst/>
          </a:prstGeom>
          <a:solidFill>
            <a:srgbClr val="9CC173">
              <a:alpha val="50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5389DF08-7A5A-4FC6-A51F-9B988F454557}"/>
              </a:ext>
            </a:extLst>
          </p:cNvPr>
          <p:cNvCxnSpPr>
            <a:cxnSpLocks/>
          </p:cNvCxnSpPr>
          <p:nvPr/>
        </p:nvCxnSpPr>
        <p:spPr>
          <a:xfrm>
            <a:off x="2276578" y="9188246"/>
            <a:ext cx="923137" cy="1240"/>
          </a:xfrm>
          <a:prstGeom prst="straightConnector1">
            <a:avLst/>
          </a:prstGeom>
          <a:noFill/>
          <a:ln w="47625" cap="flat">
            <a:solidFill>
              <a:srgbClr val="9CC173">
                <a:alpha val="50000"/>
              </a:srgb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D8B1B072-F812-4107-9461-8D8CB204D401}"/>
              </a:ext>
            </a:extLst>
          </p:cNvPr>
          <p:cNvCxnSpPr>
            <a:cxnSpLocks/>
          </p:cNvCxnSpPr>
          <p:nvPr/>
        </p:nvCxnSpPr>
        <p:spPr>
          <a:xfrm flipV="1">
            <a:off x="3176226" y="8474599"/>
            <a:ext cx="0" cy="694944"/>
          </a:xfrm>
          <a:prstGeom prst="straightConnector1">
            <a:avLst/>
          </a:prstGeom>
          <a:noFill/>
          <a:ln w="47625" cap="flat">
            <a:solidFill>
              <a:srgbClr val="9CC173">
                <a:alpha val="50000"/>
              </a:srgb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16305B1E-E2B2-4445-9C20-AADC2E5CF88E}"/>
              </a:ext>
            </a:extLst>
          </p:cNvPr>
          <p:cNvCxnSpPr>
            <a:cxnSpLocks/>
          </p:cNvCxnSpPr>
          <p:nvPr/>
        </p:nvCxnSpPr>
        <p:spPr>
          <a:xfrm>
            <a:off x="3154374" y="8454156"/>
            <a:ext cx="1463040" cy="0"/>
          </a:xfrm>
          <a:prstGeom prst="straightConnector1">
            <a:avLst/>
          </a:prstGeom>
          <a:noFill/>
          <a:ln w="47625" cap="flat">
            <a:solidFill>
              <a:srgbClr val="9CC173">
                <a:alpha val="50000"/>
              </a:srgb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0" name="Rectangle 219">
            <a:extLst>
              <a:ext uri="{FF2B5EF4-FFF2-40B4-BE49-F238E27FC236}">
                <a16:creationId xmlns:a16="http://schemas.microsoft.com/office/drawing/2014/main" id="{BD50B41D-7D75-477A-B11A-A35C03B83720}"/>
              </a:ext>
            </a:extLst>
          </p:cNvPr>
          <p:cNvSpPr/>
          <p:nvPr/>
        </p:nvSpPr>
        <p:spPr>
          <a:xfrm>
            <a:off x="4539158" y="7579512"/>
            <a:ext cx="244576" cy="1417320"/>
          </a:xfrm>
          <a:prstGeom prst="rect">
            <a:avLst/>
          </a:prstGeom>
          <a:solidFill>
            <a:srgbClr val="9CC173">
              <a:alpha val="50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7B142D4B-9897-4093-B65A-4ABD6253B38A}"/>
              </a:ext>
            </a:extLst>
          </p:cNvPr>
          <p:cNvCxnSpPr>
            <a:cxnSpLocks/>
          </p:cNvCxnSpPr>
          <p:nvPr/>
        </p:nvCxnSpPr>
        <p:spPr>
          <a:xfrm>
            <a:off x="3408690" y="8657022"/>
            <a:ext cx="1489226" cy="0"/>
          </a:xfrm>
          <a:prstGeom prst="straightConnector1">
            <a:avLst/>
          </a:prstGeom>
          <a:noFill/>
          <a:ln w="47625" cap="flat">
            <a:solidFill>
              <a:schemeClr val="accent6">
                <a:alpha val="32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4A0463C9-A312-4CD9-8E5B-ECF9B7C810E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1391" y="2489545"/>
            <a:ext cx="3571875" cy="1257300"/>
          </a:xfrm>
          <a:prstGeom prst="rect">
            <a:avLst/>
          </a:prstGeom>
        </p:spPr>
      </p:pic>
      <p:sp>
        <p:nvSpPr>
          <p:cNvPr id="119" name="TextBox 118">
            <a:extLst>
              <a:ext uri="{FF2B5EF4-FFF2-40B4-BE49-F238E27FC236}">
                <a16:creationId xmlns:a16="http://schemas.microsoft.com/office/drawing/2014/main" id="{201E162D-09E6-474F-92B6-FB467E4E274F}"/>
              </a:ext>
            </a:extLst>
          </p:cNvPr>
          <p:cNvSpPr txBox="1"/>
          <p:nvPr/>
        </p:nvSpPr>
        <p:spPr>
          <a:xfrm>
            <a:off x="7363745" y="762504"/>
            <a:ext cx="3313940" cy="1587533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9CC14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54570" rIns="18288" bIns="54570" numCol="1" spcCol="38100" rtlCol="0" anchor="ctr">
            <a:spAutoFit/>
          </a:bodyPr>
          <a:lstStyle/>
          <a:p>
            <a:r>
              <a:rPr lang="en-US" altLang="en-US" sz="900" b="0" dirty="0">
                <a:solidFill>
                  <a:schemeClr val="accent1"/>
                </a:solidFill>
                <a:latin typeface="Lucida Console" panose="020B0609040504020204" pitchFamily="49" charset="0"/>
              </a:rPr>
              <a:t>library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(survival)</a:t>
            </a:r>
          </a:p>
          <a:p>
            <a:r>
              <a:rPr lang="en-US" altLang="en-US" sz="90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tbl_survfit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(</a:t>
            </a:r>
          </a:p>
          <a:p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 list(</a:t>
            </a:r>
          </a:p>
          <a:p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900" b="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survfit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900" b="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Surv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900" b="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ttdeath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, death) ~ 1, trial),</a:t>
            </a:r>
          </a:p>
          <a:p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900" b="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survfit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900" b="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Surv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900" b="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ttdeath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, death) ~ </a:t>
            </a:r>
            <a:r>
              <a:rPr lang="en-US" altLang="en-US" sz="900" b="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trt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, trial)</a:t>
            </a:r>
          </a:p>
          <a:p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  ),</a:t>
            </a:r>
          </a:p>
          <a:p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  times = c(12, 24),</a:t>
            </a:r>
          </a:p>
          <a:p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900" b="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label_header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 = </a:t>
            </a:r>
            <a:r>
              <a:rPr lang="en-US" altLang="en-US" sz="900" b="0" dirty="0">
                <a:solidFill>
                  <a:schemeClr val="accent2"/>
                </a:solidFill>
                <a:latin typeface="Lucida Console" panose="020B0609040504020204" pitchFamily="49" charset="0"/>
              </a:rPr>
              <a:t>"**{time} Month**"</a:t>
            </a:r>
          </a:p>
          <a:p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)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F16F15A-5D4D-426A-92C1-4DB0DA293DD2}"/>
              </a:ext>
            </a:extLst>
          </p:cNvPr>
          <p:cNvSpPr txBox="1"/>
          <p:nvPr/>
        </p:nvSpPr>
        <p:spPr>
          <a:xfrm>
            <a:off x="7300942" y="4073371"/>
            <a:ext cx="2759177" cy="1423386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9CC14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54570" rIns="18288" bIns="54570" numCol="1" spcCol="38100" rtlCol="0" anchor="ctr">
            <a:spAutoFit/>
          </a:bodyPr>
          <a:lstStyle/>
          <a:p>
            <a:r>
              <a:rPr lang="en-US" altLang="en-US" sz="900" b="0" dirty="0">
                <a:solidFill>
                  <a:schemeClr val="accent1"/>
                </a:solidFill>
                <a:latin typeface="Lucida Console" panose="020B0609040504020204" pitchFamily="49" charset="0"/>
              </a:rPr>
              <a:t>library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(survival)</a:t>
            </a:r>
          </a:p>
          <a:p>
            <a:r>
              <a:rPr lang="en-US" altLang="en-US" sz="90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tbl_survfit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(</a:t>
            </a:r>
          </a:p>
          <a:p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  trial,</a:t>
            </a:r>
          </a:p>
          <a:p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  y = </a:t>
            </a:r>
            <a:r>
              <a:rPr lang="en-US" altLang="en-US" sz="900" b="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Surv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900" b="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ttdeath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, death),</a:t>
            </a:r>
          </a:p>
          <a:p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  include = c(</a:t>
            </a:r>
            <a:r>
              <a:rPr lang="en-US" altLang="en-US" sz="900" b="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trt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, grade),</a:t>
            </a:r>
          </a:p>
          <a:p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  probs = 0.5,</a:t>
            </a:r>
          </a:p>
          <a:p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900" b="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label_header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 = </a:t>
            </a:r>
            <a:r>
              <a:rPr lang="en-US" altLang="en-US" sz="900" b="0" dirty="0">
                <a:solidFill>
                  <a:schemeClr val="accent2"/>
                </a:solidFill>
                <a:latin typeface="Lucida Console" panose="020B0609040504020204" pitchFamily="49" charset="0"/>
              </a:rPr>
              <a:t>"**Median Survival**"</a:t>
            </a:r>
          </a:p>
          <a:p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) %&gt;% </a:t>
            </a:r>
            <a:r>
              <a:rPr lang="en-US" altLang="en-US" sz="900" b="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add_p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()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EC37AA8-06BB-4525-89A8-F06E816B1D86}"/>
              </a:ext>
            </a:extLst>
          </p:cNvPr>
          <p:cNvSpPr txBox="1"/>
          <p:nvPr/>
        </p:nvSpPr>
        <p:spPr>
          <a:xfrm>
            <a:off x="10952271" y="863365"/>
            <a:ext cx="2644687" cy="956888"/>
          </a:xfrm>
          <a:prstGeom prst="rect">
            <a:avLst/>
          </a:prstGeom>
          <a:noFill/>
          <a:ln w="12700" cap="flat">
            <a:solidFill>
              <a:srgbClr val="9CC14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54570" rIns="54570" bIns="54864" numCol="1" spcCol="38100" rtlCol="0" anchor="ctr">
            <a:spAutoFit/>
          </a:bodyPr>
          <a:lstStyle/>
          <a:p>
            <a:r>
              <a:rPr lang="es-ES" sz="1000" dirty="0">
                <a:solidFill>
                  <a:schemeClr val="tx1"/>
                </a:solidFill>
              </a:rPr>
              <a:t>Opciones para definir el modelo</a:t>
            </a:r>
            <a:r>
              <a:rPr lang="en-US" sz="1000" b="0" dirty="0">
                <a:solidFill>
                  <a:schemeClr val="tx1"/>
                </a:solidFill>
              </a:rPr>
              <a:t>:</a:t>
            </a:r>
          </a:p>
          <a:p>
            <a:pPr marL="228600" indent="-228600">
              <a:buAutoNum type="arabicPeriod"/>
            </a:pPr>
            <a:r>
              <a:rPr lang="es-ES" sz="1000" b="0" dirty="0">
                <a:solidFill>
                  <a:schemeClr val="tx1"/>
                </a:solidFill>
              </a:rPr>
              <a:t>x=modelo </a:t>
            </a:r>
            <a:r>
              <a:rPr lang="en-US" sz="1000" b="0" dirty="0" err="1">
                <a:solidFill>
                  <a:schemeClr val="tx1"/>
                </a:solidFill>
              </a:rPr>
              <a:t>survfit</a:t>
            </a:r>
            <a:r>
              <a:rPr lang="es-ES" sz="1000" b="0" dirty="0">
                <a:solidFill>
                  <a:schemeClr val="tx1"/>
                </a:solidFill>
              </a:rPr>
              <a:t> explícito (o lista de modelos) a partir de un </a:t>
            </a:r>
            <a:r>
              <a:rPr lang="es-ES" sz="1000" b="0" dirty="0" err="1">
                <a:solidFill>
                  <a:schemeClr val="tx1"/>
                </a:solidFill>
              </a:rPr>
              <a:t>data frame</a:t>
            </a:r>
            <a:endParaRPr lang="en-US" sz="1000" b="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en-US" sz="1000" b="0" dirty="0">
                <a:solidFill>
                  <a:schemeClr val="tx1"/>
                </a:solidFill>
              </a:rPr>
              <a:t>x=</a:t>
            </a:r>
            <a:r>
              <a:rPr lang="es-ES" sz="1000" b="0" dirty="0" err="1">
                <a:solidFill>
                  <a:schemeClr val="tx1"/>
                </a:solidFill>
              </a:rPr>
              <a:t>data frame</a:t>
            </a:r>
            <a:r>
              <a:rPr lang="es-ES" sz="1000" b="0" dirty="0">
                <a:solidFill>
                  <a:schemeClr val="tx1"/>
                </a:solidFill>
              </a:rPr>
              <a:t>, indicando y=objeto </a:t>
            </a:r>
            <a:r>
              <a:rPr lang="en-US" sz="1000" b="0" dirty="0" err="1">
                <a:solidFill>
                  <a:schemeClr val="tx1"/>
                </a:solidFill>
              </a:rPr>
              <a:t>Surv</a:t>
            </a:r>
            <a:r>
              <a:rPr lang="es-ES" sz="1000" b="0" dirty="0">
                <a:solidFill>
                  <a:schemeClr val="tx1"/>
                </a:solidFill>
              </a:rPr>
              <a:t> e include=covariables del modelo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9B0FEE8-0EBB-489B-B661-49A2C14B1842}"/>
              </a:ext>
            </a:extLst>
          </p:cNvPr>
          <p:cNvSpPr txBox="1"/>
          <p:nvPr/>
        </p:nvSpPr>
        <p:spPr>
          <a:xfrm>
            <a:off x="11185421" y="2011951"/>
            <a:ext cx="2411537" cy="956888"/>
          </a:xfrm>
          <a:prstGeom prst="rect">
            <a:avLst/>
          </a:prstGeom>
          <a:noFill/>
          <a:ln w="12700" cap="flat">
            <a:solidFill>
              <a:srgbClr val="9CC14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54570" rIns="54570" bIns="54864" numCol="1" spcCol="38100" rtlCol="0" anchor="ctr">
            <a:spAutoFit/>
          </a:bodyPr>
          <a:lstStyle/>
          <a:p>
            <a:r>
              <a:rPr lang="es-ES" sz="1000" dirty="0">
                <a:solidFill>
                  <a:schemeClr val="tx1"/>
                </a:solidFill>
              </a:rPr>
              <a:t>Opciones de salida:</a:t>
            </a:r>
          </a:p>
          <a:p>
            <a:pPr marL="228600" indent="-228600">
              <a:buAutoNum type="arabicPeriod"/>
            </a:pPr>
            <a:r>
              <a:rPr lang="es-ES" sz="1000" b="0" dirty="0">
                <a:solidFill>
                  <a:schemeClr val="tx1"/>
                </a:solidFill>
              </a:rPr>
              <a:t>supervivencia en tiempos específicos con times=tiempos de interés</a:t>
            </a:r>
          </a:p>
          <a:p>
            <a:pPr marL="228600" indent="-228600">
              <a:buAutoNum type="arabicPeriod"/>
            </a:pPr>
            <a:r>
              <a:rPr lang="es-ES" sz="1000" b="0" dirty="0">
                <a:solidFill>
                  <a:schemeClr val="tx1"/>
                </a:solidFill>
              </a:rPr>
              <a:t>cuantiles de supervivencia (p. ej., mediana) con probs=cuantil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866528C-91F9-4AE9-AFE9-92817360EB0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30052" y="4043939"/>
            <a:ext cx="3343275" cy="2047875"/>
          </a:xfrm>
          <a:prstGeom prst="rect">
            <a:avLst/>
          </a:prstGeom>
        </p:spPr>
      </p:pic>
      <p:sp>
        <p:nvSpPr>
          <p:cNvPr id="128" name="Rectangle 127">
            <a:extLst>
              <a:ext uri="{FF2B5EF4-FFF2-40B4-BE49-F238E27FC236}">
                <a16:creationId xmlns:a16="http://schemas.microsoft.com/office/drawing/2014/main" id="{F8077ECA-7042-43B2-89C1-A6FB0D88912B}"/>
              </a:ext>
            </a:extLst>
          </p:cNvPr>
          <p:cNvSpPr/>
          <p:nvPr/>
        </p:nvSpPr>
        <p:spPr>
          <a:xfrm>
            <a:off x="11225764" y="1147576"/>
            <a:ext cx="2278207" cy="271316"/>
          </a:xfrm>
          <a:prstGeom prst="rect">
            <a:avLst/>
          </a:prstGeom>
          <a:solidFill>
            <a:schemeClr val="accent1">
              <a:alpha val="22000"/>
            </a:schemeClr>
          </a:solidFill>
          <a:ln w="12700" cap="flat">
            <a:noFill/>
            <a:miter lim="400000"/>
          </a:ln>
          <a:effectLst>
            <a:outerShdw blurRad="50800" dist="50800" dir="5400000" algn="ctr" rotWithShape="0">
              <a:schemeClr val="bg1"/>
            </a:outerShdw>
          </a:effectLst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C90F4694-5976-4E63-AE5F-9A144D59D978}"/>
              </a:ext>
            </a:extLst>
          </p:cNvPr>
          <p:cNvSpPr/>
          <p:nvPr/>
        </p:nvSpPr>
        <p:spPr>
          <a:xfrm>
            <a:off x="7462346" y="1164318"/>
            <a:ext cx="3174846" cy="640080"/>
          </a:xfrm>
          <a:prstGeom prst="rect">
            <a:avLst/>
          </a:prstGeom>
          <a:solidFill>
            <a:schemeClr val="accent1">
              <a:alpha val="22000"/>
            </a:schemeClr>
          </a:solidFill>
          <a:ln w="12700" cap="flat">
            <a:noFill/>
            <a:miter lim="400000"/>
          </a:ln>
          <a:effectLst>
            <a:outerShdw blurRad="50800" dist="50800" dir="5400000" algn="ctr" rotWithShape="0">
              <a:schemeClr val="bg1"/>
            </a:outerShdw>
          </a:effectLst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DCD666E6-FDA9-49DA-9C56-CE0D3EC638E4}"/>
              </a:ext>
            </a:extLst>
          </p:cNvPr>
          <p:cNvCxnSpPr>
            <a:cxnSpLocks/>
          </p:cNvCxnSpPr>
          <p:nvPr/>
        </p:nvCxnSpPr>
        <p:spPr>
          <a:xfrm flipH="1" flipV="1">
            <a:off x="10645304" y="1346176"/>
            <a:ext cx="578359" cy="1"/>
          </a:xfrm>
          <a:prstGeom prst="straightConnector1">
            <a:avLst/>
          </a:prstGeom>
          <a:noFill/>
          <a:ln w="60325" cap="flat">
            <a:solidFill>
              <a:schemeClr val="accent1">
                <a:alpha val="22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8E123EA8-ED44-4908-BC27-3EC356CB3283}"/>
              </a:ext>
            </a:extLst>
          </p:cNvPr>
          <p:cNvSpPr/>
          <p:nvPr/>
        </p:nvSpPr>
        <p:spPr>
          <a:xfrm>
            <a:off x="11223662" y="1463158"/>
            <a:ext cx="2278207" cy="347353"/>
          </a:xfrm>
          <a:prstGeom prst="rect">
            <a:avLst/>
          </a:prstGeom>
          <a:solidFill>
            <a:schemeClr val="accent6">
              <a:alpha val="32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4103B1BE-71EB-4FCD-A4C0-BBCF0FF39576}"/>
              </a:ext>
            </a:extLst>
          </p:cNvPr>
          <p:cNvSpPr/>
          <p:nvPr/>
        </p:nvSpPr>
        <p:spPr>
          <a:xfrm>
            <a:off x="7494128" y="4468306"/>
            <a:ext cx="1727894" cy="491310"/>
          </a:xfrm>
          <a:prstGeom prst="rect">
            <a:avLst/>
          </a:prstGeom>
          <a:solidFill>
            <a:schemeClr val="accent6">
              <a:alpha val="32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4FCD9D4B-96FB-40B6-8F11-5A7C869BAF41}"/>
              </a:ext>
            </a:extLst>
          </p:cNvPr>
          <p:cNvCxnSpPr>
            <a:cxnSpLocks/>
          </p:cNvCxnSpPr>
          <p:nvPr/>
        </p:nvCxnSpPr>
        <p:spPr>
          <a:xfrm>
            <a:off x="10960663" y="1689369"/>
            <a:ext cx="274320" cy="3417"/>
          </a:xfrm>
          <a:prstGeom prst="straightConnector1">
            <a:avLst/>
          </a:prstGeom>
          <a:noFill/>
          <a:ln w="60325" cap="flat">
            <a:solidFill>
              <a:schemeClr val="accent6">
                <a:alpha val="32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02437761-40D7-40CA-8D8B-D8E76AB8D15C}"/>
              </a:ext>
            </a:extLst>
          </p:cNvPr>
          <p:cNvCxnSpPr>
            <a:cxnSpLocks/>
          </p:cNvCxnSpPr>
          <p:nvPr/>
        </p:nvCxnSpPr>
        <p:spPr>
          <a:xfrm flipV="1">
            <a:off x="10989746" y="1716043"/>
            <a:ext cx="0" cy="2157984"/>
          </a:xfrm>
          <a:prstGeom prst="straightConnector1">
            <a:avLst/>
          </a:prstGeom>
          <a:noFill/>
          <a:ln w="60325" cap="flat">
            <a:solidFill>
              <a:schemeClr val="accent6">
                <a:alpha val="32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3047A6BC-7373-424D-A19C-D1BEF19096E6}"/>
              </a:ext>
            </a:extLst>
          </p:cNvPr>
          <p:cNvCxnSpPr>
            <a:cxnSpLocks/>
          </p:cNvCxnSpPr>
          <p:nvPr/>
        </p:nvCxnSpPr>
        <p:spPr>
          <a:xfrm>
            <a:off x="9044887" y="3844529"/>
            <a:ext cx="1920240" cy="0"/>
          </a:xfrm>
          <a:prstGeom prst="straightConnector1">
            <a:avLst/>
          </a:prstGeom>
          <a:noFill/>
          <a:ln w="60325" cap="flat">
            <a:solidFill>
              <a:schemeClr val="accent6">
                <a:alpha val="32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1936FD4-3DA9-4159-BD66-4B5083412BD7}"/>
              </a:ext>
            </a:extLst>
          </p:cNvPr>
          <p:cNvCxnSpPr>
            <a:cxnSpLocks/>
          </p:cNvCxnSpPr>
          <p:nvPr/>
        </p:nvCxnSpPr>
        <p:spPr>
          <a:xfrm>
            <a:off x="9075280" y="3876641"/>
            <a:ext cx="0" cy="591665"/>
          </a:xfrm>
          <a:prstGeom prst="straightConnector1">
            <a:avLst/>
          </a:prstGeom>
          <a:noFill/>
          <a:ln w="60325" cap="flat">
            <a:solidFill>
              <a:schemeClr val="accent6">
                <a:alpha val="32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2" name="Rectangle 171">
            <a:extLst>
              <a:ext uri="{FF2B5EF4-FFF2-40B4-BE49-F238E27FC236}">
                <a16:creationId xmlns:a16="http://schemas.microsoft.com/office/drawing/2014/main" id="{C9E974F6-469E-4064-A796-D15EEBFD017D}"/>
              </a:ext>
            </a:extLst>
          </p:cNvPr>
          <p:cNvSpPr/>
          <p:nvPr/>
        </p:nvSpPr>
        <p:spPr>
          <a:xfrm>
            <a:off x="7468806" y="1827741"/>
            <a:ext cx="2468568" cy="320685"/>
          </a:xfrm>
          <a:prstGeom prst="rect">
            <a:avLst/>
          </a:prstGeom>
          <a:solidFill>
            <a:schemeClr val="accent4">
              <a:alpha val="2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8E678C58-DB12-4CDC-A48E-44E886F6B0F3}"/>
              </a:ext>
            </a:extLst>
          </p:cNvPr>
          <p:cNvSpPr txBox="1"/>
          <p:nvPr/>
        </p:nvSpPr>
        <p:spPr>
          <a:xfrm>
            <a:off x="11176328" y="3131770"/>
            <a:ext cx="1645920" cy="751704"/>
          </a:xfrm>
          <a:prstGeom prst="rect">
            <a:avLst/>
          </a:prstGeom>
          <a:noFill/>
          <a:ln w="12700" cap="flat">
            <a:solidFill>
              <a:srgbClr val="9CC14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54570" rIns="54570" bIns="54864" numCol="1" spcCol="38100" rtlCol="0" anchor="ctr">
            <a:spAutoFit/>
          </a:bodyPr>
          <a:lstStyle/>
          <a:p>
            <a:r>
              <a:rPr lang="es-ES" sz="1000" b="0" dirty="0">
                <a:solidFill>
                  <a:schemeClr val="tx1"/>
                </a:solidFill>
              </a:rPr>
              <a:t>Más información: </a:t>
            </a:r>
            <a:r>
              <a:rPr lang="en-US" sz="1000" b="0" dirty="0">
                <a:solidFill>
                  <a:schemeClr val="tx1"/>
                </a:solidFill>
                <a:hlinkClick r:id="rId11"/>
              </a:rPr>
              <a:t>http://www.danieldsjoberg.com/gtsummary/reference/tbl_survfit.html</a:t>
            </a:r>
            <a:endParaRPr lang="en-US" sz="1000" b="0" dirty="0">
              <a:solidFill>
                <a:schemeClr val="tx1"/>
              </a:solidFill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95AC5E76-8401-42B3-9754-CD2F023A2781}"/>
              </a:ext>
            </a:extLst>
          </p:cNvPr>
          <p:cNvSpPr/>
          <p:nvPr/>
        </p:nvSpPr>
        <p:spPr>
          <a:xfrm>
            <a:off x="11463761" y="2249449"/>
            <a:ext cx="2080098" cy="320685"/>
          </a:xfrm>
          <a:prstGeom prst="rect">
            <a:avLst/>
          </a:prstGeom>
          <a:solidFill>
            <a:schemeClr val="accent4">
              <a:alpha val="2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74FE61C0-FA04-4385-A2A6-F430D953EBAF}"/>
              </a:ext>
            </a:extLst>
          </p:cNvPr>
          <p:cNvCxnSpPr>
            <a:cxnSpLocks/>
          </p:cNvCxnSpPr>
          <p:nvPr/>
        </p:nvCxnSpPr>
        <p:spPr>
          <a:xfrm>
            <a:off x="9957795" y="1917860"/>
            <a:ext cx="2559657" cy="0"/>
          </a:xfrm>
          <a:prstGeom prst="straightConnector1">
            <a:avLst/>
          </a:prstGeom>
          <a:noFill/>
          <a:ln w="60325" cap="flat">
            <a:solidFill>
              <a:schemeClr val="accent4">
                <a:alpha val="25000"/>
              </a:schemeClr>
            </a:solidFill>
            <a:prstDash val="solid"/>
            <a:miter lim="400000"/>
            <a:headEnd type="triangle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7876A597-3191-4EF0-8CE0-29A43676F247}"/>
              </a:ext>
            </a:extLst>
          </p:cNvPr>
          <p:cNvCxnSpPr>
            <a:cxnSpLocks/>
          </p:cNvCxnSpPr>
          <p:nvPr/>
        </p:nvCxnSpPr>
        <p:spPr>
          <a:xfrm flipV="1">
            <a:off x="12549894" y="1888972"/>
            <a:ext cx="0" cy="356616"/>
          </a:xfrm>
          <a:prstGeom prst="straightConnector1">
            <a:avLst/>
          </a:prstGeom>
          <a:noFill/>
          <a:ln w="60325" cap="flat">
            <a:solidFill>
              <a:schemeClr val="accent4">
                <a:alpha val="25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52434B0-C96B-4791-944C-2D4D9019FA62}"/>
              </a:ext>
            </a:extLst>
          </p:cNvPr>
          <p:cNvSpPr/>
          <p:nvPr/>
        </p:nvSpPr>
        <p:spPr>
          <a:xfrm>
            <a:off x="8854736" y="2603126"/>
            <a:ext cx="1935729" cy="1050370"/>
          </a:xfrm>
          <a:prstGeom prst="rect">
            <a:avLst/>
          </a:prstGeom>
          <a:solidFill>
            <a:schemeClr val="accent4">
              <a:alpha val="2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A95C1430-C9B9-41EF-890E-E173F88A8C22}"/>
              </a:ext>
            </a:extLst>
          </p:cNvPr>
          <p:cNvCxnSpPr>
            <a:cxnSpLocks/>
          </p:cNvCxnSpPr>
          <p:nvPr/>
        </p:nvCxnSpPr>
        <p:spPr>
          <a:xfrm flipV="1">
            <a:off x="9255182" y="2149164"/>
            <a:ext cx="0" cy="417983"/>
          </a:xfrm>
          <a:prstGeom prst="straightConnector1">
            <a:avLst/>
          </a:prstGeom>
          <a:noFill/>
          <a:ln w="60325" cap="flat">
            <a:solidFill>
              <a:schemeClr val="accent4">
                <a:alpha val="25000"/>
              </a:schemeClr>
            </a:solidFill>
            <a:prstDash val="solid"/>
            <a:miter lim="400000"/>
            <a:headEnd type="triangle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2" name="Rectangle 211">
            <a:extLst>
              <a:ext uri="{FF2B5EF4-FFF2-40B4-BE49-F238E27FC236}">
                <a16:creationId xmlns:a16="http://schemas.microsoft.com/office/drawing/2014/main" id="{658023DE-EE3C-4EF0-9428-9B893428D69E}"/>
              </a:ext>
            </a:extLst>
          </p:cNvPr>
          <p:cNvSpPr/>
          <p:nvPr/>
        </p:nvSpPr>
        <p:spPr>
          <a:xfrm>
            <a:off x="7490994" y="4983049"/>
            <a:ext cx="2534626" cy="306703"/>
          </a:xfrm>
          <a:prstGeom prst="rect">
            <a:avLst/>
          </a:prstGeom>
          <a:solidFill>
            <a:srgbClr val="9CC173">
              <a:alpha val="50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AE14EC50-72FE-41EB-9F92-322289981B27}"/>
              </a:ext>
            </a:extLst>
          </p:cNvPr>
          <p:cNvSpPr/>
          <p:nvPr/>
        </p:nvSpPr>
        <p:spPr>
          <a:xfrm>
            <a:off x="11463760" y="2632226"/>
            <a:ext cx="2006085" cy="294093"/>
          </a:xfrm>
          <a:prstGeom prst="rect">
            <a:avLst/>
          </a:prstGeom>
          <a:solidFill>
            <a:srgbClr val="9CC173">
              <a:alpha val="50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CECE974B-3BA7-4B62-B94E-C6E570A78A39}"/>
              </a:ext>
            </a:extLst>
          </p:cNvPr>
          <p:cNvSpPr/>
          <p:nvPr/>
        </p:nvSpPr>
        <p:spPr>
          <a:xfrm>
            <a:off x="11913936" y="4157311"/>
            <a:ext cx="1026745" cy="1594442"/>
          </a:xfrm>
          <a:prstGeom prst="rect">
            <a:avLst/>
          </a:prstGeom>
          <a:solidFill>
            <a:srgbClr val="9CC173">
              <a:alpha val="50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65973423-5367-46BA-B7D4-CCD4FC9F29BA}"/>
              </a:ext>
            </a:extLst>
          </p:cNvPr>
          <p:cNvCxnSpPr>
            <a:cxnSpLocks/>
          </p:cNvCxnSpPr>
          <p:nvPr/>
        </p:nvCxnSpPr>
        <p:spPr>
          <a:xfrm flipH="1" flipV="1">
            <a:off x="11098709" y="2825221"/>
            <a:ext cx="0" cy="1170432"/>
          </a:xfrm>
          <a:prstGeom prst="straightConnector1">
            <a:avLst/>
          </a:prstGeom>
          <a:noFill/>
          <a:ln w="60325" cap="flat">
            <a:solidFill>
              <a:srgbClr val="9CC173">
                <a:alpha val="50000"/>
              </a:srgb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6CC61236-25FE-476D-9D17-5C7DF02E7828}"/>
              </a:ext>
            </a:extLst>
          </p:cNvPr>
          <p:cNvCxnSpPr>
            <a:cxnSpLocks/>
          </p:cNvCxnSpPr>
          <p:nvPr/>
        </p:nvCxnSpPr>
        <p:spPr>
          <a:xfrm flipV="1">
            <a:off x="9701989" y="3963494"/>
            <a:ext cx="1371600" cy="0"/>
          </a:xfrm>
          <a:prstGeom prst="straightConnector1">
            <a:avLst/>
          </a:prstGeom>
          <a:noFill/>
          <a:ln w="60325" cap="flat">
            <a:solidFill>
              <a:srgbClr val="9CC173">
                <a:alpha val="50000"/>
              </a:srgb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0409A9BC-C526-4091-BDA3-1DD1EAAAEF03}"/>
              </a:ext>
            </a:extLst>
          </p:cNvPr>
          <p:cNvCxnSpPr>
            <a:cxnSpLocks/>
          </p:cNvCxnSpPr>
          <p:nvPr/>
        </p:nvCxnSpPr>
        <p:spPr>
          <a:xfrm flipV="1">
            <a:off x="11067765" y="2795035"/>
            <a:ext cx="411480" cy="0"/>
          </a:xfrm>
          <a:prstGeom prst="straightConnector1">
            <a:avLst/>
          </a:prstGeom>
          <a:noFill/>
          <a:ln w="60325" cap="flat">
            <a:solidFill>
              <a:srgbClr val="9CC173">
                <a:alpha val="50000"/>
              </a:srgb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1AFC4072-B7B9-4649-8F99-DFBDA4C013DC}"/>
              </a:ext>
            </a:extLst>
          </p:cNvPr>
          <p:cNvCxnSpPr>
            <a:cxnSpLocks/>
          </p:cNvCxnSpPr>
          <p:nvPr/>
        </p:nvCxnSpPr>
        <p:spPr>
          <a:xfrm flipV="1">
            <a:off x="9679622" y="3938094"/>
            <a:ext cx="0" cy="1051560"/>
          </a:xfrm>
          <a:prstGeom prst="straightConnector1">
            <a:avLst/>
          </a:prstGeom>
          <a:noFill/>
          <a:ln w="60325" cap="flat">
            <a:solidFill>
              <a:srgbClr val="9CC173">
                <a:alpha val="50000"/>
              </a:srgbClr>
            </a:solidFill>
            <a:prstDash val="solid"/>
            <a:miter lim="400000"/>
            <a:headEnd type="triangle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8" name="Rectangle 237">
            <a:extLst>
              <a:ext uri="{FF2B5EF4-FFF2-40B4-BE49-F238E27FC236}">
                <a16:creationId xmlns:a16="http://schemas.microsoft.com/office/drawing/2014/main" id="{45FCEC99-229C-44A6-B002-5433DBD1C5F5}"/>
              </a:ext>
            </a:extLst>
          </p:cNvPr>
          <p:cNvSpPr/>
          <p:nvPr/>
        </p:nvSpPr>
        <p:spPr>
          <a:xfrm>
            <a:off x="7224922" y="6229528"/>
            <a:ext cx="6534419" cy="4206240"/>
          </a:xfrm>
          <a:prstGeom prst="rect">
            <a:avLst/>
          </a:prstGeom>
          <a:solidFill>
            <a:srgbClr val="ECF6DD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D3FC9A61-4DBB-4425-A0A9-35D46AA6CAFA}"/>
              </a:ext>
            </a:extLst>
          </p:cNvPr>
          <p:cNvCxnSpPr>
            <a:cxnSpLocks/>
          </p:cNvCxnSpPr>
          <p:nvPr/>
        </p:nvCxnSpPr>
        <p:spPr>
          <a:xfrm>
            <a:off x="10021395" y="5193581"/>
            <a:ext cx="1892541" cy="0"/>
          </a:xfrm>
          <a:prstGeom prst="straightConnector1">
            <a:avLst/>
          </a:prstGeom>
          <a:noFill/>
          <a:ln w="60325" cap="flat">
            <a:solidFill>
              <a:srgbClr val="9CC173">
                <a:alpha val="50000"/>
              </a:srgbClr>
            </a:solidFill>
            <a:prstDash val="solid"/>
            <a:miter lim="400000"/>
            <a:headEnd type="non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2" name="TextBox 231">
            <a:extLst>
              <a:ext uri="{FF2B5EF4-FFF2-40B4-BE49-F238E27FC236}">
                <a16:creationId xmlns:a16="http://schemas.microsoft.com/office/drawing/2014/main" id="{0CA5D77C-444E-408A-9579-91BB1D766CCF}"/>
              </a:ext>
            </a:extLst>
          </p:cNvPr>
          <p:cNvSpPr txBox="1"/>
          <p:nvPr/>
        </p:nvSpPr>
        <p:spPr>
          <a:xfrm>
            <a:off x="7311391" y="6465093"/>
            <a:ext cx="3313940" cy="1069443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9CC14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54570" rIns="18288" bIns="54570" numCol="1" spcCol="38100" rtlCol="0" anchor="ctr">
            <a:spAutoFit/>
          </a:bodyPr>
          <a:lstStyle/>
          <a:p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t1 = </a:t>
            </a:r>
            <a:r>
              <a:rPr lang="en-US" altLang="en-US" sz="900" b="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tbl_survfit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(</a:t>
            </a:r>
          </a:p>
          <a:p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 list(</a:t>
            </a:r>
            <a:r>
              <a:rPr lang="en-US" altLang="en-US" sz="900" b="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survfit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900" b="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Surv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900" b="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ttdeath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, death) ~ </a:t>
            </a:r>
            <a:r>
              <a:rPr lang="en-US" altLang="en-US" sz="900" b="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trt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 + grade, trial),</a:t>
            </a:r>
          </a:p>
          <a:p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  times = c(12, 24),</a:t>
            </a:r>
          </a:p>
          <a:p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900" b="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label_header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 = </a:t>
            </a:r>
            <a:r>
              <a:rPr lang="en-US" altLang="en-US" sz="900" b="0" dirty="0">
                <a:solidFill>
                  <a:schemeClr val="accent2"/>
                </a:solidFill>
                <a:latin typeface="Lucida Console" panose="020B0609040504020204" pitchFamily="49" charset="0"/>
              </a:rPr>
              <a:t>"**{time} Month**"</a:t>
            </a:r>
          </a:p>
          <a:p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)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D7725A90-608A-4712-9AD8-521CD43F6DA4}"/>
              </a:ext>
            </a:extLst>
          </p:cNvPr>
          <p:cNvSpPr txBox="1"/>
          <p:nvPr/>
        </p:nvSpPr>
        <p:spPr>
          <a:xfrm>
            <a:off x="10769469" y="6269032"/>
            <a:ext cx="2759177" cy="1259238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9CC14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54570" rIns="18288" bIns="54570" numCol="1" spcCol="38100" rtlCol="0" anchor="ctr">
            <a:spAutoFit/>
          </a:bodyPr>
          <a:lstStyle/>
          <a:p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t2</a:t>
            </a:r>
            <a:r>
              <a:rPr lang="en-US" altLang="en-US" sz="900" dirty="0">
                <a:solidFill>
                  <a:srgbClr val="333333"/>
                </a:solidFill>
                <a:latin typeface="Lucida Console" panose="020B0609040504020204" pitchFamily="49" charset="0"/>
              </a:rPr>
              <a:t> = </a:t>
            </a:r>
            <a:r>
              <a:rPr lang="en-US" altLang="en-US" sz="900" b="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tbl_survfit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(</a:t>
            </a:r>
          </a:p>
          <a:p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  trial,</a:t>
            </a:r>
          </a:p>
          <a:p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  y = </a:t>
            </a:r>
            <a:r>
              <a:rPr lang="en-US" altLang="en-US" sz="900" b="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Surv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900" b="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ttdeath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, death),</a:t>
            </a:r>
          </a:p>
          <a:p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  include = c(</a:t>
            </a:r>
            <a:r>
              <a:rPr lang="en-US" altLang="en-US" sz="900" b="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trt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, grade),</a:t>
            </a:r>
          </a:p>
          <a:p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  probs = 0.5,</a:t>
            </a:r>
          </a:p>
          <a:p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900" b="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label_header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 = </a:t>
            </a:r>
            <a:r>
              <a:rPr lang="en-US" altLang="en-US" sz="900" b="0" dirty="0">
                <a:solidFill>
                  <a:schemeClr val="accent2"/>
                </a:solidFill>
                <a:latin typeface="Lucida Console" panose="020B0609040504020204" pitchFamily="49" charset="0"/>
              </a:rPr>
              <a:t>"**Median Survival**"</a:t>
            </a:r>
          </a:p>
          <a:p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) %&gt;% </a:t>
            </a:r>
            <a:r>
              <a:rPr lang="en-US" altLang="en-US" sz="900" b="0" dirty="0" err="1">
                <a:solidFill>
                  <a:srgbClr val="333333"/>
                </a:solidFill>
                <a:latin typeface="Lucida Console" panose="020B0609040504020204" pitchFamily="49" charset="0"/>
              </a:rPr>
              <a:t>add_p</a:t>
            </a:r>
            <a:r>
              <a:rPr lang="en-US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()</a:t>
            </a: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F4A69BBD-4557-42B5-B97C-1373DC7573B9}"/>
              </a:ext>
            </a:extLst>
          </p:cNvPr>
          <p:cNvSpPr/>
          <p:nvPr/>
        </p:nvSpPr>
        <p:spPr>
          <a:xfrm>
            <a:off x="7223760" y="5893502"/>
            <a:ext cx="2801860" cy="503311"/>
          </a:xfrm>
          <a:prstGeom prst="roundRect">
            <a:avLst/>
          </a:prstGeom>
          <a:solidFill>
            <a:srgbClr val="9CC17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algn="ctr">
              <a:lnSpc>
                <a:spcPct val="80000"/>
              </a:lnSpc>
              <a:spcBef>
                <a:spcPts val="0"/>
              </a:spcBef>
            </a:pPr>
            <a:r>
              <a:rPr lang="en-US" sz="1600" dirty="0" err="1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/>
                </a:solidFill>
              </a:rPr>
              <a:t>tbl_merge</a:t>
            </a:r>
            <a:r>
              <a:rPr lang="en-US" sz="1600" dirty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/>
                </a:solidFill>
              </a:rPr>
              <a:t>(), </a:t>
            </a:r>
            <a:r>
              <a:rPr lang="en-US" sz="1600" dirty="0" err="1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/>
                </a:solidFill>
              </a:rPr>
              <a:t>tbl_stack</a:t>
            </a:r>
            <a:r>
              <a:rPr lang="en-US" sz="1600" dirty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/>
                </a:solidFill>
              </a:rPr>
              <a:t>()</a:t>
            </a:r>
          </a:p>
          <a:p>
            <a:pPr algn="ctr">
              <a:lnSpc>
                <a:spcPct val="80000"/>
              </a:lnSpc>
              <a:spcBef>
                <a:spcPts val="0"/>
              </a:spcBef>
            </a:pPr>
            <a:r>
              <a:rPr lang="es-ES" b="0" dirty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/>
                </a:solidFill>
              </a:rPr>
              <a:t>C</a:t>
            </a:r>
            <a:r>
              <a:rPr kumimoji="0" lang="es-ES" b="0" i="0" u="none" strike="noStrike" cap="none" spc="0" normalizeH="0" baseline="0" dirty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ombina tablas por filas o por columnas</a:t>
            </a:r>
            <a:endParaRPr lang="en-US" dirty="0">
              <a:ln>
                <a:solidFill>
                  <a:schemeClr val="bg1">
                    <a:lumMod val="95000"/>
                  </a:schemeClr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240" name="Picture 239">
            <a:extLst>
              <a:ext uri="{FF2B5EF4-FFF2-40B4-BE49-F238E27FC236}">
                <a16:creationId xmlns:a16="http://schemas.microsoft.com/office/drawing/2014/main" id="{D44FF205-FB04-4402-8A1F-3FEB903C616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74590" y="7930155"/>
            <a:ext cx="5267325" cy="2009775"/>
          </a:xfrm>
          <a:prstGeom prst="rect">
            <a:avLst/>
          </a:prstGeom>
        </p:spPr>
      </p:pic>
      <p:sp>
        <p:nvSpPr>
          <p:cNvPr id="243" name="TextBox 242">
            <a:extLst>
              <a:ext uri="{FF2B5EF4-FFF2-40B4-BE49-F238E27FC236}">
                <a16:creationId xmlns:a16="http://schemas.microsoft.com/office/drawing/2014/main" id="{6313534D-1BB3-46FC-A3A5-B5B0250D8984}"/>
              </a:ext>
            </a:extLst>
          </p:cNvPr>
          <p:cNvSpPr txBox="1"/>
          <p:nvPr/>
        </p:nvSpPr>
        <p:spPr>
          <a:xfrm>
            <a:off x="8696246" y="7597208"/>
            <a:ext cx="3313940" cy="274353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9CC14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54570" rIns="18288" bIns="54570" numCol="1" spcCol="38100" rtlCol="0" anchor="ctr">
            <a:spAutoFit/>
          </a:bodyPr>
          <a:lstStyle/>
          <a:p>
            <a:r>
              <a:rPr lang="de-DE" altLang="en-US" sz="900" dirty="0">
                <a:solidFill>
                  <a:srgbClr val="333333"/>
                </a:solidFill>
                <a:latin typeface="Lucida Console" panose="020B0609040504020204" pitchFamily="49" charset="0"/>
              </a:rPr>
              <a:t>tbl_merge</a:t>
            </a:r>
            <a:r>
              <a:rPr lang="de-DE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(list(t1,t2), tab_spanner = </a:t>
            </a:r>
            <a:r>
              <a:rPr lang="de-DE" altLang="en-US" sz="900" b="0" dirty="0">
                <a:solidFill>
                  <a:schemeClr val="accent1"/>
                </a:solidFill>
                <a:latin typeface="Lucida Console" panose="020B0609040504020204" pitchFamily="49" charset="0"/>
              </a:rPr>
              <a:t>FALSE</a:t>
            </a:r>
            <a:r>
              <a:rPr lang="de-DE" altLang="en-US" sz="900" b="0" dirty="0">
                <a:solidFill>
                  <a:srgbClr val="333333"/>
                </a:solidFill>
                <a:latin typeface="Lucida Console" panose="020B0609040504020204" pitchFamily="49" charset="0"/>
              </a:rPr>
              <a:t>)</a:t>
            </a:r>
            <a:endParaRPr lang="en-US" altLang="en-US" sz="900" b="0" dirty="0">
              <a:solidFill>
                <a:srgbClr val="333333"/>
              </a:solidFill>
              <a:latin typeface="Lucida Console" panose="020B0609040504020204" pitchFamily="49" charset="0"/>
            </a:endParaRP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B58B2381-6633-4366-81C1-9681FBE11270}"/>
              </a:ext>
            </a:extLst>
          </p:cNvPr>
          <p:cNvSpPr txBox="1"/>
          <p:nvPr/>
        </p:nvSpPr>
        <p:spPr>
          <a:xfrm>
            <a:off x="7776051" y="9993817"/>
            <a:ext cx="4882425" cy="384721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0" rIns="54570" bIns="4572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sz="1100" b="0" dirty="0" err="1">
                <a:solidFill>
                  <a:srgbClr val="2C3E50"/>
                </a:solidFill>
                <a:latin typeface="Source Sans Pro "/>
              </a:rPr>
              <a:t>tbl_merge</a:t>
            </a:r>
            <a:r>
              <a:rPr lang="es-ES" sz="1100" b="0" dirty="0">
                <a:solidFill>
                  <a:srgbClr val="2C3E50"/>
                </a:solidFill>
                <a:latin typeface="Source Sans Pro "/>
              </a:rPr>
              <a:t> combina columnas y </a:t>
            </a:r>
            <a:r>
              <a:rPr lang="en-US" sz="1100" b="0" dirty="0" err="1">
                <a:solidFill>
                  <a:srgbClr val="2C3E50"/>
                </a:solidFill>
                <a:latin typeface="Source Sans Pro "/>
              </a:rPr>
              <a:t>tbl_stack</a:t>
            </a:r>
            <a:r>
              <a:rPr lang="es-ES" sz="1100" b="0" dirty="0">
                <a:solidFill>
                  <a:srgbClr val="2C3E50"/>
                </a:solidFill>
                <a:latin typeface="Source Sans Pro "/>
              </a:rPr>
              <a:t>() filas. Más información en</a:t>
            </a:r>
          </a:p>
          <a:p>
            <a:pPr>
              <a:spcBef>
                <a:spcPts val="0"/>
              </a:spcBef>
            </a:pPr>
            <a:r>
              <a:rPr lang="en-US" sz="1100" b="0" dirty="0">
                <a:solidFill>
                  <a:schemeClr val="accent1"/>
                </a:solidFill>
                <a:latin typeface="Source Sans Pro "/>
                <a:hlinkClick r:id="rId13"/>
              </a:rPr>
              <a:t>https://www.danieldsjoberg.com/gtsummary/reference/</a:t>
            </a:r>
            <a:endParaRPr lang="en-US" sz="1100" b="0" dirty="0">
              <a:solidFill>
                <a:schemeClr val="accent1"/>
              </a:solidFill>
              <a:latin typeface="Source Sans Pro 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E1747E-A7CC-4CAE-AAC3-56CA97781EFC}"/>
              </a:ext>
            </a:extLst>
          </p:cNvPr>
          <p:cNvSpPr/>
          <p:nvPr/>
        </p:nvSpPr>
        <p:spPr>
          <a:xfrm>
            <a:off x="6536872" y="5340012"/>
            <a:ext cx="55883" cy="107390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5820A4A3-075C-47C1-A0A3-33DF6A67E8F1}"/>
              </a:ext>
            </a:extLst>
          </p:cNvPr>
          <p:cNvSpPr/>
          <p:nvPr/>
        </p:nvSpPr>
        <p:spPr>
          <a:xfrm>
            <a:off x="6348384" y="5324539"/>
            <a:ext cx="219911" cy="144483"/>
          </a:xfrm>
          <a:prstGeom prst="rect">
            <a:avLst/>
          </a:prstGeom>
          <a:solidFill>
            <a:schemeClr val="accent1">
              <a:alpha val="22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" name="RStudio® is a trademark of RStudio, Inc.  •  CC BY SA Your Name •  your@email.com  •  844-448-1212 • your.website.com •  Learn more at webpage or vignette   •  package version  0.5.0 •  Updated: 2017-01">
            <a:extLst>
              <a:ext uri="{FF2B5EF4-FFF2-40B4-BE49-F238E27FC236}">
                <a16:creationId xmlns:a16="http://schemas.microsoft.com/office/drawing/2014/main" id="{721D4749-2541-551E-747F-7DBE6AB02A36}"/>
              </a:ext>
            </a:extLst>
          </p:cNvPr>
          <p:cNvSpPr txBox="1"/>
          <p:nvPr/>
        </p:nvSpPr>
        <p:spPr>
          <a:xfrm>
            <a:off x="2471670" y="10504177"/>
            <a:ext cx="11322666" cy="234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defRPr sz="900" b="0">
                <a:solidFill>
                  <a:srgbClr val="000000"/>
                </a:solidFill>
              </a:defRPr>
            </a:pPr>
            <a:r>
              <a:rPr lang="es-PE" noProof="0" dirty="0">
                <a:hlinkClick r:id="rId14"/>
              </a:rPr>
              <a:t>CC BY SA</a:t>
            </a:r>
            <a:r>
              <a:rPr lang="es-PE" noProof="0" dirty="0"/>
              <a:t> Esther Drill •  </a:t>
            </a:r>
            <a:r>
              <a:rPr lang="es-PE" noProof="0" dirty="0">
                <a:hlinkClick r:id="rId15"/>
              </a:rPr>
              <a:t>drille@mskcc.org  </a:t>
            </a:r>
            <a:r>
              <a:rPr lang="es-PE" noProof="0" dirty="0"/>
              <a:t>•  Más información en </a:t>
            </a:r>
            <a:r>
              <a:rPr lang="es-PE" noProof="0" dirty="0" err="1">
                <a:hlinkClick r:id="rId16"/>
              </a:rPr>
              <a:t>gtsummary</a:t>
            </a:r>
            <a:r>
              <a:rPr lang="es-PE" noProof="0" dirty="0"/>
              <a:t> •  versión del paquete 1.5.2</a:t>
            </a:r>
            <a:r>
              <a:rPr lang="es-PE" b="1" noProof="0" dirty="0"/>
              <a:t> </a:t>
            </a:r>
            <a:r>
              <a:rPr lang="es-PE" noProof="0" dirty="0"/>
              <a:t> •  Actualizado: 2026-10  •  Traducido por Anthony Romero-Cerdán  •  </a:t>
            </a:r>
            <a:r>
              <a:rPr lang="es-PE" noProof="0" dirty="0" err="1"/>
              <a:t>anthonyromero.netlify.app</a:t>
            </a:r>
            <a:endParaRPr lang="es-PE" noProof="0" dirty="0"/>
          </a:p>
        </p:txBody>
      </p:sp>
    </p:spTree>
    <p:extLst>
      <p:ext uri="{BB962C8B-B14F-4D97-AF65-F5344CB8AC3E}">
        <p14:creationId xmlns:p14="http://schemas.microsoft.com/office/powerpoint/2010/main" val="355668212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4C4C4C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7DCA7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ource Sans Pro Light"/>
        <a:ea typeface="Source Sans Pro Light"/>
        <a:cs typeface="Source Sans Pro Light"/>
      </a:majorFont>
      <a:minorFont>
        <a:latin typeface="Source Sans Pro Light"/>
        <a:ea typeface="Source Sans Pro Light"/>
        <a:cs typeface="Source Sans Pr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kumimoji="0" sz="1200" b="1" i="0" u="none" strike="noStrike" cap="none" spc="0" normalizeH="0" baseline="0">
            <a:ln>
              <a:noFill/>
            </a:ln>
            <a:solidFill>
              <a:srgbClr val="4C4C4C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7DCA7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ource Sans Pro Light"/>
        <a:ea typeface="Source Sans Pro Light"/>
        <a:cs typeface="Source Sans Pro Light"/>
      </a:majorFont>
      <a:minorFont>
        <a:latin typeface="Source Sans Pro Light"/>
        <a:ea typeface="Source Sans Pro Light"/>
        <a:cs typeface="Source Sans Pr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kumimoji="0" sz="1200" b="1" i="0" u="none" strike="noStrike" cap="none" spc="0" normalizeH="0" baseline="0">
            <a:ln>
              <a:noFill/>
            </a:ln>
            <a:solidFill>
              <a:srgbClr val="4C4C4C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5126</TotalTime>
  <Words>1667</Words>
  <Application>Microsoft Office PowerPoint</Application>
  <PresentationFormat>Personalizado</PresentationFormat>
  <Paragraphs>194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0" baseType="lpstr">
      <vt:lpstr>Avenir</vt:lpstr>
      <vt:lpstr>Helvetica Light</vt:lpstr>
      <vt:lpstr>Lucida Console</vt:lpstr>
      <vt:lpstr>Source Sans Pro</vt:lpstr>
      <vt:lpstr>Source Sans Pro </vt:lpstr>
      <vt:lpstr>Source Sans Pro Light</vt:lpstr>
      <vt:lpstr>Source Sans Pro Semibold</vt:lpstr>
      <vt:lpstr>White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 Column Layout : : CHEAT SHEET</dc:title>
  <dc:creator>Drill, Esther N./Epidemiology-Biostatistics</dc:creator>
  <cp:lastModifiedBy>Anthony Romero</cp:lastModifiedBy>
  <cp:revision>183</cp:revision>
  <dcterms:modified xsi:type="dcterms:W3CDTF">2026-10-12T15:27:43Z</dcterms:modified>
</cp:coreProperties>
</file>