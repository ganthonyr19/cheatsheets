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3972032" cy="10799064"/>
  <p:notesSz cx="10799064" cy="1397203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hyperlink" Target="https://creativecommons.org/licenses/by-sa/4.0/" TargetMode="External"/><Relationship Id="rId3" Type="http://schemas.openxmlformats.org/officeDocument/2006/relationships/hyperlink" Target="https://anthonyromero.netlify.app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hyperlink" Target="https://creativecommons.org/licenses/by-sa/4.0/" TargetMode="External"/><Relationship Id="rId3" Type="http://schemas.openxmlformats.org/officeDocument/2006/relationships/hyperlink" Target="https://anthonyromero.netlify.app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10680192" y="0"/>
            <a:ext cx="3291840" cy="1965960"/>
          </a:xfrm>
          <a:prstGeom prst="rtTriangle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s-ES" sz="4000" dirty="0">
                <a:solidFill>
                  <a:srgbClr val="000F46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Epidemiología con epiR</a:t>
            </a:r>
            <a:pPr indent="0" marL="0">
              <a:buNone/>
            </a:pPr>
            <a:r>
              <a:rPr lang="en-US" sz="4000" dirty="0">
                <a:solidFill>
                  <a:srgbClr val="5F6675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  ::  </a:t>
            </a:r>
            <a:pPr indent="0" marL="0">
              <a:buNone/>
            </a:pPr>
            <a:r>
              <a:rPr lang="en-US" sz="3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29768" y="104241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3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epiR convierte conteos en las medidas centrales de la epidemiología: frecuencia, asociación, pruebas diagnósticas y tamaño de muestra.</a:t>
            </a:r>
            <a:endParaRPr lang="en-US" sz="1300" dirty="0"/>
          </a:p>
        </p:txBody>
      </p:sp>
      <p:pic>
        <p:nvPicPr>
          <p:cNvPr id="5" name="Image 0" descr="/home/claude/epir/sheet/epiR_h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71832" y="201168"/>
            <a:ext cx="118872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645920"/>
            <a:ext cx="402336" cy="402336"/>
          </a:xfrm>
          <a:prstGeom prst="ellipse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23544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Arma la tabla 2×2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1389888" y="2194560"/>
            <a:ext cx="1069848" cy="384048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1389888" y="2194560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1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Desenlace +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2487168" y="2194560"/>
            <a:ext cx="1069848" cy="384048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2487168" y="2194560"/>
            <a:ext cx="1069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1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Desenlace −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11480" y="2606040"/>
            <a:ext cx="950976" cy="566928"/>
          </a:xfrm>
          <a:prstGeom prst="rect">
            <a:avLst/>
          </a:prstGeom>
          <a:solidFill>
            <a:srgbClr val="26346E"/>
          </a:solidFill>
          <a:ln w="12700">
            <a:solidFill>
              <a:srgbClr val="26346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29768" y="260604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1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Exposición +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1389888" y="2606040"/>
            <a:ext cx="1069848" cy="566928"/>
          </a:xfrm>
          <a:prstGeom prst="rect">
            <a:avLst/>
          </a:prstGeom>
          <a:solidFill>
            <a:srgbClr val="FDF3DF"/>
          </a:solidFill>
          <a:ln w="15875">
            <a:solidFill>
              <a:srgbClr val="D98E04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1389888" y="2587752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</a:t>
            </a:r>
            <a:endParaRPr lang="en-US" sz="1100" dirty="0"/>
          </a:p>
        </p:txBody>
      </p:sp>
      <p:sp>
        <p:nvSpPr>
          <p:cNvPr id="17" name="Shape 14"/>
          <p:cNvSpPr/>
          <p:nvPr/>
        </p:nvSpPr>
        <p:spPr>
          <a:xfrm>
            <a:off x="2487168" y="2606040"/>
            <a:ext cx="1069848" cy="566928"/>
          </a:xfrm>
          <a:prstGeom prst="rect">
            <a:avLst/>
          </a:prstGeom>
          <a:solidFill>
            <a:srgbClr val="E9EDF7"/>
          </a:solidFill>
          <a:ln w="6350">
            <a:solidFill>
              <a:srgbClr val="E9EDF7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2487168" y="2587752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3200400"/>
            <a:ext cx="950976" cy="566928"/>
          </a:xfrm>
          <a:prstGeom prst="rect">
            <a:avLst/>
          </a:prstGeom>
          <a:solidFill>
            <a:srgbClr val="26346E"/>
          </a:solidFill>
          <a:ln w="12700">
            <a:solidFill>
              <a:srgbClr val="26346E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29768" y="3200400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1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Exposición −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1389888" y="3200400"/>
            <a:ext cx="1069848" cy="566928"/>
          </a:xfrm>
          <a:prstGeom prst="rect">
            <a:avLst/>
          </a:prstGeom>
          <a:solidFill>
            <a:srgbClr val="E9EDF7"/>
          </a:solidFill>
          <a:ln w="6350">
            <a:solidFill>
              <a:srgbClr val="E9EDF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389888" y="3182112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</a:t>
            </a:r>
            <a:endParaRPr lang="en-US" sz="1100" dirty="0"/>
          </a:p>
        </p:txBody>
      </p:sp>
      <p:sp>
        <p:nvSpPr>
          <p:cNvPr id="23" name="Shape 20"/>
          <p:cNvSpPr/>
          <p:nvPr/>
        </p:nvSpPr>
        <p:spPr>
          <a:xfrm>
            <a:off x="2487168" y="3200400"/>
            <a:ext cx="1069848" cy="566928"/>
          </a:xfrm>
          <a:prstGeom prst="rect">
            <a:avLst/>
          </a:prstGeom>
          <a:solidFill>
            <a:srgbClr val="E9EDF7"/>
          </a:solidFill>
          <a:ln w="6350">
            <a:solidFill>
              <a:srgbClr val="E9EDF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487168" y="3182112"/>
            <a:ext cx="106984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411480" y="3858768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1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Exposición en filas · desenlace en columnas · </a:t>
            </a:r>
            <a:pPr indent="0" marL="0">
              <a:buNone/>
            </a:pPr>
            <a:r>
              <a:rPr lang="es-ES" sz="11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positivos primero.</a:t>
            </a:r>
            <a:pPr indent="0" marL="0">
              <a:buNone/>
            </a:pPr>
            <a:r>
              <a:rPr lang="es-ES" sz="11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Celda a = casos expuestos.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411480" y="436168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TRES FORMAS DE DARLE DATOS A epi.2by2()</a:t>
            </a:r>
            <a:endParaRPr lang="en-US" sz="1000" dirty="0"/>
          </a:p>
        </p:txBody>
      </p:sp>
      <p:sp>
        <p:nvSpPr>
          <p:cNvPr id="27" name="Text 24"/>
          <p:cNvSpPr txBox="1"/>
          <p:nvPr/>
        </p:nvSpPr>
        <p:spPr>
          <a:xfrm>
            <a:off x="411480" y="461772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 </a:t>
            </a:r>
            <a:pPr indent="0" marL="0">
              <a:buNone/>
            </a:pPr>
            <a:r>
              <a:rPr lang="es-ES" sz="11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Conteos de celdas, en orden a, b, c, d</a:t>
            </a:r>
            <a:endParaRPr lang="en-US" sz="1100" dirty="0"/>
          </a:p>
        </p:txBody>
      </p:sp>
      <p:sp>
        <p:nvSpPr>
          <p:cNvPr id="28" name="Shape 25"/>
          <p:cNvSpPr/>
          <p:nvPr/>
        </p:nvSpPr>
        <p:spPr>
          <a:xfrm>
            <a:off x="411480" y="4864608"/>
            <a:ext cx="3172968" cy="297180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484632" y="4928616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(30, 44, 29, 86)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411480" y="527151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  </a:t>
            </a:r>
            <a:pPr indent="0" marL="0">
              <a:buNone/>
            </a:pPr>
            <a:r>
              <a:rPr lang="es-ES" sz="11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 table() de dos factores (una fila por sujeto)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411480" y="5518404"/>
            <a:ext cx="3172968" cy="749808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84632" y="5582412"/>
            <a:ext cx="304495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bw &lt;- MASS::birthwt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bw$smk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(bw$smoke, levels =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(1,0))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bw$lbw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factor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(bw$low, levels =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(1,0))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(bw$smk, bw$lbw)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411480" y="637794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  </a:t>
            </a:r>
            <a:pPr indent="0" marL="0">
              <a:buNone/>
            </a:pPr>
            <a:r>
              <a:rPr lang="es-ES" sz="11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tabla 3-D: una 2×2 por estrato (ver 4)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11480" y="6624828"/>
            <a:ext cx="3172968" cy="297180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4632" y="6688836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(bw$smk, bw$lbw, bw$race)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411480" y="7123176"/>
            <a:ext cx="3172968" cy="1024128"/>
          </a:xfrm>
          <a:prstGeom prst="roundRect">
            <a:avLst>
              <a:gd name="adj" fmla="val 5357"/>
            </a:avLst>
          </a:prstGeom>
          <a:solidFill>
            <a:srgbClr val="FDF3DF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521208" y="7251192"/>
            <a:ext cx="310896" cy="310896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521208" y="72511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!</a:t>
            </a:r>
            <a:endParaRPr lang="en-US" sz="1500" dirty="0"/>
          </a:p>
        </p:txBody>
      </p:sp>
      <p:sp>
        <p:nvSpPr>
          <p:cNvPr id="39" name="Text 36"/>
          <p:cNvSpPr txBox="1"/>
          <p:nvPr/>
        </p:nvSpPr>
        <p:spPr>
          <a:xfrm>
            <a:off x="923544" y="7214616"/>
            <a:ext cx="2569464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Error más común. </a:t>
            </a:r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table() pone el 0 antes que el 1: los no expuestos y no casos quedan primero y las razones se invierten. Usa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levels = c(1, 0)</a:t>
            </a:r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o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tab[2:1, 2:1]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411480" y="8330184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¿Desenlace en filas? </a:t>
            </a:r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Agrega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outcome = "as.rows"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</a:t>
            </a:r>
            <a:pPr indent="0" marL="0">
              <a:buNone/>
            </a:pPr>
            <a:r>
              <a:rPr lang="es-E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Etiquetas: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elab</a:t>
            </a:r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(exposición) y </a:t>
            </a:r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olab</a:t>
            </a:r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(desenlace) nombran filas y columnas en la salida.</a:t>
            </a:r>
            <a:endParaRPr lang="en-US" sz="1050" dirty="0"/>
          </a:p>
        </p:txBody>
      </p:sp>
      <p:sp>
        <p:nvSpPr>
          <p:cNvPr id="41" name="Text 38"/>
          <p:cNvSpPr txBox="1"/>
          <p:nvPr/>
        </p:nvSpPr>
        <p:spPr>
          <a:xfrm>
            <a:off x="411480" y="898855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CONSEJO: REVISA ANTES DE CORRER</a:t>
            </a:r>
            <a:endParaRPr lang="en-US" sz="1000" dirty="0"/>
          </a:p>
        </p:txBody>
      </p:sp>
      <p:sp>
        <p:nvSpPr>
          <p:cNvPr id="42" name="Shape 39"/>
          <p:cNvSpPr/>
          <p:nvPr/>
        </p:nvSpPr>
        <p:spPr>
          <a:xfrm>
            <a:off x="411480" y="9235440"/>
            <a:ext cx="3172968" cy="900684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84632" y="9299448"/>
            <a:ext cx="3044952" cy="8092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addmargins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(tab)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 1   0 Sum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1   30  44  74   &lt;- a = casos expuestos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0   29  86 115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Sum 59 130 189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11480" y="10190988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fila y la columna 1 (los positivos) deben ir primero.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3767328" y="1645920"/>
            <a:ext cx="402336" cy="402336"/>
          </a:xfrm>
          <a:prstGeom prst="ellipse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767328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1600" dirty="0"/>
          </a:p>
        </p:txBody>
      </p:sp>
      <p:sp>
        <p:nvSpPr>
          <p:cNvPr id="47" name="Text 44"/>
          <p:cNvSpPr txBox="1"/>
          <p:nvPr/>
        </p:nvSpPr>
        <p:spPr>
          <a:xfrm>
            <a:off x="4279392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Elige el diseño</a:t>
            </a:r>
            <a:endParaRPr lang="en-US" sz="2000" dirty="0"/>
          </a:p>
        </p:txBody>
      </p:sp>
      <p:sp>
        <p:nvSpPr>
          <p:cNvPr id="48" name="Shape 45"/>
          <p:cNvSpPr/>
          <p:nvPr/>
        </p:nvSpPr>
        <p:spPr>
          <a:xfrm>
            <a:off x="3767328" y="2194560"/>
            <a:ext cx="3172968" cy="297180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3840480" y="2258568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epi.2by2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(tab, 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"cohort.count"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3767328" y="2619756"/>
            <a:ext cx="1325880" cy="896112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858768" y="2711196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Cohorte</a:t>
            </a:r>
            <a:endParaRPr lang="en-US" sz="1100" dirty="0"/>
          </a:p>
          <a:p>
            <a:pPr indent="0" marL="0">
              <a:buNone/>
            </a:pPr>
            <a:r>
              <a:rPr lang="es-ES" sz="1050" dirty="0">
                <a:solidFill>
                  <a:srgbClr val="C9D2E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conteos</a:t>
            </a: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3858768" y="3223260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2C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"cohort.count"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5093208" y="2619756"/>
            <a:ext cx="1847088" cy="896112"/>
          </a:xfrm>
          <a:prstGeom prst="rect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5184648" y="2692908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Razón de riesgos · odds ratio · riesgo atribuible · fracción atribuible (expuestos, población) · NNT · E-value</a:t>
            </a:r>
            <a:endParaRPr lang="en-US" sz="1050" dirty="0"/>
          </a:p>
        </p:txBody>
      </p:sp>
      <p:sp>
        <p:nvSpPr>
          <p:cNvPr id="55" name="Shape 52"/>
          <p:cNvSpPr/>
          <p:nvPr/>
        </p:nvSpPr>
        <p:spPr>
          <a:xfrm>
            <a:off x="3767328" y="3570732"/>
            <a:ext cx="1325880" cy="896112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56" name="Text 53"/>
          <p:cNvSpPr txBox="1"/>
          <p:nvPr/>
        </p:nvSpPr>
        <p:spPr>
          <a:xfrm>
            <a:off x="3858768" y="366217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Cohorte</a:t>
            </a:r>
            <a:endParaRPr lang="en-US" sz="1100" dirty="0"/>
          </a:p>
          <a:p>
            <a:pPr indent="0" marL="0">
              <a:buNone/>
            </a:pPr>
            <a:r>
              <a:rPr lang="es-ES" sz="1050" dirty="0">
                <a:solidFill>
                  <a:srgbClr val="C9D2E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persona-tiempo</a:t>
            </a:r>
            <a:endParaRPr lang="en-US" sz="1100" dirty="0"/>
          </a:p>
        </p:txBody>
      </p:sp>
      <p:sp>
        <p:nvSpPr>
          <p:cNvPr id="57" name="Text 54"/>
          <p:cNvSpPr txBox="1"/>
          <p:nvPr/>
        </p:nvSpPr>
        <p:spPr>
          <a:xfrm>
            <a:off x="3858768" y="4174236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2C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"cohort.time"</a:t>
            </a:r>
            <a:endParaRPr lang="en-US" sz="800" dirty="0"/>
          </a:p>
        </p:txBody>
      </p:sp>
      <p:sp>
        <p:nvSpPr>
          <p:cNvPr id="58" name="Shape 55"/>
          <p:cNvSpPr/>
          <p:nvPr/>
        </p:nvSpPr>
        <p:spPr>
          <a:xfrm>
            <a:off x="5093208" y="3570732"/>
            <a:ext cx="1847088" cy="896112"/>
          </a:xfrm>
          <a:prstGeom prst="rect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184648" y="3643884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Razón de tasas · tasa y fracción atribuibles. Ingresa c(a, tiempo exp., c, tiempo no exp.)</a:t>
            </a:r>
            <a:endParaRPr lang="en-US" sz="1050" dirty="0"/>
          </a:p>
        </p:txBody>
      </p:sp>
      <p:sp>
        <p:nvSpPr>
          <p:cNvPr id="60" name="Shape 57"/>
          <p:cNvSpPr/>
          <p:nvPr/>
        </p:nvSpPr>
        <p:spPr>
          <a:xfrm>
            <a:off x="3767328" y="4521708"/>
            <a:ext cx="1325880" cy="896112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3858768" y="4613148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Casos y controles</a:t>
            </a:r>
            <a:endParaRPr lang="en-US" sz="1100" dirty="0"/>
          </a:p>
        </p:txBody>
      </p:sp>
      <p:sp>
        <p:nvSpPr>
          <p:cNvPr id="62" name="Text 59"/>
          <p:cNvSpPr txBox="1"/>
          <p:nvPr/>
        </p:nvSpPr>
        <p:spPr>
          <a:xfrm>
            <a:off x="3858768" y="5125212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2C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"case.control"</a:t>
            </a:r>
            <a:endParaRPr lang="en-US" sz="800" dirty="0"/>
          </a:p>
        </p:txBody>
      </p:sp>
      <p:sp>
        <p:nvSpPr>
          <p:cNvPr id="63" name="Shape 60"/>
          <p:cNvSpPr/>
          <p:nvPr/>
        </p:nvSpPr>
        <p:spPr>
          <a:xfrm>
            <a:off x="5093208" y="4521708"/>
            <a:ext cx="1847088" cy="896112"/>
          </a:xfrm>
          <a:prstGeom prst="rect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5184648" y="4594860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Odds ratio de exposición · fracción atribuible estimada · E-value</a:t>
            </a:r>
            <a:endParaRPr lang="en-US" sz="1050" dirty="0"/>
          </a:p>
        </p:txBody>
      </p:sp>
      <p:sp>
        <p:nvSpPr>
          <p:cNvPr id="65" name="Shape 62"/>
          <p:cNvSpPr/>
          <p:nvPr/>
        </p:nvSpPr>
        <p:spPr>
          <a:xfrm>
            <a:off x="3767328" y="5472684"/>
            <a:ext cx="1325880" cy="896112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3858768" y="5564124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2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Transversal</a:t>
            </a:r>
            <a:endParaRPr lang="en-US" sz="1100" dirty="0"/>
          </a:p>
        </p:txBody>
      </p:sp>
      <p:sp>
        <p:nvSpPr>
          <p:cNvPr id="67" name="Text 64"/>
          <p:cNvSpPr txBox="1"/>
          <p:nvPr/>
        </p:nvSpPr>
        <p:spPr>
          <a:xfrm>
            <a:off x="3858768" y="6076188"/>
            <a:ext cx="12161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F2C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"cross.sectional"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5093208" y="5472684"/>
            <a:ext cx="1847088" cy="896112"/>
          </a:xfrm>
          <a:prstGeom prst="rect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5184648" y="5545836"/>
            <a:ext cx="170078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Razón de prevalencias · odds ratio de prevalencia · prevalencia y fracción atribuibles · E-value</a:t>
            </a:r>
            <a:endParaRPr lang="en-US" sz="1050" dirty="0"/>
          </a:p>
        </p:txBody>
      </p:sp>
      <p:sp>
        <p:nvSpPr>
          <p:cNvPr id="70" name="Text 67"/>
          <p:cNvSpPr txBox="1"/>
          <p:nvPr/>
        </p:nvSpPr>
        <p:spPr>
          <a:xfrm>
            <a:off x="3767328" y="653338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QUÉ SIGNIFICA CADA MEDIDA</a:t>
            </a:r>
            <a:endParaRPr lang="en-US" sz="1000" dirty="0"/>
          </a:p>
        </p:txBody>
      </p:sp>
      <p:sp>
        <p:nvSpPr>
          <p:cNvPr id="71" name="Text 68"/>
          <p:cNvSpPr txBox="1"/>
          <p:nvPr/>
        </p:nvSpPr>
        <p:spPr>
          <a:xfrm>
            <a:off x="3767328" y="6734556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birthwt: tabaquismo → bajo peso al nacer (BPN)</a:t>
            </a:r>
            <a:endParaRPr lang="en-US" sz="950" dirty="0"/>
          </a:p>
        </p:txBody>
      </p:sp>
      <p:sp>
        <p:nvSpPr>
          <p:cNvPr id="72" name="Shape 69"/>
          <p:cNvSpPr/>
          <p:nvPr/>
        </p:nvSpPr>
        <p:spPr>
          <a:xfrm>
            <a:off x="3785616" y="8517636"/>
            <a:ext cx="1600200" cy="0"/>
          </a:xfrm>
          <a:prstGeom prst="line">
            <a:avLst/>
          </a:prstGeom>
          <a:noFill/>
          <a:ln w="12700">
            <a:solidFill>
              <a:srgbClr val="5F6675"/>
            </a:solidFill>
            <a:prstDash val="solid"/>
          </a:ln>
        </p:spPr>
      </p:sp>
      <p:sp>
        <p:nvSpPr>
          <p:cNvPr id="73" name="Shape 70"/>
          <p:cNvSpPr/>
          <p:nvPr/>
        </p:nvSpPr>
        <p:spPr>
          <a:xfrm>
            <a:off x="3877056" y="7281977"/>
            <a:ext cx="566928" cy="1235659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74" name="Text 71"/>
          <p:cNvSpPr txBox="1"/>
          <p:nvPr/>
        </p:nvSpPr>
        <p:spPr>
          <a:xfrm>
            <a:off x="3694176" y="7035089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R₁ = </a:t>
            </a:r>
            <a:pPr algn="ctr"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40.5%</a:t>
            </a:r>
            <a:endParaRPr lang="en-US" sz="1050" dirty="0"/>
          </a:p>
        </p:txBody>
      </p:sp>
      <p:sp>
        <p:nvSpPr>
          <p:cNvPr id="75" name="Text 72"/>
          <p:cNvSpPr txBox="1"/>
          <p:nvPr/>
        </p:nvSpPr>
        <p:spPr>
          <a:xfrm>
            <a:off x="3648456" y="856335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Fumadoras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30 / 74</a:t>
            </a:r>
            <a:endParaRPr lang="en-US" sz="950" dirty="0"/>
          </a:p>
        </p:txBody>
      </p:sp>
      <p:sp>
        <p:nvSpPr>
          <p:cNvPr id="76" name="Shape 73"/>
          <p:cNvSpPr/>
          <p:nvPr/>
        </p:nvSpPr>
        <p:spPr>
          <a:xfrm>
            <a:off x="4663440" y="7748930"/>
            <a:ext cx="566928" cy="768706"/>
          </a:xfrm>
          <a:prstGeom prst="rect">
            <a:avLst/>
          </a:prstGeom>
          <a:solidFill>
            <a:srgbClr val="8C97BF"/>
          </a:solidFill>
          <a:ln w="12700">
            <a:solidFill>
              <a:srgbClr val="8C97BF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480560" y="7502042"/>
            <a:ext cx="9326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R₀ = </a:t>
            </a:r>
            <a:pPr algn="ctr"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25.2%</a:t>
            </a:r>
            <a:endParaRPr lang="en-US" sz="1050" dirty="0"/>
          </a:p>
        </p:txBody>
      </p:sp>
      <p:sp>
        <p:nvSpPr>
          <p:cNvPr id="78" name="Text 75"/>
          <p:cNvSpPr txBox="1"/>
          <p:nvPr/>
        </p:nvSpPr>
        <p:spPr>
          <a:xfrm>
            <a:off x="4434840" y="8563356"/>
            <a:ext cx="10241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 fumadoras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29 / 115</a:t>
            </a:r>
            <a:endParaRPr lang="en-US" sz="950" dirty="0"/>
          </a:p>
        </p:txBody>
      </p:sp>
      <p:sp>
        <p:nvSpPr>
          <p:cNvPr id="79" name="Shape 76"/>
          <p:cNvSpPr/>
          <p:nvPr/>
        </p:nvSpPr>
        <p:spPr>
          <a:xfrm>
            <a:off x="3877056" y="7748930"/>
            <a:ext cx="786384" cy="0"/>
          </a:xfrm>
          <a:prstGeom prst="line">
            <a:avLst/>
          </a:prstGeom>
          <a:noFill/>
          <a:ln w="15875">
            <a:solidFill>
              <a:srgbClr val="D98E04"/>
            </a:solidFill>
            <a:prstDash val="dash"/>
          </a:ln>
        </p:spPr>
      </p:sp>
      <p:sp>
        <p:nvSpPr>
          <p:cNvPr id="80" name="Shape 77"/>
          <p:cNvSpPr/>
          <p:nvPr/>
        </p:nvSpPr>
        <p:spPr>
          <a:xfrm>
            <a:off x="3877056" y="7281977"/>
            <a:ext cx="566928" cy="466954"/>
          </a:xfrm>
          <a:prstGeom prst="rect">
            <a:avLst/>
          </a:prstGeom>
          <a:solidFill>
            <a:srgbClr val="D98E04">
              <a:alpha val="75000"/>
            </a:srgbClr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3877056" y="7281977"/>
            <a:ext cx="566928" cy="4669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1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</a:t>
            </a:r>
            <a:endParaRPr lang="en-US" sz="1100" dirty="0"/>
          </a:p>
        </p:txBody>
      </p:sp>
      <p:sp>
        <p:nvSpPr>
          <p:cNvPr id="82" name="Text 79"/>
          <p:cNvSpPr txBox="1"/>
          <p:nvPr/>
        </p:nvSpPr>
        <p:spPr>
          <a:xfrm>
            <a:off x="5504688" y="6926580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RR</a:t>
            </a:r>
            <a:pPr indent="0" marL="0">
              <a:buNone/>
            </a:pPr>
            <a:r>
              <a:rPr lang="en-US" sz="10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= R₁ ÷ R₀ = </a:t>
            </a:r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1.61</a:t>
            </a:r>
            <a:endParaRPr lang="en-US" sz="1050" dirty="0"/>
          </a:p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veces el riesgo</a:t>
            </a:r>
            <a:endParaRPr lang="en-US" sz="1050" dirty="0"/>
          </a:p>
        </p:txBody>
      </p:sp>
      <p:sp>
        <p:nvSpPr>
          <p:cNvPr id="83" name="Text 80"/>
          <p:cNvSpPr txBox="1"/>
          <p:nvPr/>
        </p:nvSpPr>
        <p:spPr>
          <a:xfrm>
            <a:off x="5504688" y="7347204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</a:t>
            </a:r>
            <a:pPr indent="0" marL="0">
              <a:buNone/>
            </a:pPr>
            <a:r>
              <a:rPr lang="en-US" sz="10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= R₁ − R₀ = </a:t>
            </a:r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15.3</a:t>
            </a:r>
            <a:endParaRPr lang="en-US" sz="1050" dirty="0"/>
          </a:p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casos extra por 100</a:t>
            </a:r>
            <a:endParaRPr lang="en-US" sz="1050" dirty="0"/>
          </a:p>
        </p:txBody>
      </p:sp>
      <p:sp>
        <p:nvSpPr>
          <p:cNvPr id="84" name="Text 81"/>
          <p:cNvSpPr txBox="1"/>
          <p:nvPr/>
        </p:nvSpPr>
        <p:spPr>
          <a:xfrm>
            <a:off x="5504688" y="7767828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FA</a:t>
            </a:r>
            <a:pPr indent="0" marL="0">
              <a:buNone/>
            </a:pPr>
            <a:r>
              <a:rPr lang="es-ES" sz="10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= RA ÷ R₁ = </a:t>
            </a:r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38%</a:t>
            </a:r>
            <a:endParaRPr lang="en-US" sz="1050" dirty="0"/>
          </a:p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 los casos expuestos</a:t>
            </a:r>
            <a:endParaRPr lang="en-US" sz="1050" dirty="0"/>
          </a:p>
        </p:txBody>
      </p:sp>
      <p:sp>
        <p:nvSpPr>
          <p:cNvPr id="85" name="Text 82"/>
          <p:cNvSpPr txBox="1"/>
          <p:nvPr/>
        </p:nvSpPr>
        <p:spPr>
          <a:xfrm>
            <a:off x="5504688" y="8188452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</a:t>
            </a:r>
            <a:pPr indent="0" marL="0">
              <a:buNone/>
            </a:pPr>
            <a:r>
              <a:rPr lang="en-US" sz="10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= ad ÷ bc = </a:t>
            </a:r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2.02</a:t>
            </a:r>
            <a:endParaRPr lang="en-US" sz="1050" dirty="0"/>
          </a:p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odds, no riesgo</a:t>
            </a:r>
            <a:endParaRPr lang="en-US" sz="1050" dirty="0"/>
          </a:p>
        </p:txBody>
      </p:sp>
      <p:sp>
        <p:nvSpPr>
          <p:cNvPr id="86" name="Text 83"/>
          <p:cNvSpPr txBox="1"/>
          <p:nvPr/>
        </p:nvSpPr>
        <p:spPr>
          <a:xfrm>
            <a:off x="5504688" y="8609076"/>
            <a:ext cx="143560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NNH</a:t>
            </a:r>
            <a:pPr indent="0" marL="0">
              <a:buNone/>
            </a:pPr>
            <a:r>
              <a:rPr lang="es-ES" sz="10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= 1 ÷ RA = </a:t>
            </a:r>
            <a:pPr indent="0" marL="0">
              <a:buNone/>
            </a:pPr>
            <a:r>
              <a:rPr lang="en-US" sz="10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6.5</a:t>
            </a:r>
            <a:endParaRPr lang="en-US" sz="1050" dirty="0"/>
          </a:p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expuestos por caso extra</a:t>
            </a:r>
            <a:endParaRPr lang="en-US" sz="1050" dirty="0"/>
          </a:p>
        </p:txBody>
      </p:sp>
      <p:sp>
        <p:nvSpPr>
          <p:cNvPr id="87" name="Text 84"/>
          <p:cNvSpPr txBox="1"/>
          <p:nvPr/>
        </p:nvSpPr>
        <p:spPr>
          <a:xfrm>
            <a:off x="3767328" y="9020556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Las razones </a:t>
            </a:r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(RR, OR) miden la fuerza de la asociación; </a:t>
            </a:r>
            <a:pPr indent="0" marL="0">
              <a:buNone/>
            </a:pPr>
            <a:r>
              <a:rPr lang="es-ES" sz="10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las medidas de impacto </a:t>
            </a:r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(RA, FA, NNT), su peso en salud pública.</a:t>
            </a:r>
            <a:endParaRPr lang="en-US" sz="1050" dirty="0"/>
          </a:p>
        </p:txBody>
      </p:sp>
      <p:sp>
        <p:nvSpPr>
          <p:cNvPr id="88" name="Shape 85"/>
          <p:cNvSpPr/>
          <p:nvPr/>
        </p:nvSpPr>
        <p:spPr>
          <a:xfrm>
            <a:off x="3767328" y="9569196"/>
            <a:ext cx="3172968" cy="676656"/>
          </a:xfrm>
          <a:prstGeom prst="roundRect">
            <a:avLst>
              <a:gd name="adj" fmla="val 8108"/>
            </a:avLst>
          </a:prstGeom>
          <a:solidFill>
            <a:srgbClr val="FDF3DF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3858768" y="9633204"/>
            <a:ext cx="299008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CONSEJO 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¿Datos transversales con desenlace frecuente? Reporta la </a:t>
            </a:r>
            <a:pPr indent="0" marL="0">
              <a:buNone/>
            </a:pPr>
            <a:r>
              <a:rPr lang="es-E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razón de prevalencias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; el odds ratio de prevalencia se aleja de 1 a medida que sube la prevalencia.</a:t>
            </a:r>
            <a:endParaRPr lang="en-US" sz="950" dirty="0"/>
          </a:p>
        </p:txBody>
      </p:sp>
      <p:sp>
        <p:nvSpPr>
          <p:cNvPr id="90" name="Shape 87"/>
          <p:cNvSpPr/>
          <p:nvPr/>
        </p:nvSpPr>
        <p:spPr>
          <a:xfrm>
            <a:off x="7123176" y="1645920"/>
            <a:ext cx="402336" cy="402336"/>
          </a:xfrm>
          <a:prstGeom prst="ellipse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7123176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</a:t>
            </a:r>
            <a:endParaRPr lang="en-US" sz="1600" dirty="0"/>
          </a:p>
        </p:txBody>
      </p:sp>
      <p:sp>
        <p:nvSpPr>
          <p:cNvPr id="92" name="Text 89"/>
          <p:cNvSpPr txBox="1"/>
          <p:nvPr/>
        </p:nvSpPr>
        <p:spPr>
          <a:xfrm>
            <a:off x="7635240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Córrelo e interprétalo</a:t>
            </a:r>
            <a:endParaRPr lang="en-US" sz="2000" dirty="0"/>
          </a:p>
        </p:txBody>
      </p:sp>
      <p:sp>
        <p:nvSpPr>
          <p:cNvPr id="93" name="Shape 90"/>
          <p:cNvSpPr/>
          <p:nvPr/>
        </p:nvSpPr>
        <p:spPr>
          <a:xfrm>
            <a:off x="7123176" y="2194560"/>
            <a:ext cx="3172968" cy="1051560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7196328" y="2258568"/>
            <a:ext cx="3044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library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(epiR)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epi.2by2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(tab,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"cohort.count"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elab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"Smoking"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olab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"LBW"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conf.level = 0.95, units = 100)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</a:t>
            </a:r>
            <a:endParaRPr lang="en-US" sz="1100" dirty="0"/>
          </a:p>
        </p:txBody>
      </p:sp>
      <p:sp>
        <p:nvSpPr>
          <p:cNvPr id="95" name="Text 92"/>
          <p:cNvSpPr txBox="1"/>
          <p:nvPr/>
        </p:nvSpPr>
        <p:spPr>
          <a:xfrm>
            <a:off x="8604504" y="3310128"/>
            <a:ext cx="594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ES" sz="9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estimado</a:t>
            </a:r>
            <a:endParaRPr lang="en-US" sz="900" dirty="0"/>
          </a:p>
        </p:txBody>
      </p:sp>
      <p:sp>
        <p:nvSpPr>
          <p:cNvPr id="96" name="Text 93"/>
          <p:cNvSpPr txBox="1"/>
          <p:nvPr/>
        </p:nvSpPr>
        <p:spPr>
          <a:xfrm>
            <a:off x="9253728" y="3310128"/>
            <a:ext cx="9875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9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IC 95%</a:t>
            </a:r>
            <a:endParaRPr lang="en-US" sz="900" dirty="0"/>
          </a:p>
        </p:txBody>
      </p:sp>
      <p:sp>
        <p:nvSpPr>
          <p:cNvPr id="97" name="Shape 94"/>
          <p:cNvSpPr/>
          <p:nvPr/>
        </p:nvSpPr>
        <p:spPr>
          <a:xfrm>
            <a:off x="7123176" y="3538728"/>
            <a:ext cx="3172968" cy="1769364"/>
          </a:xfrm>
          <a:prstGeom prst="rect">
            <a:avLst/>
          </a:prstGeom>
          <a:solidFill>
            <a:srgbClr val="FFFFFF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98" name="Text 95"/>
          <p:cNvSpPr txBox="1"/>
          <p:nvPr/>
        </p:nvSpPr>
        <p:spPr>
          <a:xfrm>
            <a:off x="7196328" y="361188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 risk ratio</a:t>
            </a:r>
            <a:endParaRPr lang="en-US" sz="850" dirty="0"/>
          </a:p>
        </p:txBody>
      </p:sp>
      <p:sp>
        <p:nvSpPr>
          <p:cNvPr id="99" name="Text 96"/>
          <p:cNvSpPr txBox="1"/>
          <p:nvPr/>
        </p:nvSpPr>
        <p:spPr>
          <a:xfrm>
            <a:off x="8695944" y="361188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1.61</a:t>
            </a:r>
            <a:endParaRPr lang="en-US" sz="850" dirty="0"/>
          </a:p>
        </p:txBody>
      </p:sp>
      <p:sp>
        <p:nvSpPr>
          <p:cNvPr id="100" name="Text 97"/>
          <p:cNvSpPr txBox="1"/>
          <p:nvPr/>
        </p:nvSpPr>
        <p:spPr>
          <a:xfrm>
            <a:off x="9253728" y="361188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(1.06, 2.44)</a:t>
            </a:r>
            <a:endParaRPr lang="en-US" sz="850" dirty="0"/>
          </a:p>
        </p:txBody>
      </p:sp>
      <p:sp>
        <p:nvSpPr>
          <p:cNvPr id="101" name="Text 98"/>
          <p:cNvSpPr txBox="1"/>
          <p:nvPr/>
        </p:nvSpPr>
        <p:spPr>
          <a:xfrm>
            <a:off x="7196328" y="379933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Inc odds ratio</a:t>
            </a:r>
            <a:endParaRPr lang="en-US" sz="850" dirty="0"/>
          </a:p>
        </p:txBody>
      </p:sp>
      <p:sp>
        <p:nvSpPr>
          <p:cNvPr id="102" name="Text 99"/>
          <p:cNvSpPr txBox="1"/>
          <p:nvPr/>
        </p:nvSpPr>
        <p:spPr>
          <a:xfrm>
            <a:off x="8695944" y="379933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2.02</a:t>
            </a:r>
            <a:endParaRPr lang="en-US" sz="850" dirty="0"/>
          </a:p>
        </p:txBody>
      </p:sp>
      <p:sp>
        <p:nvSpPr>
          <p:cNvPr id="103" name="Text 100"/>
          <p:cNvSpPr txBox="1"/>
          <p:nvPr/>
        </p:nvSpPr>
        <p:spPr>
          <a:xfrm>
            <a:off x="9253728" y="379933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(1.08, 3.78)</a:t>
            </a:r>
            <a:endParaRPr lang="en-US" sz="850" dirty="0"/>
          </a:p>
        </p:txBody>
      </p:sp>
      <p:sp>
        <p:nvSpPr>
          <p:cNvPr id="104" name="Text 101"/>
          <p:cNvSpPr txBox="1"/>
          <p:nvPr/>
        </p:nvSpPr>
        <p:spPr>
          <a:xfrm>
            <a:off x="7196328" y="3986784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 risk exp *</a:t>
            </a:r>
            <a:endParaRPr lang="en-US" sz="850" dirty="0"/>
          </a:p>
        </p:txBody>
      </p:sp>
      <p:sp>
        <p:nvSpPr>
          <p:cNvPr id="105" name="Text 102"/>
          <p:cNvSpPr txBox="1"/>
          <p:nvPr/>
        </p:nvSpPr>
        <p:spPr>
          <a:xfrm>
            <a:off x="8695944" y="3986784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15.32</a:t>
            </a:r>
            <a:endParaRPr lang="en-US" sz="850" dirty="0"/>
          </a:p>
        </p:txBody>
      </p:sp>
      <p:sp>
        <p:nvSpPr>
          <p:cNvPr id="106" name="Text 103"/>
          <p:cNvSpPr txBox="1"/>
          <p:nvPr/>
        </p:nvSpPr>
        <p:spPr>
          <a:xfrm>
            <a:off x="9253728" y="3986784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(1.61, 29.04)</a:t>
            </a:r>
            <a:endParaRPr lang="en-US" sz="850" dirty="0"/>
          </a:p>
        </p:txBody>
      </p:sp>
      <p:sp>
        <p:nvSpPr>
          <p:cNvPr id="107" name="Text 104"/>
          <p:cNvSpPr txBox="1"/>
          <p:nvPr/>
        </p:nvSpPr>
        <p:spPr>
          <a:xfrm>
            <a:off x="7196328" y="4174236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 fraction exp (%)</a:t>
            </a:r>
            <a:endParaRPr lang="en-US" sz="850" dirty="0"/>
          </a:p>
        </p:txBody>
      </p:sp>
      <p:sp>
        <p:nvSpPr>
          <p:cNvPr id="108" name="Text 105"/>
          <p:cNvSpPr txBox="1"/>
          <p:nvPr/>
        </p:nvSpPr>
        <p:spPr>
          <a:xfrm>
            <a:off x="8695944" y="4174236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37.80</a:t>
            </a:r>
            <a:endParaRPr lang="en-US" sz="850" dirty="0"/>
          </a:p>
        </p:txBody>
      </p:sp>
      <p:sp>
        <p:nvSpPr>
          <p:cNvPr id="109" name="Text 106"/>
          <p:cNvSpPr txBox="1"/>
          <p:nvPr/>
        </p:nvSpPr>
        <p:spPr>
          <a:xfrm>
            <a:off x="9253728" y="4174236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(5.38, 58.95)</a:t>
            </a:r>
            <a:endParaRPr lang="en-US" sz="850" dirty="0"/>
          </a:p>
        </p:txBody>
      </p:sp>
      <p:sp>
        <p:nvSpPr>
          <p:cNvPr id="110" name="Text 107"/>
          <p:cNvSpPr txBox="1"/>
          <p:nvPr/>
        </p:nvSpPr>
        <p:spPr>
          <a:xfrm>
            <a:off x="7196328" y="4361688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 risk pop *</a:t>
            </a:r>
            <a:endParaRPr lang="en-US" sz="850" dirty="0"/>
          </a:p>
        </p:txBody>
      </p:sp>
      <p:sp>
        <p:nvSpPr>
          <p:cNvPr id="111" name="Text 108"/>
          <p:cNvSpPr txBox="1"/>
          <p:nvPr/>
        </p:nvSpPr>
        <p:spPr>
          <a:xfrm>
            <a:off x="8695944" y="4361688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6.00</a:t>
            </a:r>
            <a:endParaRPr lang="en-US" sz="850" dirty="0"/>
          </a:p>
        </p:txBody>
      </p:sp>
      <p:sp>
        <p:nvSpPr>
          <p:cNvPr id="112" name="Text 109"/>
          <p:cNvSpPr txBox="1"/>
          <p:nvPr/>
        </p:nvSpPr>
        <p:spPr>
          <a:xfrm>
            <a:off x="9253728" y="4361688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(-4.33, 16.33)</a:t>
            </a:r>
            <a:endParaRPr lang="en-US" sz="850" dirty="0"/>
          </a:p>
        </p:txBody>
      </p:sp>
      <p:sp>
        <p:nvSpPr>
          <p:cNvPr id="113" name="Text 110"/>
          <p:cNvSpPr txBox="1"/>
          <p:nvPr/>
        </p:nvSpPr>
        <p:spPr>
          <a:xfrm>
            <a:off x="7196328" y="4549140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Attrib fraction pop (%)</a:t>
            </a:r>
            <a:endParaRPr lang="en-US" sz="850" dirty="0"/>
          </a:p>
        </p:txBody>
      </p:sp>
      <p:sp>
        <p:nvSpPr>
          <p:cNvPr id="114" name="Text 111"/>
          <p:cNvSpPr txBox="1"/>
          <p:nvPr/>
        </p:nvSpPr>
        <p:spPr>
          <a:xfrm>
            <a:off x="8695944" y="4549140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19.22</a:t>
            </a:r>
            <a:endParaRPr lang="en-US" sz="850" dirty="0"/>
          </a:p>
        </p:txBody>
      </p:sp>
      <p:sp>
        <p:nvSpPr>
          <p:cNvPr id="115" name="Text 112"/>
          <p:cNvSpPr txBox="1"/>
          <p:nvPr/>
        </p:nvSpPr>
        <p:spPr>
          <a:xfrm>
            <a:off x="9253728" y="4549140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(10.89, 28.78)</a:t>
            </a:r>
            <a:endParaRPr lang="en-US" sz="850" dirty="0"/>
          </a:p>
        </p:txBody>
      </p:sp>
      <p:sp>
        <p:nvSpPr>
          <p:cNvPr id="116" name="Text 113"/>
          <p:cNvSpPr txBox="1"/>
          <p:nvPr/>
        </p:nvSpPr>
        <p:spPr>
          <a:xfrm>
            <a:off x="7196328" y="4736592"/>
            <a:ext cx="1517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E-value</a:t>
            </a:r>
            <a:endParaRPr lang="en-US" sz="850" dirty="0"/>
          </a:p>
        </p:txBody>
      </p:sp>
      <p:sp>
        <p:nvSpPr>
          <p:cNvPr id="117" name="Text 114"/>
          <p:cNvSpPr txBox="1"/>
          <p:nvPr/>
        </p:nvSpPr>
        <p:spPr>
          <a:xfrm>
            <a:off x="8695944" y="4736592"/>
            <a:ext cx="502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2.60</a:t>
            </a:r>
            <a:endParaRPr lang="en-US" sz="850" dirty="0"/>
          </a:p>
        </p:txBody>
      </p:sp>
      <p:sp>
        <p:nvSpPr>
          <p:cNvPr id="118" name="Text 115"/>
          <p:cNvSpPr txBox="1"/>
          <p:nvPr/>
        </p:nvSpPr>
        <p:spPr>
          <a:xfrm>
            <a:off x="9253728" y="4736592"/>
            <a:ext cx="10241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(1.31, NA)</a:t>
            </a:r>
            <a:endParaRPr lang="en-US" sz="850" dirty="0"/>
          </a:p>
        </p:txBody>
      </p:sp>
      <p:sp>
        <p:nvSpPr>
          <p:cNvPr id="119" name="Text 116"/>
          <p:cNvSpPr txBox="1"/>
          <p:nvPr/>
        </p:nvSpPr>
        <p:spPr>
          <a:xfrm>
            <a:off x="7196328" y="4942332"/>
            <a:ext cx="302666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χ² sin corrección p = 0.026 · exacta de Fisher p = 0.036</a:t>
            </a:r>
            <a:endParaRPr lang="en-US" sz="900" dirty="0"/>
          </a:p>
          <a:p>
            <a:pPr indent="0" marL="0">
              <a:buNone/>
            </a:pPr>
            <a:r>
              <a:rPr lang="es-E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 por 100 unidades de población (</a:t>
            </a:r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 =</a:t>
            </a:r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)</a:t>
            </a:r>
            <a:endParaRPr lang="en-US" sz="900" dirty="0"/>
          </a:p>
        </p:txBody>
      </p:sp>
      <p:sp>
        <p:nvSpPr>
          <p:cNvPr id="120" name="Text 117"/>
          <p:cNvSpPr txBox="1"/>
          <p:nvPr/>
        </p:nvSpPr>
        <p:spPr>
          <a:xfrm>
            <a:off x="7123176" y="5381244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E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Salida abreviada; etiquetas acortadas.</a:t>
            </a:r>
            <a:endParaRPr lang="en-US" sz="850" dirty="0"/>
          </a:p>
        </p:txBody>
      </p:sp>
      <p:sp>
        <p:nvSpPr>
          <p:cNvPr id="121" name="Text 118"/>
          <p:cNvSpPr txBox="1"/>
          <p:nvPr/>
        </p:nvSpPr>
        <p:spPr>
          <a:xfrm>
            <a:off x="7123176" y="567385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REDÁCTALO:  interpret = TRUE</a:t>
            </a:r>
            <a:endParaRPr lang="en-US" sz="1000" dirty="0"/>
          </a:p>
        </p:txBody>
      </p:sp>
      <p:sp>
        <p:nvSpPr>
          <p:cNvPr id="122" name="Shape 119"/>
          <p:cNvSpPr/>
          <p:nvPr/>
        </p:nvSpPr>
        <p:spPr>
          <a:xfrm>
            <a:off x="7123176" y="5920740"/>
            <a:ext cx="3172968" cy="932688"/>
          </a:xfrm>
          <a:prstGeom prst="rect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123" name="Text 120"/>
          <p:cNvSpPr txBox="1"/>
          <p:nvPr/>
        </p:nvSpPr>
        <p:spPr>
          <a:xfrm>
            <a:off x="7232904" y="5993892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50" i="1" dirty="0">
                <a:solidFill>
                  <a:srgbClr val="26346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salida es en inglés: “The incidence risk of LBW among those that were smoking positive was 1.61 (95% CI 1.06 to 2.44) times the incidence risk of LBW among those that were smoking negative.”</a:t>
            </a:r>
            <a:endParaRPr lang="en-US" sz="1050" dirty="0"/>
          </a:p>
        </p:txBody>
      </p:sp>
      <p:sp>
        <p:nvSpPr>
          <p:cNvPr id="124" name="Text 121"/>
          <p:cNvSpPr txBox="1"/>
          <p:nvPr/>
        </p:nvSpPr>
        <p:spPr>
          <a:xfrm>
            <a:off x="7123176" y="699973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EXTRAE LOS NÚMEROS</a:t>
            </a:r>
            <a:endParaRPr lang="en-US" sz="1000" dirty="0"/>
          </a:p>
        </p:txBody>
      </p:sp>
      <p:sp>
        <p:nvSpPr>
          <p:cNvPr id="125" name="Text 122"/>
          <p:cNvSpPr txBox="1"/>
          <p:nvPr/>
        </p:nvSpPr>
        <p:spPr>
          <a:xfrm>
            <a:off x="7123176" y="7255764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res$massoc.summary</a:t>
            </a:r>
            <a:endParaRPr lang="en-US" sz="11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Data frame: var, est, lower, upper.</a:t>
            </a:r>
            <a:endParaRPr lang="en-US" sz="1100" dirty="0"/>
          </a:p>
        </p:txBody>
      </p:sp>
      <p:sp>
        <p:nvSpPr>
          <p:cNvPr id="126" name="Text 123"/>
          <p:cNvSpPr txBox="1"/>
          <p:nvPr/>
        </p:nvSpPr>
        <p:spPr>
          <a:xfrm>
            <a:off x="7123176" y="7712964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res$massoc.detail$RR.strata.score</a:t>
            </a:r>
            <a:endParaRPr lang="en-US" sz="1100" dirty="0"/>
          </a:p>
          <a:p>
            <a:pPr indent="0" marL="0">
              <a:buNone/>
            </a:pPr>
            <a:r>
              <a:rPr lang="es-E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medida con un método de IC.</a:t>
            </a:r>
            <a:endParaRPr lang="en-US" sz="1100" dirty="0"/>
          </a:p>
        </p:txBody>
      </p:sp>
      <p:sp>
        <p:nvSpPr>
          <p:cNvPr id="127" name="Text 124"/>
          <p:cNvSpPr txBox="1"/>
          <p:nvPr/>
        </p:nvSpPr>
        <p:spPr>
          <a:xfrm>
            <a:off x="7123176" y="8170164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res$massoc.detail$NNT.strata.wald</a:t>
            </a:r>
            <a:endParaRPr lang="en-US" sz="1100" dirty="0"/>
          </a:p>
          <a:p>
            <a:pPr indent="0" marL="0">
              <a:buNone/>
            </a:pPr>
            <a:r>
              <a:rPr lang="es-E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Número necesario a tratar o a dañar (6.5 aquí).</a:t>
            </a:r>
            <a:endParaRPr lang="en-US" sz="1100" dirty="0"/>
          </a:p>
        </p:txBody>
      </p:sp>
      <p:sp>
        <p:nvSpPr>
          <p:cNvPr id="128" name="Text 125"/>
          <p:cNvSpPr txBox="1"/>
          <p:nvPr/>
        </p:nvSpPr>
        <p:spPr>
          <a:xfrm>
            <a:off x="7123176" y="8627364"/>
            <a:ext cx="31729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res$massoc.detail$chi2.strata.fisher</a:t>
            </a:r>
            <a:endParaRPr lang="en-US" sz="1100" dirty="0"/>
          </a:p>
          <a:p>
            <a:pPr indent="0" marL="0">
              <a:buNone/>
            </a:pPr>
            <a:r>
              <a:rPr lang="es-E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Prueba exacta de Fisher.</a:t>
            </a:r>
            <a:endParaRPr lang="en-US" sz="1100" dirty="0"/>
          </a:p>
        </p:txBody>
      </p:sp>
      <p:sp>
        <p:nvSpPr>
          <p:cNvPr id="129" name="Text 126"/>
          <p:cNvSpPr txBox="1"/>
          <p:nvPr/>
        </p:nvSpPr>
        <p:spPr>
          <a:xfrm>
            <a:off x="7123176" y="912114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ARGUMENTOS ÚTILES</a:t>
            </a:r>
            <a:endParaRPr lang="en-US" sz="1000" dirty="0"/>
          </a:p>
        </p:txBody>
      </p:sp>
      <p:sp>
        <p:nvSpPr>
          <p:cNvPr id="130" name="Text 127"/>
          <p:cNvSpPr txBox="1"/>
          <p:nvPr/>
        </p:nvSpPr>
        <p:spPr>
          <a:xfrm>
            <a:off x="7123176" y="936802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digits = 2</a:t>
            </a:r>
            <a:pPr indent="0" marL="0">
              <a:buNone/>
            </a:pPr>
            <a:r>
              <a:rPr lang="es-E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decimales</a:t>
            </a:r>
            <a:endParaRPr lang="en-US" sz="1100" dirty="0"/>
          </a:p>
        </p:txBody>
      </p:sp>
      <p:sp>
        <p:nvSpPr>
          <p:cNvPr id="131" name="Text 128"/>
          <p:cNvSpPr txBox="1"/>
          <p:nvPr/>
        </p:nvSpPr>
        <p:spPr>
          <a:xfrm>
            <a:off x="7123176" y="959662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conf.level = 0.95</a:t>
            </a:r>
            <a:pPr indent="0" marL="0">
              <a:buNone/>
            </a:pPr>
            <a:r>
              <a:rPr lang="es-E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nivel del IC</a:t>
            </a:r>
            <a:endParaRPr lang="en-US" sz="1100" dirty="0"/>
          </a:p>
        </p:txBody>
      </p:sp>
      <p:sp>
        <p:nvSpPr>
          <p:cNvPr id="132" name="Text 129"/>
          <p:cNvSpPr txBox="1"/>
          <p:nvPr/>
        </p:nvSpPr>
        <p:spPr>
          <a:xfrm>
            <a:off x="7123176" y="982522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 = 100</a:t>
            </a:r>
            <a:pPr indent="0" marL="0">
              <a:buNone/>
            </a:pPr>
            <a:r>
              <a:rPr lang="es-E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riesgo por 100 (o 1000…)</a:t>
            </a:r>
            <a:endParaRPr lang="en-US" sz="1100" dirty="0"/>
          </a:p>
        </p:txBody>
      </p:sp>
      <p:sp>
        <p:nvSpPr>
          <p:cNvPr id="133" name="Shape 130"/>
          <p:cNvSpPr/>
          <p:nvPr/>
        </p:nvSpPr>
        <p:spPr>
          <a:xfrm>
            <a:off x="10479024" y="1645920"/>
            <a:ext cx="402336" cy="402336"/>
          </a:xfrm>
          <a:prstGeom prst="ellipse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34" name="Text 131"/>
          <p:cNvSpPr txBox="1"/>
          <p:nvPr/>
        </p:nvSpPr>
        <p:spPr>
          <a:xfrm>
            <a:off x="10479024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</a:t>
            </a:r>
            <a:endParaRPr lang="en-US" sz="1600" dirty="0"/>
          </a:p>
        </p:txBody>
      </p:sp>
      <p:sp>
        <p:nvSpPr>
          <p:cNvPr id="135" name="Text 132"/>
          <p:cNvSpPr txBox="1"/>
          <p:nvPr/>
        </p:nvSpPr>
        <p:spPr>
          <a:xfrm>
            <a:off x="10991088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Ajusta por confusión</a:t>
            </a:r>
            <a:endParaRPr lang="en-US" sz="2000" dirty="0"/>
          </a:p>
        </p:txBody>
      </p:sp>
      <p:sp>
        <p:nvSpPr>
          <p:cNvPr id="136" name="Text 133"/>
          <p:cNvSpPr txBox="1"/>
          <p:nvPr/>
        </p:nvSpPr>
        <p:spPr>
          <a:xfrm>
            <a:off x="10479024" y="2194560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Pasa una tabla 3-D (exposición × desenlace × confusor) y obtén estimaciones </a:t>
            </a:r>
            <a:pPr indent="0" marL="0">
              <a:buNone/>
            </a:pPr>
            <a:r>
              <a:rPr lang="es-ES" sz="10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crudas</a:t>
            </a:r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</a:t>
            </a:r>
            <a:pPr indent="0" marL="0">
              <a:buNone/>
            </a:pPr>
            <a:r>
              <a:rPr lang="es-ES" sz="10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por estrato</a:t>
            </a:r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y </a:t>
            </a:r>
            <a:pPr indent="0" marL="0">
              <a:buNone/>
            </a:pPr>
            <a:r>
              <a:rPr lang="es-E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ajustadas por Mantel–Haenszel (M-H)</a:t>
            </a:r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</a:t>
            </a:r>
            <a:endParaRPr lang="en-US" sz="1050" dirty="0"/>
          </a:p>
        </p:txBody>
      </p:sp>
      <p:sp>
        <p:nvSpPr>
          <p:cNvPr id="137" name="Shape 134"/>
          <p:cNvSpPr/>
          <p:nvPr/>
        </p:nvSpPr>
        <p:spPr>
          <a:xfrm>
            <a:off x="10479024" y="2816352"/>
            <a:ext cx="3172968" cy="59893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38" name="Text 135"/>
          <p:cNvSpPr txBox="1"/>
          <p:nvPr/>
        </p:nvSpPr>
        <p:spPr>
          <a:xfrm>
            <a:off x="10552176" y="2880360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res3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epi.2by2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table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(bw$smk, bw$lbw, bw$race),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"cohort.count"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139" name="Text 136"/>
          <p:cNvSpPr txBox="1"/>
          <p:nvPr/>
        </p:nvSpPr>
        <p:spPr>
          <a:xfrm>
            <a:off x="10479024" y="359816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 POR RAZA (TABAQUISMO → BPN)</a:t>
            </a:r>
            <a:endParaRPr lang="en-US" sz="1000" dirty="0"/>
          </a:p>
        </p:txBody>
      </p:sp>
      <p:sp>
        <p:nvSpPr>
          <p:cNvPr id="140" name="Shape 137"/>
          <p:cNvSpPr/>
          <p:nvPr/>
        </p:nvSpPr>
        <p:spPr>
          <a:xfrm>
            <a:off x="12228663" y="3854196"/>
            <a:ext cx="0" cy="1664208"/>
          </a:xfrm>
          <a:prstGeom prst="line">
            <a:avLst/>
          </a:prstGeom>
          <a:noFill/>
          <a:ln w="9525">
            <a:solidFill>
              <a:srgbClr val="5F6675"/>
            </a:solidFill>
            <a:prstDash val="dash"/>
          </a:ln>
        </p:spPr>
      </p:sp>
      <p:sp>
        <p:nvSpPr>
          <p:cNvPr id="141" name="Text 138"/>
          <p:cNvSpPr txBox="1"/>
          <p:nvPr/>
        </p:nvSpPr>
        <p:spPr>
          <a:xfrm>
            <a:off x="10479024" y="3872484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Blanca </a:t>
            </a:r>
            <a:pPr indent="0" marL="0">
              <a:buNone/>
            </a:pPr>
            <a:r>
              <a:rPr lang="en-U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5.76</a:t>
            </a:r>
            <a:endParaRPr lang="en-US" sz="1000" dirty="0"/>
          </a:p>
        </p:txBody>
      </p:sp>
      <p:sp>
        <p:nvSpPr>
          <p:cNvPr id="142" name="Shape 139"/>
          <p:cNvSpPr/>
          <p:nvPr/>
        </p:nvSpPr>
        <p:spPr>
          <a:xfrm>
            <a:off x="12488543" y="4027932"/>
            <a:ext cx="1057590" cy="0"/>
          </a:xfrm>
          <a:prstGeom prst="line">
            <a:avLst/>
          </a:prstGeom>
          <a:noFill/>
          <a:ln w="19050">
            <a:solidFill>
              <a:srgbClr val="000F46"/>
            </a:solidFill>
            <a:prstDash val="solid"/>
          </a:ln>
        </p:spPr>
      </p:sp>
      <p:sp>
        <p:nvSpPr>
          <p:cNvPr id="143" name="Shape 140"/>
          <p:cNvSpPr/>
          <p:nvPr/>
        </p:nvSpPr>
        <p:spPr>
          <a:xfrm>
            <a:off x="12962947" y="3973068"/>
            <a:ext cx="109728" cy="109728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44" name="Text 141"/>
          <p:cNvSpPr txBox="1"/>
          <p:nvPr/>
        </p:nvSpPr>
        <p:spPr>
          <a:xfrm>
            <a:off x="10479024" y="4183380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Negra </a:t>
            </a:r>
            <a:pPr indent="0" marL="0">
              <a:buNone/>
            </a:pPr>
            <a:r>
              <a:rPr lang="en-U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3.30</a:t>
            </a:r>
            <a:endParaRPr lang="en-US" sz="1000" dirty="0"/>
          </a:p>
        </p:txBody>
      </p:sp>
      <p:sp>
        <p:nvSpPr>
          <p:cNvPr id="145" name="Shape 142"/>
          <p:cNvSpPr/>
          <p:nvPr/>
        </p:nvSpPr>
        <p:spPr>
          <a:xfrm>
            <a:off x="12020423" y="4338828"/>
            <a:ext cx="1489391" cy="0"/>
          </a:xfrm>
          <a:prstGeom prst="line">
            <a:avLst/>
          </a:prstGeom>
          <a:noFill/>
          <a:ln w="19050">
            <a:solidFill>
              <a:srgbClr val="000F46"/>
            </a:solidFill>
            <a:prstDash val="solid"/>
          </a:ln>
        </p:spPr>
      </p:sp>
      <p:sp>
        <p:nvSpPr>
          <p:cNvPr id="146" name="Shape 143"/>
          <p:cNvSpPr/>
          <p:nvPr/>
        </p:nvSpPr>
        <p:spPr>
          <a:xfrm>
            <a:off x="12711900" y="4283964"/>
            <a:ext cx="109728" cy="109728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47" name="Text 144"/>
          <p:cNvSpPr txBox="1"/>
          <p:nvPr/>
        </p:nvSpPr>
        <p:spPr>
          <a:xfrm>
            <a:off x="10479024" y="4494276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Otra </a:t>
            </a:r>
            <a:pPr indent="0" marL="0">
              <a:buNone/>
            </a:pPr>
            <a:r>
              <a:rPr lang="en-U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1.25</a:t>
            </a:r>
            <a:endParaRPr lang="en-US" sz="1000" dirty="0"/>
          </a:p>
        </p:txBody>
      </p:sp>
      <p:sp>
        <p:nvSpPr>
          <p:cNvPr id="148" name="Shape 145"/>
          <p:cNvSpPr/>
          <p:nvPr/>
        </p:nvSpPr>
        <p:spPr>
          <a:xfrm>
            <a:off x="11755508" y="4649724"/>
            <a:ext cx="1147019" cy="0"/>
          </a:xfrm>
          <a:prstGeom prst="line">
            <a:avLst/>
          </a:prstGeom>
          <a:noFill/>
          <a:ln w="19050">
            <a:solidFill>
              <a:srgbClr val="000F46"/>
            </a:solidFill>
            <a:prstDash val="solid"/>
          </a:ln>
        </p:spPr>
      </p:sp>
      <p:sp>
        <p:nvSpPr>
          <p:cNvPr id="149" name="Shape 146"/>
          <p:cNvSpPr/>
          <p:nvPr/>
        </p:nvSpPr>
        <p:spPr>
          <a:xfrm>
            <a:off x="12274370" y="4594860"/>
            <a:ext cx="109728" cy="109728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50" name="Text 147"/>
          <p:cNvSpPr txBox="1"/>
          <p:nvPr/>
        </p:nvSpPr>
        <p:spPr>
          <a:xfrm>
            <a:off x="10479024" y="489661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Crudo </a:t>
            </a:r>
            <a:pPr indent="0" marL="0">
              <a:buNone/>
            </a:pPr>
            <a:r>
              <a:rPr lang="en-U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2.02</a:t>
            </a:r>
            <a:endParaRPr lang="en-US" sz="1000" dirty="0"/>
          </a:p>
        </p:txBody>
      </p:sp>
      <p:sp>
        <p:nvSpPr>
          <p:cNvPr id="151" name="Shape 148"/>
          <p:cNvSpPr/>
          <p:nvPr/>
        </p:nvSpPr>
        <p:spPr>
          <a:xfrm>
            <a:off x="12263349" y="5052060"/>
            <a:ext cx="564621" cy="0"/>
          </a:xfrm>
          <a:prstGeom prst="line">
            <a:avLst/>
          </a:prstGeom>
          <a:noFill/>
          <a:ln w="19050">
            <a:solidFill>
              <a:srgbClr val="000F46"/>
            </a:solidFill>
            <a:prstDash val="solid"/>
          </a:ln>
        </p:spPr>
      </p:sp>
      <p:sp>
        <p:nvSpPr>
          <p:cNvPr id="152" name="Shape 149"/>
          <p:cNvSpPr/>
          <p:nvPr/>
        </p:nvSpPr>
        <p:spPr>
          <a:xfrm>
            <a:off x="12490685" y="4997196"/>
            <a:ext cx="109728" cy="109728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53" name="Text 150"/>
          <p:cNvSpPr txBox="1"/>
          <p:nvPr/>
        </p:nvSpPr>
        <p:spPr>
          <a:xfrm>
            <a:off x="10479024" y="5207508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M-H </a:t>
            </a:r>
            <a:pPr indent="0" marL="0">
              <a:buNone/>
            </a:pPr>
            <a:r>
              <a:rPr lang="en-U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3.09</a:t>
            </a:r>
            <a:endParaRPr lang="en-US" sz="1000" dirty="0"/>
          </a:p>
        </p:txBody>
      </p:sp>
      <p:sp>
        <p:nvSpPr>
          <p:cNvPr id="154" name="Shape 151"/>
          <p:cNvSpPr/>
          <p:nvPr/>
        </p:nvSpPr>
        <p:spPr>
          <a:xfrm>
            <a:off x="12408391" y="5362956"/>
            <a:ext cx="656201" cy="0"/>
          </a:xfrm>
          <a:prstGeom prst="line">
            <a:avLst/>
          </a:prstGeom>
          <a:noFill/>
          <a:ln w="19050">
            <a:solidFill>
              <a:srgbClr val="D98E04"/>
            </a:solidFill>
            <a:prstDash val="solid"/>
          </a:ln>
        </p:spPr>
      </p:sp>
      <p:sp>
        <p:nvSpPr>
          <p:cNvPr id="155" name="Shape 152"/>
          <p:cNvSpPr/>
          <p:nvPr/>
        </p:nvSpPr>
        <p:spPr>
          <a:xfrm>
            <a:off x="12636546" y="5262372"/>
            <a:ext cx="201168" cy="201168"/>
          </a:xfrm>
          <a:prstGeom prst="diamond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56" name="Shape 153"/>
          <p:cNvSpPr/>
          <p:nvPr/>
        </p:nvSpPr>
        <p:spPr>
          <a:xfrm>
            <a:off x="11686032" y="5554980"/>
            <a:ext cx="1892808" cy="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157" name="Shape 154"/>
          <p:cNvSpPr/>
          <p:nvPr/>
        </p:nvSpPr>
        <p:spPr>
          <a:xfrm>
            <a:off x="11916261" y="5554980"/>
            <a:ext cx="0" cy="4572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158" name="Text 155"/>
          <p:cNvSpPr txBox="1"/>
          <p:nvPr/>
        </p:nvSpPr>
        <p:spPr>
          <a:xfrm>
            <a:off x="11733381" y="56007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0.5</a:t>
            </a:r>
            <a:endParaRPr lang="en-US" sz="850" dirty="0"/>
          </a:p>
        </p:txBody>
      </p:sp>
      <p:sp>
        <p:nvSpPr>
          <p:cNvPr id="159" name="Shape 156"/>
          <p:cNvSpPr/>
          <p:nvPr/>
        </p:nvSpPr>
        <p:spPr>
          <a:xfrm>
            <a:off x="12228663" y="5554980"/>
            <a:ext cx="0" cy="4572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160" name="Text 157"/>
          <p:cNvSpPr txBox="1"/>
          <p:nvPr/>
        </p:nvSpPr>
        <p:spPr>
          <a:xfrm>
            <a:off x="12045783" y="56007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</a:t>
            </a:r>
            <a:endParaRPr lang="en-US" sz="850" dirty="0"/>
          </a:p>
        </p:txBody>
      </p:sp>
      <p:sp>
        <p:nvSpPr>
          <p:cNvPr id="161" name="Shape 158"/>
          <p:cNvSpPr/>
          <p:nvPr/>
        </p:nvSpPr>
        <p:spPr>
          <a:xfrm>
            <a:off x="12541064" y="5554980"/>
            <a:ext cx="0" cy="4572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162" name="Text 159"/>
          <p:cNvSpPr txBox="1"/>
          <p:nvPr/>
        </p:nvSpPr>
        <p:spPr>
          <a:xfrm>
            <a:off x="12358184" y="56007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</a:t>
            </a:r>
            <a:endParaRPr lang="en-US" sz="850" dirty="0"/>
          </a:p>
        </p:txBody>
      </p:sp>
      <p:sp>
        <p:nvSpPr>
          <p:cNvPr id="163" name="Shape 160"/>
          <p:cNvSpPr/>
          <p:nvPr/>
        </p:nvSpPr>
        <p:spPr>
          <a:xfrm>
            <a:off x="12954037" y="5554980"/>
            <a:ext cx="0" cy="4572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164" name="Text 161"/>
          <p:cNvSpPr txBox="1"/>
          <p:nvPr/>
        </p:nvSpPr>
        <p:spPr>
          <a:xfrm>
            <a:off x="12771157" y="56007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</a:t>
            </a:r>
            <a:endParaRPr lang="en-US" sz="850" dirty="0"/>
          </a:p>
        </p:txBody>
      </p:sp>
      <p:sp>
        <p:nvSpPr>
          <p:cNvPr id="165" name="Shape 162"/>
          <p:cNvSpPr/>
          <p:nvPr/>
        </p:nvSpPr>
        <p:spPr>
          <a:xfrm>
            <a:off x="13266438" y="5554980"/>
            <a:ext cx="0" cy="45720"/>
          </a:xfrm>
          <a:prstGeom prst="line">
            <a:avLst/>
          </a:prstGeom>
          <a:noFill/>
          <a:ln w="9525">
            <a:solidFill>
              <a:srgbClr val="5F6675"/>
            </a:solidFill>
            <a:prstDash val="solid"/>
          </a:ln>
        </p:spPr>
      </p:sp>
      <p:sp>
        <p:nvSpPr>
          <p:cNvPr id="166" name="Text 163"/>
          <p:cNvSpPr txBox="1"/>
          <p:nvPr/>
        </p:nvSpPr>
        <p:spPr>
          <a:xfrm>
            <a:off x="13083558" y="560070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</a:t>
            </a:r>
            <a:endParaRPr lang="en-US" sz="850" dirty="0"/>
          </a:p>
        </p:txBody>
      </p:sp>
      <p:sp>
        <p:nvSpPr>
          <p:cNvPr id="167" name="Text 164"/>
          <p:cNvSpPr txBox="1"/>
          <p:nvPr/>
        </p:nvSpPr>
        <p:spPr>
          <a:xfrm>
            <a:off x="11686032" y="5756148"/>
            <a:ext cx="1892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 (escala log)</a:t>
            </a:r>
            <a:endParaRPr lang="en-US" sz="850" dirty="0"/>
          </a:p>
        </p:txBody>
      </p:sp>
      <p:sp>
        <p:nvSpPr>
          <p:cNvPr id="168" name="Shape 165"/>
          <p:cNvSpPr/>
          <p:nvPr/>
        </p:nvSpPr>
        <p:spPr>
          <a:xfrm>
            <a:off x="10479024" y="6057900"/>
            <a:ext cx="3172968" cy="621792"/>
          </a:xfrm>
          <a:prstGeom prst="rect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169" name="Text 166"/>
          <p:cNvSpPr txBox="1"/>
          <p:nvPr/>
        </p:nvSpPr>
        <p:spPr>
          <a:xfrm>
            <a:off x="10570464" y="6112764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¿Estratos similares?</a:t>
            </a:r>
            <a:endParaRPr lang="en-US" sz="950" dirty="0"/>
          </a:p>
          <a:p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Homogeneidad: χ²(2) = 2.80, p = 0.25. </a:t>
            </a:r>
            <a:pPr indent="0" marL="0">
              <a:buNone/>
            </a:pPr>
            <a:r>
              <a:rPr lang="es-E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Sí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→ reporta M-H. </a:t>
            </a:r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No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→ modificación de efecto: reporta cada estrato.</a:t>
            </a:r>
            <a:endParaRPr lang="en-US" sz="950" dirty="0"/>
          </a:p>
        </p:txBody>
      </p:sp>
      <p:sp>
        <p:nvSpPr>
          <p:cNvPr id="170" name="Shape 167"/>
          <p:cNvSpPr/>
          <p:nvPr/>
        </p:nvSpPr>
        <p:spPr>
          <a:xfrm>
            <a:off x="10479024" y="6734556"/>
            <a:ext cx="3172968" cy="621792"/>
          </a:xfrm>
          <a:prstGeom prst="rect">
            <a:avLst/>
          </a:prstGeom>
          <a:solidFill>
            <a:srgbClr val="F4F6FB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171" name="Text 168"/>
          <p:cNvSpPr txBox="1"/>
          <p:nvPr/>
        </p:nvSpPr>
        <p:spPr>
          <a:xfrm>
            <a:off x="10570464" y="6789420"/>
            <a:ext cx="2990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¿Cambió el estimado?</a:t>
            </a:r>
            <a:endParaRPr lang="en-US" sz="950" dirty="0"/>
          </a:p>
          <a:p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 crudo 2.02 vs OR M-H 3.09 → la raza confunde la asociación (regla práctica: cambio &gt; 10%).</a:t>
            </a:r>
            <a:endParaRPr lang="en-US" sz="950" dirty="0"/>
          </a:p>
        </p:txBody>
      </p:sp>
      <p:sp>
        <p:nvSpPr>
          <p:cNvPr id="172" name="Shape 169"/>
          <p:cNvSpPr/>
          <p:nvPr/>
        </p:nvSpPr>
        <p:spPr>
          <a:xfrm>
            <a:off x="10479024" y="7411212"/>
            <a:ext cx="3172968" cy="786384"/>
          </a:xfrm>
          <a:prstGeom prst="rect">
            <a:avLst/>
          </a:prstGeom>
          <a:solidFill>
            <a:srgbClr val="F4F6FB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173" name="Text 170"/>
          <p:cNvSpPr txBox="1"/>
          <p:nvPr/>
        </p:nvSpPr>
        <p:spPr>
          <a:xfrm>
            <a:off x="10570464" y="7466076"/>
            <a:ext cx="299008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¿Qué tan robusto?</a:t>
            </a:r>
            <a:endParaRPr lang="en-US" sz="950" dirty="0"/>
          </a:p>
          <a:p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E-value (M-H) 3.73: un confusor oculto necesitaría un RR ≥ 3.73 con el tabaquismo y con el BPN para anular la razón de riesgos M-H (2.15).</a:t>
            </a:r>
            <a:endParaRPr lang="en-US" sz="950" dirty="0"/>
          </a:p>
        </p:txBody>
      </p:sp>
      <p:sp>
        <p:nvSpPr>
          <p:cNvPr id="174" name="Text 171"/>
          <p:cNvSpPr txBox="1"/>
          <p:nvPr/>
        </p:nvSpPr>
        <p:spPr>
          <a:xfrm>
            <a:off x="10479024" y="8307324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res3$massoc.detail$OR.mh.wald</a:t>
            </a:r>
            <a:endParaRPr lang="en-US" sz="1100" dirty="0"/>
          </a:p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res3$massoc.detail$wOR.homog</a:t>
            </a:r>
            <a:endParaRPr lang="en-US" sz="1100" dirty="0"/>
          </a:p>
        </p:txBody>
      </p:sp>
      <p:sp>
        <p:nvSpPr>
          <p:cNvPr id="175" name="Text 172"/>
          <p:cNvSpPr txBox="1"/>
          <p:nvPr/>
        </p:nvSpPr>
        <p:spPr>
          <a:xfrm>
            <a:off x="10479024" y="874623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CONSEJOS: ¿QUÉ MEDIDA PUEDO REPORTAR?</a:t>
            </a:r>
            <a:endParaRPr lang="en-US" sz="1000" dirty="0"/>
          </a:p>
        </p:txBody>
      </p:sp>
      <p:sp>
        <p:nvSpPr>
          <p:cNvPr id="176" name="Shape 173"/>
          <p:cNvSpPr/>
          <p:nvPr/>
        </p:nvSpPr>
        <p:spPr>
          <a:xfrm>
            <a:off x="10479024" y="9066276"/>
            <a:ext cx="82296" cy="82296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7" name="Text 174"/>
          <p:cNvSpPr txBox="1"/>
          <p:nvPr/>
        </p:nvSpPr>
        <p:spPr>
          <a:xfrm>
            <a:off x="10643616" y="9002268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Casos y controles: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muestrea por desenlace, así que no se pueden estimar riesgos. Reporta el </a:t>
            </a:r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, nunca el RR.</a:t>
            </a:r>
            <a:endParaRPr lang="en-US" sz="950" dirty="0"/>
          </a:p>
        </p:txBody>
      </p:sp>
      <p:sp>
        <p:nvSpPr>
          <p:cNvPr id="178" name="Shape 175"/>
          <p:cNvSpPr/>
          <p:nvPr/>
        </p:nvSpPr>
        <p:spPr>
          <a:xfrm>
            <a:off x="10479024" y="9477756"/>
            <a:ext cx="82296" cy="82296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79" name="Text 176"/>
          <p:cNvSpPr txBox="1"/>
          <p:nvPr/>
        </p:nvSpPr>
        <p:spPr>
          <a:xfrm>
            <a:off x="10643616" y="9413748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Desenlace raro (&lt; 10%):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OR ≈ RR. Si es frecuente, el OR exagera el RR (aquí 2.02 vs 1.61).</a:t>
            </a:r>
            <a:endParaRPr lang="en-US" sz="950" dirty="0"/>
          </a:p>
        </p:txBody>
      </p:sp>
      <p:sp>
        <p:nvSpPr>
          <p:cNvPr id="180" name="Shape 177"/>
          <p:cNvSpPr/>
          <p:nvPr/>
        </p:nvSpPr>
        <p:spPr>
          <a:xfrm>
            <a:off x="10479024" y="9889236"/>
            <a:ext cx="82296" cy="82296"/>
          </a:xfrm>
          <a:prstGeom prst="ellips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81" name="Text 178"/>
          <p:cNvSpPr txBox="1"/>
          <p:nvPr/>
        </p:nvSpPr>
        <p:spPr>
          <a:xfrm>
            <a:off x="10643616" y="9825228"/>
            <a:ext cx="300837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Datos persona-tiempo: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usa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"cohort.time"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y fija 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units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(p. ej., 1000 personas-año).</a:t>
            </a:r>
            <a:endParaRPr lang="en-US" sz="950" dirty="0"/>
          </a:p>
        </p:txBody>
      </p:sp>
      <p:sp>
        <p:nvSpPr>
          <p:cNvPr id="182" name="Text 179"/>
          <p:cNvSpPr txBox="1"/>
          <p:nvPr/>
        </p:nvSpPr>
        <p:spPr>
          <a:xfrm>
            <a:off x="411480" y="10415016"/>
            <a:ext cx="1314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Anthony Romero-Cerdán  •  </a:t>
            </a:r>
            <a:pPr algn="r" indent="0" marL="0">
              <a:buNone/>
            </a:pPr>
            <a:r>
              <a:rPr lang="en-US" sz="900" u="sng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anthonyromero.netlify.app</a:t>
            </a:r>
            <a:pPr algn="r" indent="0" marL="0">
              <a:buNone/>
            </a:pPr>
            <a:r>
              <a:rPr lang="es-E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Más información en 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browseVignettes("epiR")</a:t>
            </a:r>
            <a:pPr algn="r" indent="0" marL="0">
              <a:buNone/>
            </a:pPr>
            <a:r>
              <a:rPr lang="es-E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versión de epiR 2.0.99  •  Actualizado: 2026-10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flipH="1" flipV="1">
            <a:off x="10680192" y="0"/>
            <a:ext cx="3291840" cy="1965960"/>
          </a:xfrm>
          <a:prstGeom prst="rtTriangle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11480" y="274320"/>
            <a:ext cx="10789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s-ES" sz="4000" dirty="0">
                <a:solidFill>
                  <a:srgbClr val="000F46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Epidemiología con epiR</a:t>
            </a:r>
            <a:pPr indent="0" marL="0">
              <a:buNone/>
            </a:pPr>
            <a:r>
              <a:rPr lang="en-US" sz="4000" dirty="0">
                <a:solidFill>
                  <a:srgbClr val="5F6675"/>
                </a:solidFill>
                <a:latin typeface="Source Sans Pro Light" pitchFamily="34" charset="0"/>
                <a:ea typeface="Source Sans Pro Light" pitchFamily="34" charset="-122"/>
                <a:cs typeface="Source Sans Pro Light" pitchFamily="34" charset="-120"/>
              </a:rPr>
              <a:t>  ::  </a:t>
            </a:r>
            <a:pPr indent="0" marL="0">
              <a:buNone/>
            </a:pPr>
            <a:r>
              <a:rPr lang="en-US" sz="3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CHEAT SHEET</a:t>
            </a:r>
            <a:endParaRPr lang="en-US" sz="1100" dirty="0"/>
          </a:p>
        </p:txBody>
      </p:sp>
      <p:sp>
        <p:nvSpPr>
          <p:cNvPr id="4" name="Text 2"/>
          <p:cNvSpPr txBox="1"/>
          <p:nvPr/>
        </p:nvSpPr>
        <p:spPr>
          <a:xfrm>
            <a:off x="429768" y="1042416"/>
            <a:ext cx="10607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3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La mayoría de funciones recibe conteos o resúmenes, no datos crudos, y devuelve estimados con intervalos de confianza.</a:t>
            </a:r>
            <a:endParaRPr lang="en-US" sz="1300" dirty="0"/>
          </a:p>
        </p:txBody>
      </p:sp>
      <p:pic>
        <p:nvPicPr>
          <p:cNvPr id="5" name="Image 0" descr="/home/claude/epir/sheet/epiR_h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371832" y="201168"/>
            <a:ext cx="1188720" cy="1371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11480" y="1645920"/>
            <a:ext cx="402336" cy="402336"/>
          </a:xfrm>
          <a:prstGeom prst="ellipse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411480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923544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Mide la frecuencia</a:t>
            </a:r>
            <a:endParaRPr lang="en-US" sz="2000" dirty="0"/>
          </a:p>
        </p:txBody>
      </p:sp>
      <p:sp>
        <p:nvSpPr>
          <p:cNvPr id="9" name="Text 6"/>
          <p:cNvSpPr txBox="1"/>
          <p:nvPr/>
        </p:nvSpPr>
        <p:spPr>
          <a:xfrm>
            <a:off x="411480" y="2194560"/>
            <a:ext cx="31729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epi.conf()</a:t>
            </a:r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recibe una matriz de (casos, denominador) y devuelve el estimado con su IC. Multiplica por tus unidades.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411480" y="283464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1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Prevalencia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26 de 200 encuestados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411480" y="3081528"/>
            <a:ext cx="3172968" cy="59893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484632" y="3145536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cbind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(26, 200)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epi.conf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(dat, ctype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"prevalence"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"wilson"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100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411480" y="3698748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algn="r" indent="0" marL="0">
              <a:buNone/>
            </a:pPr>
            <a:r>
              <a:rPr lang="en-US" sz="12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13.0</a:t>
            </a:r>
            <a:pPr algn="r" indent="0" marL="0">
              <a:buNone/>
            </a:pPr>
            <a:r>
              <a:rPr lang="es-E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(9.0 – 18.4) por 100</a:t>
            </a:r>
            <a:endParaRPr lang="en-US" sz="1000" dirty="0"/>
          </a:p>
        </p:txBody>
      </p:sp>
      <p:sp>
        <p:nvSpPr>
          <p:cNvPr id="14" name="Text 11"/>
          <p:cNvSpPr txBox="1"/>
          <p:nvPr/>
        </p:nvSpPr>
        <p:spPr>
          <a:xfrm>
            <a:off x="411480" y="398221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1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Riesgo de incidencia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12 casos nuevos en 300 seguidos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411480" y="4229100"/>
            <a:ext cx="3172968" cy="59893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84632" y="4293108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epi.conf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cbind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(12, 300),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ctype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"inc.risk"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"exact"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100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411480" y="4846320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algn="r" indent="0" marL="0">
              <a:buNone/>
            </a:pPr>
            <a:r>
              <a:rPr lang="en-US" sz="12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4.0</a:t>
            </a:r>
            <a:pPr algn="r" indent="0" marL="0">
              <a:buNone/>
            </a:pPr>
            <a:r>
              <a:rPr lang="es-E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(2.1 – 6.9) por 100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411480" y="512978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1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Tasa de incidencia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136 casos en 22 050 personas-año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5376672"/>
            <a:ext cx="3172968" cy="59893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4632" y="5440680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epi.conf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cbind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(136, 22050),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ctype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"inc.rate"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"exact"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* 1000</a:t>
            </a:r>
            <a:endParaRPr lang="en-US" sz="1100" dirty="0"/>
          </a:p>
        </p:txBody>
      </p:sp>
      <p:sp>
        <p:nvSpPr>
          <p:cNvPr id="21" name="Text 18"/>
          <p:cNvSpPr txBox="1"/>
          <p:nvPr/>
        </p:nvSpPr>
        <p:spPr>
          <a:xfrm>
            <a:off x="411480" y="5993892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algn="r" indent="0" marL="0">
              <a:buNone/>
            </a:pPr>
            <a:r>
              <a:rPr lang="en-US" sz="12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6.17</a:t>
            </a:r>
            <a:pPr algn="r" indent="0" marL="0">
              <a:buNone/>
            </a:pPr>
            <a:r>
              <a:rPr lang="es-ES" sz="10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(5.17 – 7.30) por 1000 PA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411480" y="627735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OTROS ctype = …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411480" y="6505956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"mean.single"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"prop.single"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"odds"</a:t>
            </a:r>
            <a:pPr indent="0" marL="0">
              <a:buNone/>
            </a:pPr>
            <a:r>
              <a:rPr lang="en-US" sz="9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</a:t>
            </a:r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"smr"</a:t>
            </a:r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y versiones pareadas / no pareadas.</a:t>
            </a:r>
            <a:endParaRPr lang="en-US" sz="900" dirty="0"/>
          </a:p>
        </p:txBody>
      </p:sp>
      <p:sp>
        <p:nvSpPr>
          <p:cNvPr id="24" name="Text 21"/>
          <p:cNvSpPr txBox="1"/>
          <p:nvPr/>
        </p:nvSpPr>
        <p:spPr>
          <a:xfrm>
            <a:off x="411480" y="698144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PREVALENCIA APARENTE → REAL</a:t>
            </a:r>
            <a:endParaRPr lang="en-US" sz="1000" dirty="0"/>
          </a:p>
        </p:txBody>
      </p:sp>
      <p:sp>
        <p:nvSpPr>
          <p:cNvPr id="25" name="Text 22"/>
          <p:cNvSpPr txBox="1"/>
          <p:nvPr/>
        </p:nvSpPr>
        <p:spPr>
          <a:xfrm>
            <a:off x="411480" y="722833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Una prueba con Se/Sp imperfectas distorsiona la prevalencia. </a:t>
            </a:r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epi.prev()</a:t>
            </a:r>
            <a:pPr indent="0" marL="0">
              <a:buNone/>
            </a:pPr>
            <a:r>
              <a:rPr lang="es-E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la corrige (Rogan–Gladen).</a:t>
            </a:r>
            <a:endParaRPr lang="en-US" sz="1000" dirty="0"/>
          </a:p>
        </p:txBody>
      </p:sp>
      <p:sp>
        <p:nvSpPr>
          <p:cNvPr id="26" name="Shape 23"/>
          <p:cNvSpPr/>
          <p:nvPr/>
        </p:nvSpPr>
        <p:spPr>
          <a:xfrm>
            <a:off x="411480" y="7658100"/>
            <a:ext cx="3172968" cy="448056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484632" y="7722108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epi.prev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(pos = 26, tested = 200,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 = 0.90, sp = 0.95, units = 100)$tp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411480" y="8234172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Aparente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1216152" y="8270748"/>
            <a:ext cx="1116482" cy="182880"/>
          </a:xfrm>
          <a:prstGeom prst="rect">
            <a:avLst/>
          </a:prstGeom>
          <a:solidFill>
            <a:srgbClr val="8C97BF"/>
          </a:solidFill>
          <a:ln w="12700">
            <a:solidFill>
              <a:srgbClr val="8C97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2396642" y="8234172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13.0%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411480" y="854506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Real</a:t>
            </a:r>
            <a:endParaRPr lang="en-US" sz="1000" dirty="0"/>
          </a:p>
        </p:txBody>
      </p:sp>
      <p:sp>
        <p:nvSpPr>
          <p:cNvPr id="32" name="Shape 29"/>
          <p:cNvSpPr/>
          <p:nvPr/>
        </p:nvSpPr>
        <p:spPr>
          <a:xfrm>
            <a:off x="1216152" y="8581644"/>
            <a:ext cx="808161" cy="182880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2088321" y="8545068"/>
            <a:ext cx="1463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9.4%  (4.7 – 15.7)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411480" y="891997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s-ES" sz="10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 = (PA + Sp − 1) ÷ (Se + Sp − 1)</a:t>
            </a:r>
            <a:endParaRPr lang="en-US" sz="1000" dirty="0"/>
          </a:p>
        </p:txBody>
      </p:sp>
      <p:sp>
        <p:nvSpPr>
          <p:cNvPr id="35" name="Text 32"/>
          <p:cNvSpPr txBox="1"/>
          <p:nvPr/>
        </p:nvSpPr>
        <p:spPr>
          <a:xfrm>
            <a:off x="411480" y="930402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COMPARA CON UNA POBLACIÓN ESTÁNDAR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11480" y="9550908"/>
            <a:ext cx="3172968" cy="297180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84632" y="9614916"/>
            <a:ext cx="3044952" cy="2057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epi.smr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(obs = 30, exp = 20, 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"byar"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411480" y="9884664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algn="r" indent="0" marL="0">
              <a:buNone/>
            </a:pPr>
            <a:r>
              <a:rPr lang="es-ES" sz="12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RME 1.50</a:t>
            </a:r>
            <a:pPr algn="r"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(1.01 – 2.14): 50% más muertes de lo esperado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411480" y="1017727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Tasas ajustadas: </a:t>
            </a:r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epi.directadj()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(directa) · </a:t>
            </a:r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epi.indirectadj()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(indirecta).</a:t>
            </a:r>
            <a:endParaRPr lang="en-US" sz="950" dirty="0"/>
          </a:p>
        </p:txBody>
      </p:sp>
      <p:sp>
        <p:nvSpPr>
          <p:cNvPr id="40" name="Shape 37"/>
          <p:cNvSpPr/>
          <p:nvPr/>
        </p:nvSpPr>
        <p:spPr>
          <a:xfrm>
            <a:off x="3767328" y="1645920"/>
            <a:ext cx="402336" cy="402336"/>
          </a:xfrm>
          <a:prstGeom prst="ellipse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3767328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4279392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Pruebas diagnósticas</a:t>
            </a:r>
            <a:endParaRPr lang="en-US" sz="2000" dirty="0"/>
          </a:p>
        </p:txBody>
      </p:sp>
      <p:sp>
        <p:nvSpPr>
          <p:cNvPr id="43" name="Text 40"/>
          <p:cNvSpPr txBox="1"/>
          <p:nvPr/>
        </p:nvSpPr>
        <p:spPr>
          <a:xfrm>
            <a:off x="3767328" y="219456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Resultado de la prueba en filas, estado real (estándar de oro) en columnas. </a:t>
            </a:r>
            <a:pPr indent="0" marL="0">
              <a:buNone/>
            </a:pPr>
            <a:r>
              <a:rPr lang="es-ES" sz="10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Positivos primero.</a:t>
            </a:r>
            <a:endParaRPr lang="en-US" sz="1050" dirty="0"/>
          </a:p>
        </p:txBody>
      </p:sp>
      <p:sp>
        <p:nvSpPr>
          <p:cNvPr id="44" name="Shape 41"/>
          <p:cNvSpPr/>
          <p:nvPr/>
        </p:nvSpPr>
        <p:spPr>
          <a:xfrm>
            <a:off x="4480560" y="2624328"/>
            <a:ext cx="758952" cy="329184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4480560" y="2624328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Enfermo +</a:t>
            </a:r>
            <a:endParaRPr lang="en-US" sz="1000" dirty="0"/>
          </a:p>
        </p:txBody>
      </p:sp>
      <p:sp>
        <p:nvSpPr>
          <p:cNvPr id="46" name="Shape 43"/>
          <p:cNvSpPr/>
          <p:nvPr/>
        </p:nvSpPr>
        <p:spPr>
          <a:xfrm>
            <a:off x="5266944" y="2624328"/>
            <a:ext cx="758952" cy="329184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266944" y="2624328"/>
            <a:ext cx="75895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Enfermo −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3767328" y="2980944"/>
            <a:ext cx="685800" cy="438912"/>
          </a:xfrm>
          <a:prstGeom prst="rect">
            <a:avLst/>
          </a:prstGeom>
          <a:solidFill>
            <a:srgbClr val="26346E"/>
          </a:solidFill>
          <a:ln w="12700">
            <a:solidFill>
              <a:srgbClr val="26346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3767328" y="2980944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Prueba +</a:t>
            </a:r>
            <a:endParaRPr lang="en-US" sz="1000" dirty="0"/>
          </a:p>
        </p:txBody>
      </p:sp>
      <p:sp>
        <p:nvSpPr>
          <p:cNvPr id="50" name="Shape 47"/>
          <p:cNvSpPr/>
          <p:nvPr/>
        </p:nvSpPr>
        <p:spPr>
          <a:xfrm>
            <a:off x="4480560" y="2980944"/>
            <a:ext cx="758952" cy="438912"/>
          </a:xfrm>
          <a:prstGeom prst="rect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4480560" y="2980944"/>
            <a:ext cx="758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</a:t>
            </a:r>
            <a:pPr algn="ct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670</a:t>
            </a:r>
            <a:endParaRPr lang="en-US" sz="1100" dirty="0"/>
          </a:p>
        </p:txBody>
      </p:sp>
      <p:sp>
        <p:nvSpPr>
          <p:cNvPr id="52" name="Shape 49"/>
          <p:cNvSpPr/>
          <p:nvPr/>
        </p:nvSpPr>
        <p:spPr>
          <a:xfrm>
            <a:off x="5266944" y="2980944"/>
            <a:ext cx="758952" cy="438912"/>
          </a:xfrm>
          <a:prstGeom prst="rect">
            <a:avLst/>
          </a:prstGeom>
          <a:solidFill>
            <a:srgbClr val="FDF3DF"/>
          </a:solidFill>
          <a:ln w="12700">
            <a:solidFill>
              <a:srgbClr val="FDF3DF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266944" y="2980944"/>
            <a:ext cx="758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b </a:t>
            </a:r>
            <a:pPr algn="ct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202</a:t>
            </a:r>
            <a:endParaRPr lang="en-US" sz="1100" dirty="0"/>
          </a:p>
        </p:txBody>
      </p:sp>
      <p:sp>
        <p:nvSpPr>
          <p:cNvPr id="54" name="Shape 51"/>
          <p:cNvSpPr/>
          <p:nvPr/>
        </p:nvSpPr>
        <p:spPr>
          <a:xfrm>
            <a:off x="3767328" y="3447288"/>
            <a:ext cx="685800" cy="438912"/>
          </a:xfrm>
          <a:prstGeom prst="rect">
            <a:avLst/>
          </a:prstGeom>
          <a:solidFill>
            <a:srgbClr val="26346E"/>
          </a:solidFill>
          <a:ln w="12700">
            <a:solidFill>
              <a:srgbClr val="26346E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3767328" y="3447288"/>
            <a:ext cx="6858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10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Prueba −</a:t>
            </a:r>
            <a:endParaRPr lang="en-US" sz="1000" dirty="0"/>
          </a:p>
        </p:txBody>
      </p:sp>
      <p:sp>
        <p:nvSpPr>
          <p:cNvPr id="56" name="Shape 53"/>
          <p:cNvSpPr/>
          <p:nvPr/>
        </p:nvSpPr>
        <p:spPr>
          <a:xfrm>
            <a:off x="4480560" y="3447288"/>
            <a:ext cx="758952" cy="438912"/>
          </a:xfrm>
          <a:prstGeom prst="rect">
            <a:avLst/>
          </a:prstGeom>
          <a:solidFill>
            <a:srgbClr val="FDF3DF"/>
          </a:solidFill>
          <a:ln w="12700">
            <a:solidFill>
              <a:srgbClr val="FDF3DF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4480560" y="3447288"/>
            <a:ext cx="758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 </a:t>
            </a:r>
            <a:pPr algn="ct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74</a:t>
            </a:r>
            <a:endParaRPr lang="en-US" sz="1100" dirty="0"/>
          </a:p>
        </p:txBody>
      </p:sp>
      <p:sp>
        <p:nvSpPr>
          <p:cNvPr id="58" name="Shape 55"/>
          <p:cNvSpPr/>
          <p:nvPr/>
        </p:nvSpPr>
        <p:spPr>
          <a:xfrm>
            <a:off x="5266944" y="3447288"/>
            <a:ext cx="758952" cy="438912"/>
          </a:xfrm>
          <a:prstGeom prst="rect">
            <a:avLst/>
          </a:prstGeom>
          <a:solidFill>
            <a:srgbClr val="E9EDF7"/>
          </a:solidFill>
          <a:ln w="12700">
            <a:solidFill>
              <a:srgbClr val="E9EDF7"/>
            </a:solidFill>
            <a:prstDash val="solid"/>
          </a:ln>
        </p:spPr>
      </p:sp>
      <p:sp>
        <p:nvSpPr>
          <p:cNvPr id="59" name="Text 56"/>
          <p:cNvSpPr txBox="1"/>
          <p:nvPr/>
        </p:nvSpPr>
        <p:spPr>
          <a:xfrm>
            <a:off x="5266944" y="3447288"/>
            <a:ext cx="75895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 </a:t>
            </a:r>
            <a:pPr algn="ct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640</a:t>
            </a:r>
            <a:endParaRPr lang="en-US" sz="1100" dirty="0"/>
          </a:p>
        </p:txBody>
      </p:sp>
      <p:sp>
        <p:nvSpPr>
          <p:cNvPr id="60" name="Text 57"/>
          <p:cNvSpPr txBox="1"/>
          <p:nvPr/>
        </p:nvSpPr>
        <p:spPr>
          <a:xfrm>
            <a:off x="6144768" y="2642616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= </a:t>
            </a:r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÷ (a+c)</a:t>
            </a:r>
            <a:endParaRPr lang="en-US" sz="1000" dirty="0"/>
          </a:p>
        </p:txBody>
      </p:sp>
      <p:sp>
        <p:nvSpPr>
          <p:cNvPr id="61" name="Text 58"/>
          <p:cNvSpPr txBox="1"/>
          <p:nvPr/>
        </p:nvSpPr>
        <p:spPr>
          <a:xfrm>
            <a:off x="6144768" y="2935224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Sp = </a:t>
            </a:r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 ÷ (b+d)</a:t>
            </a:r>
            <a:endParaRPr lang="en-US" sz="1000" dirty="0"/>
          </a:p>
        </p:txBody>
      </p:sp>
      <p:sp>
        <p:nvSpPr>
          <p:cNvPr id="62" name="Text 59"/>
          <p:cNvSpPr txBox="1"/>
          <p:nvPr/>
        </p:nvSpPr>
        <p:spPr>
          <a:xfrm>
            <a:off x="6144768" y="3227832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VPP = </a:t>
            </a:r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 ÷ (a+b)</a:t>
            </a:r>
            <a:endParaRPr lang="en-US" sz="1000" dirty="0"/>
          </a:p>
        </p:txBody>
      </p:sp>
      <p:sp>
        <p:nvSpPr>
          <p:cNvPr id="63" name="Text 60"/>
          <p:cNvSpPr txBox="1"/>
          <p:nvPr/>
        </p:nvSpPr>
        <p:spPr>
          <a:xfrm>
            <a:off x="6144768" y="3520440"/>
            <a:ext cx="795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VPN = </a:t>
            </a:r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 ÷ (c+d)</a:t>
            </a:r>
            <a:endParaRPr lang="en-US" sz="1000" dirty="0"/>
          </a:p>
        </p:txBody>
      </p:sp>
      <p:sp>
        <p:nvSpPr>
          <p:cNvPr id="64" name="Shape 61"/>
          <p:cNvSpPr/>
          <p:nvPr/>
        </p:nvSpPr>
        <p:spPr>
          <a:xfrm>
            <a:off x="3767328" y="4023360"/>
            <a:ext cx="3172968" cy="59893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3840480" y="4087368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epi.tests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(670, 202, 74, 640),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method = 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"exact"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dx; dx$detail   </a:t>
            </a:r>
            <a:pPr indent="0" marL="0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A80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todos los estadísticos</a:t>
            </a:r>
            <a:endParaRPr lang="en-US" sz="1100" dirty="0"/>
          </a:p>
        </p:txBody>
      </p:sp>
      <p:sp>
        <p:nvSpPr>
          <p:cNvPr id="66" name="Shape 63"/>
          <p:cNvSpPr/>
          <p:nvPr/>
        </p:nvSpPr>
        <p:spPr>
          <a:xfrm>
            <a:off x="3767328" y="4732020"/>
            <a:ext cx="3172968" cy="274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3822192" y="473202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Sensibilidad</a:t>
            </a:r>
            <a:endParaRPr lang="en-US" sz="1000" dirty="0"/>
          </a:p>
        </p:txBody>
      </p:sp>
      <p:sp>
        <p:nvSpPr>
          <p:cNvPr id="68" name="Text 65"/>
          <p:cNvSpPr txBox="1"/>
          <p:nvPr/>
        </p:nvSpPr>
        <p:spPr>
          <a:xfrm>
            <a:off x="4572000" y="473202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0.90</a:t>
            </a:r>
            <a:endParaRPr lang="en-US" sz="1000" dirty="0"/>
          </a:p>
        </p:txBody>
      </p:sp>
      <p:sp>
        <p:nvSpPr>
          <p:cNvPr id="69" name="Text 66"/>
          <p:cNvSpPr txBox="1"/>
          <p:nvPr/>
        </p:nvSpPr>
        <p:spPr>
          <a:xfrm>
            <a:off x="5010912" y="473202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(0.88, 0.92)</a:t>
            </a:r>
            <a:endParaRPr lang="en-US" sz="900" dirty="0"/>
          </a:p>
        </p:txBody>
      </p:sp>
      <p:sp>
        <p:nvSpPr>
          <p:cNvPr id="70" name="Text 67"/>
          <p:cNvSpPr txBox="1"/>
          <p:nvPr/>
        </p:nvSpPr>
        <p:spPr>
          <a:xfrm>
            <a:off x="5852160" y="473202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detecta a los enfermos</a:t>
            </a:r>
            <a:endParaRPr lang="en-US" sz="900" dirty="0"/>
          </a:p>
        </p:txBody>
      </p:sp>
      <p:sp>
        <p:nvSpPr>
          <p:cNvPr id="71" name="Text 68"/>
          <p:cNvSpPr txBox="1"/>
          <p:nvPr/>
        </p:nvSpPr>
        <p:spPr>
          <a:xfrm>
            <a:off x="3822192" y="500634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Especificidad</a:t>
            </a:r>
            <a:endParaRPr lang="en-US" sz="1000" dirty="0"/>
          </a:p>
        </p:txBody>
      </p:sp>
      <p:sp>
        <p:nvSpPr>
          <p:cNvPr id="72" name="Text 69"/>
          <p:cNvSpPr txBox="1"/>
          <p:nvPr/>
        </p:nvSpPr>
        <p:spPr>
          <a:xfrm>
            <a:off x="4572000" y="500634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0.76</a:t>
            </a:r>
            <a:endParaRPr lang="en-US" sz="1000" dirty="0"/>
          </a:p>
        </p:txBody>
      </p:sp>
      <p:sp>
        <p:nvSpPr>
          <p:cNvPr id="73" name="Text 70"/>
          <p:cNvSpPr txBox="1"/>
          <p:nvPr/>
        </p:nvSpPr>
        <p:spPr>
          <a:xfrm>
            <a:off x="5010912" y="500634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(0.73, 0.79)</a:t>
            </a:r>
            <a:endParaRPr lang="en-US" sz="900" dirty="0"/>
          </a:p>
        </p:txBody>
      </p:sp>
      <p:sp>
        <p:nvSpPr>
          <p:cNvPr id="74" name="Text 71"/>
          <p:cNvSpPr txBox="1"/>
          <p:nvPr/>
        </p:nvSpPr>
        <p:spPr>
          <a:xfrm>
            <a:off x="5852160" y="500634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descarta a los sanos</a:t>
            </a:r>
            <a:endParaRPr lang="en-US" sz="900" dirty="0"/>
          </a:p>
        </p:txBody>
      </p:sp>
      <p:sp>
        <p:nvSpPr>
          <p:cNvPr id="75" name="Shape 72"/>
          <p:cNvSpPr/>
          <p:nvPr/>
        </p:nvSpPr>
        <p:spPr>
          <a:xfrm>
            <a:off x="3767328" y="5280660"/>
            <a:ext cx="3172968" cy="274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3822192" y="528066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VPP</a:t>
            </a:r>
            <a:endParaRPr lang="en-US" sz="1000" dirty="0"/>
          </a:p>
        </p:txBody>
      </p:sp>
      <p:sp>
        <p:nvSpPr>
          <p:cNvPr id="77" name="Text 74"/>
          <p:cNvSpPr txBox="1"/>
          <p:nvPr/>
        </p:nvSpPr>
        <p:spPr>
          <a:xfrm>
            <a:off x="4572000" y="528066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0.77</a:t>
            </a:r>
            <a:endParaRPr lang="en-US" sz="1000" dirty="0"/>
          </a:p>
        </p:txBody>
      </p:sp>
      <p:sp>
        <p:nvSpPr>
          <p:cNvPr id="78" name="Text 75"/>
          <p:cNvSpPr txBox="1"/>
          <p:nvPr/>
        </p:nvSpPr>
        <p:spPr>
          <a:xfrm>
            <a:off x="5010912" y="528066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(0.74, 0.80)</a:t>
            </a:r>
            <a:endParaRPr lang="en-US" sz="900" dirty="0"/>
          </a:p>
        </p:txBody>
      </p:sp>
      <p:sp>
        <p:nvSpPr>
          <p:cNvPr id="79" name="Text 76"/>
          <p:cNvSpPr txBox="1"/>
          <p:nvPr/>
        </p:nvSpPr>
        <p:spPr>
          <a:xfrm>
            <a:off x="5852160" y="52806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P(D+ | T+)</a:t>
            </a:r>
            <a:endParaRPr lang="en-US" sz="900" dirty="0"/>
          </a:p>
        </p:txBody>
      </p:sp>
      <p:sp>
        <p:nvSpPr>
          <p:cNvPr id="80" name="Text 77"/>
          <p:cNvSpPr txBox="1"/>
          <p:nvPr/>
        </p:nvSpPr>
        <p:spPr>
          <a:xfrm>
            <a:off x="3822192" y="555498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VPN</a:t>
            </a:r>
            <a:endParaRPr lang="en-US" sz="1000" dirty="0"/>
          </a:p>
        </p:txBody>
      </p:sp>
      <p:sp>
        <p:nvSpPr>
          <p:cNvPr id="81" name="Text 78"/>
          <p:cNvSpPr txBox="1"/>
          <p:nvPr/>
        </p:nvSpPr>
        <p:spPr>
          <a:xfrm>
            <a:off x="4572000" y="555498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0.90</a:t>
            </a:r>
            <a:endParaRPr lang="en-US" sz="1000" dirty="0"/>
          </a:p>
        </p:txBody>
      </p:sp>
      <p:sp>
        <p:nvSpPr>
          <p:cNvPr id="82" name="Text 79"/>
          <p:cNvSpPr txBox="1"/>
          <p:nvPr/>
        </p:nvSpPr>
        <p:spPr>
          <a:xfrm>
            <a:off x="5010912" y="555498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(0.87, 0.92)</a:t>
            </a:r>
            <a:endParaRPr lang="en-US" sz="900" dirty="0"/>
          </a:p>
        </p:txBody>
      </p:sp>
      <p:sp>
        <p:nvSpPr>
          <p:cNvPr id="83" name="Text 80"/>
          <p:cNvSpPr txBox="1"/>
          <p:nvPr/>
        </p:nvSpPr>
        <p:spPr>
          <a:xfrm>
            <a:off x="5852160" y="555498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P(D− | T−)</a:t>
            </a:r>
            <a:endParaRPr lang="en-US" sz="900" dirty="0"/>
          </a:p>
        </p:txBody>
      </p:sp>
      <p:sp>
        <p:nvSpPr>
          <p:cNvPr id="84" name="Shape 81"/>
          <p:cNvSpPr/>
          <p:nvPr/>
        </p:nvSpPr>
        <p:spPr>
          <a:xfrm>
            <a:off x="3767328" y="5829300"/>
            <a:ext cx="3172968" cy="274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3822192" y="582930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RV+</a:t>
            </a:r>
            <a:endParaRPr lang="en-US" sz="1000" dirty="0"/>
          </a:p>
        </p:txBody>
      </p:sp>
      <p:sp>
        <p:nvSpPr>
          <p:cNvPr id="86" name="Text 83"/>
          <p:cNvSpPr txBox="1"/>
          <p:nvPr/>
        </p:nvSpPr>
        <p:spPr>
          <a:xfrm>
            <a:off x="4572000" y="582930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3.75</a:t>
            </a:r>
            <a:endParaRPr lang="en-US" sz="1000" dirty="0"/>
          </a:p>
        </p:txBody>
      </p:sp>
      <p:sp>
        <p:nvSpPr>
          <p:cNvPr id="87" name="Text 84"/>
          <p:cNvSpPr txBox="1"/>
          <p:nvPr/>
        </p:nvSpPr>
        <p:spPr>
          <a:xfrm>
            <a:off x="5010912" y="582930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(3.32, 4.24)</a:t>
            </a:r>
            <a:endParaRPr lang="en-US" sz="900" dirty="0"/>
          </a:p>
        </p:txBody>
      </p:sp>
      <p:sp>
        <p:nvSpPr>
          <p:cNvPr id="88" name="Text 85"/>
          <p:cNvSpPr txBox="1"/>
          <p:nvPr/>
        </p:nvSpPr>
        <p:spPr>
          <a:xfrm>
            <a:off x="5852160" y="582930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÷ (1 − Sp)</a:t>
            </a:r>
            <a:endParaRPr lang="en-US" sz="900" dirty="0"/>
          </a:p>
        </p:txBody>
      </p:sp>
      <p:sp>
        <p:nvSpPr>
          <p:cNvPr id="89" name="Text 86"/>
          <p:cNvSpPr txBox="1"/>
          <p:nvPr/>
        </p:nvSpPr>
        <p:spPr>
          <a:xfrm>
            <a:off x="3822192" y="610362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RV−</a:t>
            </a:r>
            <a:endParaRPr lang="en-US" sz="1000" dirty="0"/>
          </a:p>
        </p:txBody>
      </p:sp>
      <p:sp>
        <p:nvSpPr>
          <p:cNvPr id="90" name="Text 87"/>
          <p:cNvSpPr txBox="1"/>
          <p:nvPr/>
        </p:nvSpPr>
        <p:spPr>
          <a:xfrm>
            <a:off x="4572000" y="610362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0.13</a:t>
            </a:r>
            <a:endParaRPr lang="en-US" sz="1000" dirty="0"/>
          </a:p>
        </p:txBody>
      </p:sp>
      <p:sp>
        <p:nvSpPr>
          <p:cNvPr id="91" name="Text 88"/>
          <p:cNvSpPr txBox="1"/>
          <p:nvPr/>
        </p:nvSpPr>
        <p:spPr>
          <a:xfrm>
            <a:off x="5010912" y="610362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(0.11, 0.16)</a:t>
            </a:r>
            <a:endParaRPr lang="en-US" sz="900" dirty="0"/>
          </a:p>
        </p:txBody>
      </p:sp>
      <p:sp>
        <p:nvSpPr>
          <p:cNvPr id="92" name="Text 89"/>
          <p:cNvSpPr txBox="1"/>
          <p:nvPr/>
        </p:nvSpPr>
        <p:spPr>
          <a:xfrm>
            <a:off x="5852160" y="610362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(1 − Se) ÷ Sp</a:t>
            </a:r>
            <a:endParaRPr lang="en-US" sz="900" dirty="0"/>
          </a:p>
        </p:txBody>
      </p:sp>
      <p:sp>
        <p:nvSpPr>
          <p:cNvPr id="93" name="Shape 90"/>
          <p:cNvSpPr/>
          <p:nvPr/>
        </p:nvSpPr>
        <p:spPr>
          <a:xfrm>
            <a:off x="3767328" y="6377940"/>
            <a:ext cx="3172968" cy="274320"/>
          </a:xfrm>
          <a:prstGeom prst="rect">
            <a:avLst/>
          </a:prstGeom>
          <a:solidFill>
            <a:srgbClr val="F4F6FB"/>
          </a:solidFill>
          <a:ln w="12700">
            <a:solidFill>
              <a:srgbClr val="F4F6FB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3822192" y="637794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Youden</a:t>
            </a:r>
            <a:endParaRPr lang="en-US" sz="1000" dirty="0"/>
          </a:p>
        </p:txBody>
      </p:sp>
      <p:sp>
        <p:nvSpPr>
          <p:cNvPr id="95" name="Text 92"/>
          <p:cNvSpPr txBox="1"/>
          <p:nvPr/>
        </p:nvSpPr>
        <p:spPr>
          <a:xfrm>
            <a:off x="4572000" y="637794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0.66</a:t>
            </a:r>
            <a:endParaRPr lang="en-US" sz="1000" dirty="0"/>
          </a:p>
        </p:txBody>
      </p:sp>
      <p:sp>
        <p:nvSpPr>
          <p:cNvPr id="96" name="Text 93"/>
          <p:cNvSpPr txBox="1"/>
          <p:nvPr/>
        </p:nvSpPr>
        <p:spPr>
          <a:xfrm>
            <a:off x="5010912" y="637794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(0.61, 0.71)</a:t>
            </a:r>
            <a:endParaRPr lang="en-US" sz="900" dirty="0"/>
          </a:p>
        </p:txBody>
      </p:sp>
      <p:sp>
        <p:nvSpPr>
          <p:cNvPr id="97" name="Text 94"/>
          <p:cNvSpPr txBox="1"/>
          <p:nvPr/>
        </p:nvSpPr>
        <p:spPr>
          <a:xfrm>
            <a:off x="5852160" y="637794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+ Sp − 1</a:t>
            </a:r>
            <a:endParaRPr lang="en-US" sz="900" dirty="0"/>
          </a:p>
        </p:txBody>
      </p:sp>
      <p:sp>
        <p:nvSpPr>
          <p:cNvPr id="98" name="Text 95"/>
          <p:cNvSpPr txBox="1"/>
          <p:nvPr/>
        </p:nvSpPr>
        <p:spPr>
          <a:xfrm>
            <a:off x="3822192" y="6652260"/>
            <a:ext cx="77724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Exactitud</a:t>
            </a:r>
            <a:endParaRPr lang="en-US" sz="1000" dirty="0"/>
          </a:p>
        </p:txBody>
      </p:sp>
      <p:sp>
        <p:nvSpPr>
          <p:cNvPr id="99" name="Text 96"/>
          <p:cNvSpPr txBox="1"/>
          <p:nvPr/>
        </p:nvSpPr>
        <p:spPr>
          <a:xfrm>
            <a:off x="4572000" y="6652260"/>
            <a:ext cx="384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0.83</a:t>
            </a:r>
            <a:endParaRPr lang="en-US" sz="1000" dirty="0"/>
          </a:p>
        </p:txBody>
      </p:sp>
      <p:sp>
        <p:nvSpPr>
          <p:cNvPr id="100" name="Text 97"/>
          <p:cNvSpPr txBox="1"/>
          <p:nvPr/>
        </p:nvSpPr>
        <p:spPr>
          <a:xfrm>
            <a:off x="5010912" y="6652260"/>
            <a:ext cx="8412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(0.81, 0.84)</a:t>
            </a:r>
            <a:endParaRPr lang="en-US" sz="900" dirty="0"/>
          </a:p>
        </p:txBody>
      </p:sp>
      <p:sp>
        <p:nvSpPr>
          <p:cNvPr id="101" name="Text 98"/>
          <p:cNvSpPr txBox="1"/>
          <p:nvPr/>
        </p:nvSpPr>
        <p:spPr>
          <a:xfrm>
            <a:off x="5852160" y="6652260"/>
            <a:ext cx="1051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(a + d) ÷ n</a:t>
            </a:r>
            <a:endParaRPr lang="en-US" sz="900" dirty="0"/>
          </a:p>
        </p:txBody>
      </p:sp>
      <p:sp>
        <p:nvSpPr>
          <p:cNvPr id="102" name="Shape 99"/>
          <p:cNvSpPr/>
          <p:nvPr/>
        </p:nvSpPr>
        <p:spPr>
          <a:xfrm>
            <a:off x="3767328" y="7109460"/>
            <a:ext cx="3172968" cy="841248"/>
          </a:xfrm>
          <a:prstGeom prst="roundRect">
            <a:avLst>
              <a:gd name="adj" fmla="val 6522"/>
            </a:avLst>
          </a:prstGeom>
          <a:solidFill>
            <a:srgbClr val="FDF3DF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3858768" y="7173468"/>
            <a:ext cx="29900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CONSEJO 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Se y Sp son de la prueba; </a:t>
            </a:r>
            <a:pPr indent="0" marL="0">
              <a:buNone/>
            </a:pPr>
            <a:r>
              <a:rPr lang="es-E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el VPP y el VPN dependen de la prevalencia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. Solo aplican a tus pacientes si la prevalencia es similar. Si no, usa las razones de verosimilitud (ver →).</a:t>
            </a:r>
            <a:endParaRPr lang="en-US" sz="950" dirty="0"/>
          </a:p>
        </p:txBody>
      </p:sp>
      <p:sp>
        <p:nvSpPr>
          <p:cNvPr id="104" name="Text 101"/>
          <p:cNvSpPr txBox="1"/>
          <p:nvPr/>
        </p:nvSpPr>
        <p:spPr>
          <a:xfrm>
            <a:off x="3767328" y="809701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MISMA PRUEBA, OTRA PREVALENCIA</a:t>
            </a:r>
            <a:endParaRPr lang="en-US" sz="1000" dirty="0"/>
          </a:p>
        </p:txBody>
      </p:sp>
      <p:sp>
        <p:nvSpPr>
          <p:cNvPr id="105" name="Text 102"/>
          <p:cNvSpPr txBox="1"/>
          <p:nvPr/>
        </p:nvSpPr>
        <p:spPr>
          <a:xfrm>
            <a:off x="3767328" y="8343900"/>
            <a:ext cx="31729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VPP de esta prueba (Se 0.90, Sp 0.76) según la prevalencia, por el teorema de Bayes:</a:t>
            </a:r>
            <a:endParaRPr lang="en-US" sz="950" dirty="0"/>
          </a:p>
        </p:txBody>
      </p:sp>
      <p:sp>
        <p:nvSpPr>
          <p:cNvPr id="106" name="Text 103"/>
          <p:cNvSpPr txBox="1"/>
          <p:nvPr/>
        </p:nvSpPr>
        <p:spPr>
          <a:xfrm>
            <a:off x="3767328" y="8746236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1%</a:t>
            </a:r>
            <a:endParaRPr lang="en-US" sz="950" dirty="0"/>
          </a:p>
        </p:txBody>
      </p:sp>
      <p:sp>
        <p:nvSpPr>
          <p:cNvPr id="107" name="Shape 104"/>
          <p:cNvSpPr/>
          <p:nvPr/>
        </p:nvSpPr>
        <p:spPr>
          <a:xfrm>
            <a:off x="4315968" y="8782812"/>
            <a:ext cx="88514" cy="155448"/>
          </a:xfrm>
          <a:prstGeom prst="rect">
            <a:avLst/>
          </a:prstGeom>
          <a:solidFill>
            <a:srgbClr val="8C97BF"/>
          </a:solidFill>
          <a:ln w="12700">
            <a:solidFill>
              <a:srgbClr val="8C97BF"/>
            </a:solidFill>
            <a:prstDash val="solid"/>
          </a:ln>
        </p:spPr>
      </p:sp>
      <p:sp>
        <p:nvSpPr>
          <p:cNvPr id="108" name="Text 105"/>
          <p:cNvSpPr txBox="1"/>
          <p:nvPr/>
        </p:nvSpPr>
        <p:spPr>
          <a:xfrm>
            <a:off x="4459346" y="8746236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0.04</a:t>
            </a:r>
            <a:endParaRPr lang="en-US" sz="950" dirty="0"/>
          </a:p>
        </p:txBody>
      </p:sp>
      <p:sp>
        <p:nvSpPr>
          <p:cNvPr id="109" name="Text 106"/>
          <p:cNvSpPr txBox="1"/>
          <p:nvPr/>
        </p:nvSpPr>
        <p:spPr>
          <a:xfrm>
            <a:off x="3767328" y="8993124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5%</a:t>
            </a:r>
            <a:endParaRPr lang="en-US" sz="950" dirty="0"/>
          </a:p>
        </p:txBody>
      </p:sp>
      <p:sp>
        <p:nvSpPr>
          <p:cNvPr id="110" name="Shape 107"/>
          <p:cNvSpPr/>
          <p:nvPr/>
        </p:nvSpPr>
        <p:spPr>
          <a:xfrm>
            <a:off x="4315968" y="9029700"/>
            <a:ext cx="354056" cy="155448"/>
          </a:xfrm>
          <a:prstGeom prst="rect">
            <a:avLst/>
          </a:prstGeom>
          <a:solidFill>
            <a:srgbClr val="8C97BF"/>
          </a:solidFill>
          <a:ln w="12700">
            <a:solidFill>
              <a:srgbClr val="8C97BF"/>
            </a:solidFill>
            <a:prstDash val="solid"/>
          </a:ln>
        </p:spPr>
      </p:sp>
      <p:sp>
        <p:nvSpPr>
          <p:cNvPr id="111" name="Text 108"/>
          <p:cNvSpPr txBox="1"/>
          <p:nvPr/>
        </p:nvSpPr>
        <p:spPr>
          <a:xfrm>
            <a:off x="4724888" y="8993124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0.16</a:t>
            </a:r>
            <a:endParaRPr lang="en-US" sz="950" dirty="0"/>
          </a:p>
        </p:txBody>
      </p:sp>
      <p:sp>
        <p:nvSpPr>
          <p:cNvPr id="112" name="Text 109"/>
          <p:cNvSpPr txBox="1"/>
          <p:nvPr/>
        </p:nvSpPr>
        <p:spPr>
          <a:xfrm>
            <a:off x="3767328" y="9240012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10%</a:t>
            </a:r>
            <a:endParaRPr lang="en-US" sz="950" dirty="0"/>
          </a:p>
        </p:txBody>
      </p:sp>
      <p:sp>
        <p:nvSpPr>
          <p:cNvPr id="113" name="Shape 110"/>
          <p:cNvSpPr/>
          <p:nvPr/>
        </p:nvSpPr>
        <p:spPr>
          <a:xfrm>
            <a:off x="4315968" y="9276588"/>
            <a:ext cx="641726" cy="155448"/>
          </a:xfrm>
          <a:prstGeom prst="rect">
            <a:avLst/>
          </a:prstGeom>
          <a:solidFill>
            <a:srgbClr val="8C97BF"/>
          </a:solidFill>
          <a:ln w="12700">
            <a:solidFill>
              <a:srgbClr val="8C97BF"/>
            </a:solidFill>
            <a:prstDash val="solid"/>
          </a:ln>
        </p:spPr>
      </p:sp>
      <p:sp>
        <p:nvSpPr>
          <p:cNvPr id="114" name="Text 111"/>
          <p:cNvSpPr txBox="1"/>
          <p:nvPr/>
        </p:nvSpPr>
        <p:spPr>
          <a:xfrm>
            <a:off x="5012558" y="9240012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0.29</a:t>
            </a:r>
            <a:endParaRPr lang="en-US" sz="950" dirty="0"/>
          </a:p>
        </p:txBody>
      </p:sp>
      <p:sp>
        <p:nvSpPr>
          <p:cNvPr id="115" name="Text 112"/>
          <p:cNvSpPr txBox="1"/>
          <p:nvPr/>
        </p:nvSpPr>
        <p:spPr>
          <a:xfrm>
            <a:off x="3767328" y="9486900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30%</a:t>
            </a:r>
            <a:endParaRPr lang="en-US" sz="950" dirty="0"/>
          </a:p>
        </p:txBody>
      </p:sp>
      <p:sp>
        <p:nvSpPr>
          <p:cNvPr id="116" name="Shape 113"/>
          <p:cNvSpPr/>
          <p:nvPr/>
        </p:nvSpPr>
        <p:spPr>
          <a:xfrm>
            <a:off x="4315968" y="9523476"/>
            <a:ext cx="1371966" cy="155448"/>
          </a:xfrm>
          <a:prstGeom prst="rect">
            <a:avLst/>
          </a:prstGeom>
          <a:solidFill>
            <a:srgbClr val="8C97BF"/>
          </a:solidFill>
          <a:ln w="12700">
            <a:solidFill>
              <a:srgbClr val="8C97BF"/>
            </a:solidFill>
            <a:prstDash val="solid"/>
          </a:ln>
        </p:spPr>
      </p:sp>
      <p:sp>
        <p:nvSpPr>
          <p:cNvPr id="117" name="Text 114"/>
          <p:cNvSpPr txBox="1"/>
          <p:nvPr/>
        </p:nvSpPr>
        <p:spPr>
          <a:xfrm>
            <a:off x="5742798" y="9486900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0.62</a:t>
            </a:r>
            <a:endParaRPr lang="en-US" sz="950" dirty="0"/>
          </a:p>
        </p:txBody>
      </p:sp>
      <p:sp>
        <p:nvSpPr>
          <p:cNvPr id="118" name="Text 115"/>
          <p:cNvSpPr txBox="1"/>
          <p:nvPr/>
        </p:nvSpPr>
        <p:spPr>
          <a:xfrm>
            <a:off x="3767328" y="9733788"/>
            <a:ext cx="457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47%*</a:t>
            </a:r>
            <a:endParaRPr lang="en-US" sz="950" dirty="0"/>
          </a:p>
        </p:txBody>
      </p:sp>
      <p:sp>
        <p:nvSpPr>
          <p:cNvPr id="119" name="Shape 116"/>
          <p:cNvSpPr/>
          <p:nvPr/>
        </p:nvSpPr>
        <p:spPr>
          <a:xfrm>
            <a:off x="4315968" y="9770364"/>
            <a:ext cx="1703893" cy="155448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20" name="Text 117"/>
          <p:cNvSpPr txBox="1"/>
          <p:nvPr/>
        </p:nvSpPr>
        <p:spPr>
          <a:xfrm>
            <a:off x="6074725" y="9733788"/>
            <a:ext cx="411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0.77</a:t>
            </a:r>
            <a:endParaRPr lang="en-US" sz="950" dirty="0"/>
          </a:p>
        </p:txBody>
      </p:sp>
      <p:sp>
        <p:nvSpPr>
          <p:cNvPr id="121" name="Text 118"/>
          <p:cNvSpPr txBox="1"/>
          <p:nvPr/>
        </p:nvSpPr>
        <p:spPr>
          <a:xfrm>
            <a:off x="3767328" y="10008108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* prevalencia del estudio (744 / 1586), según epi.tests()</a:t>
            </a:r>
            <a:endParaRPr lang="en-US" sz="850" dirty="0"/>
          </a:p>
        </p:txBody>
      </p:sp>
      <p:sp>
        <p:nvSpPr>
          <p:cNvPr id="122" name="Text 119"/>
          <p:cNvSpPr txBox="1"/>
          <p:nvPr/>
        </p:nvSpPr>
        <p:spPr>
          <a:xfrm>
            <a:off x="7123176" y="170078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PROBABILIDAD PRE-PRUEBA → POST-PRUEBA</a:t>
            </a:r>
            <a:endParaRPr lang="en-US" sz="1000" dirty="0"/>
          </a:p>
        </p:txBody>
      </p:sp>
      <p:sp>
        <p:nvSpPr>
          <p:cNvPr id="123" name="Shape 120"/>
          <p:cNvSpPr/>
          <p:nvPr/>
        </p:nvSpPr>
        <p:spPr>
          <a:xfrm>
            <a:off x="7123176" y="1956816"/>
            <a:ext cx="3172968" cy="448056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24" name="Text 121"/>
          <p:cNvSpPr txBox="1"/>
          <p:nvPr/>
        </p:nvSpPr>
        <p:spPr>
          <a:xfrm>
            <a:off x="7196328" y="2020824"/>
            <a:ext cx="3044952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epi.nomogram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(pretest.ppos = 0.10,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 = 0.90, sp = 0.76, verbose = TRUE)</a:t>
            </a:r>
            <a:endParaRPr lang="en-US" sz="1100" dirty="0"/>
          </a:p>
        </p:txBody>
      </p:sp>
      <p:sp>
        <p:nvSpPr>
          <p:cNvPr id="125" name="Shape 122"/>
          <p:cNvSpPr/>
          <p:nvPr/>
        </p:nvSpPr>
        <p:spPr>
          <a:xfrm>
            <a:off x="7168896" y="2651760"/>
            <a:ext cx="768096" cy="768096"/>
          </a:xfrm>
          <a:prstGeom prst="ellipse">
            <a:avLst/>
          </a:prstGeom>
          <a:solidFill>
            <a:srgbClr val="E9EDF7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26" name="Text 123"/>
          <p:cNvSpPr txBox="1"/>
          <p:nvPr/>
        </p:nvSpPr>
        <p:spPr>
          <a:xfrm>
            <a:off x="7168896" y="265176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10%</a:t>
            </a:r>
            <a:endParaRPr lang="en-US" sz="1100" dirty="0"/>
          </a:p>
          <a:p>
            <a:pPr algn="ctr" indent="0" marL="0">
              <a:buNone/>
            </a:pPr>
            <a:r>
              <a:rPr lang="es-E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pre-prueba</a:t>
            </a:r>
            <a:endParaRPr lang="en-US" sz="1100" dirty="0"/>
          </a:p>
        </p:txBody>
      </p:sp>
      <p:sp>
        <p:nvSpPr>
          <p:cNvPr id="127" name="Shape 124"/>
          <p:cNvSpPr/>
          <p:nvPr/>
        </p:nvSpPr>
        <p:spPr>
          <a:xfrm flipV="1">
            <a:off x="7964424" y="2688336"/>
            <a:ext cx="1417320" cy="347472"/>
          </a:xfrm>
          <a:prstGeom prst="line">
            <a:avLst/>
          </a:prstGeom>
          <a:noFill/>
          <a:ln w="25400">
            <a:solidFill>
              <a:srgbClr val="000F46"/>
            </a:solidFill>
            <a:prstDash val="solid"/>
            <a:tailEnd type="triangle"/>
          </a:ln>
        </p:spPr>
      </p:sp>
      <p:sp>
        <p:nvSpPr>
          <p:cNvPr id="128" name="Text 125"/>
          <p:cNvSpPr txBox="1"/>
          <p:nvPr/>
        </p:nvSpPr>
        <p:spPr>
          <a:xfrm>
            <a:off x="8037576" y="2414016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T+ </a:t>
            </a:r>
            <a:pPr algn="ctr" indent="0" marL="0">
              <a:buNone/>
            </a:pPr>
            <a:r>
              <a:rPr lang="es-E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×RV+ 3.75</a:t>
            </a:r>
            <a:endParaRPr lang="en-US" sz="950" dirty="0"/>
          </a:p>
        </p:txBody>
      </p:sp>
      <p:sp>
        <p:nvSpPr>
          <p:cNvPr id="129" name="Shape 126"/>
          <p:cNvSpPr/>
          <p:nvPr/>
        </p:nvSpPr>
        <p:spPr>
          <a:xfrm>
            <a:off x="9409176" y="2487168"/>
            <a:ext cx="868680" cy="402336"/>
          </a:xfrm>
          <a:prstGeom prst="roundRect">
            <a:avLst>
              <a:gd name="adj" fmla="val 11364"/>
            </a:avLst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30" name="Text 127"/>
          <p:cNvSpPr txBox="1"/>
          <p:nvPr/>
        </p:nvSpPr>
        <p:spPr>
          <a:xfrm>
            <a:off x="9409176" y="2487168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29%</a:t>
            </a:r>
            <a:endParaRPr lang="en-US" sz="1400" dirty="0"/>
          </a:p>
        </p:txBody>
      </p:sp>
      <p:sp>
        <p:nvSpPr>
          <p:cNvPr id="131" name="Shape 128"/>
          <p:cNvSpPr/>
          <p:nvPr/>
        </p:nvSpPr>
        <p:spPr>
          <a:xfrm>
            <a:off x="7964424" y="3035808"/>
            <a:ext cx="1417320" cy="347472"/>
          </a:xfrm>
          <a:prstGeom prst="line">
            <a:avLst/>
          </a:prstGeom>
          <a:noFill/>
          <a:ln w="25400">
            <a:solidFill>
              <a:srgbClr val="8C97BF"/>
            </a:solidFill>
            <a:prstDash val="solid"/>
            <a:tailEnd type="triangle"/>
          </a:ln>
        </p:spPr>
      </p:sp>
      <p:sp>
        <p:nvSpPr>
          <p:cNvPr id="132" name="Text 129"/>
          <p:cNvSpPr txBox="1"/>
          <p:nvPr/>
        </p:nvSpPr>
        <p:spPr>
          <a:xfrm>
            <a:off x="8037576" y="345643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T− </a:t>
            </a:r>
            <a:pPr algn="ctr" indent="0" marL="0">
              <a:buNone/>
            </a:pPr>
            <a:r>
              <a:rPr lang="es-ES" sz="8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×RV− 0.13</a:t>
            </a:r>
            <a:endParaRPr lang="en-US" sz="950" dirty="0"/>
          </a:p>
        </p:txBody>
      </p:sp>
      <p:sp>
        <p:nvSpPr>
          <p:cNvPr id="133" name="Shape 130"/>
          <p:cNvSpPr/>
          <p:nvPr/>
        </p:nvSpPr>
        <p:spPr>
          <a:xfrm>
            <a:off x="9409176" y="3182112"/>
            <a:ext cx="868680" cy="402336"/>
          </a:xfrm>
          <a:prstGeom prst="roundRect">
            <a:avLst>
              <a:gd name="adj" fmla="val 11364"/>
            </a:avLst>
          </a:prstGeom>
          <a:solidFill>
            <a:srgbClr val="8C97BF"/>
          </a:solidFill>
          <a:ln w="12700">
            <a:solidFill>
              <a:srgbClr val="8C97BF"/>
            </a:solidFill>
            <a:prstDash val="solid"/>
          </a:ln>
        </p:spPr>
      </p:sp>
      <p:sp>
        <p:nvSpPr>
          <p:cNvPr id="134" name="Text 131"/>
          <p:cNvSpPr txBox="1"/>
          <p:nvPr/>
        </p:nvSpPr>
        <p:spPr>
          <a:xfrm>
            <a:off x="9409176" y="3182112"/>
            <a:ext cx="868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1.4%</a:t>
            </a:r>
            <a:endParaRPr lang="en-US" sz="1400" dirty="0"/>
          </a:p>
        </p:txBody>
      </p:sp>
      <p:sp>
        <p:nvSpPr>
          <p:cNvPr id="135" name="Text 132"/>
          <p:cNvSpPr txBox="1"/>
          <p:nvPr/>
        </p:nvSpPr>
        <p:spPr>
          <a:xfrm>
            <a:off x="7123176" y="3721608"/>
            <a:ext cx="317296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Odds post-prueba = odds pre-prueba × RV. Un resultado positivo sube 10% a 29%; uno negativo lo baja a 1.4%.</a:t>
            </a:r>
            <a:endParaRPr lang="en-US" sz="950" dirty="0"/>
          </a:p>
        </p:txBody>
      </p:sp>
      <p:sp>
        <p:nvSpPr>
          <p:cNvPr id="136" name="Shape 133"/>
          <p:cNvSpPr/>
          <p:nvPr/>
        </p:nvSpPr>
        <p:spPr>
          <a:xfrm>
            <a:off x="7123176" y="4306824"/>
            <a:ext cx="402336" cy="402336"/>
          </a:xfrm>
          <a:prstGeom prst="ellipse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37" name="Text 134"/>
          <p:cNvSpPr txBox="1"/>
          <p:nvPr/>
        </p:nvSpPr>
        <p:spPr>
          <a:xfrm>
            <a:off x="7123176" y="43068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7</a:t>
            </a:r>
            <a:endParaRPr lang="en-US" sz="1600" dirty="0"/>
          </a:p>
        </p:txBody>
      </p:sp>
      <p:sp>
        <p:nvSpPr>
          <p:cNvPr id="138" name="Text 135"/>
          <p:cNvSpPr txBox="1"/>
          <p:nvPr/>
        </p:nvSpPr>
        <p:spPr>
          <a:xfrm>
            <a:off x="7635240" y="4261104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Mide la concordancia</a:t>
            </a:r>
            <a:endParaRPr lang="en-US" sz="2000" dirty="0"/>
          </a:p>
        </p:txBody>
      </p:sp>
      <p:sp>
        <p:nvSpPr>
          <p:cNvPr id="139" name="Text 136"/>
          <p:cNvSpPr txBox="1"/>
          <p:nvPr/>
        </p:nvSpPr>
        <p:spPr>
          <a:xfrm>
            <a:off x="7123176" y="4855464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Dos evaluadores clasifican a los mismos sujetos:</a:t>
            </a:r>
            <a:endParaRPr lang="en-US" sz="1050" dirty="0"/>
          </a:p>
        </p:txBody>
      </p:sp>
      <p:sp>
        <p:nvSpPr>
          <p:cNvPr id="140" name="Shape 137"/>
          <p:cNvSpPr/>
          <p:nvPr/>
        </p:nvSpPr>
        <p:spPr>
          <a:xfrm>
            <a:off x="7123176" y="5111496"/>
            <a:ext cx="3172968" cy="59893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41" name="Text 138"/>
          <p:cNvSpPr txBox="1"/>
          <p:nvPr/>
        </p:nvSpPr>
        <p:spPr>
          <a:xfrm>
            <a:off x="7196328" y="5175504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matrix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(40, 5, 8, 47), nrow = 2,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byrow = TRUE)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epi.kappa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(rat)</a:t>
            </a:r>
            <a:endParaRPr lang="en-US" sz="1100" dirty="0"/>
          </a:p>
        </p:txBody>
      </p:sp>
      <p:sp>
        <p:nvSpPr>
          <p:cNvPr id="142" name="Text 139"/>
          <p:cNvSpPr txBox="1"/>
          <p:nvPr/>
        </p:nvSpPr>
        <p:spPr>
          <a:xfrm>
            <a:off x="7123176" y="5801868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k$prop.agree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observada 0.87 · esperada 0.50</a:t>
            </a:r>
            <a:endParaRPr lang="en-US" sz="1100" dirty="0"/>
          </a:p>
        </p:txBody>
      </p:sp>
      <p:sp>
        <p:nvSpPr>
          <p:cNvPr id="143" name="Text 140"/>
          <p:cNvSpPr txBox="1"/>
          <p:nvPr/>
        </p:nvSpPr>
        <p:spPr>
          <a:xfrm>
            <a:off x="7123176" y="603961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k$kappa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κ = 0.74 (0.54 – 0.93)</a:t>
            </a:r>
            <a:endParaRPr lang="en-US" sz="1100" dirty="0"/>
          </a:p>
        </p:txBody>
      </p:sp>
      <p:sp>
        <p:nvSpPr>
          <p:cNvPr id="144" name="Text 141"/>
          <p:cNvSpPr txBox="1"/>
          <p:nvPr/>
        </p:nvSpPr>
        <p:spPr>
          <a:xfrm>
            <a:off x="7123176" y="6277356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k$pabak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κ ajustado por prevalencia y sesgo = 0.74</a:t>
            </a:r>
            <a:endParaRPr lang="en-US" sz="1100" dirty="0"/>
          </a:p>
        </p:txBody>
      </p:sp>
      <p:sp>
        <p:nvSpPr>
          <p:cNvPr id="145" name="Text 142"/>
          <p:cNvSpPr txBox="1"/>
          <p:nvPr/>
        </p:nvSpPr>
        <p:spPr>
          <a:xfrm>
            <a:off x="7123176" y="6515100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k$mcnemar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p = 0.41 → sin evidencia de sesgo</a:t>
            </a:r>
            <a:endParaRPr lang="en-US" sz="1100" dirty="0"/>
          </a:p>
        </p:txBody>
      </p:sp>
      <p:sp>
        <p:nvSpPr>
          <p:cNvPr id="146" name="Shape 143"/>
          <p:cNvSpPr/>
          <p:nvPr/>
        </p:nvSpPr>
        <p:spPr>
          <a:xfrm>
            <a:off x="7123176" y="6825996"/>
            <a:ext cx="510540" cy="274320"/>
          </a:xfrm>
          <a:prstGeom prst="rect">
            <a:avLst/>
          </a:prstGeom>
          <a:solidFill>
            <a:srgbClr val="E3E6EE"/>
          </a:solidFill>
          <a:ln w="12700">
            <a:solidFill>
              <a:srgbClr val="E3E6EE"/>
            </a:solidFill>
            <a:prstDash val="solid"/>
          </a:ln>
        </p:spPr>
      </p:sp>
      <p:sp>
        <p:nvSpPr>
          <p:cNvPr id="147" name="Text 144"/>
          <p:cNvSpPr txBox="1"/>
          <p:nvPr/>
        </p:nvSpPr>
        <p:spPr>
          <a:xfrm>
            <a:off x="7123176" y="6825996"/>
            <a:ext cx="51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7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pobre</a:t>
            </a:r>
            <a:endParaRPr lang="en-US" sz="750" dirty="0"/>
          </a:p>
        </p:txBody>
      </p:sp>
      <p:sp>
        <p:nvSpPr>
          <p:cNvPr id="148" name="Text 145"/>
          <p:cNvSpPr txBox="1"/>
          <p:nvPr/>
        </p:nvSpPr>
        <p:spPr>
          <a:xfrm>
            <a:off x="7123176" y="7109460"/>
            <a:ext cx="5105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&lt;0</a:t>
            </a:r>
            <a:endParaRPr lang="en-US" sz="750" dirty="0"/>
          </a:p>
        </p:txBody>
      </p:sp>
      <p:sp>
        <p:nvSpPr>
          <p:cNvPr id="149" name="Shape 146"/>
          <p:cNvSpPr/>
          <p:nvPr/>
        </p:nvSpPr>
        <p:spPr>
          <a:xfrm>
            <a:off x="7652004" y="6825996"/>
            <a:ext cx="510540" cy="274320"/>
          </a:xfrm>
          <a:prstGeom prst="rect">
            <a:avLst/>
          </a:prstGeom>
          <a:solidFill>
            <a:srgbClr val="C9D0E3"/>
          </a:solidFill>
          <a:ln w="12700">
            <a:solidFill>
              <a:srgbClr val="C9D0E3"/>
            </a:solidFill>
            <a:prstDash val="solid"/>
          </a:ln>
        </p:spPr>
      </p:sp>
      <p:sp>
        <p:nvSpPr>
          <p:cNvPr id="150" name="Text 147"/>
          <p:cNvSpPr txBox="1"/>
          <p:nvPr/>
        </p:nvSpPr>
        <p:spPr>
          <a:xfrm>
            <a:off x="7652004" y="6825996"/>
            <a:ext cx="51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7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leve</a:t>
            </a:r>
            <a:endParaRPr lang="en-US" sz="750" dirty="0"/>
          </a:p>
        </p:txBody>
      </p:sp>
      <p:sp>
        <p:nvSpPr>
          <p:cNvPr id="151" name="Text 148"/>
          <p:cNvSpPr txBox="1"/>
          <p:nvPr/>
        </p:nvSpPr>
        <p:spPr>
          <a:xfrm>
            <a:off x="7652004" y="7109460"/>
            <a:ext cx="5105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≤0.2</a:t>
            </a:r>
            <a:endParaRPr lang="en-US" sz="750" dirty="0"/>
          </a:p>
        </p:txBody>
      </p:sp>
      <p:sp>
        <p:nvSpPr>
          <p:cNvPr id="152" name="Shape 149"/>
          <p:cNvSpPr/>
          <p:nvPr/>
        </p:nvSpPr>
        <p:spPr>
          <a:xfrm>
            <a:off x="8180832" y="6825996"/>
            <a:ext cx="510540" cy="274320"/>
          </a:xfrm>
          <a:prstGeom prst="rect">
            <a:avLst/>
          </a:prstGeom>
          <a:solidFill>
            <a:srgbClr val="A9B3D3"/>
          </a:solidFill>
          <a:ln w="12700">
            <a:solidFill>
              <a:srgbClr val="A9B3D3"/>
            </a:solidFill>
            <a:prstDash val="solid"/>
          </a:ln>
        </p:spPr>
      </p:sp>
      <p:sp>
        <p:nvSpPr>
          <p:cNvPr id="153" name="Text 150"/>
          <p:cNvSpPr txBox="1"/>
          <p:nvPr/>
        </p:nvSpPr>
        <p:spPr>
          <a:xfrm>
            <a:off x="8180832" y="6825996"/>
            <a:ext cx="51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7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aceptable</a:t>
            </a:r>
            <a:endParaRPr lang="en-US" sz="750" dirty="0"/>
          </a:p>
        </p:txBody>
      </p:sp>
      <p:sp>
        <p:nvSpPr>
          <p:cNvPr id="154" name="Text 151"/>
          <p:cNvSpPr txBox="1"/>
          <p:nvPr/>
        </p:nvSpPr>
        <p:spPr>
          <a:xfrm>
            <a:off x="8180832" y="7109460"/>
            <a:ext cx="5105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≤0.4</a:t>
            </a:r>
            <a:endParaRPr lang="en-US" sz="750" dirty="0"/>
          </a:p>
        </p:txBody>
      </p:sp>
      <p:sp>
        <p:nvSpPr>
          <p:cNvPr id="155" name="Shape 152"/>
          <p:cNvSpPr/>
          <p:nvPr/>
        </p:nvSpPr>
        <p:spPr>
          <a:xfrm>
            <a:off x="8709660" y="6825996"/>
            <a:ext cx="510540" cy="274320"/>
          </a:xfrm>
          <a:prstGeom prst="rect">
            <a:avLst/>
          </a:prstGeom>
          <a:solidFill>
            <a:srgbClr val="7F8CBA"/>
          </a:solidFill>
          <a:ln w="12700">
            <a:solidFill>
              <a:srgbClr val="7F8CBA"/>
            </a:solidFill>
            <a:prstDash val="solid"/>
          </a:ln>
        </p:spPr>
      </p:sp>
      <p:sp>
        <p:nvSpPr>
          <p:cNvPr id="156" name="Text 153"/>
          <p:cNvSpPr txBox="1"/>
          <p:nvPr/>
        </p:nvSpPr>
        <p:spPr>
          <a:xfrm>
            <a:off x="8709660" y="6825996"/>
            <a:ext cx="51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7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moderada</a:t>
            </a:r>
            <a:endParaRPr lang="en-US" sz="750" dirty="0"/>
          </a:p>
        </p:txBody>
      </p:sp>
      <p:sp>
        <p:nvSpPr>
          <p:cNvPr id="157" name="Text 154"/>
          <p:cNvSpPr txBox="1"/>
          <p:nvPr/>
        </p:nvSpPr>
        <p:spPr>
          <a:xfrm>
            <a:off x="8709660" y="7109460"/>
            <a:ext cx="5105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≤0.6</a:t>
            </a:r>
            <a:endParaRPr lang="en-US" sz="750" dirty="0"/>
          </a:p>
        </p:txBody>
      </p:sp>
      <p:sp>
        <p:nvSpPr>
          <p:cNvPr id="158" name="Shape 155"/>
          <p:cNvSpPr/>
          <p:nvPr/>
        </p:nvSpPr>
        <p:spPr>
          <a:xfrm>
            <a:off x="9238488" y="6825996"/>
            <a:ext cx="510540" cy="274320"/>
          </a:xfrm>
          <a:prstGeom prst="rect">
            <a:avLst/>
          </a:prstGeom>
          <a:solidFill>
            <a:srgbClr val="26346E"/>
          </a:solidFill>
          <a:ln w="12700">
            <a:solidFill>
              <a:srgbClr val="26346E"/>
            </a:solidFill>
            <a:prstDash val="solid"/>
          </a:ln>
        </p:spPr>
      </p:sp>
      <p:sp>
        <p:nvSpPr>
          <p:cNvPr id="159" name="Text 156"/>
          <p:cNvSpPr txBox="1"/>
          <p:nvPr/>
        </p:nvSpPr>
        <p:spPr>
          <a:xfrm>
            <a:off x="9238488" y="6825996"/>
            <a:ext cx="51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7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sustancial</a:t>
            </a:r>
            <a:endParaRPr lang="en-US" sz="750" dirty="0"/>
          </a:p>
        </p:txBody>
      </p:sp>
      <p:sp>
        <p:nvSpPr>
          <p:cNvPr id="160" name="Text 157"/>
          <p:cNvSpPr txBox="1"/>
          <p:nvPr/>
        </p:nvSpPr>
        <p:spPr>
          <a:xfrm>
            <a:off x="9238488" y="7109460"/>
            <a:ext cx="5105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≤0.8</a:t>
            </a:r>
            <a:endParaRPr lang="en-US" sz="750" dirty="0"/>
          </a:p>
        </p:txBody>
      </p:sp>
      <p:sp>
        <p:nvSpPr>
          <p:cNvPr id="161" name="Shape 158"/>
          <p:cNvSpPr/>
          <p:nvPr/>
        </p:nvSpPr>
        <p:spPr>
          <a:xfrm>
            <a:off x="9767316" y="6825996"/>
            <a:ext cx="510540" cy="274320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62" name="Text 159"/>
          <p:cNvSpPr txBox="1"/>
          <p:nvPr/>
        </p:nvSpPr>
        <p:spPr>
          <a:xfrm>
            <a:off x="9767316" y="6825996"/>
            <a:ext cx="5105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s-ES" sz="7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casi perfecta</a:t>
            </a:r>
            <a:endParaRPr lang="en-US" sz="750" dirty="0"/>
          </a:p>
        </p:txBody>
      </p:sp>
      <p:sp>
        <p:nvSpPr>
          <p:cNvPr id="163" name="Text 160"/>
          <p:cNvSpPr txBox="1"/>
          <p:nvPr/>
        </p:nvSpPr>
        <p:spPr>
          <a:xfrm>
            <a:off x="9767316" y="7109460"/>
            <a:ext cx="5105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≤1</a:t>
            </a:r>
            <a:endParaRPr lang="en-US" sz="750" dirty="0"/>
          </a:p>
        </p:txBody>
      </p:sp>
      <p:sp>
        <p:nvSpPr>
          <p:cNvPr id="164" name="Shape 161"/>
          <p:cNvSpPr/>
          <p:nvPr/>
        </p:nvSpPr>
        <p:spPr>
          <a:xfrm flipV="1">
            <a:off x="9535516" y="6679692"/>
            <a:ext cx="146304" cy="118872"/>
          </a:xfrm>
          <a:prstGeom prst="triangle">
            <a:avLst/>
          </a:prstGeom>
          <a:solidFill>
            <a:srgbClr val="D98E04"/>
          </a:solidFill>
          <a:ln w="12700">
            <a:solidFill>
              <a:srgbClr val="D98E04"/>
            </a:solidFill>
            <a:prstDash val="solid"/>
          </a:ln>
        </p:spPr>
      </p:sp>
      <p:sp>
        <p:nvSpPr>
          <p:cNvPr id="165" name="Text 162"/>
          <p:cNvSpPr txBox="1"/>
          <p:nvPr/>
        </p:nvSpPr>
        <p:spPr>
          <a:xfrm>
            <a:off x="7123176" y="7301484"/>
            <a:ext cx="3172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85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Escala de Landis y Koch (1977); κ = 0.74 es concordancia sustancial.</a:t>
            </a:r>
            <a:endParaRPr lang="en-US" sz="850" dirty="0"/>
          </a:p>
        </p:txBody>
      </p:sp>
      <p:sp>
        <p:nvSpPr>
          <p:cNvPr id="166" name="Text 163"/>
          <p:cNvSpPr txBox="1"/>
          <p:nvPr/>
        </p:nvSpPr>
        <p:spPr>
          <a:xfrm>
            <a:off x="7123176" y="759409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¿Más de 2 categorías? </a:t>
            </a:r>
            <a:pPr indent="0" marL="0">
              <a:buNone/>
            </a:pPr>
            <a:r>
              <a:rPr lang="es-ES" sz="100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Usa una matriz k × k; epi.kappa() funciona igual.</a:t>
            </a:r>
            <a:endParaRPr lang="en-US" sz="1000" dirty="0"/>
          </a:p>
        </p:txBody>
      </p:sp>
      <p:sp>
        <p:nvSpPr>
          <p:cNvPr id="167" name="Text 164"/>
          <p:cNvSpPr txBox="1"/>
          <p:nvPr/>
        </p:nvSpPr>
        <p:spPr>
          <a:xfrm>
            <a:off x="7123176" y="805129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MEDICIONES CONTINUAS (CCC DE LIN)</a:t>
            </a:r>
            <a:endParaRPr lang="en-US" sz="1000" dirty="0"/>
          </a:p>
        </p:txBody>
      </p:sp>
      <p:sp>
        <p:nvSpPr>
          <p:cNvPr id="168" name="Shape 165"/>
          <p:cNvSpPr/>
          <p:nvPr/>
        </p:nvSpPr>
        <p:spPr>
          <a:xfrm>
            <a:off x="7123176" y="8298180"/>
            <a:ext cx="3172968" cy="59893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69" name="Text 166"/>
          <p:cNvSpPr txBox="1"/>
          <p:nvPr/>
        </p:nvSpPr>
        <p:spPr>
          <a:xfrm>
            <a:off x="7196328" y="8362188"/>
            <a:ext cx="3044952" cy="507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(120, 135, 142, 150, 160, 171)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&lt;- </a:t>
            </a:r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(122, 131, 145, 152, 158, 175)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epi.ccc</a:t>
            </a:r>
            <a:pPr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(x, y)$rho.c</a:t>
            </a:r>
            <a:endParaRPr lang="en-US" sz="1100" dirty="0"/>
          </a:p>
        </p:txBody>
      </p:sp>
      <p:sp>
        <p:nvSpPr>
          <p:cNvPr id="170" name="Text 167"/>
          <p:cNvSpPr txBox="1"/>
          <p:nvPr/>
        </p:nvSpPr>
        <p:spPr>
          <a:xfrm>
            <a:off x="7123176" y="8933688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algn="r" indent="0" marL="0">
              <a:buNone/>
            </a:pPr>
            <a:r>
              <a:rPr lang="en-US" sz="12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ρc 0.98</a:t>
            </a:r>
            <a:pPr algn="r" indent="0" marL="0">
              <a:buNone/>
            </a:pPr>
            <a:r>
              <a:rPr lang="es-E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(0.90 – 1.00) · también da datos de Bland–Altman</a:t>
            </a:r>
            <a:endParaRPr lang="en-US" sz="950" dirty="0"/>
          </a:p>
        </p:txBody>
      </p:sp>
      <p:sp>
        <p:nvSpPr>
          <p:cNvPr id="171" name="Shape 168"/>
          <p:cNvSpPr/>
          <p:nvPr/>
        </p:nvSpPr>
        <p:spPr>
          <a:xfrm>
            <a:off x="7123176" y="9317736"/>
            <a:ext cx="3172968" cy="713232"/>
          </a:xfrm>
          <a:prstGeom prst="roundRect">
            <a:avLst>
              <a:gd name="adj" fmla="val 7692"/>
            </a:avLst>
          </a:prstGeom>
          <a:solidFill>
            <a:srgbClr val="FDF3DF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172" name="Text 169"/>
          <p:cNvSpPr txBox="1"/>
          <p:nvPr/>
        </p:nvSpPr>
        <p:spPr>
          <a:xfrm>
            <a:off x="7214616" y="9381744"/>
            <a:ext cx="2990088" cy="7589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CONSEJO  </a:t>
            </a:r>
            <a:pPr indent="0" marL="0">
              <a:buNone/>
            </a:pPr>
            <a:r>
              <a:rPr lang="es-ES" sz="9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Paradoja de kappa: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si una categoría domina, κ puede ser bajo pese a alta concordancia. Reporta κ con </a:t>
            </a:r>
            <a:pPr indent="0" marL="0">
              <a:buNone/>
            </a:pPr>
            <a:r>
              <a:rPr lang="en-US" sz="950" b="1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PABAK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y la concordancia observada.</a:t>
            </a:r>
            <a:endParaRPr lang="en-US" sz="950" dirty="0"/>
          </a:p>
        </p:txBody>
      </p:sp>
      <p:sp>
        <p:nvSpPr>
          <p:cNvPr id="173" name="Shape 170"/>
          <p:cNvSpPr/>
          <p:nvPr/>
        </p:nvSpPr>
        <p:spPr>
          <a:xfrm>
            <a:off x="10479024" y="1645920"/>
            <a:ext cx="402336" cy="402336"/>
          </a:xfrm>
          <a:prstGeom prst="ellipse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74" name="Text 171"/>
          <p:cNvSpPr txBox="1"/>
          <p:nvPr/>
        </p:nvSpPr>
        <p:spPr>
          <a:xfrm>
            <a:off x="10479024" y="16459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8</a:t>
            </a:r>
            <a:endParaRPr lang="en-US" sz="1600" dirty="0"/>
          </a:p>
        </p:txBody>
      </p:sp>
      <p:sp>
        <p:nvSpPr>
          <p:cNvPr id="175" name="Text 172"/>
          <p:cNvSpPr txBox="1"/>
          <p:nvPr/>
        </p:nvSpPr>
        <p:spPr>
          <a:xfrm>
            <a:off x="10991088" y="1600200"/>
            <a:ext cx="26609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s-ES" sz="20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Tamaño de muestra</a:t>
            </a:r>
            <a:endParaRPr lang="en-US" sz="2000" dirty="0"/>
          </a:p>
        </p:txBody>
      </p:sp>
      <p:sp>
        <p:nvSpPr>
          <p:cNvPr id="176" name="Shape 173"/>
          <p:cNvSpPr/>
          <p:nvPr/>
        </p:nvSpPr>
        <p:spPr>
          <a:xfrm>
            <a:off x="10479024" y="2194560"/>
            <a:ext cx="3172968" cy="987552"/>
          </a:xfrm>
          <a:prstGeom prst="rect">
            <a:avLst/>
          </a:prstGeom>
          <a:solidFill>
            <a:srgbClr val="000F46"/>
          </a:solidFill>
          <a:ln w="12700">
            <a:solidFill>
              <a:srgbClr val="000F46"/>
            </a:solidFill>
            <a:prstDash val="solid"/>
          </a:ln>
        </p:spPr>
      </p:sp>
      <p:sp>
        <p:nvSpPr>
          <p:cNvPr id="177" name="Text 174"/>
          <p:cNvSpPr txBox="1"/>
          <p:nvPr/>
        </p:nvSpPr>
        <p:spPr>
          <a:xfrm>
            <a:off x="10588752" y="2286000"/>
            <a:ext cx="29535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150" b="1" dirty="0">
                <a:solidFill>
                  <a:srgbClr val="FFFFFF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Pon NA en lo que quieres calcular.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F2C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NA, power = 0.80</a:t>
            </a:r>
            <a:pPr indent="0" marL="0">
              <a:buNone/>
            </a:pPr>
            <a:r>
              <a:rPr lang="es-ES" sz="1000" dirty="0">
                <a:solidFill>
                  <a:srgbClr val="C9D2E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→ tamaño de muestra</a:t>
            </a:r>
            <a:endParaRPr lang="en-US" sz="1000" dirty="0"/>
          </a:p>
          <a:p>
            <a:pPr indent="0" marL="0">
              <a:buNone/>
            </a:pPr>
            <a:r>
              <a:rPr lang="en-US" sz="950" dirty="0">
                <a:solidFill>
                  <a:srgbClr val="F2C46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 = 300, power = NA</a:t>
            </a:r>
            <a:pPr indent="0" marL="0">
              <a:buNone/>
            </a:pPr>
            <a:r>
              <a:rPr lang="es-ES" sz="1000" dirty="0">
                <a:solidFill>
                  <a:srgbClr val="C9D2EE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→ potencia (0.82, casos y controles)</a:t>
            </a:r>
            <a:endParaRPr lang="en-US" sz="1000" dirty="0"/>
          </a:p>
        </p:txBody>
      </p:sp>
      <p:sp>
        <p:nvSpPr>
          <p:cNvPr id="178" name="Text 175"/>
          <p:cNvSpPr txBox="1"/>
          <p:nvPr/>
        </p:nvSpPr>
        <p:spPr>
          <a:xfrm>
            <a:off x="10479024" y="3291840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Encuesta de prevalencia</a:t>
            </a:r>
            <a:pPr indent="0" marL="0">
              <a:buNone/>
            </a:pPr>
            <a:r>
              <a:rPr lang="es-E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15% ± 20% (relativo)</a:t>
            </a:r>
            <a:endParaRPr lang="en-US" sz="1050" dirty="0"/>
          </a:p>
        </p:txBody>
      </p:sp>
      <p:sp>
        <p:nvSpPr>
          <p:cNvPr id="179" name="Text 176"/>
          <p:cNvSpPr txBox="1"/>
          <p:nvPr/>
        </p:nvSpPr>
        <p:spPr>
          <a:xfrm>
            <a:off x="12874752" y="3255264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 = </a:t>
            </a:r>
            <a:pPr algn="r"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545</a:t>
            </a:r>
            <a:endParaRPr lang="en-US" sz="1100" dirty="0"/>
          </a:p>
        </p:txBody>
      </p:sp>
      <p:sp>
        <p:nvSpPr>
          <p:cNvPr id="180" name="Shape 177"/>
          <p:cNvSpPr/>
          <p:nvPr/>
        </p:nvSpPr>
        <p:spPr>
          <a:xfrm>
            <a:off x="10479024" y="3538728"/>
            <a:ext cx="3172968" cy="573786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81" name="Text 178"/>
          <p:cNvSpPr txBox="1"/>
          <p:nvPr/>
        </p:nvSpPr>
        <p:spPr>
          <a:xfrm>
            <a:off x="10552176" y="3602736"/>
            <a:ext cx="3044952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epi.sssimpleestb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(Py = 0.15,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epsilon = 0.20, error = 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"relative"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 = 1, sp = 1)</a:t>
            </a:r>
            <a:endParaRPr lang="en-US" sz="1100" dirty="0"/>
          </a:p>
        </p:txBody>
      </p:sp>
      <p:sp>
        <p:nvSpPr>
          <p:cNvPr id="182" name="Text 179"/>
          <p:cNvSpPr txBox="1"/>
          <p:nvPr/>
        </p:nvSpPr>
        <p:spPr>
          <a:xfrm>
            <a:off x="10479024" y="420395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Transversal</a:t>
            </a:r>
            <a:pPr indent="0" marL="0">
              <a:buNone/>
            </a:pPr>
            <a:r>
              <a:rPr lang="es-E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desenlace 25% vs 15%</a:t>
            </a:r>
            <a:endParaRPr lang="en-US" sz="1050" dirty="0"/>
          </a:p>
        </p:txBody>
      </p:sp>
      <p:sp>
        <p:nvSpPr>
          <p:cNvPr id="183" name="Text 180"/>
          <p:cNvSpPr txBox="1"/>
          <p:nvPr/>
        </p:nvSpPr>
        <p:spPr>
          <a:xfrm>
            <a:off x="12874752" y="416737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 = </a:t>
            </a:r>
            <a:pPr algn="r"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500</a:t>
            </a:r>
            <a:endParaRPr lang="en-US" sz="1100" dirty="0"/>
          </a:p>
        </p:txBody>
      </p:sp>
      <p:sp>
        <p:nvSpPr>
          <p:cNvPr id="184" name="Shape 181"/>
          <p:cNvSpPr/>
          <p:nvPr/>
        </p:nvSpPr>
        <p:spPr>
          <a:xfrm>
            <a:off x="10479024" y="4450842"/>
            <a:ext cx="3172968" cy="43129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85" name="Text 182"/>
          <p:cNvSpPr txBox="1"/>
          <p:nvPr/>
        </p:nvSpPr>
        <p:spPr>
          <a:xfrm>
            <a:off x="10552176" y="4514850"/>
            <a:ext cx="3044952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epi.ssxsectn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(pdexp1 = 0.25,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pdexp0 = 0.15, n = NA, power = 0.80)</a:t>
            </a:r>
            <a:endParaRPr lang="en-US" sz="1100" dirty="0"/>
          </a:p>
        </p:txBody>
      </p:sp>
      <p:sp>
        <p:nvSpPr>
          <p:cNvPr id="186" name="Text 183"/>
          <p:cNvSpPr txBox="1"/>
          <p:nvPr/>
        </p:nvSpPr>
        <p:spPr>
          <a:xfrm>
            <a:off x="10479024" y="497357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Cohorte (riesgos)</a:t>
            </a:r>
            <a:pPr indent="0" marL="0">
              <a:buNone/>
            </a:pPr>
            <a:r>
              <a:rPr lang="es-E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riesgo 25% vs 15%</a:t>
            </a:r>
            <a:endParaRPr lang="en-US" sz="1050" dirty="0"/>
          </a:p>
        </p:txBody>
      </p:sp>
      <p:sp>
        <p:nvSpPr>
          <p:cNvPr id="187" name="Text 184"/>
          <p:cNvSpPr txBox="1"/>
          <p:nvPr/>
        </p:nvSpPr>
        <p:spPr>
          <a:xfrm>
            <a:off x="12874752" y="493699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 = </a:t>
            </a:r>
            <a:pPr algn="r"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500</a:t>
            </a:r>
            <a:endParaRPr lang="en-US" sz="1100" dirty="0"/>
          </a:p>
        </p:txBody>
      </p:sp>
      <p:sp>
        <p:nvSpPr>
          <p:cNvPr id="188" name="Shape 185"/>
          <p:cNvSpPr/>
          <p:nvPr/>
        </p:nvSpPr>
        <p:spPr>
          <a:xfrm>
            <a:off x="10479024" y="5220462"/>
            <a:ext cx="3172968" cy="43129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89" name="Text 186"/>
          <p:cNvSpPr txBox="1"/>
          <p:nvPr/>
        </p:nvSpPr>
        <p:spPr>
          <a:xfrm>
            <a:off x="10552176" y="5284470"/>
            <a:ext cx="3044952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epi.sscohortc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(irexp1 = 0.25,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irexp0 = 0.15, n = NA, power = 0.80)</a:t>
            </a:r>
            <a:endParaRPr lang="en-US" sz="1100" dirty="0"/>
          </a:p>
        </p:txBody>
      </p:sp>
      <p:sp>
        <p:nvSpPr>
          <p:cNvPr id="190" name="Text 187"/>
          <p:cNvSpPr txBox="1"/>
          <p:nvPr/>
        </p:nvSpPr>
        <p:spPr>
          <a:xfrm>
            <a:off x="10479024" y="574319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Caso-control</a:t>
            </a:r>
            <a:pPr indent="0" marL="0">
              <a:buNone/>
            </a:pPr>
            <a:r>
              <a:rPr lang="es-E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OR 2, 30% controles expuestos</a:t>
            </a:r>
            <a:endParaRPr lang="en-US" sz="1050" dirty="0"/>
          </a:p>
        </p:txBody>
      </p:sp>
      <p:sp>
        <p:nvSpPr>
          <p:cNvPr id="191" name="Text 188"/>
          <p:cNvSpPr txBox="1"/>
          <p:nvPr/>
        </p:nvSpPr>
        <p:spPr>
          <a:xfrm>
            <a:off x="12874752" y="570661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 = </a:t>
            </a:r>
            <a:pPr algn="r"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282</a:t>
            </a:r>
            <a:endParaRPr lang="en-US" sz="1100" dirty="0"/>
          </a:p>
        </p:txBody>
      </p:sp>
      <p:sp>
        <p:nvSpPr>
          <p:cNvPr id="192" name="Shape 189"/>
          <p:cNvSpPr/>
          <p:nvPr/>
        </p:nvSpPr>
        <p:spPr>
          <a:xfrm>
            <a:off x="10479024" y="5990082"/>
            <a:ext cx="3172968" cy="43129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93" name="Text 190"/>
          <p:cNvSpPr txBox="1"/>
          <p:nvPr/>
        </p:nvSpPr>
        <p:spPr>
          <a:xfrm>
            <a:off x="10552176" y="6054090"/>
            <a:ext cx="3044952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epi.sscc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(OR = 2, p0 = 0.30,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 = NA, power = 0.80, r = 1)</a:t>
            </a:r>
            <a:endParaRPr lang="en-US" sz="1100" dirty="0"/>
          </a:p>
        </p:txBody>
      </p:sp>
      <p:sp>
        <p:nvSpPr>
          <p:cNvPr id="194" name="Text 191"/>
          <p:cNvSpPr txBox="1"/>
          <p:nvPr/>
        </p:nvSpPr>
        <p:spPr>
          <a:xfrm>
            <a:off x="10479024" y="6512814"/>
            <a:ext cx="24871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5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Dos medias (ensayo)</a:t>
            </a:r>
            <a:pPr indent="0" marL="0">
              <a:buNone/>
            </a:pPr>
            <a:r>
              <a:rPr lang="es-E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diferencia 5, DE 10</a:t>
            </a:r>
            <a:endParaRPr lang="en-US" sz="1050" dirty="0"/>
          </a:p>
        </p:txBody>
      </p:sp>
      <p:sp>
        <p:nvSpPr>
          <p:cNvPr id="195" name="Text 192"/>
          <p:cNvSpPr txBox="1"/>
          <p:nvPr/>
        </p:nvSpPr>
        <p:spPr>
          <a:xfrm>
            <a:off x="12874752" y="6476238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n = </a:t>
            </a:r>
            <a:pPr algn="r" indent="0" marL="0">
              <a:buNone/>
            </a:pPr>
            <a:r>
              <a:rPr lang="en-US" sz="130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126</a:t>
            </a:r>
            <a:endParaRPr lang="en-US" sz="1100" dirty="0"/>
          </a:p>
        </p:txBody>
      </p:sp>
      <p:sp>
        <p:nvSpPr>
          <p:cNvPr id="196" name="Shape 193"/>
          <p:cNvSpPr/>
          <p:nvPr/>
        </p:nvSpPr>
        <p:spPr>
          <a:xfrm>
            <a:off x="10479024" y="6759702"/>
            <a:ext cx="3172968" cy="431292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197" name="Text 194"/>
          <p:cNvSpPr txBox="1"/>
          <p:nvPr/>
        </p:nvSpPr>
        <p:spPr>
          <a:xfrm>
            <a:off x="10552176" y="6823710"/>
            <a:ext cx="3044952" cy="33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epi.sscompc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(treat = 5, control = 0,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sigma = 10, n = NA, power = 0.80)</a:t>
            </a:r>
            <a:endParaRPr lang="en-US" sz="1100" dirty="0"/>
          </a:p>
        </p:txBody>
      </p:sp>
      <p:sp>
        <p:nvSpPr>
          <p:cNvPr id="198" name="Text 195"/>
          <p:cNvSpPr txBox="1"/>
          <p:nvPr/>
        </p:nvSpPr>
        <p:spPr>
          <a:xfrm>
            <a:off x="10479024" y="7300722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= razón entre grupos (p. ej., 2 controles por caso: n = 320) · </a:t>
            </a:r>
            <a:pPr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sided.test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= 2 · </a:t>
            </a:r>
            <a:pPr indent="0" marL="0">
              <a:buNone/>
            </a:pPr>
            <a:r>
              <a:rPr lang="en-US" sz="9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conf.level</a:t>
            </a:r>
            <a:pPr indent="0" marL="0">
              <a:buNone/>
            </a:pPr>
            <a:r>
              <a:rPr lang="en-U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= 0.95</a:t>
            </a:r>
            <a:endParaRPr lang="en-US" sz="950" dirty="0"/>
          </a:p>
        </p:txBody>
      </p:sp>
      <p:sp>
        <p:nvSpPr>
          <p:cNvPr id="199" name="Text 196"/>
          <p:cNvSpPr txBox="1"/>
          <p:nvPr/>
        </p:nvSpPr>
        <p:spPr>
          <a:xfrm>
            <a:off x="10479024" y="7757922"/>
            <a:ext cx="31729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1000" b="1" spc="100" kern="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MUESTREO POR CONGLOMERADOS</a:t>
            </a:r>
            <a:endParaRPr lang="en-US" sz="1000" dirty="0"/>
          </a:p>
        </p:txBody>
      </p:sp>
      <p:sp>
        <p:nvSpPr>
          <p:cNvPr id="200" name="Text 197"/>
          <p:cNvSpPr txBox="1"/>
          <p:nvPr/>
        </p:nvSpPr>
        <p:spPr>
          <a:xfrm>
            <a:off x="10479024" y="8004810"/>
            <a:ext cx="317296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Los sujetos de un conglomerado se parecen, así que n crece según DEF = 1 + ρ(b − 1).</a:t>
            </a:r>
            <a:endParaRPr lang="en-US" sz="950" dirty="0"/>
          </a:p>
        </p:txBody>
      </p:sp>
      <p:sp>
        <p:nvSpPr>
          <p:cNvPr id="201" name="Shape 198"/>
          <p:cNvSpPr/>
          <p:nvPr/>
        </p:nvSpPr>
        <p:spPr>
          <a:xfrm>
            <a:off x="10479024" y="8407146"/>
            <a:ext cx="3172968" cy="573786"/>
          </a:xfrm>
          <a:prstGeom prst="rect">
            <a:avLst/>
          </a:prstGeom>
          <a:solidFill>
            <a:srgbClr val="F4F6FB"/>
          </a:solidFill>
          <a:ln w="9525">
            <a:solidFill>
              <a:srgbClr val="C9CFDD"/>
            </a:solidFill>
            <a:prstDash val="solid"/>
          </a:ln>
        </p:spPr>
      </p:sp>
      <p:sp>
        <p:nvSpPr>
          <p:cNvPr id="202" name="Text 199"/>
          <p:cNvSpPr txBox="1"/>
          <p:nvPr/>
        </p:nvSpPr>
        <p:spPr>
          <a:xfrm>
            <a:off x="10552176" y="8471154"/>
            <a:ext cx="3044952" cy="48234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0000"/>
              </a:lnSpc>
              <a:buNone/>
            </a:pPr>
            <a:r>
              <a:rPr lang="en-US" sz="850" b="1" dirty="0">
                <a:solidFill>
                  <a:srgbClr val="000F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epi.ssclus1estb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(b = 20, Py = 0.20,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epsilon = 0.25, error = 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8A5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"relative"</a:t>
            </a:r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</a:t>
            </a:r>
            <a:endParaRPr lang="en-US" sz="11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850" dirty="0">
                <a:solidFill>
                  <a:srgbClr val="2222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rho = 0.02)</a:t>
            </a:r>
            <a:endParaRPr lang="en-US" sz="1100" dirty="0"/>
          </a:p>
        </p:txBody>
      </p:sp>
      <p:sp>
        <p:nvSpPr>
          <p:cNvPr id="203" name="Text 200"/>
          <p:cNvSpPr txBox="1"/>
          <p:nvPr/>
        </p:nvSpPr>
        <p:spPr>
          <a:xfrm>
            <a:off x="10479024" y="9017508"/>
            <a:ext cx="3172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→ </a:t>
            </a:r>
            <a:pPr algn="r" indent="0" marL="0">
              <a:buNone/>
            </a:pPr>
            <a:r>
              <a:rPr lang="es-ES" sz="1100" b="1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17 conglomerados × 20 = 340</a:t>
            </a:r>
            <a:pPr algn="r" indent="0" marL="0">
              <a:buNone/>
            </a:pPr>
            <a:r>
              <a:rPr lang="en-US" sz="95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(DEF 1.38)</a:t>
            </a:r>
            <a:endParaRPr lang="en-US" sz="950" dirty="0"/>
          </a:p>
        </p:txBody>
      </p:sp>
      <p:sp>
        <p:nvSpPr>
          <p:cNvPr id="204" name="Text 201"/>
          <p:cNvSpPr txBox="1"/>
          <p:nvPr/>
        </p:nvSpPr>
        <p:spPr>
          <a:xfrm>
            <a:off x="10479024" y="9273540"/>
            <a:ext cx="31729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s-ES" sz="900" i="1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epiR advierte: se recomiendan al menos 25 conglomerados.</a:t>
            </a:r>
            <a:endParaRPr lang="en-US" sz="900" dirty="0"/>
          </a:p>
        </p:txBody>
      </p:sp>
      <p:sp>
        <p:nvSpPr>
          <p:cNvPr id="205" name="Shape 202"/>
          <p:cNvSpPr/>
          <p:nvPr/>
        </p:nvSpPr>
        <p:spPr>
          <a:xfrm>
            <a:off x="10479024" y="9566148"/>
            <a:ext cx="3172968" cy="566928"/>
          </a:xfrm>
          <a:prstGeom prst="roundRect">
            <a:avLst>
              <a:gd name="adj" fmla="val 9677"/>
            </a:avLst>
          </a:prstGeom>
          <a:solidFill>
            <a:srgbClr val="FDF3DF"/>
          </a:solidFill>
          <a:ln w="9525">
            <a:solidFill>
              <a:srgbClr val="D98E04"/>
            </a:solidFill>
            <a:prstDash val="solid"/>
          </a:ln>
        </p:spPr>
      </p:sp>
      <p:sp>
        <p:nvSpPr>
          <p:cNvPr id="206" name="Text 203"/>
          <p:cNvSpPr txBox="1"/>
          <p:nvPr/>
        </p:nvSpPr>
        <p:spPr>
          <a:xfrm>
            <a:off x="10570464" y="9630156"/>
            <a:ext cx="299008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s-ES" sz="950" b="1" dirty="0">
                <a:solidFill>
                  <a:srgbClr val="D98E04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CONSEJO  </a:t>
            </a:r>
            <a:pPr indent="0" marL="0">
              <a:buNone/>
            </a:pPr>
            <a:r>
              <a:rPr lang="es-ES" sz="950" dirty="0">
                <a:solidFill>
                  <a:srgbClr val="222222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¿Esperas pérdidas? Divide n entre (1 − tasa de pérdida): 545 ÷ 0.90 = 606 para 10% de no respuesta.</a:t>
            </a:r>
            <a:endParaRPr lang="en-US" sz="950" dirty="0"/>
          </a:p>
        </p:txBody>
      </p:sp>
      <p:sp>
        <p:nvSpPr>
          <p:cNvPr id="207" name="Text 204"/>
          <p:cNvSpPr txBox="1"/>
          <p:nvPr/>
        </p:nvSpPr>
        <p:spPr>
          <a:xfrm>
            <a:off x="411480" y="10415016"/>
            <a:ext cx="13149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u="sng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CC BY SA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Anthony Romero-Cerdán  •  </a:t>
            </a:r>
            <a:pPr algn="r" indent="0" marL="0">
              <a:buNone/>
            </a:pPr>
            <a:r>
              <a:rPr lang="en-US" sz="900" u="sng" dirty="0">
                <a:solidFill>
                  <a:srgbClr val="000F46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anthonyromero.netlify.app</a:t>
            </a:r>
            <a:pPr algn="r" indent="0" marL="0">
              <a:buNone/>
            </a:pPr>
            <a:r>
              <a:rPr lang="es-E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Más información en </a:t>
            </a:r>
            <a:pPr algn="r" indent="0" marL="0">
              <a:buNone/>
            </a:pPr>
            <a:r>
              <a:rPr lang="en-US" sz="900" dirty="0">
                <a:solidFill>
                  <a:srgbClr val="5F667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browseVignettes("epiR")</a:t>
            </a:r>
            <a:pPr algn="r" indent="0" marL="0">
              <a:buNone/>
            </a:pPr>
            <a:r>
              <a:rPr lang="es-ES" sz="900" dirty="0">
                <a:solidFill>
                  <a:srgbClr val="5F6675"/>
                </a:solidFill>
                <a:latin typeface="Source Sans Pro" pitchFamily="34" charset="0"/>
                <a:ea typeface="Source Sans Pro" pitchFamily="34" charset="-122"/>
                <a:cs typeface="Source Sans Pro" pitchFamily="34" charset="-120"/>
              </a:rPr>
              <a:t>  •  versión de epiR 2.0.99  •  Actualizado: 2026-10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ource Sans Pro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ource Sans Pro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Epidemiology with epiR :: CHEAT SHEET</dc:title>
  <dc:subject>PptxGenJS Presentation</dc:subject>
  <dc:creator>Anthony Romero-Cerdán</dc:creator>
  <cp:lastModifiedBy>Anthony Romero-Cerdán</cp:lastModifiedBy>
  <cp:revision>1</cp:revision>
  <dcterms:created xsi:type="dcterms:W3CDTF">2026-10-12T20:34:35Z</dcterms:created>
  <dcterms:modified xsi:type="dcterms:W3CDTF">2026-10-12T20:34:35Z</dcterms:modified>
</cp:coreProperties>
</file>