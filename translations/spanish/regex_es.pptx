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3970000" cy="10795000"/>
  <p:notesSz cx="6858000" cy="9144000"/>
  <p:defaultTextStyle>
    <a:lvl1pPr algn="ctr" defTabSz="584200">
      <a:defRPr sz="3800">
        <a:latin typeface="+mn-lt"/>
        <a:ea typeface="+mn-ea"/>
        <a:cs typeface="+mn-cs"/>
        <a:sym typeface="Helvetica Light"/>
      </a:defRPr>
    </a:lvl1pPr>
    <a:lvl2pPr indent="228600" algn="ctr" defTabSz="584200">
      <a:defRPr sz="3800">
        <a:latin typeface="+mn-lt"/>
        <a:ea typeface="+mn-ea"/>
        <a:cs typeface="+mn-cs"/>
        <a:sym typeface="Helvetica Light"/>
      </a:defRPr>
    </a:lvl2pPr>
    <a:lvl3pPr indent="457200" algn="ctr" defTabSz="584200">
      <a:defRPr sz="3800">
        <a:latin typeface="+mn-lt"/>
        <a:ea typeface="+mn-ea"/>
        <a:cs typeface="+mn-cs"/>
        <a:sym typeface="Helvetica Light"/>
      </a:defRPr>
    </a:lvl3pPr>
    <a:lvl4pPr indent="685800" algn="ctr" defTabSz="584200">
      <a:defRPr sz="3800">
        <a:latin typeface="+mn-lt"/>
        <a:ea typeface="+mn-ea"/>
        <a:cs typeface="+mn-cs"/>
        <a:sym typeface="Helvetica Light"/>
      </a:defRPr>
    </a:lvl4pPr>
    <a:lvl5pPr indent="914400" algn="ctr" defTabSz="584200">
      <a:defRPr sz="3800">
        <a:latin typeface="+mn-lt"/>
        <a:ea typeface="+mn-ea"/>
        <a:cs typeface="+mn-cs"/>
        <a:sym typeface="Helvetica Light"/>
      </a:defRPr>
    </a:lvl5pPr>
    <a:lvl6pPr indent="1143000" algn="ctr" defTabSz="584200">
      <a:defRPr sz="3800">
        <a:latin typeface="+mn-lt"/>
        <a:ea typeface="+mn-ea"/>
        <a:cs typeface="+mn-cs"/>
        <a:sym typeface="Helvetica Light"/>
      </a:defRPr>
    </a:lvl6pPr>
    <a:lvl7pPr indent="1371600" algn="ctr" defTabSz="584200">
      <a:defRPr sz="3800">
        <a:latin typeface="+mn-lt"/>
        <a:ea typeface="+mn-ea"/>
        <a:cs typeface="+mn-cs"/>
        <a:sym typeface="Helvetica Light"/>
      </a:defRPr>
    </a:lvl7pPr>
    <a:lvl8pPr indent="1600200" algn="ctr" defTabSz="584200">
      <a:defRPr sz="3800">
        <a:latin typeface="+mn-lt"/>
        <a:ea typeface="+mn-ea"/>
        <a:cs typeface="+mn-cs"/>
        <a:sym typeface="Helvetica Light"/>
      </a:defRPr>
    </a:lvl8pPr>
    <a:lvl9pPr indent="1828800" algn="ctr" defTabSz="584200">
      <a:defRPr sz="380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3400">
          <p15:clr>
            <a:srgbClr val="A4A3A4"/>
          </p15:clr>
        </p15:guide>
        <p15:guide id="2" pos="44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911" autoAdjust="0"/>
    <p:restoredTop sz="94660"/>
  </p:normalViewPr>
  <p:slideViewPr>
    <p:cSldViewPr>
      <p:cViewPr>
        <p:scale>
          <a:sx n="100" d="100"/>
          <a:sy n="100" d="100"/>
        </p:scale>
        <p:origin x="58" y="-763"/>
      </p:cViewPr>
      <p:guideLst>
        <p:guide orient="horz" pos="3400"/>
        <p:guide pos="44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Romero" userId="6b0392680c44eebc" providerId="LiveId" clId="{DEF369C7-D875-4089-BC3A-2A58E6AC2C22}"/>
    <pc:docChg chg="custSel modSld">
      <pc:chgData name="Anthony Romero" userId="6b0392680c44eebc" providerId="LiveId" clId="{DEF369C7-D875-4089-BC3A-2A58E6AC2C22}" dt="2026-10-12T15:44:45.905" v="16" actId="478"/>
      <pc:docMkLst>
        <pc:docMk/>
      </pc:docMkLst>
      <pc:sldChg chg="delSp modSp mod">
        <pc:chgData name="Anthony Romero" userId="6b0392680c44eebc" providerId="LiveId" clId="{DEF369C7-D875-4089-BC3A-2A58E6AC2C22}" dt="2026-10-12T15:44:45.905" v="16" actId="478"/>
        <pc:sldMkLst>
          <pc:docMk/>
          <pc:sldMk cId="0" sldId="256"/>
        </pc:sldMkLst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29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34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68" v="1" actId="27636"/>
          <ac:spMkLst>
            <pc:docMk/>
            <pc:sldMk cId="0" sldId="256"/>
            <ac:spMk id="37" creationId="{00000000-0000-0000-0000-000000000000}"/>
          </ac:spMkLst>
        </pc:spChg>
        <pc:spChg chg="del">
          <ac:chgData name="Anthony Romero" userId="6b0392680c44eebc" providerId="LiveId" clId="{DEF369C7-D875-4089-BC3A-2A58E6AC2C22}" dt="2026-10-12T15:44:45.905" v="16" actId="478"/>
          <ac:spMkLst>
            <pc:docMk/>
            <pc:sldMk cId="0" sldId="256"/>
            <ac:spMk id="40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4:36.790" v="15" actId="207"/>
          <ac:spMkLst>
            <pc:docMk/>
            <pc:sldMk cId="0" sldId="256"/>
            <ac:spMk id="65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76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89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92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99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43:02.725" v="0" actId="790"/>
          <ac:spMkLst>
            <pc:docMk/>
            <pc:sldMk cId="0" sldId="256"/>
            <ac:spMk id="30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43886300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600">
        <a:latin typeface="Avenir Book"/>
        <a:ea typeface="Avenir Book"/>
        <a:cs typeface="Avenir Book"/>
        <a:sym typeface="Avenir Book"/>
      </a:defRPr>
    </a:lvl1pPr>
    <a:lvl2pPr indent="228600" defTabSz="457200">
      <a:lnSpc>
        <a:spcPct val="125000"/>
      </a:lnSpc>
      <a:defRPr sz="2600">
        <a:latin typeface="Avenir Book"/>
        <a:ea typeface="Avenir Book"/>
        <a:cs typeface="Avenir Book"/>
        <a:sym typeface="Avenir Book"/>
      </a:defRPr>
    </a:lvl2pPr>
    <a:lvl3pPr indent="457200" defTabSz="457200">
      <a:lnSpc>
        <a:spcPct val="125000"/>
      </a:lnSpc>
      <a:defRPr sz="2600">
        <a:latin typeface="Avenir Book"/>
        <a:ea typeface="Avenir Book"/>
        <a:cs typeface="Avenir Book"/>
        <a:sym typeface="Avenir Book"/>
      </a:defRPr>
    </a:lvl3pPr>
    <a:lvl4pPr indent="685800" defTabSz="457200">
      <a:lnSpc>
        <a:spcPct val="125000"/>
      </a:lnSpc>
      <a:defRPr sz="2600">
        <a:latin typeface="Avenir Book"/>
        <a:ea typeface="Avenir Book"/>
        <a:cs typeface="Avenir Book"/>
        <a:sym typeface="Avenir Book"/>
      </a:defRPr>
    </a:lvl4pPr>
    <a:lvl5pPr indent="914400" defTabSz="457200">
      <a:lnSpc>
        <a:spcPct val="125000"/>
      </a:lnSpc>
      <a:defRPr sz="2600">
        <a:latin typeface="Avenir Book"/>
        <a:ea typeface="Avenir Book"/>
        <a:cs typeface="Avenir Book"/>
        <a:sym typeface="Avenir Book"/>
      </a:defRPr>
    </a:lvl5pPr>
    <a:lvl6pPr indent="1143000" defTabSz="457200">
      <a:lnSpc>
        <a:spcPct val="125000"/>
      </a:lnSpc>
      <a:defRPr sz="2600">
        <a:latin typeface="Avenir Book"/>
        <a:ea typeface="Avenir Book"/>
        <a:cs typeface="Avenir Book"/>
        <a:sym typeface="Avenir Book"/>
      </a:defRPr>
    </a:lvl6pPr>
    <a:lvl7pPr indent="1371600" defTabSz="457200">
      <a:lnSpc>
        <a:spcPct val="125000"/>
      </a:lnSpc>
      <a:defRPr sz="2600">
        <a:latin typeface="Avenir Book"/>
        <a:ea typeface="Avenir Book"/>
        <a:cs typeface="Avenir Book"/>
        <a:sym typeface="Avenir Book"/>
      </a:defRPr>
    </a:lvl7pPr>
    <a:lvl8pPr indent="1600200" defTabSz="457200">
      <a:lnSpc>
        <a:spcPct val="125000"/>
      </a:lnSpc>
      <a:defRPr sz="2600">
        <a:latin typeface="Avenir Book"/>
        <a:ea typeface="Avenir Book"/>
        <a:cs typeface="Avenir Book"/>
        <a:sym typeface="Avenir Book"/>
      </a:defRPr>
    </a:lvl8pPr>
    <a:lvl9pPr indent="1828800" defTabSz="457200">
      <a:lnSpc>
        <a:spcPct val="125000"/>
      </a:lnSpc>
      <a:defRPr sz="2600">
        <a:latin typeface="Avenir Book"/>
        <a:ea typeface="Avenir Book"/>
        <a:cs typeface="Avenir Book"/>
        <a:sym typeface="Avenir Book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8800"/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228600" algn="ctr">
              <a:spcBef>
                <a:spcPts val="0"/>
              </a:spcBef>
              <a:buSzTx/>
              <a:buNone/>
              <a:defRPr sz="3400"/>
            </a:lvl2pPr>
            <a:lvl3pPr marL="0" indent="457200" algn="ctr">
              <a:spcBef>
                <a:spcPts val="0"/>
              </a:spcBef>
              <a:buSzTx/>
              <a:buNone/>
              <a:defRPr sz="3400"/>
            </a:lvl3pPr>
            <a:lvl4pPr marL="0" indent="685800" algn="ctr">
              <a:spcBef>
                <a:spcPts val="0"/>
              </a:spcBef>
              <a:buSzTx/>
              <a:buNone/>
              <a:defRPr sz="3400"/>
            </a:lvl4pPr>
            <a:lvl5pPr marL="0" indent="914400" algn="ctr">
              <a:spcBef>
                <a:spcPts val="0"/>
              </a:spcBef>
              <a:buSzTx/>
              <a:buNone/>
              <a:defRPr sz="3400"/>
            </a:lvl5pPr>
          </a:lstStyle>
          <a:p>
            <a:pPr lvl="0">
              <a:defRPr sz="1800"/>
            </a:pPr>
            <a:r>
              <a:rPr sz="3400"/>
              <a:t>Body Level One</a:t>
            </a:r>
          </a:p>
          <a:p>
            <a:pPr lvl="1">
              <a:defRPr sz="1800"/>
            </a:pPr>
            <a:r>
              <a:rPr sz="3400"/>
              <a:t>Body Level Two</a:t>
            </a:r>
          </a:p>
          <a:p>
            <a:pPr lvl="2">
              <a:defRPr sz="1800"/>
            </a:pPr>
            <a:r>
              <a:rPr sz="3400"/>
              <a:t>Body Level Three</a:t>
            </a:r>
          </a:p>
          <a:p>
            <a:pPr lvl="3">
              <a:defRPr sz="1800"/>
            </a:pPr>
            <a:r>
              <a:rPr sz="3400"/>
              <a:t>Body Level Four</a:t>
            </a:r>
          </a:p>
          <a:p>
            <a:pPr lvl="4">
              <a:defRPr sz="1800"/>
            </a:pPr>
            <a:r>
              <a:rPr sz="34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8800"/>
              <a:t>Title Text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228600" algn="ctr">
              <a:spcBef>
                <a:spcPts val="0"/>
              </a:spcBef>
              <a:buSzTx/>
              <a:buNone/>
              <a:defRPr sz="3400"/>
            </a:lvl2pPr>
            <a:lvl3pPr marL="0" indent="457200" algn="ctr">
              <a:spcBef>
                <a:spcPts val="0"/>
              </a:spcBef>
              <a:buSzTx/>
              <a:buNone/>
              <a:defRPr sz="3400"/>
            </a:lvl3pPr>
            <a:lvl4pPr marL="0" indent="685800" algn="ctr">
              <a:spcBef>
                <a:spcPts val="0"/>
              </a:spcBef>
              <a:buSzTx/>
              <a:buNone/>
              <a:defRPr sz="3400"/>
            </a:lvl4pPr>
            <a:lvl5pPr marL="0" indent="914400" algn="ctr">
              <a:spcBef>
                <a:spcPts val="0"/>
              </a:spcBef>
              <a:buSzTx/>
              <a:buNone/>
              <a:defRPr sz="3400"/>
            </a:lvl5pPr>
          </a:lstStyle>
          <a:p>
            <a:pPr lvl="0">
              <a:defRPr sz="1800"/>
            </a:pPr>
            <a:r>
              <a:rPr sz="3400"/>
              <a:t>Body Level One</a:t>
            </a:r>
          </a:p>
          <a:p>
            <a:pPr lvl="1">
              <a:defRPr sz="1800"/>
            </a:pPr>
            <a:r>
              <a:rPr sz="3400"/>
              <a:t>Body Level Two</a:t>
            </a:r>
          </a:p>
          <a:p>
            <a:pPr lvl="2">
              <a:defRPr sz="1800"/>
            </a:pPr>
            <a:r>
              <a:rPr sz="3400"/>
              <a:t>Body Level Three</a:t>
            </a:r>
          </a:p>
          <a:p>
            <a:pPr lvl="3">
              <a:defRPr sz="1800"/>
            </a:pPr>
            <a:r>
              <a:rPr sz="3400"/>
              <a:t>Body Level Four</a:t>
            </a:r>
          </a:p>
          <a:p>
            <a:pPr lvl="4">
              <a:defRPr sz="1800"/>
            </a:pPr>
            <a:r>
              <a:rPr sz="34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800"/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6600"/>
            </a:lvl1pPr>
          </a:lstStyle>
          <a:p>
            <a:pPr lvl="0">
              <a:defRPr sz="1800"/>
            </a:pPr>
            <a:r>
              <a:rPr sz="6600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228600" algn="ctr">
              <a:spcBef>
                <a:spcPts val="0"/>
              </a:spcBef>
              <a:buSzTx/>
              <a:buNone/>
              <a:defRPr sz="3400"/>
            </a:lvl2pPr>
            <a:lvl3pPr marL="0" indent="457200" algn="ctr">
              <a:spcBef>
                <a:spcPts val="0"/>
              </a:spcBef>
              <a:buSzTx/>
              <a:buNone/>
              <a:defRPr sz="3400"/>
            </a:lvl3pPr>
            <a:lvl4pPr marL="0" indent="685800" algn="ctr">
              <a:spcBef>
                <a:spcPts val="0"/>
              </a:spcBef>
              <a:buSzTx/>
              <a:buNone/>
              <a:defRPr sz="3400"/>
            </a:lvl4pPr>
            <a:lvl5pPr marL="0" indent="914400" algn="ctr">
              <a:spcBef>
                <a:spcPts val="0"/>
              </a:spcBef>
              <a:buSzTx/>
              <a:buNone/>
              <a:defRPr sz="3400"/>
            </a:lvl5pPr>
          </a:lstStyle>
          <a:p>
            <a:pPr lvl="0">
              <a:defRPr sz="1800"/>
            </a:pPr>
            <a:r>
              <a:rPr sz="3400"/>
              <a:t>Body Level One</a:t>
            </a:r>
          </a:p>
          <a:p>
            <a:pPr lvl="1">
              <a:defRPr sz="1800"/>
            </a:pPr>
            <a:r>
              <a:rPr sz="3400"/>
              <a:t>Body Level Two</a:t>
            </a:r>
          </a:p>
          <a:p>
            <a:pPr lvl="2">
              <a:defRPr sz="1800"/>
            </a:pPr>
            <a:r>
              <a:rPr sz="3400"/>
              <a:t>Body Level Three</a:t>
            </a:r>
          </a:p>
          <a:p>
            <a:pPr lvl="3">
              <a:defRPr sz="1800"/>
            </a:pPr>
            <a:r>
              <a:rPr sz="3400"/>
              <a:t>Body Level Four</a:t>
            </a:r>
          </a:p>
          <a:p>
            <a:pPr lvl="4">
              <a:defRPr sz="1800"/>
            </a:pPr>
            <a:r>
              <a:rPr sz="34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800"/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800"/>
              <a:t>Title Text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800"/>
              <a:t>Body Level One</a:t>
            </a:r>
          </a:p>
          <a:p>
            <a:pPr lvl="1">
              <a:defRPr sz="1800"/>
            </a:pPr>
            <a:r>
              <a:rPr sz="3800"/>
              <a:t>Body Level Two</a:t>
            </a:r>
          </a:p>
          <a:p>
            <a:pPr lvl="2">
              <a:defRPr sz="1800"/>
            </a:pPr>
            <a:r>
              <a:rPr sz="3800"/>
              <a:t>Body Level Three</a:t>
            </a:r>
          </a:p>
          <a:p>
            <a:pPr lvl="3">
              <a:defRPr sz="1800"/>
            </a:pPr>
            <a:r>
              <a:rPr sz="3800"/>
              <a:t>Body Level Four</a:t>
            </a:r>
          </a:p>
          <a:p>
            <a:pPr lvl="4">
              <a:defRPr sz="1800"/>
            </a:pPr>
            <a:r>
              <a:rPr sz="38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800"/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367392" indent="-367392">
              <a:spcBef>
                <a:spcPts val="3200"/>
              </a:spcBef>
              <a:defRPr sz="3000"/>
            </a:lvl1pPr>
            <a:lvl2pPr marL="710292" indent="-367392">
              <a:spcBef>
                <a:spcPts val="3200"/>
              </a:spcBef>
              <a:defRPr sz="3000"/>
            </a:lvl2pPr>
            <a:lvl3pPr marL="1053192" indent="-367392">
              <a:spcBef>
                <a:spcPts val="3200"/>
              </a:spcBef>
              <a:defRPr sz="3000"/>
            </a:lvl3pPr>
            <a:lvl4pPr marL="1396092" indent="-367392">
              <a:spcBef>
                <a:spcPts val="3200"/>
              </a:spcBef>
              <a:defRPr sz="3000"/>
            </a:lvl4pPr>
            <a:lvl5pPr marL="1738992" indent="-367392">
              <a:spcBef>
                <a:spcPts val="3200"/>
              </a:spcBef>
              <a:defRPr sz="3000"/>
            </a:lvl5pPr>
          </a:lstStyle>
          <a:p>
            <a:pPr lvl="0">
              <a:defRPr sz="1800"/>
            </a:pPr>
            <a:r>
              <a:rPr sz="3000"/>
              <a:t>Body Level One</a:t>
            </a:r>
          </a:p>
          <a:p>
            <a:pPr lvl="1">
              <a:defRPr sz="1800"/>
            </a:pPr>
            <a:r>
              <a:rPr sz="3000"/>
              <a:t>Body Level Two</a:t>
            </a:r>
          </a:p>
          <a:p>
            <a:pPr lvl="2">
              <a:defRPr sz="1800"/>
            </a:pPr>
            <a:r>
              <a:rPr sz="3000"/>
              <a:t>Body Level Three</a:t>
            </a:r>
          </a:p>
          <a:p>
            <a:pPr lvl="3">
              <a:defRPr sz="1800"/>
            </a:pPr>
            <a:r>
              <a:rPr sz="3000"/>
              <a:t>Body Level Four</a:t>
            </a:r>
          </a:p>
          <a:p>
            <a:pPr lvl="4">
              <a:defRPr sz="1800"/>
            </a:pPr>
            <a:r>
              <a:rPr sz="30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800"/>
              <a:t>Body Level One</a:t>
            </a:r>
          </a:p>
          <a:p>
            <a:pPr lvl="1">
              <a:defRPr sz="1800"/>
            </a:pPr>
            <a:r>
              <a:rPr sz="3800"/>
              <a:t>Body Level Two</a:t>
            </a:r>
          </a:p>
          <a:p>
            <a:pPr lvl="2">
              <a:defRPr sz="1800"/>
            </a:pPr>
            <a:r>
              <a:rPr sz="3800"/>
              <a:t>Body Level Three</a:t>
            </a:r>
          </a:p>
          <a:p>
            <a:pPr lvl="3">
              <a:defRPr sz="1800"/>
            </a:pPr>
            <a:r>
              <a:rPr sz="3800"/>
              <a:t>Body Level Four</a:t>
            </a:r>
          </a:p>
          <a:p>
            <a:pPr lvl="4">
              <a:defRPr sz="1800"/>
            </a:pPr>
            <a:r>
              <a:rPr sz="38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880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3800"/>
              <a:t>Body Level One</a:t>
            </a:r>
          </a:p>
          <a:p>
            <a:pPr lvl="1">
              <a:defRPr sz="1800"/>
            </a:pPr>
            <a:r>
              <a:rPr sz="3800"/>
              <a:t>Body Level Two</a:t>
            </a:r>
          </a:p>
          <a:p>
            <a:pPr lvl="2">
              <a:defRPr sz="1800"/>
            </a:pPr>
            <a:r>
              <a:rPr sz="3800"/>
              <a:t>Body Level Three</a:t>
            </a:r>
          </a:p>
          <a:p>
            <a:pPr lvl="3">
              <a:defRPr sz="1800"/>
            </a:pPr>
            <a:r>
              <a:rPr sz="3800"/>
              <a:t>Body Level Four</a:t>
            </a:r>
          </a:p>
          <a:p>
            <a:pPr lvl="4">
              <a:defRPr sz="1800"/>
            </a:pPr>
            <a:r>
              <a:rPr sz="3800"/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ctr" defTabSz="584200">
        <a:defRPr sz="8800"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8800"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8800"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8800"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8800"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8800"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8800"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8800"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8800">
          <a:latin typeface="+mn-lt"/>
          <a:ea typeface="+mn-ea"/>
          <a:cs typeface="+mn-cs"/>
          <a:sym typeface="Helvetica Light"/>
        </a:defRPr>
      </a:lvl9pPr>
    </p:titleStyle>
    <p:bodyStyle>
      <a:lvl1pPr marL="469194" indent="-469194" defTabSz="584200">
        <a:spcBef>
          <a:spcPts val="4200"/>
        </a:spcBef>
        <a:buSzPct val="75000"/>
        <a:buChar char="•"/>
        <a:defRPr sz="3800">
          <a:latin typeface="+mn-lt"/>
          <a:ea typeface="+mn-ea"/>
          <a:cs typeface="+mn-cs"/>
          <a:sym typeface="Helvetica Light"/>
        </a:defRPr>
      </a:lvl1pPr>
      <a:lvl2pPr marL="913694" indent="-469194" defTabSz="584200">
        <a:spcBef>
          <a:spcPts val="4200"/>
        </a:spcBef>
        <a:buSzPct val="75000"/>
        <a:buChar char="•"/>
        <a:defRPr sz="3800">
          <a:latin typeface="+mn-lt"/>
          <a:ea typeface="+mn-ea"/>
          <a:cs typeface="+mn-cs"/>
          <a:sym typeface="Helvetica Light"/>
        </a:defRPr>
      </a:lvl2pPr>
      <a:lvl3pPr marL="1358194" indent="-469194" defTabSz="584200">
        <a:spcBef>
          <a:spcPts val="4200"/>
        </a:spcBef>
        <a:buSzPct val="75000"/>
        <a:buChar char="•"/>
        <a:defRPr sz="3800">
          <a:latin typeface="+mn-lt"/>
          <a:ea typeface="+mn-ea"/>
          <a:cs typeface="+mn-cs"/>
          <a:sym typeface="Helvetica Light"/>
        </a:defRPr>
      </a:lvl3pPr>
      <a:lvl4pPr marL="1802694" indent="-469194" defTabSz="584200">
        <a:spcBef>
          <a:spcPts val="4200"/>
        </a:spcBef>
        <a:buSzPct val="75000"/>
        <a:buChar char="•"/>
        <a:defRPr sz="3800">
          <a:latin typeface="+mn-lt"/>
          <a:ea typeface="+mn-ea"/>
          <a:cs typeface="+mn-cs"/>
          <a:sym typeface="Helvetica Light"/>
        </a:defRPr>
      </a:lvl4pPr>
      <a:lvl5pPr marL="2247194" indent="-469194" defTabSz="584200">
        <a:spcBef>
          <a:spcPts val="4200"/>
        </a:spcBef>
        <a:buSzPct val="75000"/>
        <a:buChar char="•"/>
        <a:defRPr sz="3800">
          <a:latin typeface="+mn-lt"/>
          <a:ea typeface="+mn-ea"/>
          <a:cs typeface="+mn-cs"/>
          <a:sym typeface="Helvetica Light"/>
        </a:defRPr>
      </a:lvl5pPr>
      <a:lvl6pPr marL="2691694" indent="-469194" defTabSz="584200">
        <a:spcBef>
          <a:spcPts val="4200"/>
        </a:spcBef>
        <a:buSzPct val="75000"/>
        <a:buChar char="•"/>
        <a:defRPr sz="3800">
          <a:latin typeface="+mn-lt"/>
          <a:ea typeface="+mn-ea"/>
          <a:cs typeface="+mn-cs"/>
          <a:sym typeface="Helvetica Light"/>
        </a:defRPr>
      </a:lvl6pPr>
      <a:lvl7pPr marL="3136194" indent="-469194" defTabSz="584200">
        <a:spcBef>
          <a:spcPts val="4200"/>
        </a:spcBef>
        <a:buSzPct val="75000"/>
        <a:buChar char="•"/>
        <a:defRPr sz="3800">
          <a:latin typeface="+mn-lt"/>
          <a:ea typeface="+mn-ea"/>
          <a:cs typeface="+mn-cs"/>
          <a:sym typeface="Helvetica Light"/>
        </a:defRPr>
      </a:lvl7pPr>
      <a:lvl8pPr marL="3580694" indent="-469194" defTabSz="584200">
        <a:spcBef>
          <a:spcPts val="4200"/>
        </a:spcBef>
        <a:buSzPct val="75000"/>
        <a:buChar char="•"/>
        <a:defRPr sz="3800">
          <a:latin typeface="+mn-lt"/>
          <a:ea typeface="+mn-ea"/>
          <a:cs typeface="+mn-cs"/>
          <a:sym typeface="Helvetica Light"/>
        </a:defRPr>
      </a:lvl8pPr>
      <a:lvl9pPr marL="4025194" indent="-469194" defTabSz="584200">
        <a:spcBef>
          <a:spcPts val="4200"/>
        </a:spcBef>
        <a:buSzPct val="75000"/>
        <a:buChar char="•"/>
        <a:defRPr sz="3800">
          <a:latin typeface="+mn-lt"/>
          <a:ea typeface="+mn-ea"/>
          <a:cs typeface="+mn-cs"/>
          <a:sym typeface="Helvetica Light"/>
        </a:defRPr>
      </a:lvl9pPr>
    </p:bodyStyle>
    <p:otherStyle>
      <a:lvl1pPr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an.kopacka@ages.at" TargetMode="External"/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4"/>
          <p:cNvSpPr/>
          <p:nvPr/>
        </p:nvSpPr>
        <p:spPr>
          <a:xfrm>
            <a:off x="3668460" y="437977"/>
            <a:ext cx="10085292" cy="5708797"/>
          </a:xfrm>
          <a:prstGeom prst="roundRect">
            <a:avLst>
              <a:gd name="adj" fmla="val 1194"/>
            </a:avLst>
          </a:prstGeom>
          <a:solidFill>
            <a:srgbClr val="A6AAA9">
              <a:alpha val="2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l">
              <a:defRPr sz="1000">
                <a:latin typeface="Menlo"/>
                <a:ea typeface="Menlo"/>
                <a:cs typeface="Menlo"/>
                <a:sym typeface="Menlo"/>
              </a:defRPr>
            </a:pPr>
            <a:endParaRPr lang="es-PE" noProof="0" dirty="0"/>
          </a:p>
        </p:txBody>
      </p:sp>
      <p:sp>
        <p:nvSpPr>
          <p:cNvPr id="37" name="Shape 37"/>
          <p:cNvSpPr>
            <a:spLocks noGrp="1"/>
          </p:cNvSpPr>
          <p:nvPr>
            <p:ph type="title"/>
          </p:nvPr>
        </p:nvSpPr>
        <p:spPr>
          <a:xfrm>
            <a:off x="277225" y="412997"/>
            <a:ext cx="3217980" cy="116807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defTabSz="280415">
              <a:lnSpc>
                <a:spcPct val="80000"/>
              </a:lnSpc>
              <a:defRPr sz="1800"/>
            </a:pPr>
            <a:r>
              <a:rPr lang="es-PE" sz="2800" noProof="0" dirty="0">
                <a:solidFill>
                  <a:srgbClr val="53585F"/>
                </a:solidFill>
                <a:latin typeface="Adobe Gothic Std B" pitchFamily="34" charset="-128"/>
                <a:ea typeface="Adobe Gothic Std B" pitchFamily="34" charset="-128"/>
                <a:cs typeface="Source Sans Pro"/>
                <a:sym typeface="Source Sans Pro"/>
              </a:rPr>
              <a:t>Expresiones regulares básicas en R</a:t>
            </a:r>
            <a:endParaRPr lang="es-PE" sz="2000" noProof="0" dirty="0">
              <a:solidFill>
                <a:srgbClr val="53585F"/>
              </a:solidFill>
              <a:latin typeface="Adobe Gothic Std B" pitchFamily="34" charset="-128"/>
              <a:ea typeface="Adobe Gothic Std B" pitchFamily="34" charset="-128"/>
              <a:cs typeface="Source Sans Pro Semibold"/>
              <a:sym typeface="Source Sans Pro Semibold"/>
            </a:endParaRPr>
          </a:p>
          <a:p>
            <a:pPr lvl="0" defTabSz="280415">
              <a:lnSpc>
                <a:spcPct val="90000"/>
              </a:lnSpc>
              <a:defRPr sz="1800"/>
            </a:pPr>
            <a:r>
              <a:rPr lang="es-PE" sz="1968" noProof="0" dirty="0" err="1">
                <a:solidFill>
                  <a:srgbClr val="53585F"/>
                </a:solidFill>
                <a:latin typeface="Century Gothic" panose="020B0502020202020204" pitchFamily="34" charset="0"/>
                <a:ea typeface="Adobe Gothic Std B" pitchFamily="34" charset="-128"/>
                <a:cs typeface="Source Sans Pro Light"/>
                <a:sym typeface="Source Sans Pro Light"/>
              </a:rPr>
              <a:t>Cheat</a:t>
            </a:r>
            <a:r>
              <a:rPr lang="es-PE" sz="1968" noProof="0" dirty="0">
                <a:solidFill>
                  <a:srgbClr val="53585F"/>
                </a:solidFill>
                <a:latin typeface="Century Gothic" panose="020B0502020202020204" pitchFamily="34" charset="0"/>
                <a:ea typeface="Adobe Gothic Std B" pitchFamily="34" charset="-128"/>
                <a:cs typeface="Source Sans Pro Light"/>
                <a:sym typeface="Source Sans Pro Light"/>
              </a:rPr>
              <a:t> </a:t>
            </a:r>
            <a:r>
              <a:rPr lang="es-PE" sz="1968" noProof="0" dirty="0" err="1">
                <a:solidFill>
                  <a:srgbClr val="53585F"/>
                </a:solidFill>
                <a:latin typeface="Century Gothic" panose="020B0502020202020204" pitchFamily="34" charset="0"/>
                <a:ea typeface="Adobe Gothic Std B" pitchFamily="34" charset="-128"/>
                <a:cs typeface="Source Sans Pro Light"/>
                <a:sym typeface="Source Sans Pro Light"/>
              </a:rPr>
              <a:t>Sheet</a:t>
            </a:r>
            <a:r>
              <a:rPr lang="es-PE" sz="1968" noProof="0" dirty="0">
                <a:solidFill>
                  <a:srgbClr val="53585F"/>
                </a:solidFill>
                <a:latin typeface="Century Gothic" panose="020B0502020202020204" pitchFamily="34" charset="0"/>
                <a:ea typeface="Adobe Gothic Std B" pitchFamily="34" charset="-128"/>
                <a:cs typeface="Source Sans Pro Light"/>
                <a:sym typeface="Source Sans Pro Light"/>
              </a:rPr>
              <a:t> </a:t>
            </a:r>
          </a:p>
        </p:txBody>
      </p:sp>
      <p:sp>
        <p:nvSpPr>
          <p:cNvPr id="304" name="Shape 34"/>
          <p:cNvSpPr/>
          <p:nvPr/>
        </p:nvSpPr>
        <p:spPr>
          <a:xfrm>
            <a:off x="3677886" y="7862786"/>
            <a:ext cx="10086596" cy="2359250"/>
          </a:xfrm>
          <a:prstGeom prst="roundRect">
            <a:avLst>
              <a:gd name="adj" fmla="val 1194"/>
            </a:avLst>
          </a:prstGeom>
          <a:solidFill>
            <a:srgbClr val="A6AAA9">
              <a:alpha val="2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l">
              <a:defRPr sz="1000">
                <a:latin typeface="Menlo"/>
                <a:ea typeface="Menlo"/>
                <a:cs typeface="Menlo"/>
                <a:sym typeface="Menlo"/>
              </a:defRPr>
            </a:pPr>
            <a:endParaRPr lang="es-PE" noProof="0" dirty="0"/>
          </a:p>
        </p:txBody>
      </p:sp>
      <p:grpSp>
        <p:nvGrpSpPr>
          <p:cNvPr id="53" name="Gruppieren 52"/>
          <p:cNvGrpSpPr/>
          <p:nvPr/>
        </p:nvGrpSpPr>
        <p:grpSpPr>
          <a:xfrm>
            <a:off x="10495570" y="6290790"/>
            <a:ext cx="3268912" cy="1410966"/>
            <a:chOff x="260259" y="2232052"/>
            <a:chExt cx="3268912" cy="1410966"/>
          </a:xfrm>
        </p:grpSpPr>
        <p:sp>
          <p:nvSpPr>
            <p:cNvPr id="34" name="Shape 34"/>
            <p:cNvSpPr/>
            <p:nvPr/>
          </p:nvSpPr>
          <p:spPr>
            <a:xfrm>
              <a:off x="260259" y="2232052"/>
              <a:ext cx="3268912" cy="1410966"/>
            </a:xfrm>
            <a:prstGeom prst="roundRect">
              <a:avLst>
                <a:gd name="adj" fmla="val 1194"/>
              </a:avLst>
            </a:prstGeom>
            <a:solidFill>
              <a:srgbClr val="A6AAA9">
                <a:alpha val="2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 algn="l">
                <a:defRPr sz="1000">
                  <a:latin typeface="Menlo"/>
                  <a:ea typeface="Menlo"/>
                  <a:cs typeface="Menlo"/>
                  <a:sym typeface="Menlo"/>
                </a:defRPr>
              </a:pPr>
              <a:endParaRPr lang="es-PE" noProof="0" dirty="0"/>
            </a:p>
          </p:txBody>
        </p:sp>
        <p:sp>
          <p:nvSpPr>
            <p:cNvPr id="305" name="Shape 43"/>
            <p:cNvSpPr/>
            <p:nvPr/>
          </p:nvSpPr>
          <p:spPr>
            <a:xfrm>
              <a:off x="260259" y="2245111"/>
              <a:ext cx="3268912" cy="248841"/>
            </a:xfrm>
            <a:prstGeom prst="roundRect">
              <a:avLst>
                <a:gd name="adj" fmla="val 25876"/>
              </a:avLst>
            </a:prstGeom>
            <a:solidFill>
              <a:srgbClr val="A6AAA9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/>
            <a:p>
              <a:pPr lvl="1" indent="0">
                <a:defRPr sz="1800"/>
              </a:pPr>
              <a:r>
                <a:rPr lang="es-PE" sz="1400" noProof="0" dirty="0">
                  <a:solidFill>
                    <a:srgbClr val="FFFFFF"/>
                  </a:solidFill>
                  <a:latin typeface="Adobe Gothic Std B" pitchFamily="34" charset="-128"/>
                  <a:ea typeface="Adobe Gothic Std B" pitchFamily="34" charset="-128"/>
                  <a:cs typeface="Source Sans Pro"/>
                  <a:sym typeface="Source Sans Pro"/>
                </a:rPr>
                <a:t>Cuantificadores</a:t>
              </a:r>
            </a:p>
          </p:txBody>
        </p:sp>
        <p:graphicFrame>
          <p:nvGraphicFramePr>
            <p:cNvPr id="306" name="Table 143"/>
            <p:cNvGraphicFramePr/>
            <p:nvPr>
              <p:extLst>
                <p:ext uri="{D42A27DB-BD31-4B8C-83A1-F6EECF244321}">
                  <p14:modId xmlns:p14="http://schemas.microsoft.com/office/powerpoint/2010/main" val="2715404335"/>
                </p:ext>
              </p:extLst>
            </p:nvPr>
          </p:nvGraphicFramePr>
          <p:xfrm>
            <a:off x="311454" y="2530316"/>
            <a:ext cx="3166521" cy="1062990"/>
          </p:xfrm>
          <a:graphic>
            <a:graphicData uri="http://schemas.openxmlformats.org/drawingml/2006/table">
              <a:tbl>
                <a:tblPr>
                  <a:tableStyleId>{33BA23B1-9221-436E-865A-0063620EA4FD}</a:tableStyleId>
                </a:tblPr>
                <a:tblGrid>
                  <a:gridCol w="5377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62881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*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Coincide al menos 0 veces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+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Coincide al menos 1 vez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?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Coincide 0 o 1 vez; cadena opcional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{n}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Coincide exactamente n veces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{n,}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Coincide al menos n veces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{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n,m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}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Coincide entre n y m veces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</p:grpSp>
      <p:sp>
        <p:nvSpPr>
          <p:cNvPr id="23" name="Shape 44"/>
          <p:cNvSpPr/>
          <p:nvPr/>
        </p:nvSpPr>
        <p:spPr>
          <a:xfrm>
            <a:off x="3668460" y="373648"/>
            <a:ext cx="10085292" cy="320381"/>
          </a:xfrm>
          <a:prstGeom prst="roundRect">
            <a:avLst>
              <a:gd name="adj" fmla="val 20098"/>
            </a:avLst>
          </a:prstGeom>
          <a:solidFill>
            <a:srgbClr val="A6AAA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/>
          <a:p>
            <a:pPr lvl="1" indent="0">
              <a:defRPr sz="1800"/>
            </a:pPr>
            <a:r>
              <a:rPr lang="es-PE" sz="2000" noProof="0" dirty="0">
                <a:solidFill>
                  <a:srgbClr val="FFFFFF"/>
                </a:solidFill>
                <a:latin typeface="Adobe Gothic Std B" pitchFamily="34" charset="-128"/>
                <a:ea typeface="Adobe Gothic Std B" pitchFamily="34" charset="-128"/>
                <a:cs typeface="Source Sans Pro"/>
                <a:sym typeface="Source Sans Pro"/>
              </a:rPr>
              <a:t>Funciones  p</a:t>
            </a:r>
            <a:r>
              <a:rPr lang="es-PE" sz="2000" noProof="0" dirty="0">
                <a:solidFill>
                  <a:srgbClr val="FFFFFF"/>
                </a:solidFill>
                <a:latin typeface="Adobe Gothic Std B" pitchFamily="34" charset="-128"/>
                <a:ea typeface="Adobe Gothic Std B" pitchFamily="34" charset="-128"/>
                <a:cs typeface="Source Sans Pro"/>
                <a:sym typeface="Source Sans Pro Semibold"/>
              </a:rPr>
              <a:t>ara buscar patrones</a:t>
            </a:r>
            <a:endParaRPr lang="es-PE" sz="2000" noProof="0" dirty="0">
              <a:solidFill>
                <a:srgbClr val="FFFFFF"/>
              </a:solidFill>
              <a:latin typeface="Adobe Gothic Std B" pitchFamily="34" charset="-128"/>
              <a:ea typeface="Adobe Gothic Std B" pitchFamily="34" charset="-128"/>
              <a:cs typeface="Source Sans Pro Semibold"/>
              <a:sym typeface="Source Sans Pro Semibold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3807125" y="2762398"/>
            <a:ext cx="5789834" cy="417982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algn="l"/>
            <a:r>
              <a:rPr lang="es-PE" sz="1000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&gt; </a:t>
            </a:r>
            <a:r>
              <a:rPr lang="es-PE" sz="1000" noProof="0" dirty="0" err="1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string</a:t>
            </a:r>
            <a:r>
              <a:rPr lang="es-PE" sz="1000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 </a:t>
            </a:r>
            <a:r>
              <a:rPr lang="es-PE" sz="1000" b="1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&lt;- c("</a:t>
            </a:r>
            <a:r>
              <a:rPr lang="es-PE" sz="1000" b="1" noProof="0" dirty="0" err="1">
                <a:solidFill>
                  <a:schemeClr val="accent1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Hiphopopotamus</a:t>
            </a:r>
            <a:r>
              <a:rPr lang="es-PE" sz="1000" b="1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", "</a:t>
            </a:r>
            <a:r>
              <a:rPr lang="es-PE" sz="1000" b="1" noProof="0" dirty="0" err="1">
                <a:solidFill>
                  <a:schemeClr val="accent1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Rhymenoceros</a:t>
            </a:r>
            <a:r>
              <a:rPr lang="es-PE" sz="1000" b="1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", "</a:t>
            </a:r>
            <a:r>
              <a:rPr lang="es-PE" sz="1000" b="1" noProof="0" dirty="0">
                <a:solidFill>
                  <a:schemeClr val="accent1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time for </a:t>
            </a:r>
            <a:r>
              <a:rPr lang="es-PE" sz="1000" b="1" noProof="0" dirty="0" err="1">
                <a:solidFill>
                  <a:schemeClr val="accent1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bottomless</a:t>
            </a:r>
            <a:r>
              <a:rPr lang="es-PE" sz="1000" b="1" noProof="0" dirty="0">
                <a:solidFill>
                  <a:schemeClr val="accent1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 </a:t>
            </a:r>
            <a:r>
              <a:rPr lang="es-PE" sz="1000" b="1" noProof="0" dirty="0" err="1">
                <a:solidFill>
                  <a:schemeClr val="accent1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lyrics</a:t>
            </a:r>
            <a:r>
              <a:rPr lang="es-PE" sz="1000" b="1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") </a:t>
            </a:r>
          </a:p>
          <a:p>
            <a:pPr algn="l"/>
            <a:r>
              <a:rPr lang="es-PE" sz="1000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&gt; </a:t>
            </a:r>
            <a:r>
              <a:rPr lang="es-PE" sz="1000" noProof="0" dirty="0" err="1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pattern</a:t>
            </a:r>
            <a:r>
              <a:rPr lang="es-PE" sz="1000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 </a:t>
            </a:r>
            <a:r>
              <a:rPr lang="es-PE" sz="1000" b="1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&lt;- "</a:t>
            </a:r>
            <a:r>
              <a:rPr lang="es-PE" sz="1000" b="1" noProof="0" dirty="0" err="1">
                <a:solidFill>
                  <a:schemeClr val="accent1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t.m</a:t>
            </a:r>
            <a:r>
              <a:rPr lang="es-PE" sz="1000" b="1" noProof="0" dirty="0"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" </a:t>
            </a:r>
            <a:endParaRPr kumimoji="0" lang="es-PE" sz="10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Consolas" panose="020B0609020204030204" pitchFamily="49" charset="0"/>
              <a:ea typeface="Adobe Gothic Std B" pitchFamily="34" charset="-128"/>
              <a:cs typeface="Consolas" panose="020B0609020204030204" pitchFamily="49" charset="0"/>
              <a:sym typeface="Helvetica Light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3747267" y="3266454"/>
            <a:ext cx="3130150" cy="2156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Detectar patrones</a:t>
            </a:r>
          </a:p>
          <a:p>
            <a:pPr algn="l" rtl="0" latinLnBrk="1" hangingPunct="0">
              <a:spcBef>
                <a:spcPts val="500"/>
              </a:spcBef>
            </a:pPr>
            <a:r>
              <a:rPr kumimoji="0" lang="es-PE" sz="1100" b="1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grep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1 3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grep(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pattern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string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value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 = TRUE)</a:t>
            </a:r>
          </a:p>
          <a:p>
            <a:pPr marL="108000" algn="l" rtl="0" latinLnBrk="1" hangingPunct="0"/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"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Hiphopopotamus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pPr marL="108000" algn="l" rtl="0" latinLnBrk="1" hangingPunct="0"/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 "time for 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bottomless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lyrics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grepl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(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pattern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string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)</a:t>
            </a:r>
          </a:p>
          <a:p>
            <a:pPr marL="108000" algn="l" rtl="0" latinLnBrk="1" hangingPunct="0"/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 TRUE FALSE  TRUE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stringr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::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str_detect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(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string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pattern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)</a:t>
            </a:r>
          </a:p>
          <a:p>
            <a:pPr marL="108000" algn="l" rtl="0" latinLnBrk="1" hangingPunct="0"/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 TRUE FALSE  TRUE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6489639" y="3266454"/>
            <a:ext cx="3130150" cy="198764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algn="l" rtl="0" latinLnBrk="1" hangingPunct="0">
              <a:spcAft>
                <a:spcPts val="400"/>
              </a:spcAft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Localizar patrones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 err="1"/>
              <a:t>regexpr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inicio y longitud de la primera coincidencia 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 err="1"/>
              <a:t>gregexpr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inicio y longitud de todas las coincidencias </a:t>
            </a:r>
            <a:endParaRPr lang="es-PE" sz="1100" b="1" noProof="0" dirty="0"/>
          </a:p>
          <a:p>
            <a:pPr algn="l" rtl="0" latinLnBrk="1" hangingPunct="0">
              <a:spcBef>
                <a:spcPts val="500"/>
              </a:spcBef>
            </a:pP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/>
              <a:t>str_locate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inicio y fin de la primera coincidencia 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/>
              <a:t>str_locate_all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inicio y fin de todas las coincidencias 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9793311" y="714115"/>
            <a:ext cx="3901789" cy="3349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algn="l" rtl="0" latinLnBrk="1" hangingPunct="0">
              <a:spcAft>
                <a:spcPts val="400"/>
              </a:spcAft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Extraer patrones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 err="1"/>
              <a:t>regmatches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regexpr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))  </a:t>
            </a:r>
          </a:p>
          <a:p>
            <a:pPr marL="108000" algn="l" rtl="0" latinLnBrk="1" hangingPunct="0"/>
            <a:r>
              <a:rPr lang="es-PE" sz="1100" noProof="0" dirty="0"/>
              <a:t>primera coincidencia	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"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tam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s-PE" sz="1100" b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 err="1"/>
              <a:t>regmatches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gregexpr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))</a:t>
            </a:r>
          </a:p>
          <a:p>
            <a:pPr marL="108000" algn="l" rtl="0" latinLnBrk="1" hangingPunct="0"/>
            <a:r>
              <a:rPr lang="es-PE" sz="1100" noProof="0" dirty="0"/>
              <a:t>todas las coincidencias, como lista </a:t>
            </a:r>
          </a:p>
          <a:p>
            <a:pPr marL="108000" algn="l" rtl="0" latinLnBrk="1" hangingPunct="0"/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[[1]] "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tam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[[2]] 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character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 [[3]] "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tom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/>
              <a:t>str_extract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primera coincidencia	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"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tam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NA  "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/>
              <a:t>str_extract_all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todas las coincidencias, como lista 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/>
              <a:t>str_extract_all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simplify</a:t>
            </a:r>
            <a:r>
              <a:rPr lang="es-PE" sz="1100" b="1" noProof="0" dirty="0"/>
              <a:t> = TRUE)</a:t>
            </a:r>
          </a:p>
          <a:p>
            <a:pPr marL="108000" algn="l" rtl="0" latinLnBrk="1" hangingPunct="0"/>
            <a:r>
              <a:rPr lang="es-PE" sz="1100" noProof="0" dirty="0"/>
              <a:t>todas las coincidencias, como matriz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/>
              <a:t>str_match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primera coincidencia + cada grupo de captura 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/>
              <a:t>str_match_all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todas las coincidencias + cada grupo de captura 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9799736" y="4129937"/>
            <a:ext cx="3528392" cy="198764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Reemplazar patrones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sub(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pattern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replacement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string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)</a:t>
            </a:r>
          </a:p>
          <a:p>
            <a:pPr marL="108000" algn="l" rtl="0" latinLnBrk="1" hangingPunct="0"/>
            <a:r>
              <a:rPr lang="es-PE" sz="1100" noProof="0" dirty="0"/>
              <a:t>reemplaza la primera coincidencia</a:t>
            </a:r>
            <a:endParaRPr lang="es-PE" sz="11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gsub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(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pattern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replacement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string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)</a:t>
            </a:r>
          </a:p>
          <a:p>
            <a:pPr marL="108000" algn="l" rtl="0" latinLnBrk="1" hangingPunct="0"/>
            <a:r>
              <a:rPr lang="es-PE" sz="1100" noProof="0" dirty="0"/>
              <a:t>reemplaza todas las coincidencias</a:t>
            </a:r>
            <a:endParaRPr lang="es-PE" sz="11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 rtl="0" latinLnBrk="1" hangingPunct="0">
              <a:spcBef>
                <a:spcPts val="500"/>
              </a:spcBef>
            </a:pP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/>
              <a:t>str_replace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replacement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reemplaza la primera coincidencia</a:t>
            </a:r>
            <a:endParaRPr lang="es-PE" sz="11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 rtl="0" latinLnBrk="1" hangingPunct="0">
              <a:spcBef>
                <a:spcPts val="500"/>
              </a:spcBef>
            </a:pP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/>
              <a:t>str_replace_all</a:t>
            </a:r>
            <a:r>
              <a:rPr lang="es-PE" sz="1100" b="1" noProof="0" dirty="0"/>
              <a:t>(</a:t>
            </a:r>
            <a:r>
              <a:rPr lang="es-PE" sz="1100" b="1" noProof="0" dirty="0" err="1"/>
              <a:t>string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pattern</a:t>
            </a:r>
            <a:r>
              <a:rPr lang="es-PE" sz="1100" b="1" noProof="0" dirty="0"/>
              <a:t>, </a:t>
            </a:r>
            <a:r>
              <a:rPr lang="es-PE" sz="1100" b="1" noProof="0" dirty="0" err="1"/>
              <a:t>replacement</a:t>
            </a:r>
            <a:r>
              <a:rPr lang="es-PE" sz="1100" b="1" noProof="0" dirty="0"/>
              <a:t>)</a:t>
            </a:r>
          </a:p>
          <a:p>
            <a:pPr marL="108000" algn="l" rtl="0" latinLnBrk="1" hangingPunct="0"/>
            <a:r>
              <a:rPr lang="es-PE" sz="1100" noProof="0" dirty="0"/>
              <a:t>reemplaza todas las coincidencias</a:t>
            </a:r>
            <a:endParaRPr lang="es-PE" sz="11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Textfeld 28"/>
          <p:cNvSpPr txBox="1"/>
          <p:nvPr/>
        </p:nvSpPr>
        <p:spPr>
          <a:xfrm>
            <a:off x="3747267" y="5471387"/>
            <a:ext cx="5208892" cy="61034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Dividir una cadena con un patrón</a:t>
            </a:r>
          </a:p>
          <a:p>
            <a:pPr algn="l" rtl="0" latinLnBrk="1" hangingPunct="0">
              <a:spcBef>
                <a:spcPts val="500"/>
              </a:spcBef>
            </a:pP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strsplit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(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string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pattern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)</a:t>
            </a:r>
            <a:r>
              <a:rPr lang="es-PE" sz="1100" noProof="0" dirty="0"/>
              <a:t> o 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stringr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str_split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(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string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, </a:t>
            </a:r>
            <a:r>
              <a:rPr lang="es-PE" sz="1100" b="1" noProof="0" dirty="0" err="1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pattern</a:t>
            </a:r>
            <a:r>
              <a:rPr lang="es-PE" sz="1100" b="1" noProof="0" dirty="0">
                <a:solidFill>
                  <a:srgbClr val="000000"/>
                </a:solidFill>
                <a:latin typeface="Helvetica" panose="020B0604020202020204" pitchFamily="34" charset="0"/>
                <a:ea typeface="Adobe Gothic Std B" pitchFamily="34" charset="-128"/>
                <a:cs typeface="Helvetica" panose="020B0604020202020204" pitchFamily="34" charset="0"/>
              </a:rPr>
              <a:t>)</a:t>
            </a:r>
          </a:p>
        </p:txBody>
      </p:sp>
      <p:cxnSp>
        <p:nvCxnSpPr>
          <p:cNvPr id="11" name="Gerade Verbindung 10"/>
          <p:cNvCxnSpPr/>
          <p:nvPr/>
        </p:nvCxnSpPr>
        <p:spPr>
          <a:xfrm>
            <a:off x="8126582" y="1321734"/>
            <a:ext cx="0" cy="219555"/>
          </a:xfrm>
          <a:prstGeom prst="line">
            <a:avLst/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Gerade Verbindung 46"/>
          <p:cNvCxnSpPr/>
          <p:nvPr/>
        </p:nvCxnSpPr>
        <p:spPr>
          <a:xfrm>
            <a:off x="9037382" y="1321733"/>
            <a:ext cx="0" cy="390862"/>
          </a:xfrm>
          <a:prstGeom prst="line">
            <a:avLst/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8" name="Gruppieren 7"/>
          <p:cNvGrpSpPr/>
          <p:nvPr/>
        </p:nvGrpSpPr>
        <p:grpSpPr>
          <a:xfrm>
            <a:off x="7221112" y="673661"/>
            <a:ext cx="2418936" cy="1075104"/>
            <a:chOff x="5298749" y="3921777"/>
            <a:chExt cx="2418936" cy="1075104"/>
          </a:xfrm>
        </p:grpSpPr>
        <p:graphicFrame>
          <p:nvGraphicFramePr>
            <p:cNvPr id="30" name="Table 142"/>
            <p:cNvGraphicFramePr/>
            <p:nvPr>
              <p:extLst>
                <p:ext uri="{D42A27DB-BD31-4B8C-83A1-F6EECF244321}">
                  <p14:modId xmlns:p14="http://schemas.microsoft.com/office/powerpoint/2010/main" val="2921872962"/>
                </p:ext>
              </p:extLst>
            </p:nvPr>
          </p:nvGraphicFramePr>
          <p:xfrm>
            <a:off x="5298749" y="4334348"/>
            <a:ext cx="2418936" cy="254000"/>
          </p:xfrm>
          <a:graphic>
            <a:graphicData uri="http://schemas.openxmlformats.org/drawingml/2006/table">
              <a:tbl>
                <a:tblPr firstRow="1">
                  <a:tableStyleId>{33BA23B1-9221-436E-865A-0063620EA4FD}</a:tableStyleId>
                </a:tblPr>
                <a:tblGrid>
                  <a:gridCol w="30236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0236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02367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302367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302367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302367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302367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302367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248620">
                  <a:tc>
                    <a:txBody>
                      <a:bodyPr/>
                      <a:lstStyle/>
                      <a:p>
                        <a:pPr lvl="0" defTabSz="914400">
                          <a:defRPr sz="3600">
                            <a:sym typeface="Helvetica"/>
                          </a:defRPr>
                        </a:pPr>
                        <a:endParaRPr lang="es-PE" sz="1000" noProof="0" dirty="0"/>
                      </a:p>
                    </a:txBody>
                    <a:tcPr marL="50800" marR="50800" marT="50800" marB="50800" anchor="ctr" horzOverflow="overflow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vl="0" defTabSz="914400">
                          <a:defRPr sz="3600">
                            <a:sym typeface="Helvetica"/>
                          </a:defRPr>
                        </a:pPr>
                        <a:endParaRPr lang="es-PE" sz="1000" noProof="0" dirty="0"/>
                      </a:p>
                    </a:txBody>
                    <a:tcPr marL="50800" marR="50800" marT="50800" marB="50800" anchor="ctr" horzOverflow="overflow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vl="0" defTabSz="914400">
                          <a:defRPr sz="3600">
                            <a:sym typeface="Helvetica"/>
                          </a:defRPr>
                        </a:pPr>
                        <a:endParaRPr lang="es-PE" sz="1000" noProof="0" dirty="0"/>
                      </a:p>
                    </a:txBody>
                    <a:tcPr marL="50800" marR="50800" marT="50800" marB="50800" anchor="ctr" horzOverflow="overflow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vl="0" defTabSz="914400">
                          <a:defRPr sz="3600">
                            <a:sym typeface="Helvetica"/>
                          </a:defRPr>
                        </a:pPr>
                        <a:endParaRPr lang="es-PE" sz="1000" noProof="0" dirty="0"/>
                      </a:p>
                    </a:txBody>
                    <a:tcPr marL="50800" marR="50800" marT="50800" marB="50800" anchor="ctr" horzOverflow="overflow"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vl="0" defTabSz="914400">
                          <a:defRPr sz="3600">
                            <a:sym typeface="Helvetica"/>
                          </a:defRPr>
                        </a:pPr>
                        <a:endParaRPr lang="es-PE" sz="1000" noProof="0" dirty="0"/>
                      </a:p>
                    </a:txBody>
                    <a:tcPr marL="50800" marR="50800" marT="50800" marB="50800" anchor="ctr" horzOverflow="overflow"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vl="0" defTabSz="914400">
                          <a:defRPr sz="3600">
                            <a:sym typeface="Helvetica"/>
                          </a:defRPr>
                        </a:pPr>
                        <a:endParaRPr lang="es-PE" sz="1000" noProof="0" dirty="0"/>
                      </a:p>
                    </a:txBody>
                    <a:tcPr marL="50800" marR="50800" marT="50800" marB="50800" anchor="ctr" horzOverflow="overflow"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vl="0" defTabSz="914400">
                          <a:defRPr sz="3600">
                            <a:sym typeface="Helvetica"/>
                          </a:defRPr>
                        </a:pPr>
                        <a:endParaRPr lang="es-PE" sz="1000" noProof="0" dirty="0"/>
                      </a:p>
                    </a:txBody>
                    <a:tcPr marL="50800" marR="50800" marT="50800" marB="50800" anchor="ctr" horzOverflow="overflow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vl="0" defTabSz="914400">
                          <a:defRPr sz="3600">
                            <a:sym typeface="Helvetica"/>
                          </a:defRPr>
                        </a:pPr>
                        <a:endParaRPr lang="es-PE" sz="1000" noProof="0" dirty="0"/>
                      </a:p>
                    </a:txBody>
                    <a:tcPr marL="50800" marR="50800" marT="50800" marB="50800" anchor="ctr" horzOverflow="overflow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4" name="Runde Klammer rechts 3"/>
            <p:cNvSpPr/>
            <p:nvPr/>
          </p:nvSpPr>
          <p:spPr>
            <a:xfrm rot="16200000">
              <a:off x="6612481" y="3922000"/>
              <a:ext cx="108013" cy="720082"/>
            </a:xfrm>
            <a:prstGeom prst="rightBracke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PE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32" name="Runde Klammer rechts 31"/>
            <p:cNvSpPr/>
            <p:nvPr/>
          </p:nvSpPr>
          <p:spPr>
            <a:xfrm rot="5400000" flipV="1">
              <a:off x="6465044" y="3504387"/>
              <a:ext cx="125592" cy="2293513"/>
            </a:xfrm>
            <a:prstGeom prst="rightBracke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PE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5" name="Textfeld 4"/>
            <p:cNvSpPr txBox="1"/>
            <p:nvPr/>
          </p:nvSpPr>
          <p:spPr>
            <a:xfrm>
              <a:off x="6234439" y="3921777"/>
              <a:ext cx="864096" cy="325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PE" sz="1400" b="0" i="0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entury Gothic" panose="020B0502020202020204" pitchFamily="34" charset="0"/>
                  <a:sym typeface="Helvetica Light"/>
                </a:rPr>
                <a:t>patrón</a:t>
              </a:r>
            </a:p>
          </p:txBody>
        </p:sp>
        <p:sp>
          <p:nvSpPr>
            <p:cNvPr id="35" name="Textfeld 34"/>
            <p:cNvSpPr txBox="1"/>
            <p:nvPr/>
          </p:nvSpPr>
          <p:spPr>
            <a:xfrm>
              <a:off x="5381083" y="4671232"/>
              <a:ext cx="2293513" cy="325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PE" sz="1400" b="0" i="0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entury Gothic" panose="020B0502020202020204" pitchFamily="34" charset="0"/>
                  <a:sym typeface="Helvetica Light"/>
                </a:rPr>
                <a:t>    cadena</a:t>
              </a:r>
            </a:p>
          </p:txBody>
        </p:sp>
      </p:grpSp>
      <p:sp>
        <p:nvSpPr>
          <p:cNvPr id="43" name="Textfeld 42"/>
          <p:cNvSpPr txBox="1"/>
          <p:nvPr/>
        </p:nvSpPr>
        <p:spPr>
          <a:xfrm>
            <a:off x="3850692" y="928697"/>
            <a:ext cx="3741789" cy="17106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algn="l" rtl="0" latinLnBrk="1" hangingPunct="0">
              <a:lnSpc>
                <a:spcPct val="180000"/>
              </a:lnSpc>
              <a:spcAft>
                <a:spcPts val="600"/>
              </a:spcAft>
            </a:pPr>
            <a:r>
              <a:rPr lang="es-PE" sz="1100" noProof="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Detectar</a:t>
            </a:r>
          </a:p>
          <a:p>
            <a:pPr algn="l" rtl="0" latinLnBrk="1" hangingPunct="0">
              <a:lnSpc>
                <a:spcPct val="180000"/>
              </a:lnSpc>
            </a:pPr>
            <a:endParaRPr lang="es-PE" sz="1100" noProof="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algn="l" rtl="0" latinLnBrk="1" hangingPunct="0">
              <a:lnSpc>
                <a:spcPct val="180000"/>
              </a:lnSpc>
            </a:pPr>
            <a:r>
              <a:rPr lang="es-PE" sz="1100" noProof="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Localizar      ↑     ↑</a:t>
            </a:r>
            <a:endParaRPr kumimoji="0" lang="es-PE" sz="11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Adobe Gothic Std B" pitchFamily="34" charset="-128"/>
              <a:ea typeface="Adobe Gothic Std B" pitchFamily="34" charset="-128"/>
              <a:sym typeface="Helvetica Light"/>
            </a:endParaRPr>
          </a:p>
          <a:p>
            <a:pPr marL="0" marR="0" indent="0" algn="l" defTabSz="584200" rtl="0" fontAlgn="auto" latinLnBrk="1" hangingPunc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PE" sz="11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dobe Gothic Std B" pitchFamily="34" charset="-128"/>
                <a:ea typeface="Adobe Gothic Std B" pitchFamily="34" charset="-128"/>
                <a:sym typeface="Helvetica Light"/>
              </a:rPr>
              <a:t>Extraer</a:t>
            </a:r>
          </a:p>
          <a:p>
            <a:pPr marL="0" marR="0" indent="0" algn="l" defTabSz="584200" rtl="0" fontAlgn="auto" latinLnBrk="1" hangingPunc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PE" sz="1100" noProof="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Reemplazar</a:t>
            </a:r>
            <a:endParaRPr kumimoji="0" lang="es-PE" sz="11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Adobe Gothic Std B" pitchFamily="34" charset="-128"/>
              <a:ea typeface="Adobe Gothic Std B" pitchFamily="34" charset="-128"/>
              <a:sym typeface="Helvetica Light"/>
            </a:endParaRPr>
          </a:p>
        </p:txBody>
      </p:sp>
      <p:graphicFrame>
        <p:nvGraphicFramePr>
          <p:cNvPr id="44" name="Table 142"/>
          <p:cNvGraphicFramePr/>
          <p:nvPr>
            <p:extLst>
              <p:ext uri="{D42A27DB-BD31-4B8C-83A1-F6EECF244321}">
                <p14:modId xmlns:p14="http://schemas.microsoft.com/office/powerpoint/2010/main" val="1599984944"/>
              </p:ext>
            </p:extLst>
          </p:nvPr>
        </p:nvGraphicFramePr>
        <p:xfrm>
          <a:off x="5093820" y="2345808"/>
          <a:ext cx="1810672" cy="19304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226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63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63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Table 142"/>
          <p:cNvGraphicFramePr/>
          <p:nvPr>
            <p:extLst>
              <p:ext uri="{D42A27DB-BD31-4B8C-83A1-F6EECF244321}">
                <p14:modId xmlns:p14="http://schemas.microsoft.com/office/powerpoint/2010/main" val="1876126862"/>
              </p:ext>
            </p:extLst>
          </p:nvPr>
        </p:nvGraphicFramePr>
        <p:xfrm>
          <a:off x="5093820" y="2041813"/>
          <a:ext cx="679002" cy="19304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226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3600">
                          <a:sym typeface="Helvetica"/>
                        </a:defRPr>
                      </a:pPr>
                      <a:endParaRPr lang="es-PE" sz="600" noProof="0" dirty="0"/>
                    </a:p>
                  </a:txBody>
                  <a:tcPr marL="50800" marR="50800" marT="50800" marB="50800" anchor="ctr" horzOverflow="overflow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" name="Gerade Verbindung 10"/>
          <p:cNvCxnSpPr/>
          <p:nvPr/>
        </p:nvCxnSpPr>
        <p:spPr>
          <a:xfrm flipH="1" flipV="1">
            <a:off x="5104292" y="1537757"/>
            <a:ext cx="3022291" cy="7064"/>
          </a:xfrm>
          <a:prstGeom prst="straightConnector1">
            <a:avLst/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Gerade Verbindung 10"/>
          <p:cNvCxnSpPr/>
          <p:nvPr/>
        </p:nvCxnSpPr>
        <p:spPr>
          <a:xfrm flipH="1">
            <a:off x="5392324" y="1712595"/>
            <a:ext cx="3645058" cy="0"/>
          </a:xfrm>
          <a:prstGeom prst="straightConnector1">
            <a:avLst/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Gerade Verbindung 10"/>
          <p:cNvCxnSpPr/>
          <p:nvPr/>
        </p:nvCxnSpPr>
        <p:spPr>
          <a:xfrm>
            <a:off x="5104292" y="1541289"/>
            <a:ext cx="0" cy="216166"/>
          </a:xfrm>
          <a:prstGeom prst="straightConnector1">
            <a:avLst/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Gerade Verbindung 10"/>
          <p:cNvCxnSpPr/>
          <p:nvPr/>
        </p:nvCxnSpPr>
        <p:spPr>
          <a:xfrm>
            <a:off x="5392324" y="1712595"/>
            <a:ext cx="0" cy="53747"/>
          </a:xfrm>
          <a:prstGeom prst="straightConnector1">
            <a:avLst/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Gerade Verbindung mit Pfeil 50"/>
          <p:cNvCxnSpPr/>
          <p:nvPr/>
        </p:nvCxnSpPr>
        <p:spPr>
          <a:xfrm>
            <a:off x="5472832" y="1177717"/>
            <a:ext cx="855596" cy="0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54" name="Gruppieren 53"/>
          <p:cNvGrpSpPr/>
          <p:nvPr/>
        </p:nvGrpSpPr>
        <p:grpSpPr>
          <a:xfrm>
            <a:off x="7088616" y="6290790"/>
            <a:ext cx="3268912" cy="1438203"/>
            <a:chOff x="250770" y="3883969"/>
            <a:chExt cx="3268912" cy="1438203"/>
          </a:xfrm>
        </p:grpSpPr>
        <p:sp>
          <p:nvSpPr>
            <p:cNvPr id="73" name="Shape 34"/>
            <p:cNvSpPr/>
            <p:nvPr/>
          </p:nvSpPr>
          <p:spPr>
            <a:xfrm>
              <a:off x="250770" y="3883969"/>
              <a:ext cx="3268912" cy="1438203"/>
            </a:xfrm>
            <a:prstGeom prst="roundRect">
              <a:avLst>
                <a:gd name="adj" fmla="val 1194"/>
              </a:avLst>
            </a:prstGeom>
            <a:solidFill>
              <a:srgbClr val="A6AAA9">
                <a:alpha val="2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 algn="l">
                <a:defRPr sz="1000">
                  <a:latin typeface="Menlo"/>
                  <a:ea typeface="Menlo"/>
                  <a:cs typeface="Menlo"/>
                  <a:sym typeface="Menlo"/>
                </a:defRPr>
              </a:pPr>
              <a:endParaRPr lang="es-PE" noProof="0" dirty="0"/>
            </a:p>
          </p:txBody>
        </p:sp>
        <p:sp>
          <p:nvSpPr>
            <p:cNvPr id="74" name="Shape 43"/>
            <p:cNvSpPr/>
            <p:nvPr/>
          </p:nvSpPr>
          <p:spPr>
            <a:xfrm>
              <a:off x="250770" y="3897029"/>
              <a:ext cx="3268912" cy="248841"/>
            </a:xfrm>
            <a:prstGeom prst="roundRect">
              <a:avLst>
                <a:gd name="adj" fmla="val 25876"/>
              </a:avLst>
            </a:prstGeom>
            <a:solidFill>
              <a:srgbClr val="A6AAA9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/>
            <a:p>
              <a:pPr lvl="1" indent="0">
                <a:defRPr sz="1800"/>
              </a:pPr>
              <a:r>
                <a:rPr lang="es-PE" sz="1400" noProof="0" dirty="0">
                  <a:solidFill>
                    <a:srgbClr val="FFFFFF"/>
                  </a:solidFill>
                  <a:latin typeface="Adobe Gothic Std B" pitchFamily="34" charset="-128"/>
                  <a:ea typeface="Adobe Gothic Std B" pitchFamily="34" charset="-128"/>
                  <a:cs typeface="Source Sans Pro"/>
                  <a:sym typeface="Source Sans Pro"/>
                </a:rPr>
                <a:t>Anclas</a:t>
              </a:r>
            </a:p>
          </p:txBody>
        </p:sp>
        <p:graphicFrame>
          <p:nvGraphicFramePr>
            <p:cNvPr id="75" name="Table 143"/>
            <p:cNvGraphicFramePr/>
            <p:nvPr>
              <p:extLst>
                <p:ext uri="{D42A27DB-BD31-4B8C-83A1-F6EECF244321}">
                  <p14:modId xmlns:p14="http://schemas.microsoft.com/office/powerpoint/2010/main" val="480559181"/>
                </p:ext>
              </p:extLst>
            </p:nvPr>
          </p:nvGraphicFramePr>
          <p:xfrm>
            <a:off x="301965" y="4182234"/>
            <a:ext cx="3166521" cy="1062990"/>
          </p:xfrm>
          <a:graphic>
            <a:graphicData uri="http://schemas.openxmlformats.org/drawingml/2006/table">
              <a:tbl>
                <a:tblPr>
                  <a:tableStyleId>{33BA23B1-9221-436E-865A-0063620EA4FD}</a:tableStyleId>
                </a:tblPr>
                <a:tblGrid>
                  <a:gridCol w="5377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62881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^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Inicio de la cadena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$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Fin de la cadena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\\b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Cadena vacía en el borde de una palabra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\\B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NO es el borde de una palabra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\\&lt;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Inicio de una palabra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\\&gt;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Fin de una palabra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</p:grpSp>
      <p:grpSp>
        <p:nvGrpSpPr>
          <p:cNvPr id="6" name="Gruppieren 5"/>
          <p:cNvGrpSpPr/>
          <p:nvPr/>
        </p:nvGrpSpPr>
        <p:grpSpPr>
          <a:xfrm>
            <a:off x="232450" y="2157140"/>
            <a:ext cx="3300283" cy="3823388"/>
            <a:chOff x="260259" y="2258342"/>
            <a:chExt cx="3268912" cy="3823388"/>
          </a:xfrm>
        </p:grpSpPr>
        <p:sp>
          <p:nvSpPr>
            <p:cNvPr id="78" name="Shape 34"/>
            <p:cNvSpPr/>
            <p:nvPr/>
          </p:nvSpPr>
          <p:spPr>
            <a:xfrm>
              <a:off x="260259" y="2258342"/>
              <a:ext cx="3268912" cy="3823388"/>
            </a:xfrm>
            <a:prstGeom prst="roundRect">
              <a:avLst>
                <a:gd name="adj" fmla="val 1194"/>
              </a:avLst>
            </a:prstGeom>
            <a:solidFill>
              <a:srgbClr val="A6AAA9">
                <a:alpha val="2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 algn="l">
                <a:defRPr sz="1000">
                  <a:latin typeface="Menlo"/>
                  <a:ea typeface="Menlo"/>
                  <a:cs typeface="Menlo"/>
                  <a:sym typeface="Menlo"/>
                </a:defRPr>
              </a:pPr>
              <a:endParaRPr lang="es-PE" noProof="0" dirty="0"/>
            </a:p>
          </p:txBody>
        </p:sp>
        <p:sp>
          <p:nvSpPr>
            <p:cNvPr id="79" name="Shape 43"/>
            <p:cNvSpPr/>
            <p:nvPr/>
          </p:nvSpPr>
          <p:spPr>
            <a:xfrm>
              <a:off x="260259" y="2271402"/>
              <a:ext cx="3268912" cy="248841"/>
            </a:xfrm>
            <a:prstGeom prst="roundRect">
              <a:avLst>
                <a:gd name="adj" fmla="val 25876"/>
              </a:avLst>
            </a:prstGeom>
            <a:solidFill>
              <a:srgbClr val="A6AAA9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/>
            <a:p>
              <a:pPr lvl="1" indent="0">
                <a:defRPr sz="1800"/>
              </a:pPr>
              <a:r>
                <a:rPr lang="es-PE" sz="1400" noProof="0" dirty="0">
                  <a:solidFill>
                    <a:srgbClr val="FFFFFF"/>
                  </a:solidFill>
                  <a:latin typeface="Adobe Gothic Std B" pitchFamily="34" charset="-128"/>
                  <a:ea typeface="Adobe Gothic Std B" pitchFamily="34" charset="-128"/>
                  <a:cs typeface="Source Sans Pro"/>
                  <a:sym typeface="Source Sans Pro"/>
                </a:rPr>
                <a:t>Clases de caracteres</a:t>
              </a:r>
            </a:p>
          </p:txBody>
        </p:sp>
        <p:graphicFrame>
          <p:nvGraphicFramePr>
            <p:cNvPr id="80" name="Table 143"/>
            <p:cNvGraphicFramePr/>
            <p:nvPr>
              <p:extLst>
                <p:ext uri="{D42A27DB-BD31-4B8C-83A1-F6EECF244321}">
                  <p14:modId xmlns:p14="http://schemas.microsoft.com/office/powerpoint/2010/main" val="3711294428"/>
                </p:ext>
              </p:extLst>
            </p:nvPr>
          </p:nvGraphicFramePr>
          <p:xfrm>
            <a:off x="311454" y="2556607"/>
            <a:ext cx="3136421" cy="3413760"/>
          </p:xfrm>
          <a:graphic>
            <a:graphicData uri="http://schemas.openxmlformats.org/drawingml/2006/table">
              <a:tbl>
                <a:tblPr>
                  <a:tableStyleId>{33BA23B1-9221-436E-865A-0063620EA4FD}</a:tableStyleId>
                </a:tblPr>
                <a:tblGrid>
                  <a:gridCol w="97675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18977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digit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  <a:r>
                          <a:rPr lang="es-PE" sz="900" b="0" i="0" u="none" strike="noStrike" noProof="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o 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\\d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Dígitos;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[0-9]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\\D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No dígitos;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[^0-9]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lower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Minúsculas;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[a-z]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upper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Mayúsculas</a:t>
                        </a:r>
                        <a:r>
                          <a:rPr lang="es-PE" sz="11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;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[A-Z]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alpha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Alfabéticos;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[A-</a:t>
                        </a:r>
                        <a:r>
                          <a:rPr lang="es-PE" sz="9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Za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-z]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alnum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Alfanuméricos;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[A-Za-z0-9]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\\w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De palabra;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[A-Za-z0-9_]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\\W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Caracteres que no son de palabra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xdigit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Dígitos 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hexadec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.;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[0-9A-Fa-f]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blank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Espacio y tabulación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indent="0" algn="ctr" defTabSz="584200" eaLnBrk="1" fontAlgn="b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space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  <a:r>
                          <a:rPr lang="es-PE" sz="900" b="0" i="0" u="none" strike="noStrike" noProof="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o 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\\s</a:t>
                        </a:r>
                      </a:p>
                      <a:p>
                        <a:pPr marL="0" marR="0" indent="0" algn="ctr" defTabSz="584200" eaLnBrk="1" fontAlgn="b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Espacio, 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tab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, 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tab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vert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., salto de línea o de página, retorno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\\S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No espacio;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 [^[:</a:t>
                        </a:r>
                        <a:r>
                          <a:rPr lang="es-PE" sz="9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space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:]]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punct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  <a:p>
                        <a:pPr algn="ctr" fontAlgn="b"/>
                        <a:endParaRPr lang="es-PE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Helvetica Light"/>
                        </a:endParaRP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Signos de puntuación;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!"#$%&amp;'()*+,-./:;&lt;=&gt;?@[\]^_`{|}~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graph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  <a:p>
                        <a:pPr algn="ctr" fontAlgn="b"/>
                        <a:endParaRPr lang="es-PE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Helvetica Light"/>
                        </a:endParaRP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defTabSz="584200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Caracteres gráficos;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[[:</a:t>
                        </a:r>
                        <a:r>
                          <a:rPr lang="es-PE" sz="9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alnum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:][:</a:t>
                        </a:r>
                        <a:r>
                          <a:rPr lang="es-PE" sz="9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punct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:]]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print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  <a:p>
                        <a:pPr algn="ctr" fontAlgn="b"/>
                        <a:endParaRPr lang="es-PE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Helvetica Light"/>
                        </a:endParaRP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Caracteres 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+mn-ea"/>
                            <a:cs typeface="Helvetica" panose="020B0604020202020204" pitchFamily="34" charset="0"/>
                            <a:sym typeface="Helvetica Light"/>
                          </a:rPr>
                          <a:t>imprimibles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; [[:</a:t>
                        </a:r>
                        <a:r>
                          <a:rPr lang="es-PE" sz="9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alnum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:][:</a:t>
                        </a:r>
                        <a:r>
                          <a:rPr lang="es-PE" sz="9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punct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  <a:sym typeface="Helvetica Light"/>
                          </a:rPr>
                          <a:t>:] 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[[: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cntrl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:]]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Caracteres de control;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\n, \r</a:t>
                        </a:r>
                        <a:r>
                          <a:rPr lang="es-PE" sz="9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etc.</a:t>
                        </a:r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5"/>
                    </a:ext>
                  </a:extLst>
                </a:tr>
              </a:tbl>
            </a:graphicData>
          </a:graphic>
        </p:graphicFrame>
      </p:grpSp>
      <p:grpSp>
        <p:nvGrpSpPr>
          <p:cNvPr id="289" name="Gruppieren 288"/>
          <p:cNvGrpSpPr/>
          <p:nvPr/>
        </p:nvGrpSpPr>
        <p:grpSpPr>
          <a:xfrm>
            <a:off x="3677886" y="6218096"/>
            <a:ext cx="3268912" cy="1581959"/>
            <a:chOff x="250770" y="5615741"/>
            <a:chExt cx="3268912" cy="1581959"/>
          </a:xfrm>
        </p:grpSpPr>
        <p:sp>
          <p:nvSpPr>
            <p:cNvPr id="83" name="Shape 34"/>
            <p:cNvSpPr/>
            <p:nvPr/>
          </p:nvSpPr>
          <p:spPr>
            <a:xfrm>
              <a:off x="250770" y="5615741"/>
              <a:ext cx="3268912" cy="1581959"/>
            </a:xfrm>
            <a:prstGeom prst="roundRect">
              <a:avLst>
                <a:gd name="adj" fmla="val 1194"/>
              </a:avLst>
            </a:prstGeom>
            <a:solidFill>
              <a:srgbClr val="A6AAA9">
                <a:alpha val="2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 algn="l">
                <a:defRPr sz="1000">
                  <a:latin typeface="Menlo"/>
                  <a:ea typeface="Menlo"/>
                  <a:cs typeface="Menlo"/>
                  <a:sym typeface="Menlo"/>
                </a:defRPr>
              </a:pPr>
              <a:endParaRPr lang="es-PE" noProof="0" dirty="0"/>
            </a:p>
          </p:txBody>
        </p:sp>
        <p:sp>
          <p:nvSpPr>
            <p:cNvPr id="84" name="Shape 43"/>
            <p:cNvSpPr/>
            <p:nvPr/>
          </p:nvSpPr>
          <p:spPr>
            <a:xfrm>
              <a:off x="250770" y="5628801"/>
              <a:ext cx="3268912" cy="248841"/>
            </a:xfrm>
            <a:prstGeom prst="roundRect">
              <a:avLst>
                <a:gd name="adj" fmla="val 25876"/>
              </a:avLst>
            </a:prstGeom>
            <a:solidFill>
              <a:srgbClr val="A6AAA9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/>
            <a:p>
              <a:pPr lvl="1" indent="0">
                <a:defRPr sz="1800"/>
              </a:pPr>
              <a:r>
                <a:rPr lang="es-PE" sz="1400" noProof="0" dirty="0">
                  <a:solidFill>
                    <a:srgbClr val="FFFFFF"/>
                  </a:solidFill>
                  <a:latin typeface="Adobe Gothic Std B" pitchFamily="34" charset="-128"/>
                  <a:ea typeface="Adobe Gothic Std B" pitchFamily="34" charset="-128"/>
                  <a:cs typeface="Source Sans Pro"/>
                  <a:sym typeface="Source Sans Pro"/>
                </a:rPr>
                <a:t>Clases de caracteres y grupos</a:t>
              </a:r>
            </a:p>
          </p:txBody>
        </p:sp>
        <p:graphicFrame>
          <p:nvGraphicFramePr>
            <p:cNvPr id="85" name="Table 143"/>
            <p:cNvGraphicFramePr/>
            <p:nvPr>
              <p:extLst>
                <p:ext uri="{D42A27DB-BD31-4B8C-83A1-F6EECF244321}">
                  <p14:modId xmlns:p14="http://schemas.microsoft.com/office/powerpoint/2010/main" val="1809023184"/>
                </p:ext>
              </p:extLst>
            </p:nvPr>
          </p:nvGraphicFramePr>
          <p:xfrm>
            <a:off x="301965" y="5914006"/>
            <a:ext cx="3166521" cy="1230630"/>
          </p:xfrm>
          <a:graphic>
            <a:graphicData uri="http://schemas.openxmlformats.org/drawingml/2006/table">
              <a:tbl>
                <a:tblPr>
                  <a:tableStyleId>{33BA23B1-9221-436E-865A-0063620EA4FD}</a:tableStyleId>
                </a:tblPr>
                <a:tblGrid>
                  <a:gridCol w="5377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62881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1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.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Cualquier carácter excepto 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\n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|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O, p. ej. 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(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a|b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)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</a:t>
                        </a:r>
                        <a:r>
                          <a:rPr lang="es-PE" sz="1100" b="0" i="0" u="none" strike="noStrike" noProof="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…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Caracteres permitidos, p. ej. 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[</a:t>
                        </a: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abc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</a:t>
                        </a:r>
                        <a:r>
                          <a:rPr lang="es-PE" sz="1100" b="0" i="0" u="none" strike="noStrike" noProof="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a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-</a:t>
                        </a:r>
                        <a:r>
                          <a:rPr lang="es-PE" sz="1100" b="0" i="0" u="none" strike="noStrike" noProof="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z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]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Define</a:t>
                        </a:r>
                        <a:r>
                          <a:rPr lang="es-PE" sz="11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rangos de caracteres</a:t>
                        </a:r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[^</a:t>
                        </a:r>
                        <a:r>
                          <a:rPr lang="es-PE" sz="1100" b="0" i="0" u="none" strike="noStrike" noProof="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…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]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Lista de caracteres excluidos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(</a:t>
                        </a:r>
                        <a:r>
                          <a:rPr lang="es-PE" sz="1100" b="0" i="0" u="none" strike="noStrike" noProof="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…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)</a:t>
                        </a:r>
                      </a:p>
                      <a:p>
                        <a:pPr algn="ctr" fontAlgn="b"/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Grupo; ref. inversa</a:t>
                        </a:r>
                        <a:r>
                          <a:rPr lang="es-PE" sz="11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con </a:t>
                        </a:r>
                        <a:r>
                          <a:rPr lang="es-PE" sz="11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\\N</a:t>
                        </a:r>
                        <a:r>
                          <a:rPr lang="es-PE" sz="11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(</a:t>
                        </a:r>
                        <a:r>
                          <a:rPr lang="es-PE" sz="11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N</a:t>
                        </a:r>
                        <a:r>
                          <a:rPr lang="es-PE" sz="11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entero)</a:t>
                        </a:r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</p:grpSp>
      <p:grpSp>
        <p:nvGrpSpPr>
          <p:cNvPr id="87" name="Gruppieren 86"/>
          <p:cNvGrpSpPr/>
          <p:nvPr/>
        </p:nvGrpSpPr>
        <p:grpSpPr>
          <a:xfrm>
            <a:off x="232450" y="6189588"/>
            <a:ext cx="3300283" cy="1224687"/>
            <a:chOff x="250770" y="3883969"/>
            <a:chExt cx="3268912" cy="1224687"/>
          </a:xfrm>
        </p:grpSpPr>
        <p:sp>
          <p:nvSpPr>
            <p:cNvPr id="88" name="Shape 34"/>
            <p:cNvSpPr/>
            <p:nvPr/>
          </p:nvSpPr>
          <p:spPr>
            <a:xfrm>
              <a:off x="250770" y="3883969"/>
              <a:ext cx="3268912" cy="1224687"/>
            </a:xfrm>
            <a:prstGeom prst="roundRect">
              <a:avLst>
                <a:gd name="adj" fmla="val 1194"/>
              </a:avLst>
            </a:prstGeom>
            <a:solidFill>
              <a:srgbClr val="A6AAA9">
                <a:alpha val="2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 algn="l">
                <a:defRPr sz="1000">
                  <a:latin typeface="Menlo"/>
                  <a:ea typeface="Menlo"/>
                  <a:cs typeface="Menlo"/>
                  <a:sym typeface="Menlo"/>
                </a:defRPr>
              </a:pPr>
              <a:endParaRPr lang="es-PE" noProof="0" dirty="0"/>
            </a:p>
          </p:txBody>
        </p:sp>
        <p:sp>
          <p:nvSpPr>
            <p:cNvPr id="89" name="Shape 43"/>
            <p:cNvSpPr/>
            <p:nvPr/>
          </p:nvSpPr>
          <p:spPr>
            <a:xfrm>
              <a:off x="250770" y="3897029"/>
              <a:ext cx="3268912" cy="248841"/>
            </a:xfrm>
            <a:prstGeom prst="roundRect">
              <a:avLst>
                <a:gd name="adj" fmla="val 25876"/>
              </a:avLst>
            </a:prstGeom>
            <a:solidFill>
              <a:srgbClr val="A6AAA9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/>
            <a:p>
              <a:pPr lvl="1" indent="0">
                <a:defRPr sz="1800"/>
              </a:pPr>
              <a:r>
                <a:rPr lang="es-PE" sz="1400" noProof="0" dirty="0" err="1">
                  <a:solidFill>
                    <a:srgbClr val="FFFFFF"/>
                  </a:solidFill>
                  <a:latin typeface="Adobe Gothic Std B" pitchFamily="34" charset="-128"/>
                  <a:ea typeface="Adobe Gothic Std B" pitchFamily="34" charset="-128"/>
                  <a:cs typeface="Source Sans Pro"/>
                  <a:sym typeface="Source Sans Pro"/>
                </a:rPr>
                <a:t>Metacaracteres</a:t>
              </a:r>
              <a:r>
                <a:rPr lang="es-PE" sz="1400" noProof="0" dirty="0">
                  <a:solidFill>
                    <a:srgbClr val="FFFFFF"/>
                  </a:solidFill>
                  <a:latin typeface="Adobe Gothic Std B" pitchFamily="34" charset="-128"/>
                  <a:ea typeface="Adobe Gothic Std B" pitchFamily="34" charset="-128"/>
                  <a:cs typeface="Source Sans Pro"/>
                  <a:sym typeface="Source Sans Pro"/>
                </a:rPr>
                <a:t> especiales</a:t>
              </a:r>
            </a:p>
          </p:txBody>
        </p:sp>
        <p:graphicFrame>
          <p:nvGraphicFramePr>
            <p:cNvPr id="90" name="Table 143"/>
            <p:cNvGraphicFramePr/>
            <p:nvPr>
              <p:extLst>
                <p:ext uri="{D42A27DB-BD31-4B8C-83A1-F6EECF244321}">
                  <p14:modId xmlns:p14="http://schemas.microsoft.com/office/powerpoint/2010/main" val="3031092738"/>
                </p:ext>
              </p:extLst>
            </p:nvPr>
          </p:nvGraphicFramePr>
          <p:xfrm>
            <a:off x="301965" y="4182234"/>
            <a:ext cx="3136421" cy="885825"/>
          </p:xfrm>
          <a:graphic>
            <a:graphicData uri="http://schemas.openxmlformats.org/drawingml/2006/table">
              <a:tbl>
                <a:tblPr>
                  <a:tableStyleId>{33BA23B1-9221-436E-865A-0063620EA4FD}</a:tableStyleId>
                </a:tblPr>
                <a:tblGrid>
                  <a:gridCol w="5377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62881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\n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Nueva línea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\r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Retorno de carro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\t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Tabulación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\v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Tabulación vertical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\f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Salto de página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</p:grpSp>
      <p:grpSp>
        <p:nvGrpSpPr>
          <p:cNvPr id="291" name="Gruppieren 290"/>
          <p:cNvGrpSpPr/>
          <p:nvPr/>
        </p:nvGrpSpPr>
        <p:grpSpPr>
          <a:xfrm>
            <a:off x="232450" y="7672894"/>
            <a:ext cx="3300283" cy="2549142"/>
            <a:chOff x="3660098" y="6235882"/>
            <a:chExt cx="3268912" cy="2549142"/>
          </a:xfrm>
        </p:grpSpPr>
        <p:sp>
          <p:nvSpPr>
            <p:cNvPr id="92" name="Shape 34"/>
            <p:cNvSpPr/>
            <p:nvPr/>
          </p:nvSpPr>
          <p:spPr>
            <a:xfrm>
              <a:off x="3660098" y="6235882"/>
              <a:ext cx="3268912" cy="2549142"/>
            </a:xfrm>
            <a:prstGeom prst="roundRect">
              <a:avLst>
                <a:gd name="adj" fmla="val 1194"/>
              </a:avLst>
            </a:prstGeom>
            <a:solidFill>
              <a:srgbClr val="A6AAA9">
                <a:alpha val="2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 algn="l">
                <a:defRPr sz="1000">
                  <a:latin typeface="Menlo"/>
                  <a:ea typeface="Menlo"/>
                  <a:cs typeface="Menlo"/>
                  <a:sym typeface="Menlo"/>
                </a:defRPr>
              </a:pPr>
              <a:endParaRPr lang="es-PE" noProof="0" dirty="0"/>
            </a:p>
          </p:txBody>
        </p:sp>
        <p:sp>
          <p:nvSpPr>
            <p:cNvPr id="93" name="Shape 43"/>
            <p:cNvSpPr/>
            <p:nvPr/>
          </p:nvSpPr>
          <p:spPr>
            <a:xfrm>
              <a:off x="3660098" y="6248941"/>
              <a:ext cx="3268912" cy="248841"/>
            </a:xfrm>
            <a:prstGeom prst="roundRect">
              <a:avLst>
                <a:gd name="adj" fmla="val 25876"/>
              </a:avLst>
            </a:prstGeom>
            <a:solidFill>
              <a:srgbClr val="A6AAA9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/>
            <a:p>
              <a:pPr lvl="1" indent="0">
                <a:defRPr sz="1800"/>
              </a:pPr>
              <a:r>
                <a:rPr lang="es-PE" sz="1400" noProof="0" dirty="0" err="1">
                  <a:solidFill>
                    <a:srgbClr val="FFFFFF"/>
                  </a:solidFill>
                  <a:latin typeface="Adobe Gothic Std B" pitchFamily="34" charset="-128"/>
                  <a:ea typeface="Adobe Gothic Std B" pitchFamily="34" charset="-128"/>
                  <a:cs typeface="Source Sans Pro"/>
                  <a:sym typeface="Source Sans Pro"/>
                </a:rPr>
                <a:t>Lookarounds</a:t>
              </a:r>
              <a:r>
                <a:rPr lang="es-PE" sz="1400" noProof="0" dirty="0">
                  <a:solidFill>
                    <a:srgbClr val="FFFFFF"/>
                  </a:solidFill>
                  <a:latin typeface="Adobe Gothic Std B" pitchFamily="34" charset="-128"/>
                  <a:ea typeface="Adobe Gothic Std B" pitchFamily="34" charset="-128"/>
                  <a:cs typeface="Source Sans Pro"/>
                  <a:sym typeface="Source Sans Pro"/>
                </a:rPr>
                <a:t> y condicionales*</a:t>
              </a:r>
            </a:p>
          </p:txBody>
        </p:sp>
        <p:graphicFrame>
          <p:nvGraphicFramePr>
            <p:cNvPr id="94" name="Table 143"/>
            <p:cNvGraphicFramePr/>
            <p:nvPr>
              <p:extLst>
                <p:ext uri="{D42A27DB-BD31-4B8C-83A1-F6EECF244321}">
                  <p14:modId xmlns:p14="http://schemas.microsoft.com/office/powerpoint/2010/main" val="1505408635"/>
                </p:ext>
              </p:extLst>
            </p:nvPr>
          </p:nvGraphicFramePr>
          <p:xfrm>
            <a:off x="3711293" y="6534146"/>
            <a:ext cx="3136421" cy="1885950"/>
          </p:xfrm>
          <a:graphic>
            <a:graphicData uri="http://schemas.openxmlformats.org/drawingml/2006/table">
              <a:tbl>
                <a:tblPr>
                  <a:tableStyleId>{33BA23B1-9221-436E-865A-0063620EA4FD}</a:tableStyleId>
                </a:tblPr>
                <a:tblGrid>
                  <a:gridCol w="82543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34108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(?=)</a:t>
                        </a:r>
                      </a:p>
                      <a:p>
                        <a:pPr algn="ctr" fontAlgn="b"/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 defTabSz="584200" eaLnBrk="1" fontAlgn="b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Lookahead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(requiere 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perl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= TRUE), p. ej. 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(?=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yx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)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 posición seguida de 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'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yx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'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(?!)</a:t>
                        </a:r>
                      </a:p>
                      <a:p>
                        <a:pPr algn="ctr" fontAlgn="b"/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Lookahead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negativo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(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perl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= TRUE); posición NO seguida del patrón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(?&lt;=)</a:t>
                        </a:r>
                      </a:p>
                      <a:p>
                        <a:pPr algn="ctr" fontAlgn="b"/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 defTabSz="584200" eaLnBrk="1" fontAlgn="b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Lookbehind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(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perl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= TRUE), p. ej. 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(?&lt;=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yx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)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: posición precedida de 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'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yx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'</a:t>
                        </a: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(?&lt;!)</a:t>
                        </a:r>
                      </a:p>
                      <a:p>
                        <a:pPr algn="ctr" fontAlgn="b"/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Lookbehind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negativo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(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perl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= TRUE)</a:t>
                        </a:r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; posición NO precedida del patrón</a:t>
                        </a: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935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(?(</a:t>
                        </a:r>
                        <a:r>
                          <a:rPr lang="es-PE" sz="892" b="0" i="0" u="none" strike="noStrike" noProof="0" dirty="0" err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if</a:t>
                        </a:r>
                        <a:r>
                          <a:rPr lang="es-PE" sz="935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)</a:t>
                        </a:r>
                        <a:r>
                          <a:rPr lang="es-PE" sz="892" b="0" i="0" u="none" strike="noStrike" noProof="0" dirty="0" err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then</a:t>
                        </a:r>
                        <a:r>
                          <a:rPr lang="es-PE" sz="892" b="0" i="0" u="none" strike="noStrike" noProof="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)</a:t>
                        </a:r>
                        <a:endParaRPr lang="es-PE" sz="1050" b="0" i="0" u="none" strike="noStrike" noProof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  <a:p>
                        <a:pPr algn="ctr" fontAlgn="b"/>
                        <a:endParaRPr lang="es-PE" sz="1050" b="0" i="0" u="none" strike="noStrike" noProof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Si-entonces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(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perl</a:t>
                        </a:r>
                        <a:r>
                          <a:rPr lang="es-PE" sz="10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= TRUE); en el </a:t>
                        </a:r>
                        <a:r>
                          <a:rPr lang="es-PE" sz="1000" b="0" i="0" u="none" strike="noStrike" baseline="0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if</a:t>
                        </a:r>
                        <a:r>
                          <a:rPr lang="es-PE" sz="10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usa </a:t>
                        </a:r>
                        <a:r>
                          <a:rPr lang="es-PE" sz="1000" b="0" i="0" u="none" strike="noStrike" baseline="0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lookaheads</a:t>
                        </a:r>
                        <a:r>
                          <a:rPr lang="es-PE" sz="10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, carácter opcional, etc.</a:t>
                        </a:r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s-PE" sz="935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(?(</a:t>
                        </a:r>
                        <a:r>
                          <a:rPr lang="es-PE" sz="892" b="0" i="0" u="none" strike="noStrike" noProof="0" dirty="0" err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if</a:t>
                        </a:r>
                        <a:r>
                          <a:rPr lang="es-PE" sz="935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)</a:t>
                        </a:r>
                        <a:r>
                          <a:rPr lang="es-PE" sz="892" b="0" i="0" u="none" strike="noStrike" noProof="0" dirty="0" err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then</a:t>
                        </a:r>
                        <a:r>
                          <a:rPr lang="es-PE" sz="935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|</a:t>
                        </a:r>
                        <a:r>
                          <a:rPr lang="es-PE" sz="892" b="0" i="0" u="none" strike="noStrike" noProof="0" dirty="0" err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else</a:t>
                        </a:r>
                        <a:r>
                          <a:rPr lang="es-PE" sz="892" b="0" i="0" u="none" strike="noStrike" noProof="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)</a:t>
                        </a:r>
                        <a:endParaRPr lang="es-PE" sz="1100" b="0" i="0" u="none" strike="noStrike" noProof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 fontAlgn="b"/>
                        <a:r>
                          <a:rPr lang="es-PE" sz="11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Si-entonces-si no</a:t>
                        </a:r>
                        <a:r>
                          <a:rPr lang="es-PE" sz="1000" b="0" i="0" u="none" strike="noStrike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(</a:t>
                        </a:r>
                        <a:r>
                          <a:rPr lang="es-PE" sz="1000" b="0" i="0" u="none" strike="noStrike" noProof="0" dirty="0" err="1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perl</a:t>
                        </a:r>
                        <a:r>
                          <a:rPr lang="es-PE" sz="1000" b="0" i="0" u="none" strike="noStrike" baseline="0" noProof="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cs typeface="Helvetica" panose="020B0604020202020204" pitchFamily="34" charset="0"/>
                          </a:rPr>
                          <a:t> = TRUE)</a:t>
                        </a:r>
                        <a:endParaRPr lang="es-PE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endParaRPr>
                      </a:p>
                    </a:txBody>
                    <a:tcPr marL="9525" marR="9525" marT="9525" marB="0" anchor="b"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290" name="Textfeld 289"/>
            <p:cNvSpPr txBox="1"/>
            <p:nvPr/>
          </p:nvSpPr>
          <p:spPr>
            <a:xfrm>
              <a:off x="3747267" y="8428596"/>
              <a:ext cx="3130150" cy="3564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algn="l" defTabSz="276225" rtl="0" latinLnBrk="1" hangingPunct="0"/>
              <a:r>
                <a:rPr kumimoji="0" lang="es-PE" sz="800" b="0" i="0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entury Gothic" panose="020B0502020202020204" pitchFamily="34" charset="0"/>
                  <a:sym typeface="Helvetica Light"/>
                </a:rPr>
                <a:t>*ver,</a:t>
              </a:r>
              <a:r>
                <a:rPr lang="es-PE" sz="800" noProof="0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	p. ej. 	</a:t>
              </a:r>
              <a:r>
                <a:rPr lang="es-PE" sz="700" noProof="0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http://www.regular-expressions.info/lookaround.html</a:t>
              </a:r>
            </a:p>
            <a:p>
              <a:pPr algn="l" defTabSz="542925" rtl="0" latinLnBrk="1" hangingPunct="0"/>
              <a:r>
                <a:rPr lang="es-PE" sz="800" noProof="0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	</a:t>
              </a:r>
              <a:r>
                <a:rPr lang="es-PE" sz="700" noProof="0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http://www.regular-expressions.info/conditional.html</a:t>
              </a:r>
              <a:endParaRPr kumimoji="0" lang="es-PE" sz="7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entury Gothic" panose="020B0502020202020204" pitchFamily="34" charset="0"/>
                <a:sym typeface="Helvetica Light"/>
              </a:endParaRPr>
            </a:p>
          </p:txBody>
        </p:sp>
      </p:grpSp>
      <p:sp>
        <p:nvSpPr>
          <p:cNvPr id="97" name="Textfeld 96"/>
          <p:cNvSpPr txBox="1"/>
          <p:nvPr/>
        </p:nvSpPr>
        <p:spPr>
          <a:xfrm>
            <a:off x="3771978" y="7857218"/>
            <a:ext cx="3174820" cy="2156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Modos generales</a:t>
            </a:r>
          </a:p>
          <a:p>
            <a:pPr algn="l" rtl="0" latinLnBrk="1" hangingPunct="0"/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Por defecto, R usa expresiones regulares </a:t>
            </a:r>
            <a:r>
              <a:rPr lang="es-PE" sz="1100" i="1" noProof="0" dirty="0"/>
              <a:t>extendidas</a:t>
            </a:r>
            <a:r>
              <a:rPr lang="es-PE" sz="1100" noProof="0" dirty="0"/>
              <a:t>. Puedes cambiar a </a:t>
            </a:r>
            <a:r>
              <a:rPr lang="es-PE" sz="1100" i="1" noProof="0" dirty="0"/>
              <a:t>PCRE </a:t>
            </a:r>
          </a:p>
          <a:p>
            <a:pPr algn="l" rtl="0" latinLnBrk="1" hangingPunct="0"/>
            <a:r>
              <a:rPr lang="es-PE" sz="1100" noProof="0" dirty="0"/>
              <a:t>con </a:t>
            </a:r>
            <a:r>
              <a:rPr lang="es-PE" sz="1100" noProof="0" dirty="0" err="1">
                <a:latin typeface="Consolas" panose="020B0609020204030204" pitchFamily="49" charset="0"/>
                <a:cs typeface="Consolas" panose="020B0609020204030204" pitchFamily="49" charset="0"/>
              </a:rPr>
              <a:t>perl</a:t>
            </a:r>
            <a:r>
              <a:rPr lang="es-PE" sz="1100" noProof="0" dirty="0">
                <a:latin typeface="Consolas" panose="020B0609020204030204" pitchFamily="49" charset="0"/>
                <a:cs typeface="Consolas" panose="020B0609020204030204" pitchFamily="49" charset="0"/>
              </a:rPr>
              <a:t> = TRUE</a:t>
            </a:r>
            <a:r>
              <a:rPr lang="es-PE" sz="1100" noProof="0" dirty="0">
                <a:cs typeface="Consolas" panose="020B0609020204030204" pitchFamily="49" charset="0"/>
              </a:rPr>
              <a:t> en base; </a:t>
            </a:r>
            <a:r>
              <a:rPr lang="es-PE" sz="1100" noProof="0" dirty="0" err="1">
                <a:cs typeface="Consolas" panose="020B0609020204030204" pitchFamily="49" charset="0"/>
              </a:rPr>
              <a:t>stringr</a:t>
            </a:r>
            <a:r>
              <a:rPr lang="es-PE" sz="1100" noProof="0" dirty="0">
                <a:cs typeface="Consolas" panose="020B0609020204030204" pitchFamily="49" charset="0"/>
              </a:rPr>
              <a:t> usa </a:t>
            </a:r>
          </a:p>
          <a:p>
            <a:pPr algn="l" rtl="0" latinLnBrk="1" hangingPunct="0"/>
            <a:r>
              <a:rPr lang="es-PE" sz="1100" noProof="0" dirty="0"/>
              <a:t>el motor ICU, ajustable con </a:t>
            </a:r>
            <a:r>
              <a:rPr lang="es-PE" sz="1100" noProof="0" dirty="0" err="1">
                <a:latin typeface="Consolas" panose="020B0609020204030204" pitchFamily="49" charset="0"/>
                <a:cs typeface="Consolas" panose="020B0609020204030204" pitchFamily="49" charset="0"/>
              </a:rPr>
              <a:t>regex</a:t>
            </a:r>
            <a:r>
              <a:rPr lang="es-PE" sz="1100" noProof="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s-PE" sz="1100" noProof="0" dirty="0"/>
              <a:t>.</a:t>
            </a:r>
          </a:p>
          <a:p>
            <a:pPr algn="l" rtl="0" latinLnBrk="1" hangingPunct="0">
              <a:spcBef>
                <a:spcPts val="1000"/>
              </a:spcBef>
            </a:pPr>
            <a:r>
              <a:rPr lang="es-PE" sz="1100" noProof="0" dirty="0">
                <a:solidFill>
                  <a:schemeClr val="tx1"/>
                </a:solidFill>
              </a:rPr>
              <a:t>Toda función admite búsquedas literales </a:t>
            </a:r>
          </a:p>
          <a:p>
            <a:pPr algn="l" rtl="0" latinLnBrk="1" hangingPunct="0"/>
            <a:r>
              <a:rPr lang="es-PE" sz="1100" noProof="0" dirty="0">
                <a:solidFill>
                  <a:schemeClr val="tx1"/>
                </a:solidFill>
              </a:rPr>
              <a:t>con </a:t>
            </a:r>
            <a:r>
              <a:rPr lang="es-PE" sz="1100" noProof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fixed</a:t>
            </a:r>
            <a:r>
              <a:rPr lang="es-PE" sz="1100" noProof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 </a:t>
            </a:r>
            <a:r>
              <a:rPr lang="es-PE" sz="1100" noProof="0" dirty="0">
                <a:solidFill>
                  <a:schemeClr val="tx1"/>
                </a:solidFill>
              </a:rPr>
              <a:t>en base o envolviendo </a:t>
            </a:r>
          </a:p>
          <a:p>
            <a:pPr algn="l" rtl="0" latinLnBrk="1" hangingPunct="0"/>
            <a:r>
              <a:rPr lang="es-PE" sz="1100" noProof="0" dirty="0">
                <a:solidFill>
                  <a:schemeClr val="tx1"/>
                </a:solidFill>
              </a:rPr>
              <a:t>los patrones con </a:t>
            </a:r>
            <a:r>
              <a:rPr lang="es-PE" sz="1100" noProof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fixed</a:t>
            </a:r>
            <a:r>
              <a:rPr lang="es-PE" sz="1100" noProof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s-PE" sz="1100" noProof="0" dirty="0">
                <a:solidFill>
                  <a:schemeClr val="tx1"/>
                </a:solidFill>
                <a:cs typeface="Consolas" panose="020B0609020204030204" pitchFamily="49" charset="0"/>
              </a:rPr>
              <a:t> en </a:t>
            </a:r>
            <a:r>
              <a:rPr lang="es-PE" sz="1100" noProof="0" dirty="0" err="1">
                <a:solidFill>
                  <a:schemeClr val="tx1"/>
                </a:solidFill>
              </a:rPr>
              <a:t>stringr</a:t>
            </a:r>
            <a:r>
              <a:rPr lang="es-PE" sz="1100" noProof="0" dirty="0">
                <a:solidFill>
                  <a:schemeClr val="tx1"/>
                </a:solidFill>
              </a:rPr>
              <a:t>.</a:t>
            </a:r>
          </a:p>
          <a:p>
            <a:pPr algn="l" rtl="0" latinLnBrk="1" hangingPunct="0">
              <a:spcBef>
                <a:spcPts val="1000"/>
              </a:spcBef>
            </a:pPr>
            <a:r>
              <a:rPr lang="es-PE" sz="1100" noProof="0" dirty="0">
                <a:solidFill>
                  <a:schemeClr val="tx1"/>
                </a:solidFill>
              </a:rPr>
              <a:t>Para no distinguir mayúsculas de minúsculas</a:t>
            </a:r>
          </a:p>
          <a:p>
            <a:pPr algn="l" rtl="0" latinLnBrk="1" hangingPunct="0"/>
            <a:r>
              <a:rPr lang="es-PE" sz="1100" noProof="0" dirty="0">
                <a:solidFill>
                  <a:schemeClr val="tx1"/>
                </a:solidFill>
              </a:rPr>
              <a:t>en las funciones base, usa </a:t>
            </a:r>
            <a:r>
              <a:rPr lang="es-PE" sz="1100" noProof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ignore.case</a:t>
            </a:r>
            <a:r>
              <a:rPr lang="es-PE" sz="1100" noProof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</a:t>
            </a:r>
            <a:r>
              <a:rPr lang="es-PE" sz="1100" noProof="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8" name="Textfeld 97"/>
          <p:cNvSpPr txBox="1"/>
          <p:nvPr/>
        </p:nvSpPr>
        <p:spPr>
          <a:xfrm>
            <a:off x="7171193" y="7857218"/>
            <a:ext cx="3207713" cy="1054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Escapar caracteres</a:t>
            </a:r>
          </a:p>
          <a:p>
            <a:pPr algn="l" rtl="0" latinLnBrk="1" hangingPunct="0"/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Los </a:t>
            </a:r>
            <a:r>
              <a:rPr lang="es-PE" sz="1100" noProof="0" dirty="0" err="1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metacaracteres</a:t>
            </a:r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 (</a:t>
            </a:r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  <a:sym typeface="Helvetica Light"/>
              </a:rPr>
              <a:t>. * +</a:t>
            </a:r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 etc.) pueden</a:t>
            </a:r>
          </a:p>
          <a:p>
            <a:pPr algn="l" rtl="0" latinLnBrk="1" hangingPunct="0"/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usarse como caracteres literales si se </a:t>
            </a:r>
          </a:p>
          <a:p>
            <a:pPr algn="l" rtl="0" latinLnBrk="1" hangingPunct="0"/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escapan, con 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\\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 o encerrándolos </a:t>
            </a:r>
          </a:p>
          <a:p>
            <a:pPr algn="l" rtl="0" latinLnBrk="1" hangingPunct="0"/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en 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\\Q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...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\\E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 (con </a:t>
            </a:r>
            <a:r>
              <a:rPr lang="es-PE" sz="1100" noProof="0" dirty="0" err="1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perl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 = TRUE).</a:t>
            </a:r>
            <a:endParaRPr lang="es-PE" sz="1100" noProof="0" dirty="0">
              <a:solidFill>
                <a:schemeClr val="tx1"/>
              </a:solidFill>
            </a:endParaRPr>
          </a:p>
        </p:txBody>
      </p:sp>
      <p:sp>
        <p:nvSpPr>
          <p:cNvPr id="99" name="Textfeld 98"/>
          <p:cNvSpPr txBox="1"/>
          <p:nvPr/>
        </p:nvSpPr>
        <p:spPr>
          <a:xfrm>
            <a:off x="10564951" y="7857218"/>
            <a:ext cx="3130150" cy="152084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Coincidencia codiciosa</a:t>
            </a:r>
          </a:p>
          <a:p>
            <a:pPr algn="l" rtl="0" latinLnBrk="1" hangingPunct="0"/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Por defecto, el asterisco </a:t>
            </a:r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  <a:sym typeface="Helvetica Light"/>
              </a:rPr>
              <a:t>*</a:t>
            </a:r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 es codicioso: coincide siempre con la cadena más larga posible. Puede </a:t>
            </a:r>
          </a:p>
          <a:p>
            <a:pPr algn="l" rtl="0" latinLnBrk="1" hangingPunct="0"/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usarse en modo perezoso con </a:t>
            </a:r>
            <a:r>
              <a:rPr kumimoji="0" lang="es-PE" sz="1100" i="0" u="none" strike="noStrike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  <a:sym typeface="Helvetica Light"/>
              </a:rPr>
              <a:t>?</a:t>
            </a:r>
            <a:r>
              <a:rPr kumimoji="0" lang="es-PE" sz="1100" i="0" u="none" strike="noStrike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, es decir, 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*</a:t>
            </a:r>
            <a:r>
              <a:rPr kumimoji="0" lang="es-PE" sz="1100" i="0" u="none" strike="noStrike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  <a:sym typeface="Helvetica Light"/>
              </a:rPr>
              <a:t>?</a:t>
            </a:r>
            <a:r>
              <a:rPr kumimoji="0" lang="es-PE" sz="1100" i="0" u="none" strike="noStrike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.</a:t>
            </a:r>
          </a:p>
          <a:p>
            <a:pPr algn="l" rtl="0" latinLnBrk="1" hangingPunct="0">
              <a:spcBef>
                <a:spcPts val="1000"/>
              </a:spcBef>
            </a:pP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El modo codicioso se desactiva con 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(?U)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. Esto invierte la sintaxis: 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(?U)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a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* 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es perezoso y 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(?U)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a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*? 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es codicioso.</a:t>
            </a:r>
            <a:endParaRPr lang="es-PE" sz="1100" noProof="0" dirty="0">
              <a:solidFill>
                <a:schemeClr val="tx1"/>
              </a:solidFill>
            </a:endParaRPr>
          </a:p>
        </p:txBody>
      </p:sp>
      <p:sp>
        <p:nvSpPr>
          <p:cNvPr id="100" name="Textfeld 99"/>
          <p:cNvSpPr txBox="1"/>
          <p:nvPr/>
        </p:nvSpPr>
        <p:spPr>
          <a:xfrm>
            <a:off x="7171193" y="8960084"/>
            <a:ext cx="3285276" cy="1054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Mayúsculas y minúsculas</a:t>
            </a:r>
          </a:p>
          <a:p>
            <a:pPr algn="l" rtl="0" latinLnBrk="1" hangingPunct="0"/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Las </a:t>
            </a:r>
            <a:r>
              <a:rPr kumimoji="0" lang="es-PE" sz="1100" i="0" u="none" strike="noStrike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regex</a:t>
            </a:r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 ignoran mayúsculas/minúsculas con </a:t>
            </a:r>
            <a:r>
              <a:rPr kumimoji="0" lang="es-PE" sz="1100" i="0" u="none" strike="noStrike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  <a:sym typeface="Helvetica Light"/>
              </a:rPr>
              <a:t>(?i)</a:t>
            </a:r>
            <a:r>
              <a:rPr kumimoji="0" lang="es-PE" sz="1100" i="0" u="none" strike="noStrike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. En referencias inversas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, las cadenas pueden </a:t>
            </a:r>
          </a:p>
          <a:p>
            <a:pPr algn="l" rtl="0" latinLnBrk="1" hangingPunct="0"/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convertirse a minúsculas o mayúsculas con 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\\L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 o 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\\U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 (p. ej. 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\\L\\1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). Requiere </a:t>
            </a:r>
            <a:r>
              <a:rPr lang="es-PE" sz="1100" noProof="0" dirty="0" err="1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perl</a:t>
            </a:r>
            <a:r>
              <a:rPr lang="es-PE" sz="1100" noProof="0" dirty="0">
                <a:solidFill>
                  <a:srgbClr val="000000"/>
                </a:solidFill>
                <a:latin typeface="Consolas" panose="020B0609020204030204" pitchFamily="49" charset="0"/>
                <a:ea typeface="Adobe Gothic Std B" pitchFamily="34" charset="-128"/>
                <a:cs typeface="Consolas" panose="020B0609020204030204" pitchFamily="49" charset="0"/>
              </a:rPr>
              <a:t> = TRUE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.</a:t>
            </a:r>
            <a:endParaRPr lang="es-PE" sz="1100" noProof="0" dirty="0">
              <a:solidFill>
                <a:schemeClr val="tx1"/>
              </a:solidFill>
            </a:endParaRPr>
          </a:p>
        </p:txBody>
      </p:sp>
      <p:sp>
        <p:nvSpPr>
          <p:cNvPr id="65" name="Shape 39"/>
          <p:cNvSpPr/>
          <p:nvPr/>
        </p:nvSpPr>
        <p:spPr>
          <a:xfrm>
            <a:off x="232450" y="10347903"/>
            <a:ext cx="6261703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lvl="0" algn="l">
              <a:lnSpc>
                <a:spcPct val="90000"/>
              </a:lnSpc>
              <a:defRPr sz="1800"/>
            </a:pPr>
            <a:r>
              <a:rPr lang="es-PE" sz="900" noProof="0" dirty="0">
                <a:solidFill>
                  <a:srgbClr val="0365C0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  <a:hlinkClick r:id="rId2"/>
              </a:rPr>
              <a:t>CC BY </a:t>
            </a:r>
            <a:r>
              <a:rPr lang="es-PE" sz="900" noProof="0" dirty="0">
                <a:latin typeface="Source Sans Pro Light"/>
                <a:ea typeface="Source Sans Pro Light"/>
                <a:cs typeface="Source Sans Pro Light"/>
                <a:sym typeface="Source Sans Pro Light"/>
              </a:rPr>
              <a:t>Ian Kopacka  •  </a:t>
            </a:r>
            <a:r>
              <a:rPr lang="es-PE" sz="900" noProof="0" dirty="0">
                <a:solidFill>
                  <a:srgbClr val="0000FF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ian.kopacka@ages.at</a:t>
            </a:r>
            <a:r>
              <a:rPr lang="es-PE" sz="900" noProof="0" dirty="0">
                <a:solidFill>
                  <a:srgbClr val="0000FF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  </a:t>
            </a:r>
            <a:r>
              <a:rPr lang="es-PE" sz="900" noProof="0" dirty="0">
                <a:solidFill>
                  <a:schemeClr val="tx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•  Traducido por Anthony Romero-Cerdán  •  </a:t>
            </a:r>
            <a:r>
              <a:rPr lang="es-PE" sz="900" noProof="0" dirty="0" err="1">
                <a:solidFill>
                  <a:schemeClr val="tx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anthonyromero.netlify.app</a:t>
            </a:r>
            <a:endParaRPr lang="es-PE" sz="900" noProof="0" dirty="0">
              <a:solidFill>
                <a:schemeClr val="tx1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grpSp>
        <p:nvGrpSpPr>
          <p:cNvPr id="18" name="Gruppieren 17"/>
          <p:cNvGrpSpPr/>
          <p:nvPr/>
        </p:nvGrpSpPr>
        <p:grpSpPr>
          <a:xfrm>
            <a:off x="5104292" y="1058953"/>
            <a:ext cx="216024" cy="226800"/>
            <a:chOff x="4968776" y="916446"/>
            <a:chExt cx="216024" cy="226800"/>
          </a:xfrm>
        </p:grpSpPr>
        <p:sp>
          <p:nvSpPr>
            <p:cNvPr id="9" name="Ellipse 8"/>
            <p:cNvSpPr/>
            <p:nvPr/>
          </p:nvSpPr>
          <p:spPr>
            <a:xfrm>
              <a:off x="5041714" y="916446"/>
              <a:ext cx="143086" cy="142507"/>
            </a:xfrm>
            <a:prstGeom prst="ellipse">
              <a:avLst/>
            </a:prstGeom>
            <a:noFill/>
            <a:ln w="25400" cap="flat">
              <a:solidFill>
                <a:schemeClr val="tx1"/>
              </a:solidFill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PE" sz="2600" b="0" i="0" u="none" strike="noStrike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12" name="Gerade Verbindung 11"/>
            <p:cNvCxnSpPr/>
            <p:nvPr/>
          </p:nvCxnSpPr>
          <p:spPr>
            <a:xfrm flipH="1">
              <a:off x="4968776" y="1059879"/>
              <a:ext cx="72938" cy="833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Gerade Verbindung 65"/>
            <p:cNvCxnSpPr/>
            <p:nvPr/>
          </p:nvCxnSpPr>
          <p:spPr>
            <a:xfrm flipH="1">
              <a:off x="4968776" y="1073905"/>
              <a:ext cx="63508" cy="6934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6" name="Textfeld 75"/>
          <p:cNvSpPr txBox="1"/>
          <p:nvPr/>
        </p:nvSpPr>
        <p:spPr>
          <a:xfrm>
            <a:off x="10564464" y="9434528"/>
            <a:ext cx="3130150" cy="7155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es-PE" sz="1400" noProof="0" dirty="0">
                <a:solidFill>
                  <a:schemeClr val="tx1"/>
                </a:solidFill>
                <a:latin typeface="Adobe Gothic Std B" pitchFamily="34" charset="-128"/>
                <a:ea typeface="Adobe Gothic Std B" pitchFamily="34" charset="-128"/>
              </a:rPr>
              <a:t>Nota</a:t>
            </a:r>
          </a:p>
          <a:p>
            <a:pPr algn="l" rtl="0" latinLnBrk="1" hangingPunct="0"/>
            <a:r>
              <a:rPr kumimoji="0" lang="es-PE" sz="110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Las expresiones regulares pueden crearse </a:t>
            </a:r>
          </a:p>
          <a:p>
            <a:pPr algn="l" rtl="0" latinLnBrk="1" hangingPunct="0"/>
            <a:r>
              <a:rPr kumimoji="0" lang="es-PE" sz="1100" i="0" u="none" strike="noStrike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cómodamente con, p. ej., los paquetes </a:t>
            </a:r>
            <a:r>
              <a:rPr lang="es-PE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rex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PE" sz="1100" noProof="0" dirty="0">
                <a:solidFill>
                  <a:srgbClr val="000000"/>
                </a:solidFill>
                <a:ea typeface="Adobe Gothic Std B" pitchFamily="34" charset="-128"/>
                <a:cs typeface="Helvetica" panose="020B0604020202020204" pitchFamily="34" charset="0"/>
              </a:rPr>
              <a:t>o</a:t>
            </a:r>
            <a:r>
              <a:rPr lang="es-PE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rebus</a:t>
            </a:r>
            <a:r>
              <a:rPr kumimoji="0" lang="es-PE" sz="1100" i="0" u="none" strike="noStrike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Adobe Gothic Std B" pitchFamily="34" charset="-128"/>
                <a:cs typeface="Helvetica" panose="020B0604020202020204" pitchFamily="34" charset="0"/>
                <a:sym typeface="Helvetica Light"/>
              </a:rPr>
              <a:t>.</a:t>
            </a:r>
            <a:endParaRPr lang="es-PE" sz="1100" noProof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1138</Words>
  <Application>Microsoft Office PowerPoint</Application>
  <PresentationFormat>Personalizado</PresentationFormat>
  <Paragraphs>181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9" baseType="lpstr">
      <vt:lpstr>Adobe Gothic Std B</vt:lpstr>
      <vt:lpstr>Avenir Book</vt:lpstr>
      <vt:lpstr>Century Gothic</vt:lpstr>
      <vt:lpstr>Consolas</vt:lpstr>
      <vt:lpstr>Helvetica</vt:lpstr>
      <vt:lpstr>Helvetica Light</vt:lpstr>
      <vt:lpstr>Source Sans Pro Light</vt:lpstr>
      <vt:lpstr>White</vt:lpstr>
      <vt:lpstr>Expresiones regulares básicas en R Cheat Sheet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 Cheat Sheet</dc:title>
  <dc:creator>Kopacka Ian</dc:creator>
  <cp:lastModifiedBy>Anthony Romero</cp:lastModifiedBy>
  <cp:revision>52</cp:revision>
  <dcterms:modified xsi:type="dcterms:W3CDTF">2026-10-12T15:44:51Z</dcterms:modified>
</cp:coreProperties>
</file>