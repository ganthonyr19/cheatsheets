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8" r:id="rId3"/>
  </p:sldIdLst>
  <p:sldSz cx="13970000" cy="10795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1pPr>
    <a:lvl2pPr marL="0" marR="0" indent="2286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2pPr>
    <a:lvl3pPr marL="0" marR="0" indent="4572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3pPr>
    <a:lvl4pPr marL="0" marR="0" indent="6858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4pPr>
    <a:lvl5pPr marL="0" marR="0" indent="9144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5pPr>
    <a:lvl6pPr marL="0" marR="0" indent="11430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6pPr>
    <a:lvl7pPr marL="0" marR="0" indent="13716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7pPr>
    <a:lvl8pPr marL="0" marR="0" indent="16002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8pPr>
    <a:lvl9pPr marL="0" marR="0" indent="18288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E7900"/>
    <a:srgbClr val="BE8411"/>
    <a:srgbClr val="F7DCA7"/>
    <a:srgbClr val="F7DCA6"/>
    <a:srgbClr val="D4A2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AA4C7A-309B-441A-9361-978FC1B7CFD7}" v="3" dt="2026-10-12T16:11:42.088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hony Romero" userId="6b0392680c44eebc" providerId="LiveId" clId="{DEF369C7-D875-4089-BC3A-2A58E6AC2C22}"/>
    <pc:docChg chg="undo custSel addSld delSld modSld">
      <pc:chgData name="Anthony Romero" userId="6b0392680c44eebc" providerId="LiveId" clId="{DEF369C7-D875-4089-BC3A-2A58E6AC2C22}" dt="2026-10-12T16:12:58.665" v="394" actId="1035"/>
      <pc:docMkLst>
        <pc:docMk/>
      </pc:docMkLst>
      <pc:sldChg chg="modSp mod">
        <pc:chgData name="Anthony Romero" userId="6b0392680c44eebc" providerId="LiveId" clId="{DEF369C7-D875-4089-BC3A-2A58E6AC2C22}" dt="2026-10-12T16:09:28.426" v="351"/>
        <pc:sldMkLst>
          <pc:docMk/>
          <pc:sldMk cId="0" sldId="256"/>
        </pc:sldMkLst>
        <pc:spChg chg="mod">
          <ac:chgData name="Anthony Romero" userId="6b0392680c44eebc" providerId="LiveId" clId="{DEF369C7-D875-4089-BC3A-2A58E6AC2C22}" dt="2026-10-12T16:08:52.939" v="239"/>
          <ac:spMkLst>
            <pc:docMk/>
            <pc:sldMk cId="0" sldId="256"/>
            <ac:spMk id="2" creationId="{B1DAC2BB-6BB0-87E8-D7C6-27674427079A}"/>
          </ac:spMkLst>
        </pc:spChg>
        <pc:spChg chg="mod">
          <ac:chgData name="Anthony Romero" userId="6b0392680c44eebc" providerId="LiveId" clId="{DEF369C7-D875-4089-BC3A-2A58E6AC2C22}" dt="2026-10-12T15:57:01.855" v="24" actId="1076"/>
          <ac:spMkLst>
            <pc:docMk/>
            <pc:sldMk cId="0" sldId="256"/>
            <ac:spMk id="6" creationId="{C8DD67B1-6B13-8DAE-1FC6-C2A0CC3B0F6F}"/>
          </ac:spMkLst>
        </pc:spChg>
        <pc:spChg chg="mod">
          <ac:chgData name="Anthony Romero" userId="6b0392680c44eebc" providerId="LiveId" clId="{DEF369C7-D875-4089-BC3A-2A58E6AC2C22}" dt="2026-10-12T15:56:00.589" v="13" actId="1076"/>
          <ac:spMkLst>
            <pc:docMk/>
            <pc:sldMk cId="0" sldId="256"/>
            <ac:spMk id="7" creationId="{F23B3A42-6241-9DEC-B0DB-C95DCE6F76F0}"/>
          </ac:spMkLst>
        </pc:spChg>
        <pc:spChg chg="mod">
          <ac:chgData name="Anthony Romero" userId="6b0392680c44eebc" providerId="LiveId" clId="{DEF369C7-D875-4089-BC3A-2A58E6AC2C22}" dt="2026-10-12T16:08:52.946" v="241"/>
          <ac:spMkLst>
            <pc:docMk/>
            <pc:sldMk cId="0" sldId="256"/>
            <ac:spMk id="8" creationId="{FD6F3253-2258-82A8-37AE-06F2B7793ABF}"/>
          </ac:spMkLst>
        </pc:spChg>
        <pc:spChg chg="mod">
          <ac:chgData name="Anthony Romero" userId="6b0392680c44eebc" providerId="LiveId" clId="{DEF369C7-D875-4089-BC3A-2A58E6AC2C22}" dt="2026-10-12T16:08:52.946" v="243"/>
          <ac:spMkLst>
            <pc:docMk/>
            <pc:sldMk cId="0" sldId="256"/>
            <ac:spMk id="9" creationId="{12C169FD-EF4B-CC29-2A57-69EE6A746FF9}"/>
          </ac:spMkLst>
        </pc:spChg>
        <pc:spChg chg="mod">
          <ac:chgData name="Anthony Romero" userId="6b0392680c44eebc" providerId="LiveId" clId="{DEF369C7-D875-4089-BC3A-2A58E6AC2C22}" dt="2026-10-12T15:56:37.465" v="20" actId="1076"/>
          <ac:spMkLst>
            <pc:docMk/>
            <pc:sldMk cId="0" sldId="256"/>
            <ac:spMk id="10" creationId="{EF8439F9-3165-F81F-6F70-E768CA1B62AB}"/>
          </ac:spMkLst>
        </pc:spChg>
        <pc:spChg chg="mod">
          <ac:chgData name="Anthony Romero" userId="6b0392680c44eebc" providerId="LiveId" clId="{DEF369C7-D875-4089-BC3A-2A58E6AC2C22}" dt="2026-10-12T16:08:52.946" v="245"/>
          <ac:spMkLst>
            <pc:docMk/>
            <pc:sldMk cId="0" sldId="256"/>
            <ac:spMk id="12" creationId="{DA52C1B6-1D87-1391-51ED-2B9F56C3D549}"/>
          </ac:spMkLst>
        </pc:spChg>
        <pc:spChg chg="mod">
          <ac:chgData name="Anthony Romero" userId="6b0392680c44eebc" providerId="LiveId" clId="{DEF369C7-D875-4089-BC3A-2A58E6AC2C22}" dt="2026-10-12T16:08:52.952" v="247"/>
          <ac:spMkLst>
            <pc:docMk/>
            <pc:sldMk cId="0" sldId="256"/>
            <ac:spMk id="13" creationId="{061D1DF2-358F-80DC-83A1-14F99C909A33}"/>
          </ac:spMkLst>
        </pc:spChg>
        <pc:spChg chg="mod">
          <ac:chgData name="Anthony Romero" userId="6b0392680c44eebc" providerId="LiveId" clId="{DEF369C7-D875-4089-BC3A-2A58E6AC2C22}" dt="2026-10-12T16:00:02.905" v="106" actId="14100"/>
          <ac:spMkLst>
            <pc:docMk/>
            <pc:sldMk cId="0" sldId="256"/>
            <ac:spMk id="14" creationId="{1742FE91-10A0-7339-8525-27B92D6099F9}"/>
          </ac:spMkLst>
        </pc:spChg>
        <pc:spChg chg="mod">
          <ac:chgData name="Anthony Romero" userId="6b0392680c44eebc" providerId="LiveId" clId="{DEF369C7-D875-4089-BC3A-2A58E6AC2C22}" dt="2026-10-12T16:08:52.952" v="249"/>
          <ac:spMkLst>
            <pc:docMk/>
            <pc:sldMk cId="0" sldId="256"/>
            <ac:spMk id="16" creationId="{07DD943D-0189-2909-CF79-E00E17D36716}"/>
          </ac:spMkLst>
        </pc:spChg>
        <pc:spChg chg="mod">
          <ac:chgData name="Anthony Romero" userId="6b0392680c44eebc" providerId="LiveId" clId="{DEF369C7-D875-4089-BC3A-2A58E6AC2C22}" dt="2026-10-12T16:08:52.956" v="250"/>
          <ac:spMkLst>
            <pc:docMk/>
            <pc:sldMk cId="0" sldId="256"/>
            <ac:spMk id="19" creationId="{579305BE-4FE7-BC09-C14C-3BBE5353B03B}"/>
          </ac:spMkLst>
        </pc:spChg>
        <pc:spChg chg="mod">
          <ac:chgData name="Anthony Romero" userId="6b0392680c44eebc" providerId="LiveId" clId="{DEF369C7-D875-4089-BC3A-2A58E6AC2C22}" dt="2026-10-12T15:57:09.336" v="25" actId="1076"/>
          <ac:spMkLst>
            <pc:docMk/>
            <pc:sldMk cId="0" sldId="256"/>
            <ac:spMk id="21" creationId="{BAA65FC4-F5D8-2C89-6703-42941D8941EA}"/>
          </ac:spMkLst>
        </pc:spChg>
        <pc:spChg chg="mod">
          <ac:chgData name="Anthony Romero" userId="6b0392680c44eebc" providerId="LiveId" clId="{DEF369C7-D875-4089-BC3A-2A58E6AC2C22}" dt="2026-10-12T15:56:56.945" v="23" actId="1076"/>
          <ac:spMkLst>
            <pc:docMk/>
            <pc:sldMk cId="0" sldId="256"/>
            <ac:spMk id="22" creationId="{7A2702D5-2E19-1753-759E-86D58AC04495}"/>
          </ac:spMkLst>
        </pc:spChg>
        <pc:spChg chg="mod">
          <ac:chgData name="Anthony Romero" userId="6b0392680c44eebc" providerId="LiveId" clId="{DEF369C7-D875-4089-BC3A-2A58E6AC2C22}" dt="2026-10-12T15:56:13.715" v="16" actId="1076"/>
          <ac:spMkLst>
            <pc:docMk/>
            <pc:sldMk cId="0" sldId="256"/>
            <ac:spMk id="23" creationId="{B222F727-3D3E-F163-B054-CAA58594040E}"/>
          </ac:spMkLst>
        </pc:spChg>
        <pc:spChg chg="mod">
          <ac:chgData name="Anthony Romero" userId="6b0392680c44eebc" providerId="LiveId" clId="{DEF369C7-D875-4089-BC3A-2A58E6AC2C22}" dt="2026-10-12T16:08:52.956" v="252"/>
          <ac:spMkLst>
            <pc:docMk/>
            <pc:sldMk cId="0" sldId="256"/>
            <ac:spMk id="27" creationId="{66D33524-E398-FAAF-A8D6-C53BBBFE9801}"/>
          </ac:spMkLst>
        </pc:spChg>
        <pc:spChg chg="mod">
          <ac:chgData name="Anthony Romero" userId="6b0392680c44eebc" providerId="LiveId" clId="{DEF369C7-D875-4089-BC3A-2A58E6AC2C22}" dt="2026-10-12T16:08:52.960" v="255"/>
          <ac:spMkLst>
            <pc:docMk/>
            <pc:sldMk cId="0" sldId="256"/>
            <ac:spMk id="34" creationId="{D7ECE64F-1A78-E777-AE74-7D648B68932E}"/>
          </ac:spMkLst>
        </pc:spChg>
        <pc:spChg chg="mod">
          <ac:chgData name="Anthony Romero" userId="6b0392680c44eebc" providerId="LiveId" clId="{DEF369C7-D875-4089-BC3A-2A58E6AC2C22}" dt="2026-10-12T16:08:52.965" v="257"/>
          <ac:spMkLst>
            <pc:docMk/>
            <pc:sldMk cId="0" sldId="256"/>
            <ac:spMk id="37" creationId="{10E545CD-F8FD-3CB6-852A-0B1F1EFA1C04}"/>
          </ac:spMkLst>
        </pc:spChg>
        <pc:spChg chg="mod">
          <ac:chgData name="Anthony Romero" userId="6b0392680c44eebc" providerId="LiveId" clId="{DEF369C7-D875-4089-BC3A-2A58E6AC2C22}" dt="2026-10-12T16:08:52.965" v="258"/>
          <ac:spMkLst>
            <pc:docMk/>
            <pc:sldMk cId="0" sldId="256"/>
            <ac:spMk id="39" creationId="{1A9E1A12-52A8-C283-A94F-9FBCD11FE680}"/>
          </ac:spMkLst>
        </pc:spChg>
        <pc:spChg chg="mod">
          <ac:chgData name="Anthony Romero" userId="6b0392680c44eebc" providerId="LiveId" clId="{DEF369C7-D875-4089-BC3A-2A58E6AC2C22}" dt="2026-10-12T16:08:52.968" v="259"/>
          <ac:spMkLst>
            <pc:docMk/>
            <pc:sldMk cId="0" sldId="256"/>
            <ac:spMk id="42" creationId="{5309FA91-8CDA-4E02-92F2-9691B97F127C}"/>
          </ac:spMkLst>
        </pc:spChg>
        <pc:spChg chg="mod">
          <ac:chgData name="Anthony Romero" userId="6b0392680c44eebc" providerId="LiveId" clId="{DEF369C7-D875-4089-BC3A-2A58E6AC2C22}" dt="2026-10-12T16:08:52.968" v="261"/>
          <ac:spMkLst>
            <pc:docMk/>
            <pc:sldMk cId="0" sldId="256"/>
            <ac:spMk id="44" creationId="{F7BFCB91-6FC3-868F-3836-EB8A9AD1F8E8}"/>
          </ac:spMkLst>
        </pc:spChg>
        <pc:spChg chg="mod">
          <ac:chgData name="Anthony Romero" userId="6b0392680c44eebc" providerId="LiveId" clId="{DEF369C7-D875-4089-BC3A-2A58E6AC2C22}" dt="2026-10-12T16:08:52.974" v="262"/>
          <ac:spMkLst>
            <pc:docMk/>
            <pc:sldMk cId="0" sldId="256"/>
            <ac:spMk id="45" creationId="{F0A3D2E6-8E10-D9DA-6579-00698EE15BF9}"/>
          </ac:spMkLst>
        </pc:spChg>
        <pc:spChg chg="mod">
          <ac:chgData name="Anthony Romero" userId="6b0392680c44eebc" providerId="LiveId" clId="{DEF369C7-D875-4089-BC3A-2A58E6AC2C22}" dt="2026-10-12T16:08:52.976" v="263"/>
          <ac:spMkLst>
            <pc:docMk/>
            <pc:sldMk cId="0" sldId="256"/>
            <ac:spMk id="47" creationId="{7BE334C4-88D4-D2FB-CCF6-2A193F4F6172}"/>
          </ac:spMkLst>
        </pc:spChg>
        <pc:spChg chg="mod">
          <ac:chgData name="Anthony Romero" userId="6b0392680c44eebc" providerId="LiveId" clId="{DEF369C7-D875-4089-BC3A-2A58E6AC2C22}" dt="2026-10-12T16:08:52.976" v="265"/>
          <ac:spMkLst>
            <pc:docMk/>
            <pc:sldMk cId="0" sldId="256"/>
            <ac:spMk id="48" creationId="{94ABC2E5-F1B3-12F9-AA5E-5C23F539CEFB}"/>
          </ac:spMkLst>
        </pc:spChg>
        <pc:spChg chg="mod">
          <ac:chgData name="Anthony Romero" userId="6b0392680c44eebc" providerId="LiveId" clId="{DEF369C7-D875-4089-BC3A-2A58E6AC2C22}" dt="2026-10-12T16:02:08.017" v="161" actId="14100"/>
          <ac:spMkLst>
            <pc:docMk/>
            <pc:sldMk cId="0" sldId="256"/>
            <ac:spMk id="49" creationId="{51C928DB-1640-1F1A-129C-71E7930E87F9}"/>
          </ac:spMkLst>
        </pc:spChg>
        <pc:spChg chg="mod">
          <ac:chgData name="Anthony Romero" userId="6b0392680c44eebc" providerId="LiveId" clId="{DEF369C7-D875-4089-BC3A-2A58E6AC2C22}" dt="2026-10-12T16:08:52.978" v="267"/>
          <ac:spMkLst>
            <pc:docMk/>
            <pc:sldMk cId="0" sldId="256"/>
            <ac:spMk id="57" creationId="{F6775F1F-9B0C-A666-8FF2-66371E61D182}"/>
          </ac:spMkLst>
        </pc:spChg>
        <pc:spChg chg="mod">
          <ac:chgData name="Anthony Romero" userId="6b0392680c44eebc" providerId="LiveId" clId="{DEF369C7-D875-4089-BC3A-2A58E6AC2C22}" dt="2026-10-12T16:08:52.980" v="269"/>
          <ac:spMkLst>
            <pc:docMk/>
            <pc:sldMk cId="0" sldId="256"/>
            <ac:spMk id="147" creationId="{00000000-0000-0000-0000-000000000000}"/>
          </ac:spMkLst>
        </pc:spChg>
        <pc:spChg chg="mod">
          <ac:chgData name="Anthony Romero" userId="6b0392680c44eebc" providerId="LiveId" clId="{DEF369C7-D875-4089-BC3A-2A58E6AC2C22}" dt="2026-10-12T16:08:52.982" v="271"/>
          <ac:spMkLst>
            <pc:docMk/>
            <pc:sldMk cId="0" sldId="256"/>
            <ac:spMk id="149" creationId="{00000000-0000-0000-0000-000000000000}"/>
          </ac:spMkLst>
        </pc:spChg>
        <pc:spChg chg="mod">
          <ac:chgData name="Anthony Romero" userId="6b0392680c44eebc" providerId="LiveId" clId="{DEF369C7-D875-4089-BC3A-2A58E6AC2C22}" dt="2026-10-12T16:08:52.984" v="272"/>
          <ac:spMkLst>
            <pc:docMk/>
            <pc:sldMk cId="0" sldId="256"/>
            <ac:spMk id="150" creationId="{00000000-0000-0000-0000-000000000000}"/>
          </ac:spMkLst>
        </pc:spChg>
        <pc:spChg chg="mod">
          <ac:chgData name="Anthony Romero" userId="6b0392680c44eebc" providerId="LiveId" clId="{DEF369C7-D875-4089-BC3A-2A58E6AC2C22}" dt="2026-10-12T15:58:42.883" v="48" actId="1035"/>
          <ac:spMkLst>
            <pc:docMk/>
            <pc:sldMk cId="0" sldId="256"/>
            <ac:spMk id="151" creationId="{00000000-0000-0000-0000-000000000000}"/>
          </ac:spMkLst>
        </pc:spChg>
        <pc:spChg chg="mod">
          <ac:chgData name="Anthony Romero" userId="6b0392680c44eebc" providerId="LiveId" clId="{DEF369C7-D875-4089-BC3A-2A58E6AC2C22}" dt="2026-10-12T16:08:52.986" v="274"/>
          <ac:spMkLst>
            <pc:docMk/>
            <pc:sldMk cId="0" sldId="256"/>
            <ac:spMk id="153" creationId="{00000000-0000-0000-0000-000000000000}"/>
          </ac:spMkLst>
        </pc:spChg>
        <pc:spChg chg="mod">
          <ac:chgData name="Anthony Romero" userId="6b0392680c44eebc" providerId="LiveId" clId="{DEF369C7-D875-4089-BC3A-2A58E6AC2C22}" dt="2026-10-12T16:08:52.988" v="276"/>
          <ac:spMkLst>
            <pc:docMk/>
            <pc:sldMk cId="0" sldId="256"/>
            <ac:spMk id="155" creationId="{00000000-0000-0000-0000-000000000000}"/>
          </ac:spMkLst>
        </pc:spChg>
        <pc:spChg chg="mod">
          <ac:chgData name="Anthony Romero" userId="6b0392680c44eebc" providerId="LiveId" clId="{DEF369C7-D875-4089-BC3A-2A58E6AC2C22}" dt="2026-10-12T16:08:52.993" v="278"/>
          <ac:spMkLst>
            <pc:docMk/>
            <pc:sldMk cId="0" sldId="256"/>
            <ac:spMk id="156" creationId="{00000000-0000-0000-0000-000000000000}"/>
          </ac:spMkLst>
        </pc:spChg>
        <pc:spChg chg="mod">
          <ac:chgData name="Anthony Romero" userId="6b0392680c44eebc" providerId="LiveId" clId="{DEF369C7-D875-4089-BC3A-2A58E6AC2C22}" dt="2026-10-12T16:08:52.995" v="279"/>
          <ac:spMkLst>
            <pc:docMk/>
            <pc:sldMk cId="0" sldId="256"/>
            <ac:spMk id="160" creationId="{00000000-0000-0000-0000-000000000000}"/>
          </ac:spMkLst>
        </pc:spChg>
        <pc:spChg chg="mod">
          <ac:chgData name="Anthony Romero" userId="6b0392680c44eebc" providerId="LiveId" clId="{DEF369C7-D875-4089-BC3A-2A58E6AC2C22}" dt="2026-10-12T16:08:52.995" v="281"/>
          <ac:spMkLst>
            <pc:docMk/>
            <pc:sldMk cId="0" sldId="256"/>
            <ac:spMk id="188" creationId="{00000000-0000-0000-0000-000000000000}"/>
          </ac:spMkLst>
        </pc:spChg>
        <pc:spChg chg="mod">
          <ac:chgData name="Anthony Romero" userId="6b0392680c44eebc" providerId="LiveId" clId="{DEF369C7-D875-4089-BC3A-2A58E6AC2C22}" dt="2026-10-12T16:08:52.995" v="283"/>
          <ac:spMkLst>
            <pc:docMk/>
            <pc:sldMk cId="0" sldId="256"/>
            <ac:spMk id="191" creationId="{00000000-0000-0000-0000-000000000000}"/>
          </ac:spMkLst>
        </pc:spChg>
        <pc:spChg chg="mod">
          <ac:chgData name="Anthony Romero" userId="6b0392680c44eebc" providerId="LiveId" clId="{DEF369C7-D875-4089-BC3A-2A58E6AC2C22}" dt="2026-10-12T16:09:28.426" v="351"/>
          <ac:spMkLst>
            <pc:docMk/>
            <pc:sldMk cId="0" sldId="256"/>
            <ac:spMk id="230" creationId="{00000000-0000-0000-0000-000000000000}"/>
          </ac:spMkLst>
        </pc:spChg>
        <pc:grpChg chg="mod">
          <ac:chgData name="Anthony Romero" userId="6b0392680c44eebc" providerId="LiveId" clId="{DEF369C7-D875-4089-BC3A-2A58E6AC2C22}" dt="2026-10-12T16:01:41.402" v="157" actId="14100"/>
          <ac:grpSpMkLst>
            <pc:docMk/>
            <pc:sldMk cId="0" sldId="256"/>
            <ac:grpSpMk id="11" creationId="{A5707008-2CAD-F4D5-5AAA-3D9D6A1A0B60}"/>
          </ac:grpSpMkLst>
        </pc:grpChg>
        <pc:grpChg chg="mod">
          <ac:chgData name="Anthony Romero" userId="6b0392680c44eebc" providerId="LiveId" clId="{DEF369C7-D875-4089-BC3A-2A58E6AC2C22}" dt="2026-10-12T16:08:52.960" v="253"/>
          <ac:grpSpMkLst>
            <pc:docMk/>
            <pc:sldMk cId="0" sldId="256"/>
            <ac:grpSpMk id="33" creationId="{8B5A45FB-CDAD-4B63-2858-1160BD66F5B7}"/>
          </ac:grpSpMkLst>
        </pc:grpChg>
        <pc:graphicFrameChg chg="mod">
          <ac:chgData name="Anthony Romero" userId="6b0392680c44eebc" providerId="LiveId" clId="{DEF369C7-D875-4089-BC3A-2A58E6AC2C22}" dt="2026-10-12T15:56:20.947" v="17" actId="1076"/>
          <ac:graphicFrameMkLst>
            <pc:docMk/>
            <pc:sldMk cId="0" sldId="256"/>
            <ac:graphicFrameMk id="5" creationId="{B7319376-6D1E-7E10-5CC7-C4DB861E3DDA}"/>
          </ac:graphicFrameMkLst>
        </pc:graphicFrameChg>
        <pc:graphicFrameChg chg="mod">
          <ac:chgData name="Anthony Romero" userId="6b0392680c44eebc" providerId="LiveId" clId="{DEF369C7-D875-4089-BC3A-2A58E6AC2C22}" dt="2026-10-12T15:56:32.478" v="19" actId="1076"/>
          <ac:graphicFrameMkLst>
            <pc:docMk/>
            <pc:sldMk cId="0" sldId="256"/>
            <ac:graphicFrameMk id="20" creationId="{144AA56D-4D9F-0582-1CBB-343BF11AB636}"/>
          </ac:graphicFrameMkLst>
        </pc:graphicFrameChg>
      </pc:sldChg>
      <pc:sldChg chg="modSp del mod">
        <pc:chgData name="Anthony Romero" userId="6b0392680c44eebc" providerId="LiveId" clId="{DEF369C7-D875-4089-BC3A-2A58E6AC2C22}" dt="2026-10-12T16:09:44.327" v="353"/>
        <pc:sldMkLst>
          <pc:docMk/>
          <pc:sldMk cId="0" sldId="257"/>
        </pc:sldMkLst>
        <pc:spChg chg="mod">
          <ac:chgData name="Anthony Romero" userId="6b0392680c44eebc" providerId="LiveId" clId="{DEF369C7-D875-4089-BC3A-2A58E6AC2C22}" dt="2026-10-12T16:08:53.260" v="287"/>
          <ac:spMkLst>
            <pc:docMk/>
            <pc:sldMk cId="0" sldId="257"/>
            <ac:spMk id="2" creationId="{D99129F9-A2B9-7C22-5424-92F581BD5312}"/>
          </ac:spMkLst>
        </pc:spChg>
        <pc:spChg chg="mod">
          <ac:chgData name="Anthony Romero" userId="6b0392680c44eebc" providerId="LiveId" clId="{DEF369C7-D875-4089-BC3A-2A58E6AC2C22}" dt="2026-10-12T16:08:53.888" v="350"/>
          <ac:spMkLst>
            <pc:docMk/>
            <pc:sldMk cId="0" sldId="257"/>
            <ac:spMk id="4" creationId="{D57E3DDA-3F8F-C099-A224-1FDCA07816BB}"/>
          </ac:spMkLst>
        </pc:spChg>
        <pc:spChg chg="mod">
          <ac:chgData name="Anthony Romero" userId="6b0392680c44eebc" providerId="LiveId" clId="{DEF369C7-D875-4089-BC3A-2A58E6AC2C22}" dt="2026-10-12T16:08:53.879" v="346"/>
          <ac:spMkLst>
            <pc:docMk/>
            <pc:sldMk cId="0" sldId="257"/>
            <ac:spMk id="5" creationId="{48C3118B-F8A7-0BEF-2CD9-9BF5D526BD2D}"/>
          </ac:spMkLst>
        </pc:spChg>
        <pc:spChg chg="mod">
          <ac:chgData name="Anthony Romero" userId="6b0392680c44eebc" providerId="LiveId" clId="{DEF369C7-D875-4089-BC3A-2A58E6AC2C22}" dt="2026-10-12T16:08:53.265" v="288"/>
          <ac:spMkLst>
            <pc:docMk/>
            <pc:sldMk cId="0" sldId="257"/>
            <ac:spMk id="8" creationId="{8C7ED33D-28C7-C45B-3305-E5A680278BC1}"/>
          </ac:spMkLst>
        </pc:spChg>
        <pc:spChg chg="mod">
          <ac:chgData name="Anthony Romero" userId="6b0392680c44eebc" providerId="LiveId" clId="{DEF369C7-D875-4089-BC3A-2A58E6AC2C22}" dt="2026-10-12T16:08:53.265" v="290"/>
          <ac:spMkLst>
            <pc:docMk/>
            <pc:sldMk cId="0" sldId="257"/>
            <ac:spMk id="9" creationId="{16FDDB7C-12F3-C53F-48E1-F135D6C14E7B}"/>
          </ac:spMkLst>
        </pc:spChg>
        <pc:spChg chg="mod">
          <ac:chgData name="Anthony Romero" userId="6b0392680c44eebc" providerId="LiveId" clId="{DEF369C7-D875-4089-BC3A-2A58E6AC2C22}" dt="2026-10-12T16:08:53.879" v="347"/>
          <ac:spMkLst>
            <pc:docMk/>
            <pc:sldMk cId="0" sldId="257"/>
            <ac:spMk id="11" creationId="{9F7AF22B-026F-7CFB-5CEC-2C4270C5F1D7}"/>
          </ac:spMkLst>
        </pc:spChg>
        <pc:spChg chg="mod">
          <ac:chgData name="Anthony Romero" userId="6b0392680c44eebc" providerId="LiveId" clId="{DEF369C7-D875-4089-BC3A-2A58E6AC2C22}" dt="2026-10-12T16:08:53.269" v="291"/>
          <ac:spMkLst>
            <pc:docMk/>
            <pc:sldMk cId="0" sldId="257"/>
            <ac:spMk id="15" creationId="{426DF82B-E408-7FC5-9979-7C474B302A96}"/>
          </ac:spMkLst>
        </pc:spChg>
        <pc:spChg chg="mod">
          <ac:chgData name="Anthony Romero" userId="6b0392680c44eebc" providerId="LiveId" clId="{DEF369C7-D875-4089-BC3A-2A58E6AC2C22}" dt="2026-10-12T16:08:53.875" v="341"/>
          <ac:spMkLst>
            <pc:docMk/>
            <pc:sldMk cId="0" sldId="257"/>
            <ac:spMk id="16" creationId="{3F52E8EC-FBB3-8716-8C48-956F98D280CE}"/>
          </ac:spMkLst>
        </pc:spChg>
        <pc:spChg chg="mod">
          <ac:chgData name="Anthony Romero" userId="6b0392680c44eebc" providerId="LiveId" clId="{DEF369C7-D875-4089-BC3A-2A58E6AC2C22}" dt="2026-10-12T16:08:53.875" v="342"/>
          <ac:spMkLst>
            <pc:docMk/>
            <pc:sldMk cId="0" sldId="257"/>
            <ac:spMk id="17" creationId="{BF365626-200F-583E-6F47-E9AEB754C119}"/>
          </ac:spMkLst>
        </pc:spChg>
        <pc:spChg chg="mod">
          <ac:chgData name="Anthony Romero" userId="6b0392680c44eebc" providerId="LiveId" clId="{DEF369C7-D875-4089-BC3A-2A58E6AC2C22}" dt="2026-10-12T16:08:53.273" v="293"/>
          <ac:spMkLst>
            <pc:docMk/>
            <pc:sldMk cId="0" sldId="257"/>
            <ac:spMk id="18" creationId="{8BA97F0D-7AF4-9109-8982-8C60ADB1E93F}"/>
          </ac:spMkLst>
        </pc:spChg>
        <pc:spChg chg="mod">
          <ac:chgData name="Anthony Romero" userId="6b0392680c44eebc" providerId="LiveId" clId="{DEF369C7-D875-4089-BC3A-2A58E6AC2C22}" dt="2026-10-12T16:08:53.275" v="295"/>
          <ac:spMkLst>
            <pc:docMk/>
            <pc:sldMk cId="0" sldId="257"/>
            <ac:spMk id="19" creationId="{CEBDDEE6-F083-1450-656B-62399C30F779}"/>
          </ac:spMkLst>
        </pc:spChg>
        <pc:spChg chg="mod">
          <ac:chgData name="Anthony Romero" userId="6b0392680c44eebc" providerId="LiveId" clId="{DEF369C7-D875-4089-BC3A-2A58E6AC2C22}" dt="2026-10-12T16:08:53.855" v="333"/>
          <ac:spMkLst>
            <pc:docMk/>
            <pc:sldMk cId="0" sldId="257"/>
            <ac:spMk id="20" creationId="{09DCA779-60A3-259D-C692-943008A565C9}"/>
          </ac:spMkLst>
        </pc:spChg>
        <pc:spChg chg="mod">
          <ac:chgData name="Anthony Romero" userId="6b0392680c44eebc" providerId="LiveId" clId="{DEF369C7-D875-4089-BC3A-2A58E6AC2C22}" dt="2026-10-12T16:08:53.855" v="334"/>
          <ac:spMkLst>
            <pc:docMk/>
            <pc:sldMk cId="0" sldId="257"/>
            <ac:spMk id="21" creationId="{B5818B6F-43C4-D89B-A410-D647029F5101}"/>
          </ac:spMkLst>
        </pc:spChg>
        <pc:spChg chg="mod">
          <ac:chgData name="Anthony Romero" userId="6b0392680c44eebc" providerId="LiveId" clId="{DEF369C7-D875-4089-BC3A-2A58E6AC2C22}" dt="2026-10-12T16:08:53.862" v="335"/>
          <ac:spMkLst>
            <pc:docMk/>
            <pc:sldMk cId="0" sldId="257"/>
            <ac:spMk id="22" creationId="{67E45998-2172-2AC3-5143-1698270FF0DA}"/>
          </ac:spMkLst>
        </pc:spChg>
        <pc:spChg chg="mod">
          <ac:chgData name="Anthony Romero" userId="6b0392680c44eebc" providerId="LiveId" clId="{DEF369C7-D875-4089-BC3A-2A58E6AC2C22}" dt="2026-10-12T16:08:53.277" v="297"/>
          <ac:spMkLst>
            <pc:docMk/>
            <pc:sldMk cId="0" sldId="257"/>
            <ac:spMk id="24" creationId="{F59CBA9C-3FA5-19BE-A7A2-4EFA630841BD}"/>
          </ac:spMkLst>
        </pc:spChg>
        <pc:spChg chg="mod">
          <ac:chgData name="Anthony Romero" userId="6b0392680c44eebc" providerId="LiveId" clId="{DEF369C7-D875-4089-BC3A-2A58E6AC2C22}" dt="2026-10-12T16:08:53.278" v="298"/>
          <ac:spMkLst>
            <pc:docMk/>
            <pc:sldMk cId="0" sldId="257"/>
            <ac:spMk id="28" creationId="{61BCAC4C-F459-6F61-D1B9-2FF105C0E8A0}"/>
          </ac:spMkLst>
        </pc:spChg>
        <pc:spChg chg="mod">
          <ac:chgData name="Anthony Romero" userId="6b0392680c44eebc" providerId="LiveId" clId="{DEF369C7-D875-4089-BC3A-2A58E6AC2C22}" dt="2026-10-12T16:08:53.879" v="343"/>
          <ac:spMkLst>
            <pc:docMk/>
            <pc:sldMk cId="0" sldId="257"/>
            <ac:spMk id="30" creationId="{5018AC85-33A1-0A8F-7DD9-C4FCCAE7C661}"/>
          </ac:spMkLst>
        </pc:spChg>
        <pc:spChg chg="mod">
          <ac:chgData name="Anthony Romero" userId="6b0392680c44eebc" providerId="LiveId" clId="{DEF369C7-D875-4089-BC3A-2A58E6AC2C22}" dt="2026-10-12T16:08:53.278" v="300"/>
          <ac:spMkLst>
            <pc:docMk/>
            <pc:sldMk cId="0" sldId="257"/>
            <ac:spMk id="41" creationId="{688A39FE-37FA-101B-E9B4-53DAA26EFE16}"/>
          </ac:spMkLst>
        </pc:spChg>
        <pc:spChg chg="mod">
          <ac:chgData name="Anthony Romero" userId="6b0392680c44eebc" providerId="LiveId" clId="{DEF369C7-D875-4089-BC3A-2A58E6AC2C22}" dt="2026-10-12T16:08:53.285" v="302"/>
          <ac:spMkLst>
            <pc:docMk/>
            <pc:sldMk cId="0" sldId="257"/>
            <ac:spMk id="42" creationId="{2611A06D-5EB8-6EAC-58CA-F382172C5A76}"/>
          </ac:spMkLst>
        </pc:spChg>
        <pc:spChg chg="mod">
          <ac:chgData name="Anthony Romero" userId="6b0392680c44eebc" providerId="LiveId" clId="{DEF369C7-D875-4089-BC3A-2A58E6AC2C22}" dt="2026-10-12T16:08:53.285" v="303"/>
          <ac:spMkLst>
            <pc:docMk/>
            <pc:sldMk cId="0" sldId="257"/>
            <ac:spMk id="43" creationId="{76533412-4E68-6D7B-5E08-A3DDA18653D5}"/>
          </ac:spMkLst>
        </pc:spChg>
        <pc:spChg chg="mod">
          <ac:chgData name="Anthony Romero" userId="6b0392680c44eebc" providerId="LiveId" clId="{DEF369C7-D875-4089-BC3A-2A58E6AC2C22}" dt="2026-10-12T16:08:53.288" v="304"/>
          <ac:spMkLst>
            <pc:docMk/>
            <pc:sldMk cId="0" sldId="257"/>
            <ac:spMk id="44" creationId="{F43B7002-494E-684D-C32D-7B0B5C075F74}"/>
          </ac:spMkLst>
        </pc:spChg>
        <pc:spChg chg="mod">
          <ac:chgData name="Anthony Romero" userId="6b0392680c44eebc" providerId="LiveId" clId="{DEF369C7-D875-4089-BC3A-2A58E6AC2C22}" dt="2026-10-12T16:08:53.288" v="305"/>
          <ac:spMkLst>
            <pc:docMk/>
            <pc:sldMk cId="0" sldId="257"/>
            <ac:spMk id="45" creationId="{059BD985-D4EE-C554-21A9-EC4E11282F34}"/>
          </ac:spMkLst>
        </pc:spChg>
        <pc:spChg chg="mod">
          <ac:chgData name="Anthony Romero" userId="6b0392680c44eebc" providerId="LiveId" clId="{DEF369C7-D875-4089-BC3A-2A58E6AC2C22}" dt="2026-10-12T16:08:53.288" v="306"/>
          <ac:spMkLst>
            <pc:docMk/>
            <pc:sldMk cId="0" sldId="257"/>
            <ac:spMk id="46" creationId="{8D3C2411-5CE5-069D-8147-43BF44978927}"/>
          </ac:spMkLst>
        </pc:spChg>
        <pc:spChg chg="mod">
          <ac:chgData name="Anthony Romero" userId="6b0392680c44eebc" providerId="LiveId" clId="{DEF369C7-D875-4089-BC3A-2A58E6AC2C22}" dt="2026-10-12T16:08:53.294" v="307"/>
          <ac:spMkLst>
            <pc:docMk/>
            <pc:sldMk cId="0" sldId="257"/>
            <ac:spMk id="47" creationId="{5535D9A1-8993-43BA-862F-5DEC8555A2A6}"/>
          </ac:spMkLst>
        </pc:spChg>
        <pc:spChg chg="mod">
          <ac:chgData name="Anthony Romero" userId="6b0392680c44eebc" providerId="LiveId" clId="{DEF369C7-D875-4089-BC3A-2A58E6AC2C22}" dt="2026-10-12T16:08:53.295" v="308"/>
          <ac:spMkLst>
            <pc:docMk/>
            <pc:sldMk cId="0" sldId="257"/>
            <ac:spMk id="52" creationId="{20947439-88B9-27A1-0656-F6515EBB3E46}"/>
          </ac:spMkLst>
        </pc:spChg>
        <pc:spChg chg="mod">
          <ac:chgData name="Anthony Romero" userId="6b0392680c44eebc" providerId="LiveId" clId="{DEF369C7-D875-4089-BC3A-2A58E6AC2C22}" dt="2026-10-12T16:08:53.295" v="309"/>
          <ac:spMkLst>
            <pc:docMk/>
            <pc:sldMk cId="0" sldId="257"/>
            <ac:spMk id="53" creationId="{3179C2A8-D817-B960-A067-C75B6AB399BE}"/>
          </ac:spMkLst>
        </pc:spChg>
        <pc:spChg chg="mod">
          <ac:chgData name="Anthony Romero" userId="6b0392680c44eebc" providerId="LiveId" clId="{DEF369C7-D875-4089-BC3A-2A58E6AC2C22}" dt="2026-10-12T16:08:53.295" v="311"/>
          <ac:spMkLst>
            <pc:docMk/>
            <pc:sldMk cId="0" sldId="257"/>
            <ac:spMk id="57" creationId="{EE92CCC0-644B-F2E8-7C20-D2A162CEC723}"/>
          </ac:spMkLst>
        </pc:spChg>
        <pc:spChg chg="mod">
          <ac:chgData name="Anthony Romero" userId="6b0392680c44eebc" providerId="LiveId" clId="{DEF369C7-D875-4089-BC3A-2A58E6AC2C22}" dt="2026-10-12T16:08:53.302" v="312"/>
          <ac:spMkLst>
            <pc:docMk/>
            <pc:sldMk cId="0" sldId="257"/>
            <ac:spMk id="59" creationId="{9543FB97-C03F-7F61-E334-7FEC4FBB8A84}"/>
          </ac:spMkLst>
        </pc:spChg>
        <pc:spChg chg="mod">
          <ac:chgData name="Anthony Romero" userId="6b0392680c44eebc" providerId="LiveId" clId="{DEF369C7-D875-4089-BC3A-2A58E6AC2C22}" dt="2026-10-12T16:08:53.302" v="313"/>
          <ac:spMkLst>
            <pc:docMk/>
            <pc:sldMk cId="0" sldId="257"/>
            <ac:spMk id="61" creationId="{BC740957-4AE5-B30D-C81B-44E8523FDAC3}"/>
          </ac:spMkLst>
        </pc:spChg>
        <pc:spChg chg="mod">
          <ac:chgData name="Anthony Romero" userId="6b0392680c44eebc" providerId="LiveId" clId="{DEF369C7-D875-4089-BC3A-2A58E6AC2C22}" dt="2026-10-12T16:08:53.305" v="314"/>
          <ac:spMkLst>
            <pc:docMk/>
            <pc:sldMk cId="0" sldId="257"/>
            <ac:spMk id="62" creationId="{BB853890-88F3-D400-42A5-DB3434B97B86}"/>
          </ac:spMkLst>
        </pc:spChg>
        <pc:spChg chg="mod">
          <ac:chgData name="Anthony Romero" userId="6b0392680c44eebc" providerId="LiveId" clId="{DEF369C7-D875-4089-BC3A-2A58E6AC2C22}" dt="2026-10-12T16:08:53.305" v="315"/>
          <ac:spMkLst>
            <pc:docMk/>
            <pc:sldMk cId="0" sldId="257"/>
            <ac:spMk id="63" creationId="{D8C4A04E-CB0E-7057-9472-68EF8C580641}"/>
          </ac:spMkLst>
        </pc:spChg>
        <pc:spChg chg="mod">
          <ac:chgData name="Anthony Romero" userId="6b0392680c44eebc" providerId="LiveId" clId="{DEF369C7-D875-4089-BC3A-2A58E6AC2C22}" dt="2026-10-12T16:08:53.310" v="316"/>
          <ac:spMkLst>
            <pc:docMk/>
            <pc:sldMk cId="0" sldId="257"/>
            <ac:spMk id="128" creationId="{AE17AA67-0D33-16FC-2A85-AB4BAF00F5C0}"/>
          </ac:spMkLst>
        </pc:spChg>
        <pc:spChg chg="mod">
          <ac:chgData name="Anthony Romero" userId="6b0392680c44eebc" providerId="LiveId" clId="{DEF369C7-D875-4089-BC3A-2A58E6AC2C22}" dt="2026-10-12T16:08:53.310" v="317"/>
          <ac:spMkLst>
            <pc:docMk/>
            <pc:sldMk cId="0" sldId="257"/>
            <ac:spMk id="129" creationId="{9C43C7E8-D731-0453-549D-6E8C9EC4C95A}"/>
          </ac:spMkLst>
        </pc:spChg>
        <pc:spChg chg="mod">
          <ac:chgData name="Anthony Romero" userId="6b0392680c44eebc" providerId="LiveId" clId="{DEF369C7-D875-4089-BC3A-2A58E6AC2C22}" dt="2026-10-12T16:08:53.310" v="318"/>
          <ac:spMkLst>
            <pc:docMk/>
            <pc:sldMk cId="0" sldId="257"/>
            <ac:spMk id="138" creationId="{87AC246D-F792-9758-5CBB-37B6A2F42660}"/>
          </ac:spMkLst>
        </pc:spChg>
        <pc:spChg chg="mod">
          <ac:chgData name="Anthony Romero" userId="6b0392680c44eebc" providerId="LiveId" clId="{DEF369C7-D875-4089-BC3A-2A58E6AC2C22}" dt="2026-10-12T16:08:53.310" v="319"/>
          <ac:spMkLst>
            <pc:docMk/>
            <pc:sldMk cId="0" sldId="257"/>
            <ac:spMk id="142" creationId="{CACBCF7D-549F-7126-F866-088AC40E701D}"/>
          </ac:spMkLst>
        </pc:spChg>
        <pc:spChg chg="mod">
          <ac:chgData name="Anthony Romero" userId="6b0392680c44eebc" providerId="LiveId" clId="{DEF369C7-D875-4089-BC3A-2A58E6AC2C22}" dt="2026-10-12T16:08:53.315" v="321"/>
          <ac:spMkLst>
            <pc:docMk/>
            <pc:sldMk cId="0" sldId="257"/>
            <ac:spMk id="312" creationId="{00000000-0000-0000-0000-000000000000}"/>
          </ac:spMkLst>
        </pc:spChg>
        <pc:spChg chg="mod">
          <ac:chgData name="Anthony Romero" userId="6b0392680c44eebc" providerId="LiveId" clId="{DEF369C7-D875-4089-BC3A-2A58E6AC2C22}" dt="2026-10-12T16:04:45.605" v="199" actId="1076"/>
          <ac:spMkLst>
            <pc:docMk/>
            <pc:sldMk cId="0" sldId="257"/>
            <ac:spMk id="322" creationId="{00000000-0000-0000-0000-000000000000}"/>
          </ac:spMkLst>
        </pc:spChg>
        <pc:spChg chg="mod">
          <ac:chgData name="Anthony Romero" userId="6b0392680c44eebc" providerId="LiveId" clId="{DEF369C7-D875-4089-BC3A-2A58E6AC2C22}" dt="2026-10-12T16:08:53.317" v="323"/>
          <ac:spMkLst>
            <pc:docMk/>
            <pc:sldMk cId="0" sldId="257"/>
            <ac:spMk id="325" creationId="{00000000-0000-0000-0000-000000000000}"/>
          </ac:spMkLst>
        </pc:spChg>
        <pc:spChg chg="mod">
          <ac:chgData name="Anthony Romero" userId="6b0392680c44eebc" providerId="LiveId" clId="{DEF369C7-D875-4089-BC3A-2A58E6AC2C22}" dt="2026-10-12T16:03:34.770" v="198" actId="27636"/>
          <ac:spMkLst>
            <pc:docMk/>
            <pc:sldMk cId="0" sldId="257"/>
            <ac:spMk id="334" creationId="{00000000-0000-0000-0000-000000000000}"/>
          </ac:spMkLst>
        </pc:spChg>
        <pc:spChg chg="mod">
          <ac:chgData name="Anthony Romero" userId="6b0392680c44eebc" providerId="LiveId" clId="{DEF369C7-D875-4089-BC3A-2A58E6AC2C22}" dt="2026-10-12T16:08:53.319" v="325"/>
          <ac:spMkLst>
            <pc:docMk/>
            <pc:sldMk cId="0" sldId="257"/>
            <ac:spMk id="359" creationId="{00000000-0000-0000-0000-000000000000}"/>
          </ac:spMkLst>
        </pc:spChg>
        <pc:spChg chg="mod">
          <ac:chgData name="Anthony Romero" userId="6b0392680c44eebc" providerId="LiveId" clId="{DEF369C7-D875-4089-BC3A-2A58E6AC2C22}" dt="2026-10-12T16:08:53.319" v="326"/>
          <ac:spMkLst>
            <pc:docMk/>
            <pc:sldMk cId="0" sldId="257"/>
            <ac:spMk id="382" creationId="{00000000-0000-0000-0000-000000000000}"/>
          </ac:spMkLst>
        </pc:spChg>
        <pc:spChg chg="mod">
          <ac:chgData name="Anthony Romero" userId="6b0392680c44eebc" providerId="LiveId" clId="{DEF369C7-D875-4089-BC3A-2A58E6AC2C22}" dt="2026-10-12T16:08:53.322" v="328"/>
          <ac:spMkLst>
            <pc:docMk/>
            <pc:sldMk cId="0" sldId="257"/>
            <ac:spMk id="384" creationId="{00000000-0000-0000-0000-000000000000}"/>
          </ac:spMkLst>
        </pc:spChg>
        <pc:graphicFrameChg chg="mod">
          <ac:chgData name="Anthony Romero" userId="6b0392680c44eebc" providerId="LiveId" clId="{DEF369C7-D875-4089-BC3A-2A58E6AC2C22}" dt="2026-10-12T16:08:53.879" v="344"/>
          <ac:graphicFrameMkLst>
            <pc:docMk/>
            <pc:sldMk cId="0" sldId="257"/>
            <ac:graphicFrameMk id="6" creationId="{51154FDB-0296-767A-54CC-D7BEE06B84CC}"/>
          </ac:graphicFrameMkLst>
        </pc:graphicFrameChg>
        <pc:graphicFrameChg chg="mod">
          <ac:chgData name="Anthony Romero" userId="6b0392680c44eebc" providerId="LiveId" clId="{DEF369C7-D875-4089-BC3A-2A58E6AC2C22}" dt="2026-10-12T16:08:53.879" v="345"/>
          <ac:graphicFrameMkLst>
            <pc:docMk/>
            <pc:sldMk cId="0" sldId="257"/>
            <ac:graphicFrameMk id="7" creationId="{E3AD3077-82A6-8560-DD4B-9C687E625424}"/>
          </ac:graphicFrameMkLst>
        </pc:graphicFrameChg>
        <pc:graphicFrameChg chg="mod">
          <ac:chgData name="Anthony Romero" userId="6b0392680c44eebc" providerId="LiveId" clId="{DEF369C7-D875-4089-BC3A-2A58E6AC2C22}" dt="2026-10-12T16:08:53.885" v="348"/>
          <ac:graphicFrameMkLst>
            <pc:docMk/>
            <pc:sldMk cId="0" sldId="257"/>
            <ac:graphicFrameMk id="12" creationId="{6A2BD0D1-E17B-46B8-CC5E-48D49A78B2AA}"/>
          </ac:graphicFrameMkLst>
        </pc:graphicFrameChg>
        <pc:graphicFrameChg chg="mod">
          <ac:chgData name="Anthony Romero" userId="6b0392680c44eebc" providerId="LiveId" clId="{DEF369C7-D875-4089-BC3A-2A58E6AC2C22}" dt="2026-10-12T16:08:53.885" v="349"/>
          <ac:graphicFrameMkLst>
            <pc:docMk/>
            <pc:sldMk cId="0" sldId="257"/>
            <ac:graphicFrameMk id="13" creationId="{571BB64E-5196-A5F7-6D84-E98DE248BFB7}"/>
          </ac:graphicFrameMkLst>
        </pc:graphicFrameChg>
        <pc:graphicFrameChg chg="mod">
          <ac:chgData name="Anthony Romero" userId="6b0392680c44eebc" providerId="LiveId" clId="{DEF369C7-D875-4089-BC3A-2A58E6AC2C22}" dt="2026-10-12T16:08:53.849" v="329"/>
          <ac:graphicFrameMkLst>
            <pc:docMk/>
            <pc:sldMk cId="0" sldId="257"/>
            <ac:graphicFrameMk id="32" creationId="{6FC49C9A-CB49-5ABF-9209-A836E6031885}"/>
          </ac:graphicFrameMkLst>
        </pc:graphicFrameChg>
        <pc:graphicFrameChg chg="mod">
          <ac:chgData name="Anthony Romero" userId="6b0392680c44eebc" providerId="LiveId" clId="{DEF369C7-D875-4089-BC3A-2A58E6AC2C22}" dt="2026-10-12T16:08:53.849" v="330"/>
          <ac:graphicFrameMkLst>
            <pc:docMk/>
            <pc:sldMk cId="0" sldId="257"/>
            <ac:graphicFrameMk id="33" creationId="{61A78612-8151-B767-F3A1-057E5589B5DE}"/>
          </ac:graphicFrameMkLst>
        </pc:graphicFrameChg>
        <pc:graphicFrameChg chg="mod">
          <ac:chgData name="Anthony Romero" userId="6b0392680c44eebc" providerId="LiveId" clId="{DEF369C7-D875-4089-BC3A-2A58E6AC2C22}" dt="2026-10-12T16:08:53.855" v="331"/>
          <ac:graphicFrameMkLst>
            <pc:docMk/>
            <pc:sldMk cId="0" sldId="257"/>
            <ac:graphicFrameMk id="34" creationId="{88730AE5-C480-40F0-7296-3D6AA504981A}"/>
          </ac:graphicFrameMkLst>
        </pc:graphicFrameChg>
        <pc:graphicFrameChg chg="mod">
          <ac:chgData name="Anthony Romero" userId="6b0392680c44eebc" providerId="LiveId" clId="{DEF369C7-D875-4089-BC3A-2A58E6AC2C22}" dt="2026-10-12T16:08:53.855" v="332"/>
          <ac:graphicFrameMkLst>
            <pc:docMk/>
            <pc:sldMk cId="0" sldId="257"/>
            <ac:graphicFrameMk id="35" creationId="{5B9ADFCF-D002-5697-7CD9-F5E32802A315}"/>
          </ac:graphicFrameMkLst>
        </pc:graphicFrameChg>
        <pc:graphicFrameChg chg="mod">
          <ac:chgData name="Anthony Romero" userId="6b0392680c44eebc" providerId="LiveId" clId="{DEF369C7-D875-4089-BC3A-2A58E6AC2C22}" dt="2026-10-12T16:08:53.865" v="336"/>
          <ac:graphicFrameMkLst>
            <pc:docMk/>
            <pc:sldMk cId="0" sldId="257"/>
            <ac:graphicFrameMk id="36" creationId="{67C8F484-AEDF-2D3B-E2EA-3D228BB701E9}"/>
          </ac:graphicFrameMkLst>
        </pc:graphicFrameChg>
        <pc:graphicFrameChg chg="mod">
          <ac:chgData name="Anthony Romero" userId="6b0392680c44eebc" providerId="LiveId" clId="{DEF369C7-D875-4089-BC3A-2A58E6AC2C22}" dt="2026-10-12T16:08:53.865" v="337"/>
          <ac:graphicFrameMkLst>
            <pc:docMk/>
            <pc:sldMk cId="0" sldId="257"/>
            <ac:graphicFrameMk id="37" creationId="{298E73DE-3E31-CE07-6728-246DD61C8ED0}"/>
          </ac:graphicFrameMkLst>
        </pc:graphicFrameChg>
        <pc:graphicFrameChg chg="mod">
          <ac:chgData name="Anthony Romero" userId="6b0392680c44eebc" providerId="LiveId" clId="{DEF369C7-D875-4089-BC3A-2A58E6AC2C22}" dt="2026-10-12T16:08:53.865" v="338"/>
          <ac:graphicFrameMkLst>
            <pc:docMk/>
            <pc:sldMk cId="0" sldId="257"/>
            <ac:graphicFrameMk id="38" creationId="{10DB26C7-98B5-5707-87D4-721104577D2D}"/>
          </ac:graphicFrameMkLst>
        </pc:graphicFrameChg>
        <pc:graphicFrameChg chg="mod">
          <ac:chgData name="Anthony Romero" userId="6b0392680c44eebc" providerId="LiveId" clId="{DEF369C7-D875-4089-BC3A-2A58E6AC2C22}" dt="2026-10-12T16:08:53.871" v="339"/>
          <ac:graphicFrameMkLst>
            <pc:docMk/>
            <pc:sldMk cId="0" sldId="257"/>
            <ac:graphicFrameMk id="39" creationId="{DB181526-787C-8352-135F-1BD7ED5FCF2C}"/>
          </ac:graphicFrameMkLst>
        </pc:graphicFrameChg>
        <pc:graphicFrameChg chg="mod">
          <ac:chgData name="Anthony Romero" userId="6b0392680c44eebc" providerId="LiveId" clId="{DEF369C7-D875-4089-BC3A-2A58E6AC2C22}" dt="2026-10-12T16:08:53.873" v="340"/>
          <ac:graphicFrameMkLst>
            <pc:docMk/>
            <pc:sldMk cId="0" sldId="257"/>
            <ac:graphicFrameMk id="40" creationId="{0B00212E-9107-31FE-131F-672ACB7F3CD5}"/>
          </ac:graphicFrameMkLst>
        </pc:graphicFrameChg>
      </pc:sldChg>
      <pc:sldChg chg="modSp add mod">
        <pc:chgData name="Anthony Romero" userId="6b0392680c44eebc" providerId="LiveId" clId="{DEF369C7-D875-4089-BC3A-2A58E6AC2C22}" dt="2026-10-12T16:12:58.665" v="394" actId="1035"/>
        <pc:sldMkLst>
          <pc:docMk/>
          <pc:sldMk cId="900024511" sldId="258"/>
        </pc:sldMkLst>
        <pc:spChg chg="mod">
          <ac:chgData name="Anthony Romero" userId="6b0392680c44eebc" providerId="LiveId" clId="{DEF369C7-D875-4089-BC3A-2A58E6AC2C22}" dt="2026-10-12T16:12:38.750" v="389" actId="1035"/>
          <ac:spMkLst>
            <pc:docMk/>
            <pc:sldMk cId="900024511" sldId="258"/>
            <ac:spMk id="47" creationId="{5535D9A1-8993-43BA-862F-5DEC8555A2A6}"/>
          </ac:spMkLst>
        </pc:spChg>
        <pc:spChg chg="mod">
          <ac:chgData name="Anthony Romero" userId="6b0392680c44eebc" providerId="LiveId" clId="{DEF369C7-D875-4089-BC3A-2A58E6AC2C22}" dt="2026-10-12T16:12:58.665" v="394" actId="1035"/>
          <ac:spMkLst>
            <pc:docMk/>
            <pc:sldMk cId="900024511" sldId="258"/>
            <ac:spMk id="59" creationId="{9543FB97-C03F-7F61-E334-7FEC4FBB8A84}"/>
          </ac:spMkLst>
        </pc:spChg>
        <pc:spChg chg="mod">
          <ac:chgData name="Anthony Romero" userId="6b0392680c44eebc" providerId="LiveId" clId="{DEF369C7-D875-4089-BC3A-2A58E6AC2C22}" dt="2026-10-12T16:12:34.365" v="385" actId="6549"/>
          <ac:spMkLst>
            <pc:docMk/>
            <pc:sldMk cId="900024511" sldId="258"/>
            <ac:spMk id="62" creationId="{BB853890-88F3-D400-42A5-DB3434B97B86}"/>
          </ac:spMkLst>
        </pc:spChg>
        <pc:spChg chg="mod">
          <ac:chgData name="Anthony Romero" userId="6b0392680c44eebc" providerId="LiveId" clId="{DEF369C7-D875-4089-BC3A-2A58E6AC2C22}" dt="2026-10-12T16:12:12.691" v="373" actId="14100"/>
          <ac:spMkLst>
            <pc:docMk/>
            <pc:sldMk cId="900024511" sldId="258"/>
            <ac:spMk id="63" creationId="{D8C4A04E-CB0E-7057-9472-68EF8C580641}"/>
          </ac:spMkLst>
        </pc:spChg>
        <pc:spChg chg="mod">
          <ac:chgData name="Anthony Romero" userId="6b0392680c44eebc" providerId="LiveId" clId="{DEF369C7-D875-4089-BC3A-2A58E6AC2C22}" dt="2026-10-12T16:11:16.242" v="367" actId="14100"/>
          <ac:spMkLst>
            <pc:docMk/>
            <pc:sldMk cId="900024511" sldId="258"/>
            <ac:spMk id="138" creationId="{87AC246D-F792-9758-5CBB-37B6A2F42660}"/>
          </ac:spMkLst>
        </pc:spChg>
        <pc:graphicFrameChg chg="mod">
          <ac:chgData name="Anthony Romero" userId="6b0392680c44eebc" providerId="LiveId" clId="{DEF369C7-D875-4089-BC3A-2A58E6AC2C22}" dt="2026-10-12T16:11:42.088" v="369"/>
          <ac:graphicFrameMkLst>
            <pc:docMk/>
            <pc:sldMk cId="900024511" sldId="258"/>
            <ac:graphicFrameMk id="141" creationId="{04296DD6-8F37-612E-B2E3-9A7696AAE55C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6" name="Shape 12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1pPr>
    <a:lvl2pPr indent="2286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2pPr>
    <a:lvl3pPr indent="4572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3pPr>
    <a:lvl4pPr indent="6858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4pPr>
    <a:lvl5pPr indent="9144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5pPr>
    <a:lvl6pPr indent="11430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6pPr>
    <a:lvl7pPr indent="13716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7pPr>
    <a:lvl8pPr indent="16002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8pPr>
    <a:lvl9pPr indent="18288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9675" y="685800"/>
            <a:ext cx="44386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4725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9675" y="685800"/>
            <a:ext cx="44386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4512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364257" y="1918642"/>
            <a:ext cx="11241486" cy="3547071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64257" y="5561210"/>
            <a:ext cx="11241486" cy="1214191"/>
          </a:xfrm>
          <a:prstGeom prst="rect">
            <a:avLst/>
          </a:prstGeom>
        </p:spPr>
        <p:txBody>
          <a:bodyPr anchor="t"/>
          <a:lstStyle>
            <a:lvl1pPr marL="0" indent="0">
              <a:buSzTx/>
              <a:buNone/>
              <a:defRPr sz="2500">
                <a:solidFill>
                  <a:srgbClr val="628DB5"/>
                </a:solidFill>
              </a:defRPr>
            </a:lvl1pPr>
            <a:lvl2pPr marL="0" indent="228600">
              <a:buSzTx/>
              <a:buNone/>
              <a:defRPr sz="2500">
                <a:solidFill>
                  <a:srgbClr val="628DB5"/>
                </a:solidFill>
              </a:defRPr>
            </a:lvl2pPr>
            <a:lvl3pPr marL="0" indent="457200">
              <a:buSzTx/>
              <a:buNone/>
              <a:defRPr sz="2500">
                <a:solidFill>
                  <a:srgbClr val="628DB5"/>
                </a:solidFill>
              </a:defRPr>
            </a:lvl3pPr>
            <a:lvl4pPr marL="0" indent="685800">
              <a:buSzTx/>
              <a:buNone/>
              <a:defRPr sz="2500">
                <a:solidFill>
                  <a:srgbClr val="628DB5"/>
                </a:solidFill>
              </a:defRPr>
            </a:lvl4pPr>
            <a:lvl5pPr marL="0" indent="914400">
              <a:buSzTx/>
              <a:buNone/>
              <a:defRPr sz="2500">
                <a:solidFill>
                  <a:srgbClr val="628DB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>
            <a:spLocks noGrp="1"/>
          </p:cNvSpPr>
          <p:nvPr>
            <p:ph type="pic" idx="13"/>
          </p:nvPr>
        </p:nvSpPr>
        <p:spPr>
          <a:xfrm>
            <a:off x="1725786" y="840878"/>
            <a:ext cx="10504786" cy="6357443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1364257" y="7375673"/>
            <a:ext cx="11241486" cy="152797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64257" y="8958212"/>
            <a:ext cx="11241486" cy="1214191"/>
          </a:xfrm>
          <a:prstGeom prst="rect">
            <a:avLst/>
          </a:prstGeom>
        </p:spPr>
        <p:txBody>
          <a:bodyPr anchor="t"/>
          <a:lstStyle>
            <a:lvl1pPr marL="0" indent="0">
              <a:buSzTx/>
              <a:buNone/>
              <a:defRPr sz="2500">
                <a:solidFill>
                  <a:srgbClr val="628DB5"/>
                </a:solidFill>
              </a:defRPr>
            </a:lvl1pPr>
            <a:lvl2pPr marL="0" indent="228600">
              <a:buSzTx/>
              <a:buNone/>
              <a:defRPr sz="2500">
                <a:solidFill>
                  <a:srgbClr val="628DB5"/>
                </a:solidFill>
              </a:defRPr>
            </a:lvl2pPr>
            <a:lvl3pPr marL="0" indent="457200">
              <a:buSzTx/>
              <a:buNone/>
              <a:defRPr sz="2500">
                <a:solidFill>
                  <a:srgbClr val="628DB5"/>
                </a:solidFill>
              </a:defRPr>
            </a:lvl3pPr>
            <a:lvl4pPr marL="0" indent="685800">
              <a:buSzTx/>
              <a:buNone/>
              <a:defRPr sz="2500">
                <a:solidFill>
                  <a:srgbClr val="628DB5"/>
                </a:solidFill>
              </a:defRPr>
            </a:lvl4pPr>
            <a:lvl5pPr marL="0" indent="914400">
              <a:buSzTx/>
              <a:buNone/>
              <a:defRPr sz="2500">
                <a:solidFill>
                  <a:srgbClr val="628DB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790156" y="10090546"/>
            <a:ext cx="376045" cy="38854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1364257" y="3623964"/>
            <a:ext cx="11241486" cy="3547072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>
            <a:spLocks noGrp="1"/>
          </p:cNvSpPr>
          <p:nvPr>
            <p:ph type="pic" sz="half" idx="13"/>
          </p:nvPr>
        </p:nvSpPr>
        <p:spPr>
          <a:xfrm>
            <a:off x="7216923" y="840878"/>
            <a:ext cx="5729884" cy="884039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1023193" y="840878"/>
            <a:ext cx="5729884" cy="4283771"/>
          </a:xfrm>
          <a:prstGeom prst="rect">
            <a:avLst/>
          </a:prstGeom>
        </p:spPr>
        <p:txBody>
          <a:bodyPr anchor="b"/>
          <a:lstStyle>
            <a:lvl1pPr>
              <a:defRPr sz="3300"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023193" y="5274716"/>
            <a:ext cx="5729884" cy="4406554"/>
          </a:xfrm>
          <a:prstGeom prst="rect">
            <a:avLst/>
          </a:prstGeom>
        </p:spPr>
        <p:txBody>
          <a:bodyPr anchor="t"/>
          <a:lstStyle>
            <a:lvl1pPr marL="0" indent="0">
              <a:buSzTx/>
              <a:buNone/>
              <a:defRPr sz="2500">
                <a:solidFill>
                  <a:srgbClr val="628DB5"/>
                </a:solidFill>
              </a:defRPr>
            </a:lvl1pPr>
            <a:lvl2pPr marL="0" indent="228600">
              <a:buSzTx/>
              <a:buNone/>
              <a:defRPr sz="2500">
                <a:solidFill>
                  <a:srgbClr val="628DB5"/>
                </a:solidFill>
              </a:defRPr>
            </a:lvl2pPr>
            <a:lvl3pPr marL="0" indent="457200">
              <a:buSzTx/>
              <a:buNone/>
              <a:defRPr sz="2500">
                <a:solidFill>
                  <a:srgbClr val="628DB5"/>
                </a:solidFill>
              </a:defRPr>
            </a:lvl3pPr>
            <a:lvl4pPr marL="0" indent="685800">
              <a:buSzTx/>
              <a:buNone/>
              <a:defRPr sz="2500">
                <a:solidFill>
                  <a:srgbClr val="628DB5"/>
                </a:solidFill>
              </a:defRPr>
            </a:lvl4pPr>
            <a:lvl5pPr marL="0" indent="914400">
              <a:buSzTx/>
              <a:buNone/>
              <a:defRPr sz="2500">
                <a:solidFill>
                  <a:srgbClr val="628DB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13"/>
          </p:nvPr>
        </p:nvSpPr>
        <p:spPr>
          <a:xfrm>
            <a:off x="7216923" y="2955478"/>
            <a:ext cx="5729884" cy="675307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23193" y="2955478"/>
            <a:ext cx="5729884" cy="6753077"/>
          </a:xfrm>
          <a:prstGeom prst="rect">
            <a:avLst/>
          </a:prstGeom>
        </p:spPr>
        <p:txBody>
          <a:bodyPr/>
          <a:lstStyle>
            <a:lvl1pPr marL="146957" indent="-146957">
              <a:defRPr b="1"/>
            </a:lvl1pPr>
            <a:lvl2pPr marL="489857" indent="-146957">
              <a:defRPr b="1"/>
            </a:lvl2pPr>
            <a:lvl3pPr marL="832757" indent="-146957">
              <a:defRPr b="1"/>
            </a:lvl3pPr>
            <a:lvl4pPr marL="1175657" indent="-146957">
              <a:defRPr b="1"/>
            </a:lvl4pPr>
            <a:lvl5pPr marL="1518557" indent="-146957">
              <a:defRPr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1023193" y="1523007"/>
            <a:ext cx="11923614" cy="7748986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half" idx="13"/>
          </p:nvPr>
        </p:nvSpPr>
        <p:spPr>
          <a:xfrm>
            <a:off x="1023193" y="1113730"/>
            <a:ext cx="5729884" cy="856754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Image"/>
          <p:cNvSpPr>
            <a:spLocks noGrp="1"/>
          </p:cNvSpPr>
          <p:nvPr>
            <p:ph type="pic" sz="quarter" idx="14"/>
          </p:nvPr>
        </p:nvSpPr>
        <p:spPr>
          <a:xfrm>
            <a:off x="7216923" y="5629423"/>
            <a:ext cx="5729884" cy="405184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Image"/>
          <p:cNvSpPr>
            <a:spLocks noGrp="1"/>
          </p:cNvSpPr>
          <p:nvPr>
            <p:ph type="pic" sz="quarter" idx="15"/>
          </p:nvPr>
        </p:nvSpPr>
        <p:spPr>
          <a:xfrm>
            <a:off x="7223603" y="1113730"/>
            <a:ext cx="5729884" cy="405184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>
            <a:spLocks noGrp="1"/>
          </p:cNvSpPr>
          <p:nvPr>
            <p:ph type="body" sz="quarter" idx="13"/>
          </p:nvPr>
        </p:nvSpPr>
        <p:spPr>
          <a:xfrm>
            <a:off x="1364257" y="6993681"/>
            <a:ext cx="11241486" cy="50800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r">
              <a:lnSpc>
                <a:spcPct val="90000"/>
              </a:lnSpc>
              <a:buSzTx/>
              <a:buNone/>
              <a:defRPr sz="900"/>
            </a:lvl1pPr>
          </a:lstStyle>
          <a:p>
            <a:r>
              <a:t>–Johnny Appleseed</a:t>
            </a:r>
          </a:p>
        </p:txBody>
      </p:sp>
      <p:sp>
        <p:nvSpPr>
          <p:cNvPr id="94" name="“Type a quote here.”"/>
          <p:cNvSpPr>
            <a:spLocks noGrp="1"/>
          </p:cNvSpPr>
          <p:nvPr>
            <p:ph type="body" sz="quarter" idx="14"/>
          </p:nvPr>
        </p:nvSpPr>
        <p:spPr>
          <a:xfrm>
            <a:off x="1364257" y="4742656"/>
            <a:ext cx="11241486" cy="7367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SzTx/>
              <a:buNone/>
            </a:lvl1pPr>
          </a:lstStyle>
          <a:p>
            <a:r>
              <a:t>“Type a quote here.” 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13"/>
          </p:nvPr>
        </p:nvSpPr>
        <p:spPr>
          <a:xfrm>
            <a:off x="0" y="158750"/>
            <a:ext cx="13964218" cy="10477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18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123472" indent="-123472">
              <a:defRPr sz="1000"/>
            </a:lvl1pPr>
            <a:lvl2pPr marL="567972" indent="-123472">
              <a:defRPr sz="1000"/>
            </a:lvl2pPr>
            <a:lvl3pPr marL="1012472" indent="-123472">
              <a:defRPr sz="1000"/>
            </a:lvl3pPr>
            <a:lvl4pPr marL="1456972" indent="-123472">
              <a:defRPr sz="1000"/>
            </a:lvl4pPr>
            <a:lvl5pPr marL="1901472" indent="-123472">
              <a:defRPr sz="10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023193" y="636240"/>
            <a:ext cx="11923614" cy="2319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4570" tIns="54570" rIns="54570" bIns="5457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023193" y="2955478"/>
            <a:ext cx="11923614" cy="6753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4570" tIns="54570" rIns="54570" bIns="5457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790156" y="10097368"/>
            <a:ext cx="376045" cy="388541"/>
          </a:xfrm>
          <a:prstGeom prst="rect">
            <a:avLst/>
          </a:prstGeom>
          <a:ln w="12700">
            <a:miter lim="400000"/>
          </a:ln>
        </p:spPr>
        <p:txBody>
          <a:bodyPr wrap="none" lIns="54570" tIns="54570" rIns="54570" bIns="54570">
            <a:spAutoFit/>
          </a:bodyPr>
          <a:lstStyle>
            <a:lvl1pPr algn="ctr">
              <a:spcBef>
                <a:spcPts val="0"/>
              </a:spcBef>
              <a:defRPr sz="1800" b="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 spd="med"/>
  <p:txStyles>
    <p:titleStyle>
      <a:lvl1pPr marL="0" marR="0" indent="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1pPr>
      <a:lvl2pPr marL="0" marR="0" indent="2286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2pPr>
      <a:lvl3pPr marL="0" marR="0" indent="4572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3pPr>
      <a:lvl4pPr marL="0" marR="0" indent="6858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4pPr>
      <a:lvl5pPr marL="0" marR="0" indent="9144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5pPr>
      <a:lvl6pPr marL="0" marR="0" indent="11430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6pPr>
      <a:lvl7pPr marL="0" marR="0" indent="13716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7pPr>
      <a:lvl8pPr marL="0" marR="0" indent="16002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8pPr>
      <a:lvl9pPr marL="0" marR="0" indent="18288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9pPr>
    </p:titleStyle>
    <p:bodyStyle>
      <a:lvl1pPr marL="148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1pPr>
      <a:lvl2pPr marL="592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2pPr>
      <a:lvl3pPr marL="1037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3pPr>
      <a:lvl4pPr marL="1481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4pPr>
      <a:lvl5pPr marL="1926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5pPr>
      <a:lvl6pPr marL="2370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6pPr>
      <a:lvl7pPr marL="2815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7pPr>
      <a:lvl8pPr marL="3259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8pPr>
      <a:lvl9pPr marL="3704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hyperlink" Target="http://creativecommons.org/licenses/by/4.0/" TargetMode="Externa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cran.r-project.org/web/packages/srvyr/vignettes/srvyr-database.html" TargetMode="External"/><Relationship Id="rId5" Type="http://schemas.openxmlformats.org/officeDocument/2006/relationships/image" Target="../media/image2.png"/><Relationship Id="rId4" Type="http://schemas.openxmlformats.org/officeDocument/2006/relationships/hyperlink" Target="http://gdfe.co/srvyr/" TargetMode="External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dplyr.tidyverse.org/articles/colwise.html" TargetMode="External"/><Relationship Id="rId3" Type="http://schemas.openxmlformats.org/officeDocument/2006/relationships/image" Target="../media/image5.png"/><Relationship Id="rId7" Type="http://schemas.openxmlformats.org/officeDocument/2006/relationships/hyperlink" Target="http://fortawesome.github.io/Font-Awesome/get-started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5" Type="http://schemas.openxmlformats.org/officeDocument/2006/relationships/hyperlink" Target="http://gdfe.co/srvyr/" TargetMode="External"/><Relationship Id="rId4" Type="http://schemas.openxmlformats.org/officeDocument/2006/relationships/hyperlink" Target="http://creativecommons.org/licenses/by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Line"/>
          <p:cNvSpPr/>
          <p:nvPr/>
        </p:nvSpPr>
        <p:spPr>
          <a:xfrm>
            <a:off x="279400" y="10337513"/>
            <a:ext cx="13398500" cy="1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49" name="Basics"/>
          <p:cNvSpPr txBox="1"/>
          <p:nvPr/>
        </p:nvSpPr>
        <p:spPr>
          <a:xfrm>
            <a:off x="266700" y="965200"/>
            <a:ext cx="4456306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s-ES">
                <a:solidFill>
                  <a:srgbClr val="FE7900"/>
                </a:solidFill>
              </a:rPr>
              <a:t>Describir el diseño de la encuesta</a:t>
            </a:r>
            <a:endParaRPr>
              <a:solidFill>
                <a:srgbClr val="FE7900"/>
              </a:solidFill>
            </a:endParaRPr>
          </a:p>
        </p:txBody>
      </p:sp>
      <p:sp>
        <p:nvSpPr>
          <p:cNvPr id="150" name="Line"/>
          <p:cNvSpPr/>
          <p:nvPr/>
        </p:nvSpPr>
        <p:spPr>
          <a:xfrm>
            <a:off x="279400" y="919344"/>
            <a:ext cx="4634247" cy="1"/>
          </a:xfrm>
          <a:prstGeom prst="line">
            <a:avLst/>
          </a:prstGeom>
          <a:ln w="3175">
            <a:solidFill>
              <a:srgbClr val="FFF2C5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51" name="Four Column Layout : : CHEAT SHEET"/>
          <p:cNvSpPr txBox="1">
            <a:spLocks noGrp="1"/>
          </p:cNvSpPr>
          <p:nvPr>
            <p:ph type="title"/>
          </p:nvPr>
        </p:nvSpPr>
        <p:spPr>
          <a:xfrm>
            <a:off x="275721" y="292597"/>
            <a:ext cx="11987261" cy="596671"/>
          </a:xfrm>
          <a:prstGeom prst="rect">
            <a:avLst/>
          </a:prstGeom>
        </p:spPr>
        <p:txBody>
          <a:bodyPr lIns="0" tIns="0" rIns="0" bIns="0" anchor="t">
            <a:normAutofit fontScale="90000"/>
          </a:bodyPr>
          <a:lstStyle/>
          <a:p>
            <a:r>
              <a:rPr lang="es-ES"/>
              <a:t>Análisis de encuestas con </a:t>
            </a:r>
            <a:r>
              <a:rPr lang="en-US" err="1"/>
              <a:t>srvyr</a:t>
            </a:r>
            <a:r>
              <a:rPr lang="en-US"/>
              <a:t> </a:t>
            </a:r>
            <a:r>
              <a:t>: : </a:t>
            </a:r>
            <a:r>
              <a:rPr sz="3300">
                <a:latin typeface="Source Sans Pro Semibold"/>
                <a:ea typeface="Source Sans Pro Semibold"/>
                <a:cs typeface="Source Sans Pro Semibold"/>
                <a:sym typeface="Source Sans Pro Semibold"/>
              </a:rPr>
              <a:t>CHEAT SHEET</a:t>
            </a:r>
            <a:r>
              <a:rPr lang="es-ES" sz="3300">
                <a:latin typeface="Source Sans Pro Semibold"/>
                <a:ea typeface="Source Sans Pro Semibold"/>
                <a:cs typeface="Source Sans Pro Semibold"/>
                <a:sym typeface="Source Sans Pro Semibold"/>
              </a:rPr>
              <a:t> (1 de 2)</a:t>
            </a:r>
            <a:r>
              <a:t> </a:t>
            </a:r>
          </a:p>
        </p:txBody>
      </p:sp>
      <p:sp>
        <p:nvSpPr>
          <p:cNvPr id="152" name="RStudio® is a trademark of RStudio, Inc.  •  CC BY SA Your Name •  your@email.com  •  844-448-1212 • your.website.com •  Learn more at webpage or vignette   •  package version  0.5.0 •  Updated: 2017-01"/>
          <p:cNvSpPr txBox="1"/>
          <p:nvPr/>
        </p:nvSpPr>
        <p:spPr>
          <a:xfrm>
            <a:off x="2353572" y="10467186"/>
            <a:ext cx="11322666" cy="234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4570" tIns="54570" rIns="54570" bIns="54570" anchor="ctr">
            <a:sp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defRPr sz="900" b="0">
                <a:solidFill>
                  <a:srgbClr val="000000"/>
                </a:solidFill>
              </a:defRPr>
            </a:pPr>
            <a:r>
              <a:rPr lang="en-US">
                <a:hlinkClick r:id="rId3"/>
              </a:rPr>
              <a:t>CC</a:t>
            </a:r>
            <a:r>
              <a:rPr lang="en-US"/>
              <a:t> by SA Greg Freedman Ellis</a:t>
            </a:r>
            <a:r>
              <a:t> </a:t>
            </a:r>
            <a:r>
              <a:rPr lang="es-ES"/>
              <a:t> y Ben Schneider •  Más información en </a:t>
            </a:r>
            <a:r>
              <a:rPr lang="en-US" b="1">
                <a:hlinkClick r:id="rId4"/>
              </a:rPr>
              <a:t>http://gdfe.co/srvyr/</a:t>
            </a:r>
            <a:r>
              <a:rPr lang="en-US" b="1"/>
              <a:t> </a:t>
            </a:r>
            <a:r>
              <a:rPr lang="es-ES"/>
              <a:t>•  versión del paquete  </a:t>
            </a:r>
            <a:r>
              <a:rPr lang="en-US"/>
              <a:t>1</a:t>
            </a:r>
            <a:r>
              <a:t>.</a:t>
            </a:r>
            <a:r>
              <a:rPr lang="en-US"/>
              <a:t>3</a:t>
            </a:r>
            <a:r>
              <a:rPr lang="es-ES"/>
              <a:t>.0 •  Actualizado: 20</a:t>
            </a:r>
            <a:r>
              <a:rPr lang="en-US"/>
              <a:t>25</a:t>
            </a:r>
            <a:r>
              <a:rPr lang="es-ES"/>
              <a:t>-01  •  Traducido por Anthony Romero-Cerdán  •  anthonyromero.netlify.app</a:t>
            </a:r>
          </a:p>
        </p:txBody>
      </p:sp>
      <p:sp>
        <p:nvSpPr>
          <p:cNvPr id="153" name="Line"/>
          <p:cNvSpPr/>
          <p:nvPr/>
        </p:nvSpPr>
        <p:spPr>
          <a:xfrm flipV="1">
            <a:off x="279400" y="868378"/>
            <a:ext cx="11988800" cy="0"/>
          </a:xfrm>
          <a:prstGeom prst="line">
            <a:avLst/>
          </a:prstGeom>
          <a:ln w="3175">
            <a:solidFill>
              <a:srgbClr val="767C85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55" name="Thank you for making a new cheatsheet for R! These cheatsheets have an important job:"/>
          <p:cNvSpPr txBox="1"/>
          <p:nvPr/>
        </p:nvSpPr>
        <p:spPr>
          <a:xfrm>
            <a:off x="279400" y="1272379"/>
            <a:ext cx="9474200" cy="3158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</a:defRPr>
            </a:pPr>
            <a:r>
              <a:rPr lang="es-ES" sz="1100" b="0"/>
              <a:t>Para analizar correctamente datos de encuestas, crea un </a:t>
            </a:r>
            <a:r>
              <a:rPr lang="es-ES" sz="1100" b="1"/>
              <a:t>objeto de diseño de encuesta. </a:t>
            </a:r>
            <a:r>
              <a:rPr lang="es-ES" sz="1100" b="0"/>
              <a:t>Este objeto contiene los datos, los pesos y otros metadatos usados en el análisis.</a:t>
            </a:r>
            <a:endParaRPr sz="1100" b="0"/>
          </a:p>
        </p:txBody>
      </p:sp>
      <p:sp>
        <p:nvSpPr>
          <p:cNvPr id="156" name="Cheatsheets make it easy for R users…"/>
          <p:cNvSpPr txBox="1"/>
          <p:nvPr/>
        </p:nvSpPr>
        <p:spPr>
          <a:xfrm>
            <a:off x="279400" y="1601750"/>
            <a:ext cx="9474200" cy="1355697"/>
          </a:xfrm>
          <a:prstGeom prst="rect">
            <a:avLst/>
          </a:prstGeom>
          <a:ln w="12700">
            <a:solidFill>
              <a:schemeClr val="bg1">
                <a:lumMod val="75000"/>
              </a:schemeClr>
            </a:solidFill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12700" tIns="12700" rIns="12700" bIns="12700"/>
          <a:lstStyle/>
          <a:p>
            <a:pPr>
              <a:lnSpc>
                <a:spcPct val="90000"/>
              </a:lnSpc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r>
              <a:rPr lang="en-US">
                <a:latin typeface="Consolas" panose="020B0609020204030204" pitchFamily="49" charset="0"/>
              </a:rPr>
              <a:t> design &lt;- </a:t>
            </a:r>
            <a:r>
              <a:rPr lang="en-US" err="1">
                <a:latin typeface="Consolas" panose="020B0609020204030204" pitchFamily="49" charset="0"/>
              </a:rPr>
              <a:t>as_survey_design</a:t>
            </a:r>
            <a:r>
              <a:rPr lang="en-US"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90000"/>
              </a:lnSpc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r>
              <a:rPr lang="en-US">
                <a:latin typeface="Consolas" panose="020B0609020204030204" pitchFamily="49" charset="0"/>
              </a:rPr>
              <a:t>   </a:t>
            </a:r>
            <a:r>
              <a:rPr lang="en-US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.data      </a:t>
            </a:r>
            <a:r>
              <a:rPr lang="en-US">
                <a:latin typeface="Consolas" panose="020B0609020204030204" pitchFamily="49" charset="0"/>
              </a:rPr>
              <a:t>= </a:t>
            </a:r>
            <a:r>
              <a:rPr lang="en-US" err="1">
                <a:latin typeface="Consolas" panose="020B0609020204030204" pitchFamily="49" charset="0"/>
              </a:rPr>
              <a:t>my_data_frame</a:t>
            </a:r>
            <a:r>
              <a:rPr lang="en-US"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90000"/>
              </a:lnSpc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r>
              <a:rPr lang="en-US">
                <a:latin typeface="Consolas" panose="020B0609020204030204" pitchFamily="49" charset="0"/>
              </a:rPr>
              <a:t>   </a:t>
            </a:r>
            <a:r>
              <a:rPr lang="en-US">
                <a:solidFill>
                  <a:srgbClr val="002060"/>
                </a:solidFill>
                <a:latin typeface="Consolas" panose="020B0609020204030204" pitchFamily="49" charset="0"/>
              </a:rPr>
              <a:t>ids</a:t>
            </a:r>
            <a:r>
              <a:rPr lang="en-US">
                <a:latin typeface="Consolas" panose="020B0609020204030204" pitchFamily="49" charset="0"/>
              </a:rPr>
              <a:t>        = _, (Requerido)</a:t>
            </a:r>
          </a:p>
          <a:p>
            <a:pPr>
              <a:lnSpc>
                <a:spcPct val="90000"/>
              </a:lnSpc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r>
              <a:rPr lang="en-US">
                <a:latin typeface="Consolas" panose="020B0609020204030204" pitchFamily="49" charset="0"/>
              </a:rPr>
              <a:t>   </a:t>
            </a:r>
            <a:r>
              <a:rPr lang="en-US">
                <a:solidFill>
                  <a:srgbClr val="002060"/>
                </a:solidFill>
                <a:latin typeface="Consolas" panose="020B0609020204030204" pitchFamily="49" charset="0"/>
              </a:rPr>
              <a:t>strata</a:t>
            </a:r>
            <a:r>
              <a:rPr lang="en-US">
                <a:latin typeface="Consolas" panose="020B0609020204030204" pitchFamily="49" charset="0"/>
              </a:rPr>
              <a:t>     = _,  (Opcional)</a:t>
            </a:r>
          </a:p>
          <a:p>
            <a:pPr>
              <a:lnSpc>
                <a:spcPct val="90000"/>
              </a:lnSpc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r>
              <a:rPr lang="en-US">
                <a:latin typeface="Consolas" panose="020B0609020204030204" pitchFamily="49" charset="0"/>
              </a:rPr>
              <a:t>   </a:t>
            </a:r>
            <a:r>
              <a:rPr lang="en-US" err="1">
                <a:solidFill>
                  <a:srgbClr val="002060"/>
                </a:solidFill>
                <a:latin typeface="Consolas" panose="020B0609020204030204" pitchFamily="49" charset="0"/>
              </a:rPr>
              <a:t>fpc</a:t>
            </a:r>
            <a:r>
              <a:rPr lang="en-US">
                <a:latin typeface="Consolas" panose="020B0609020204030204" pitchFamily="49" charset="0"/>
              </a:rPr>
              <a:t>        = _,  (Opcional)</a:t>
            </a:r>
          </a:p>
          <a:p>
            <a:pPr>
              <a:lnSpc>
                <a:spcPct val="90000"/>
              </a:lnSpc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r>
              <a:rPr lang="en-US">
                <a:latin typeface="Consolas" panose="020B0609020204030204" pitchFamily="49" charset="0"/>
              </a:rPr>
              <a:t>   </a:t>
            </a:r>
            <a:r>
              <a:rPr lang="en-US">
                <a:solidFill>
                  <a:srgbClr val="002060"/>
                </a:solidFill>
                <a:latin typeface="Consolas" panose="020B0609020204030204" pitchFamily="49" charset="0"/>
              </a:rPr>
              <a:t>probs</a:t>
            </a:r>
            <a:r>
              <a:rPr lang="en-US">
                <a:latin typeface="Consolas" panose="020B0609020204030204" pitchFamily="49" charset="0"/>
              </a:rPr>
              <a:t>      = _,  (Opcional)</a:t>
            </a:r>
          </a:p>
          <a:p>
            <a:pPr>
              <a:lnSpc>
                <a:spcPct val="90000"/>
              </a:lnSpc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r>
              <a:rPr lang="en-US">
                <a:latin typeface="Consolas" panose="020B0609020204030204" pitchFamily="49" charset="0"/>
              </a:rPr>
              <a:t>   </a:t>
            </a:r>
            <a:r>
              <a:rPr lang="en-US">
                <a:solidFill>
                  <a:srgbClr val="002060"/>
                </a:solidFill>
                <a:latin typeface="Consolas" panose="020B0609020204030204" pitchFamily="49" charset="0"/>
              </a:rPr>
              <a:t>weights</a:t>
            </a:r>
            <a:r>
              <a:rPr lang="en-US">
                <a:latin typeface="Consolas" panose="020B0609020204030204" pitchFamily="49" charset="0"/>
              </a:rPr>
              <a:t>    = _,  (</a:t>
            </a:r>
            <a:r>
              <a:rPr lang="en-US" err="1">
                <a:latin typeface="Consolas" panose="020B0609020204030204" pitchFamily="49" charset="0"/>
              </a:rPr>
              <a:t>Opcional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90000"/>
              </a:lnSpc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r>
              <a:rPr lang="en-US">
                <a:latin typeface="Consolas" panose="020B0609020204030204" pitchFamily="49" charset="0"/>
              </a:rPr>
              <a:t> )</a:t>
            </a:r>
            <a:endParaRPr>
              <a:latin typeface="Consolas" panose="020B0609020204030204" pitchFamily="49" charset="0"/>
            </a:endParaRPr>
          </a:p>
        </p:txBody>
      </p:sp>
      <p:sp>
        <p:nvSpPr>
          <p:cNvPr id="160" name="Use a layout that flows and makes it easy to zero in on specific topics."/>
          <p:cNvSpPr txBox="1"/>
          <p:nvPr/>
        </p:nvSpPr>
        <p:spPr>
          <a:xfrm>
            <a:off x="2806700" y="1628472"/>
            <a:ext cx="5733872" cy="12128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endParaRPr lang="en-US">
              <a:solidFill>
                <a:srgbClr val="002060"/>
              </a:solidFill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endParaRPr lang="en-US" b="1">
              <a:solidFill>
                <a:srgbClr val="002060"/>
              </a:solidFill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r>
              <a:rPr lang="en-US">
                <a:solidFill>
                  <a:srgbClr val="002060"/>
                </a:solidFill>
              </a:rPr>
              <a:t> - </a:t>
            </a:r>
            <a:r>
              <a:rPr lang="es-ES"/>
              <a:t>Variable(s) que identifican las </a:t>
            </a:r>
            <a:r>
              <a:rPr lang="es-ES" b="1"/>
              <a:t>unidades de muestreo </a:t>
            </a:r>
            <a:r>
              <a:rPr lang="es-ES" b="0"/>
              <a:t>(o “conglomerados”)</a:t>
            </a:r>
            <a:endParaRPr lang="en-US"/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r>
              <a:rPr lang="es-ES"/>
              <a:t> - Variable(s) que identifican los </a:t>
            </a:r>
            <a:r>
              <a:rPr lang="es-ES" b="1"/>
              <a:t>estratos de muestreo </a:t>
            </a:r>
            <a:endParaRPr lang="en-US"/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r>
              <a:rPr lang="en-US">
                <a:solidFill>
                  <a:srgbClr val="002060"/>
                </a:solidFill>
              </a:rPr>
              <a:t> - </a:t>
            </a:r>
            <a:r>
              <a:rPr lang="es-ES"/>
              <a:t>Variable(s) con los </a:t>
            </a:r>
            <a:r>
              <a:rPr lang="es-ES" b="1"/>
              <a:t>tamaños poblacionales </a:t>
            </a:r>
            <a:r>
              <a:rPr lang="es-ES" b="0"/>
              <a:t>o</a:t>
            </a:r>
            <a:r>
              <a:rPr lang="en-US"/>
              <a:t> </a:t>
            </a:r>
            <a:r>
              <a:rPr lang="es-ES" b="1"/>
              <a:t>fracciones de muestreo </a:t>
            </a:r>
            <a:r>
              <a:rPr lang="es-ES"/>
              <a:t>de cada estrato.</a:t>
            </a: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r>
              <a:rPr lang="es-ES" b="0"/>
              <a:t> - Variable(s) con las </a:t>
            </a:r>
            <a:r>
              <a:rPr lang="es-ES" b="1"/>
              <a:t>probabilidades de selección</a:t>
            </a:r>
            <a:r>
              <a:rPr lang="es-ES" b="0"/>
              <a:t> de cada unidad de muestreo</a:t>
            </a: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r>
              <a:rPr lang="es-ES" b="0"/>
              <a:t> - Variable con el </a:t>
            </a:r>
            <a:r>
              <a:rPr lang="es-ES" b="1"/>
              <a:t>peso muestral</a:t>
            </a:r>
            <a:r>
              <a:rPr lang="es-ES" b="0"/>
              <a:t> de cada observación de los datos</a:t>
            </a:r>
            <a:endParaRPr lang="en-US"/>
          </a:p>
        </p:txBody>
      </p:sp>
      <p:sp>
        <p:nvSpPr>
          <p:cNvPr id="188" name="Line"/>
          <p:cNvSpPr/>
          <p:nvPr/>
        </p:nvSpPr>
        <p:spPr>
          <a:xfrm>
            <a:off x="279400" y="3219438"/>
            <a:ext cx="9474200" cy="901"/>
          </a:xfrm>
          <a:prstGeom prst="line">
            <a:avLst/>
          </a:prstGeom>
          <a:ln w="3175">
            <a:solidFill>
              <a:srgbClr val="767C85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lang="en-US"/>
          </a:p>
        </p:txBody>
      </p:sp>
      <p:sp>
        <p:nvSpPr>
          <p:cNvPr id="191" name="Logistics"/>
          <p:cNvSpPr txBox="1"/>
          <p:nvPr/>
        </p:nvSpPr>
        <p:spPr>
          <a:xfrm>
            <a:off x="9893300" y="965200"/>
            <a:ext cx="2414122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s-ES">
                <a:solidFill>
                  <a:srgbClr val="FE7900"/>
                </a:solidFill>
              </a:rPr>
              <a:t>Pesos replicados</a:t>
            </a:r>
            <a:endParaRPr>
              <a:solidFill>
                <a:srgbClr val="FE7900"/>
              </a:solidFill>
            </a:endParaRPr>
          </a:p>
        </p:txBody>
      </p:sp>
      <p:sp>
        <p:nvSpPr>
          <p:cNvPr id="230" name="I make my cheatsheets in Apple Keynote, and not latex or R Markdown, because presentation software makes it much easier to tweak the visual appearance of a document"/>
          <p:cNvSpPr txBox="1"/>
          <p:nvPr/>
        </p:nvSpPr>
        <p:spPr>
          <a:xfrm>
            <a:off x="9851390" y="1280047"/>
            <a:ext cx="3394710" cy="608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54570" tIns="54570" rIns="54570" bIns="54570" anchor="ctr">
            <a:spAutoFit/>
          </a:bodyPr>
          <a:lstStyle/>
          <a:p>
            <a:pPr algn="just"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</a:defRPr>
            </a:pPr>
            <a:r>
              <a:rPr lang="es-ES"/>
              <a:t>Como alternativa al objeto de diseño de encuesta, puedes crear un </a:t>
            </a:r>
            <a:r>
              <a:rPr lang="es-ES" b="1"/>
              <a:t>objeto de diseño con réplicas</a:t>
            </a:r>
            <a:r>
              <a:rPr lang="es-ES" b="0"/>
              <a:t> con los </a:t>
            </a:r>
            <a:r>
              <a:rPr lang="es-ES" b="1"/>
              <a:t>pesos replicados</a:t>
            </a:r>
            <a:r>
              <a:rPr lang="en-US" i="1"/>
              <a:t> </a:t>
            </a:r>
            <a:r>
              <a:rPr lang="es-ES"/>
              <a:t>de los datos.</a:t>
            </a:r>
            <a:endParaRPr/>
          </a:p>
        </p:txBody>
      </p:sp>
      <p:sp>
        <p:nvSpPr>
          <p:cNvPr id="8" name="Select multiple elements by holding down shift and then selecting each. Click on a selected element before letting go of shift to unselect it.…">
            <a:extLst>
              <a:ext uri="{FF2B5EF4-FFF2-40B4-BE49-F238E27FC236}">
                <a16:creationId xmlns:a16="http://schemas.microsoft.com/office/drawing/2014/main" id="{FD6F3253-2258-82A8-37AE-06F2B7793ABF}"/>
              </a:ext>
            </a:extLst>
          </p:cNvPr>
          <p:cNvSpPr txBox="1"/>
          <p:nvPr/>
        </p:nvSpPr>
        <p:spPr>
          <a:xfrm>
            <a:off x="224790" y="6883400"/>
            <a:ext cx="3014448" cy="190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54570" tIns="54570" rIns="54570" bIns="54570" anchor="b">
            <a:spAutoFit/>
          </a:bodyPr>
          <a:lstStyle/>
          <a:p>
            <a:pPr marL="114300" indent="-114300" algn="just">
              <a:lnSpc>
                <a:spcPct val="90000"/>
              </a:lnSpc>
              <a:spcBef>
                <a:spcPts val="500"/>
              </a:spcBef>
              <a:buSzPct val="100000"/>
              <a:buChar char="•"/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s-ES" b="0"/>
              <a:t>Si cada observación de los datos es su propia unidad de muestreo, usa </a:t>
            </a:r>
            <a:r>
              <a:rPr lang="en-US">
                <a:solidFill>
                  <a:srgbClr val="002060"/>
                </a:solidFill>
                <a:latin typeface="Consolas" panose="020B0609020204030204" pitchFamily="49" charset="0"/>
              </a:rPr>
              <a:t>ids = NULL</a:t>
            </a:r>
          </a:p>
          <a:p>
            <a:pPr marL="114300" indent="-114300" algn="just">
              <a:lnSpc>
                <a:spcPct val="90000"/>
              </a:lnSpc>
              <a:spcBef>
                <a:spcPts val="500"/>
              </a:spcBef>
              <a:buSzPct val="100000"/>
              <a:buFontTx/>
              <a:buChar char="•"/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s-ES"/>
              <a:t>Si analizas solo un subconjunto de los datos, crea primero el objeto de diseño con </a:t>
            </a:r>
            <a:r>
              <a:rPr lang="es-ES" b="1"/>
              <a:t>TODOS</a:t>
            </a:r>
            <a:r>
              <a:rPr lang="es-ES"/>
              <a:t> los datos y </a:t>
            </a:r>
            <a:r>
              <a:rPr lang="es-ES" i="1"/>
              <a:t>luego</a:t>
            </a:r>
            <a:r>
              <a:rPr lang="es-ES"/>
              <a:t> filtra el objeto de diseño con </a:t>
            </a:r>
            <a:r>
              <a:rPr lang="en-US">
                <a:latin typeface="Consolas" panose="020B0609020204030204" pitchFamily="49" charset="0"/>
              </a:rPr>
              <a:t>filter()</a:t>
            </a:r>
            <a:endParaRPr lang="en-US" b="0"/>
          </a:p>
          <a:p>
            <a:pPr marL="114300" indent="-114300" algn="just">
              <a:lnSpc>
                <a:spcPct val="90000"/>
              </a:lnSpc>
              <a:spcBef>
                <a:spcPts val="500"/>
              </a:spcBef>
              <a:buSzPct val="100000"/>
              <a:buChar char="•"/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s-ES" b="0"/>
              <a:t>Si no se usa el argumento </a:t>
            </a:r>
            <a:r>
              <a:rPr lang="es-ES" b="1">
                <a:solidFill>
                  <a:srgbClr val="002060"/>
                </a:solidFill>
              </a:rPr>
              <a:t>weights</a:t>
            </a:r>
            <a:r>
              <a:rPr lang="es-ES" b="0"/>
              <a:t>, los pesos se crean automáticamente a partir del argumento </a:t>
            </a:r>
            <a:r>
              <a:rPr lang="en-US" b="1">
                <a:solidFill>
                  <a:srgbClr val="002060"/>
                </a:solidFill>
              </a:rPr>
              <a:t>probs </a:t>
            </a:r>
            <a:r>
              <a:rPr lang="es-ES" b="0"/>
              <a:t>(si existe) o del argumento </a:t>
            </a:r>
            <a:r>
              <a:rPr lang="en-US" b="1" err="1">
                <a:solidFill>
                  <a:srgbClr val="002060"/>
                </a:solidFill>
              </a:rPr>
              <a:t>fpc</a:t>
            </a:r>
            <a:r>
              <a:rPr lang="en-US" b="1">
                <a:solidFill>
                  <a:srgbClr val="002060"/>
                </a:solidFill>
              </a:rPr>
              <a:t> </a:t>
            </a:r>
            <a:r>
              <a:rPr lang="es-ES" b="0"/>
              <a:t>(si no hay </a:t>
            </a:r>
            <a:r>
              <a:rPr lang="es-ES" b="1">
                <a:solidFill>
                  <a:srgbClr val="002060"/>
                </a:solidFill>
              </a:rPr>
              <a:t>probs</a:t>
            </a:r>
            <a:r>
              <a:rPr lang="es-ES" b="0"/>
              <a:t>)</a:t>
            </a:r>
          </a:p>
        </p:txBody>
      </p:sp>
      <p:sp>
        <p:nvSpPr>
          <p:cNvPr id="9" name="KEYNOTE TIPS">
            <a:extLst>
              <a:ext uri="{FF2B5EF4-FFF2-40B4-BE49-F238E27FC236}">
                <a16:creationId xmlns:a16="http://schemas.microsoft.com/office/drawing/2014/main" id="{12C169FD-EF4B-CC29-2A57-69EE6A746FF9}"/>
              </a:ext>
            </a:extLst>
          </p:cNvPr>
          <p:cNvSpPr txBox="1"/>
          <p:nvPr/>
        </p:nvSpPr>
        <p:spPr>
          <a:xfrm>
            <a:off x="266700" y="6718300"/>
            <a:ext cx="2595262" cy="210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/>
            <a:r>
              <a:rPr lang="es-ES">
                <a:solidFill>
                  <a:srgbClr val="FE7900"/>
                </a:solidFill>
              </a:rPr>
              <a:t>CONSEJOS PARA EL OBJETO DE DISEÑO</a:t>
            </a:r>
            <a:endParaRPr>
              <a:solidFill>
                <a:srgbClr val="FE7900"/>
              </a:solidFill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B5A45FB-CDAD-4B63-2858-1160BD66F5B7}"/>
              </a:ext>
            </a:extLst>
          </p:cNvPr>
          <p:cNvGrpSpPr/>
          <p:nvPr/>
        </p:nvGrpSpPr>
        <p:grpSpPr>
          <a:xfrm>
            <a:off x="215900" y="3242022"/>
            <a:ext cx="4770749" cy="3402960"/>
            <a:chOff x="247279" y="3463686"/>
            <a:chExt cx="4770749" cy="3402960"/>
          </a:xfrm>
        </p:grpSpPr>
        <p:graphicFrame>
          <p:nvGraphicFramePr>
            <p:cNvPr id="5" name="Table">
              <a:extLst>
                <a:ext uri="{FF2B5EF4-FFF2-40B4-BE49-F238E27FC236}">
                  <a16:creationId xmlns:a16="http://schemas.microsoft.com/office/drawing/2014/main" id="{B7319376-6D1E-7E10-5CC7-C4DB861E3DDA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291999632"/>
                </p:ext>
              </p:extLst>
            </p:nvPr>
          </p:nvGraphicFramePr>
          <p:xfrm>
            <a:off x="247279" y="4078000"/>
            <a:ext cx="4656004" cy="1615293"/>
          </p:xfrm>
          <a:graphic>
            <a:graphicData uri="http://schemas.openxmlformats.org/drawingml/2006/table">
              <a:tbl>
                <a:tblPr firstRow="1">
                  <a:tableStyleId>{4C3C2611-4C71-4FC5-86AE-919BDF0F9419}</a:tableStyleId>
                </a:tblPr>
                <a:tblGrid>
                  <a:gridCol w="400251">
                    <a:extLst>
                      <a:ext uri="{9D8B030D-6E8A-4147-A177-3AD203B41FA5}">
                        <a16:colId xmlns:a16="http://schemas.microsoft.com/office/drawing/2014/main" val="4225738796"/>
                      </a:ext>
                    </a:extLst>
                  </a:gridCol>
                  <a:gridCol w="83837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838638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965411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929626">
                    <a:extLst>
                      <a:ext uri="{9D8B030D-6E8A-4147-A177-3AD203B41FA5}">
                        <a16:colId xmlns:a16="http://schemas.microsoft.com/office/drawing/2014/main" val="2510097376"/>
                      </a:ext>
                    </a:extLst>
                  </a:gridCol>
                  <a:gridCol w="683708">
                    <a:extLst>
                      <a:ext uri="{9D8B030D-6E8A-4147-A177-3AD203B41FA5}">
                        <a16:colId xmlns:a16="http://schemas.microsoft.com/office/drawing/2014/main" val="2345406671"/>
                      </a:ext>
                    </a:extLst>
                  </a:gridCol>
                </a:tblGrid>
                <a:tr h="179477">
                  <a:tc>
                    <a:txBody>
                      <a:bodyPr/>
                      <a:lstStyle/>
                      <a:p>
                        <a:pPr defTabSz="914400">
                          <a:defRPr sz="700" b="0">
                            <a:latin typeface="+mj-lt"/>
                            <a:ea typeface="+mj-ea"/>
                            <a:cs typeface="+mj-cs"/>
                            <a:sym typeface="Source Sans Pro Regular"/>
                          </a:defRPr>
                        </a:pPr>
                        <a:r>
                          <a:rPr lang="en-US" sz="1000" b="1" err="1">
                            <a:solidFill>
                              <a:srgbClr val="000000"/>
                            </a:solidFill>
                          </a:rPr>
                          <a:t>Obs</a:t>
                        </a:r>
                        <a:endParaRPr sz="1000" b="1">
                          <a:solidFill>
                            <a:srgbClr val="000000"/>
                          </a:solidFill>
                        </a:endParaRPr>
                      </a:p>
                    </a:txBody>
                    <a:tcPr marL="0" marR="0" marT="0" marB="0" anchor="ctr" horzOverflow="overflow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 b="0">
                            <a:latin typeface="+mj-lt"/>
                            <a:ea typeface="+mj-ea"/>
                            <a:cs typeface="+mj-cs"/>
                            <a:sym typeface="Source Sans Pro Regular"/>
                          </a:defRPr>
                        </a:pPr>
                        <a:r>
                          <a:rPr lang="en-US" sz="1000" b="1">
                            <a:solidFill>
                              <a:srgbClr val="000000"/>
                            </a:solidFill>
                            <a:latin typeface="Source Sans Pro" panose="020B0503030403020204" pitchFamily="34" charset="0"/>
                            <a:ea typeface="Source Sans Pro" panose="020B0503030403020204" pitchFamily="34" charset="0"/>
                          </a:rPr>
                          <a:t>DISTRICT</a:t>
                        </a:r>
                        <a:endParaRPr sz="1000" b="1">
                          <a:solidFill>
                            <a:srgbClr val="000000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endParaRPr>
                      </a:p>
                    </a:txBody>
                    <a:tcPr marL="0" marR="0" marT="0" marB="0" anchor="ctr" horzOverflow="overflow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C1C1C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 b="0">
                            <a:latin typeface="+mj-lt"/>
                            <a:ea typeface="+mj-ea"/>
                            <a:cs typeface="+mj-cs"/>
                            <a:sym typeface="Source Sans Pro Regular"/>
                          </a:defRPr>
                        </a:pPr>
                        <a:r>
                          <a:rPr lang="en-US" sz="1000" b="1" i="0" u="none" strike="noStrike" cap="none" spc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uFillTx/>
                            <a:latin typeface="Source Sans Pro"/>
                            <a:ea typeface="Source Sans Pro"/>
                            <a:cs typeface="Source Sans Pro"/>
                            <a:sym typeface="Source Sans Pro Regular"/>
                          </a:rPr>
                          <a:t>SCHOOL</a:t>
                        </a:r>
                        <a:endParaRPr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C1C1C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 b="0">
                            <a:latin typeface="+mj-lt"/>
                            <a:ea typeface="+mj-ea"/>
                            <a:cs typeface="+mj-cs"/>
                            <a:sym typeface="Source Sans Pro Regular"/>
                          </a:defRPr>
                        </a:pPr>
                        <a:r>
                          <a:rPr lang="en-US" sz="1000" b="1" i="0" u="none" strike="noStrike" cap="none" spc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uFillTx/>
                            <a:latin typeface="Source Sans Pro"/>
                            <a:ea typeface="Source Sans Pro"/>
                            <a:cs typeface="Source Sans Pro"/>
                            <a:sym typeface="Source Sans Pro Regular"/>
                          </a:rPr>
                          <a:t>SCHOOL_PROB</a:t>
                        </a:r>
                        <a:endParaRPr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C1C1C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 b="0">
                            <a:latin typeface="+mj-lt"/>
                            <a:ea typeface="+mj-ea"/>
                            <a:cs typeface="+mj-cs"/>
                            <a:sym typeface="Source Sans Pro Regular"/>
                          </a:defRPr>
                        </a:pPr>
                        <a:r>
                          <a:rPr lang="en-US" sz="1000" b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Source Sans Pro" panose="020B0503030403020204" pitchFamily="34" charset="0"/>
                            <a:ea typeface="Source Sans Pro" panose="020B0503030403020204" pitchFamily="34" charset="0"/>
                          </a:rPr>
                          <a:t>DISTRICT_SIZE</a:t>
                        </a:r>
                        <a:endParaRPr b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endParaRP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C1C1C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 b="0">
                            <a:latin typeface="+mj-lt"/>
                            <a:ea typeface="+mj-ea"/>
                            <a:cs typeface="+mj-cs"/>
                            <a:sym typeface="Source Sans Pro Regular"/>
                          </a:defRPr>
                        </a:pPr>
                        <a:r>
                          <a:rPr lang="en-US" sz="1000" b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Source Sans Pro" panose="020B0503030403020204" pitchFamily="34" charset="0"/>
                            <a:ea typeface="Source Sans Pro" panose="020B0503030403020204" pitchFamily="34" charset="0"/>
                          </a:rPr>
                          <a:t>WEIGHT</a:t>
                        </a:r>
                        <a:endParaRPr sz="1000" b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endParaRP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C1C1C0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179477"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1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District 1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accent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School 1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accent3">
                          <a:lumMod val="9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0.40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0E0E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5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0E0E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2.5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0E0E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179477"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2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District 1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accent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School 1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accent3">
                          <a:lumMod val="9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0.40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0E0E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5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0E0E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2.5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0E0E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179477"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3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District 1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accent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School 2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accent3">
                          <a:lumMod val="5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0.40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0E0E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5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0E0E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2.5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0E0E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179477"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4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District 1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accent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School 2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accent3">
                          <a:lumMod val="5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0.40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0E0E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5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0E0E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2.5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0E0E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306215235"/>
                    </a:ext>
                  </a:extLst>
                </a:tr>
                <a:tr h="179477"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5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District 2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School 3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0.20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0E0E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10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0E0E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5.0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0E0E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179477"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6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District 2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School 3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0.20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0E0E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10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0E0E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5.0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0E0E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  <a:tr h="179477"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7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District 2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School 4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0.20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0E0E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10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0E0E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5.0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0E0E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6"/>
                    </a:ext>
                  </a:extLst>
                </a:tr>
                <a:tr h="179477"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8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District 2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School 4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0.20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0E0E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10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0E0E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5.0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0E0E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4044010298"/>
                    </a:ext>
                  </a:extLst>
                </a:tr>
              </a:tbl>
            </a:graphicData>
          </a:graphic>
        </p:graphicFrame>
        <p:sp>
          <p:nvSpPr>
            <p:cNvPr id="6" name="MOCK TABLES">
              <a:extLst>
                <a:ext uri="{FF2B5EF4-FFF2-40B4-BE49-F238E27FC236}">
                  <a16:creationId xmlns:a16="http://schemas.microsoft.com/office/drawing/2014/main" id="{C8DD67B1-6B13-8DAE-1FC6-C2A0CC3B0F6F}"/>
                </a:ext>
              </a:extLst>
            </p:cNvPr>
            <p:cNvSpPr txBox="1"/>
            <p:nvPr/>
          </p:nvSpPr>
          <p:spPr>
            <a:xfrm>
              <a:off x="303786" y="3463686"/>
              <a:ext cx="2837315" cy="21031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12700" tIns="12700" rIns="12700" bIns="12700" anchor="ctr">
              <a:spAutoFit/>
            </a:bodyPr>
            <a:lstStyle/>
            <a:p>
              <a:pPr lvl="1" indent="0"/>
              <a:r>
                <a:rPr lang="es-ES"/>
                <a:t>EJEMPLO: conglomerados estratificados</a:t>
              </a:r>
              <a:endParaRPr/>
            </a:p>
          </p:txBody>
        </p:sp>
        <p:sp>
          <p:nvSpPr>
            <p:cNvPr id="7" name="Cheatsheets make it easy for R users…">
              <a:extLst>
                <a:ext uri="{FF2B5EF4-FFF2-40B4-BE49-F238E27FC236}">
                  <a16:creationId xmlns:a16="http://schemas.microsoft.com/office/drawing/2014/main" id="{F23B3A42-6241-9DEC-B0DB-C95DCE6F76F0}"/>
                </a:ext>
              </a:extLst>
            </p:cNvPr>
            <p:cNvSpPr txBox="1"/>
            <p:nvPr/>
          </p:nvSpPr>
          <p:spPr>
            <a:xfrm>
              <a:off x="303786" y="5805598"/>
              <a:ext cx="4607268" cy="1061048"/>
            </a:xfrm>
            <a:prstGeom prst="rect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miter lim="400000"/>
            </a:ln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lIns="12700" tIns="12700" rIns="12700" bIns="12700"/>
            <a:lstStyle/>
            <a:p>
              <a:pPr>
                <a:lnSpc>
                  <a:spcPct val="90000"/>
                </a:lnSpc>
                <a:spcBef>
                  <a:spcPts val="0"/>
                </a:spcBef>
                <a:defRPr>
                  <a:solidFill>
                    <a:srgbClr val="000000"/>
                  </a:solidFill>
                </a:defRPr>
              </a:pPr>
              <a:r>
                <a:rPr lang="en-US">
                  <a:solidFill>
                    <a:srgbClr val="000000"/>
                  </a:solidFill>
                  <a:latin typeface="Consolas" panose="020B0609020204030204" pitchFamily="49" charset="0"/>
                </a:rPr>
                <a:t> design &lt;- </a:t>
              </a:r>
              <a:r>
                <a:rPr lang="en-US" err="1">
                  <a:solidFill>
                    <a:srgbClr val="000000"/>
                  </a:solidFill>
                  <a:latin typeface="Consolas" panose="020B0609020204030204" pitchFamily="49" charset="0"/>
                </a:rPr>
                <a:t>as_survey_design</a:t>
              </a:r>
              <a:r>
                <a:rPr lang="en-US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</a:p>
            <a:p>
              <a:pPr>
                <a:lnSpc>
                  <a:spcPct val="90000"/>
                </a:lnSpc>
                <a:spcBef>
                  <a:spcPts val="0"/>
                </a:spcBef>
                <a:defRPr>
                  <a:solidFill>
                    <a:srgbClr val="000000"/>
                  </a:solidFill>
                </a:defRPr>
              </a:pPr>
              <a:r>
                <a:rPr lang="en-US">
                  <a:solidFill>
                    <a:srgbClr val="000000"/>
                  </a:solidFill>
                  <a:latin typeface="Consolas" panose="020B0609020204030204" pitchFamily="49" charset="0"/>
                </a:rPr>
                <a:t>   </a:t>
              </a:r>
              <a:r>
                <a:rPr lang="en-US">
                  <a:solidFill>
                    <a:schemeClr val="accent1">
                      <a:lumMod val="50000"/>
                    </a:schemeClr>
                  </a:solidFill>
                  <a:latin typeface="Consolas" panose="020B0609020204030204" pitchFamily="49" charset="0"/>
                </a:rPr>
                <a:t>.data      </a:t>
              </a:r>
              <a:r>
                <a:rPr lang="en-US">
                  <a:solidFill>
                    <a:srgbClr val="000000"/>
                  </a:solidFill>
                  <a:latin typeface="Consolas" panose="020B0609020204030204" pitchFamily="49" charset="0"/>
                </a:rPr>
                <a:t>= </a:t>
              </a:r>
              <a:r>
                <a:rPr lang="en-US" err="1">
                  <a:solidFill>
                    <a:srgbClr val="000000"/>
                  </a:solidFill>
                  <a:latin typeface="Consolas" panose="020B0609020204030204" pitchFamily="49" charset="0"/>
                </a:rPr>
                <a:t>school_survey_data</a:t>
              </a:r>
              <a:r>
                <a:rPr lang="en-US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</a:p>
            <a:p>
              <a:pPr>
                <a:lnSpc>
                  <a:spcPct val="90000"/>
                </a:lnSpc>
                <a:spcBef>
                  <a:spcPts val="0"/>
                </a:spcBef>
                <a:defRPr>
                  <a:solidFill>
                    <a:srgbClr val="000000"/>
                  </a:solidFill>
                </a:defRPr>
              </a:pPr>
              <a:r>
                <a:rPr lang="en-US">
                  <a:solidFill>
                    <a:srgbClr val="000000"/>
                  </a:solidFill>
                  <a:latin typeface="Consolas" panose="020B0609020204030204" pitchFamily="49" charset="0"/>
                </a:rPr>
                <a:t>   </a:t>
              </a:r>
              <a:r>
                <a:rPr lang="en-US">
                  <a:solidFill>
                    <a:schemeClr val="accent1">
                      <a:lumMod val="50000"/>
                    </a:schemeClr>
                  </a:solidFill>
                  <a:latin typeface="Consolas" panose="020B0609020204030204" pitchFamily="49" charset="0"/>
                </a:rPr>
                <a:t>ids   </a:t>
              </a:r>
              <a:r>
                <a:rPr lang="en-US">
                  <a:solidFill>
                    <a:srgbClr val="000000"/>
                  </a:solidFill>
                  <a:latin typeface="Consolas" panose="020B0609020204030204" pitchFamily="49" charset="0"/>
                </a:rPr>
                <a:t>     = SCHOOL, </a:t>
              </a:r>
            </a:p>
            <a:p>
              <a:pPr>
                <a:lnSpc>
                  <a:spcPct val="90000"/>
                </a:lnSpc>
                <a:spcBef>
                  <a:spcPts val="0"/>
                </a:spcBef>
                <a:defRPr>
                  <a:solidFill>
                    <a:srgbClr val="000000"/>
                  </a:solidFill>
                </a:defRPr>
              </a:pPr>
              <a:r>
                <a:rPr lang="en-US">
                  <a:solidFill>
                    <a:srgbClr val="000000"/>
                  </a:solidFill>
                  <a:latin typeface="Consolas" panose="020B0609020204030204" pitchFamily="49" charset="0"/>
                </a:rPr>
                <a:t>   </a:t>
              </a:r>
              <a:r>
                <a:rPr lang="en-US">
                  <a:solidFill>
                    <a:schemeClr val="accent1">
                      <a:lumMod val="50000"/>
                    </a:schemeClr>
                  </a:solidFill>
                  <a:latin typeface="Consolas" panose="020B0609020204030204" pitchFamily="49" charset="0"/>
                </a:rPr>
                <a:t>strata </a:t>
              </a:r>
              <a:r>
                <a:rPr lang="en-US">
                  <a:solidFill>
                    <a:srgbClr val="000000"/>
                  </a:solidFill>
                  <a:latin typeface="Consolas" panose="020B0609020204030204" pitchFamily="49" charset="0"/>
                </a:rPr>
                <a:t>    = DISTRICT,</a:t>
              </a:r>
            </a:p>
            <a:p>
              <a:pPr>
                <a:lnSpc>
                  <a:spcPct val="90000"/>
                </a:lnSpc>
                <a:spcBef>
                  <a:spcPts val="0"/>
                </a:spcBef>
                <a:defRPr>
                  <a:solidFill>
                    <a:srgbClr val="000000"/>
                  </a:solidFill>
                </a:defRPr>
              </a:pPr>
              <a:r>
                <a:rPr lang="en-US">
                  <a:solidFill>
                    <a:srgbClr val="000000"/>
                  </a:solidFill>
                  <a:latin typeface="Consolas" panose="020B0609020204030204" pitchFamily="49" charset="0"/>
                </a:rPr>
                <a:t>   </a:t>
              </a:r>
              <a:r>
                <a:rPr lang="en-US" err="1">
                  <a:solidFill>
                    <a:schemeClr val="accent1">
                      <a:lumMod val="50000"/>
                    </a:schemeClr>
                  </a:solidFill>
                  <a:latin typeface="Consolas" panose="020B0609020204030204" pitchFamily="49" charset="0"/>
                </a:rPr>
                <a:t>fpc</a:t>
              </a:r>
              <a:r>
                <a:rPr lang="en-US">
                  <a:solidFill>
                    <a:srgbClr val="000000"/>
                  </a:solidFill>
                  <a:latin typeface="Consolas" panose="020B0609020204030204" pitchFamily="49" charset="0"/>
                </a:rPr>
                <a:t>        = DISTRICT_SIZE,</a:t>
              </a:r>
            </a:p>
            <a:p>
              <a:pPr>
                <a:lnSpc>
                  <a:spcPct val="90000"/>
                </a:lnSpc>
                <a:spcBef>
                  <a:spcPts val="0"/>
                </a:spcBef>
                <a:defRPr>
                  <a:solidFill>
                    <a:srgbClr val="000000"/>
                  </a:solidFill>
                </a:defRPr>
              </a:pPr>
              <a:r>
                <a:rPr lang="en-US">
                  <a:solidFill>
                    <a:srgbClr val="000000"/>
                  </a:solidFill>
                  <a:latin typeface="Consolas" panose="020B0609020204030204" pitchFamily="49" charset="0"/>
                </a:rPr>
                <a:t>   </a:t>
              </a:r>
              <a:r>
                <a:rPr lang="en-US">
                  <a:solidFill>
                    <a:schemeClr val="accent1">
                      <a:lumMod val="50000"/>
                    </a:schemeClr>
                  </a:solidFill>
                  <a:latin typeface="Consolas" panose="020B0609020204030204" pitchFamily="49" charset="0"/>
                </a:rPr>
                <a:t>weights</a:t>
              </a:r>
              <a:r>
                <a:rPr lang="en-US">
                  <a:solidFill>
                    <a:srgbClr val="000000"/>
                  </a:solidFill>
                  <a:latin typeface="Consolas" panose="020B0609020204030204" pitchFamily="49" charset="0"/>
                </a:rPr>
                <a:t>    = WEIGHT)</a:t>
              </a:r>
              <a:endParaRPr>
                <a:solidFill>
                  <a:srgbClr val="000000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0" name="I make my cheatsheets in Apple Keynote, and not latex or R Markdown, because presentation software makes it much easier to tweak the visual appearance of a document">
              <a:extLst>
                <a:ext uri="{FF2B5EF4-FFF2-40B4-BE49-F238E27FC236}">
                  <a16:creationId xmlns:a16="http://schemas.microsoft.com/office/drawing/2014/main" id="{EF8439F9-3165-F81F-6F70-E768CA1B62AB}"/>
                </a:ext>
              </a:extLst>
            </p:cNvPr>
            <p:cNvSpPr txBox="1"/>
            <p:nvPr/>
          </p:nvSpPr>
          <p:spPr>
            <a:xfrm>
              <a:off x="269086" y="3635919"/>
              <a:ext cx="4748942" cy="44260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54570" tIns="54570" rIns="54570" bIns="5457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300"/>
                </a:spcBef>
                <a:buClr>
                  <a:schemeClr val="accent4">
                    <a:hueOff val="384618"/>
                    <a:satOff val="3869"/>
                    <a:lumOff val="5802"/>
                  </a:schemeClr>
                </a:buClr>
                <a:defRPr b="0">
                  <a:solidFill>
                    <a:srgbClr val="000000"/>
                  </a:solidFill>
                </a:defRPr>
              </a:pPr>
              <a:r>
                <a:rPr lang="es-ES"/>
                <a:t>Encuesta escolar: incluye a </a:t>
              </a:r>
              <a:r>
                <a:rPr lang="es-ES" i="1"/>
                <a:t>todos</a:t>
              </a:r>
              <a:r>
                <a:rPr lang="es-ES"/>
                <a:t> los estudiantes de cuatro escuelas muestreadas (dos en cada uno de dos distritos)</a:t>
              </a:r>
              <a:endParaRPr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5C5F97C-026E-F1FF-549D-6B964A63A821}"/>
              </a:ext>
            </a:extLst>
          </p:cNvPr>
          <p:cNvGrpSpPr/>
          <p:nvPr/>
        </p:nvGrpSpPr>
        <p:grpSpPr>
          <a:xfrm>
            <a:off x="4927606" y="3233012"/>
            <a:ext cx="4887982" cy="3416850"/>
            <a:chOff x="4927606" y="3454687"/>
            <a:chExt cx="4887982" cy="3418621"/>
          </a:xfrm>
        </p:grpSpPr>
        <p:graphicFrame>
          <p:nvGraphicFramePr>
            <p:cNvPr id="20" name="Table">
              <a:extLst>
                <a:ext uri="{FF2B5EF4-FFF2-40B4-BE49-F238E27FC236}">
                  <a16:creationId xmlns:a16="http://schemas.microsoft.com/office/drawing/2014/main" id="{144AA56D-4D9F-0582-1CBB-343BF11AB636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715084894"/>
                </p:ext>
              </p:extLst>
            </p:nvPr>
          </p:nvGraphicFramePr>
          <p:xfrm>
            <a:off x="4927606" y="4082281"/>
            <a:ext cx="4816265" cy="1616130"/>
          </p:xfrm>
          <a:graphic>
            <a:graphicData uri="http://schemas.openxmlformats.org/drawingml/2006/table">
              <a:tbl>
                <a:tblPr firstRow="1">
                  <a:tableStyleId>{4C3C2611-4C71-4FC5-86AE-919BDF0F9419}</a:tableStyleId>
                </a:tblPr>
                <a:tblGrid>
                  <a:gridCol w="341806">
                    <a:extLst>
                      <a:ext uri="{9D8B030D-6E8A-4147-A177-3AD203B41FA5}">
                        <a16:colId xmlns:a16="http://schemas.microsoft.com/office/drawing/2014/main" val="4225738796"/>
                      </a:ext>
                    </a:extLst>
                  </a:gridCol>
                  <a:gridCol w="77594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56184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624772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929774">
                    <a:extLst>
                      <a:ext uri="{9D8B030D-6E8A-4147-A177-3AD203B41FA5}">
                        <a16:colId xmlns:a16="http://schemas.microsoft.com/office/drawing/2014/main" val="2510097376"/>
                      </a:ext>
                    </a:extLst>
                  </a:gridCol>
                  <a:gridCol w="916315">
                    <a:extLst>
                      <a:ext uri="{9D8B030D-6E8A-4147-A177-3AD203B41FA5}">
                        <a16:colId xmlns:a16="http://schemas.microsoft.com/office/drawing/2014/main" val="2345406671"/>
                      </a:ext>
                    </a:extLst>
                  </a:gridCol>
                  <a:gridCol w="571469">
                    <a:extLst>
                      <a:ext uri="{9D8B030D-6E8A-4147-A177-3AD203B41FA5}">
                        <a16:colId xmlns:a16="http://schemas.microsoft.com/office/drawing/2014/main" val="430422052"/>
                      </a:ext>
                    </a:extLst>
                  </a:gridCol>
                </a:tblGrid>
                <a:tr h="179477">
                  <a:tc>
                    <a:txBody>
                      <a:bodyPr/>
                      <a:lstStyle/>
                      <a:p>
                        <a:pPr defTabSz="914400">
                          <a:defRPr sz="700" b="0">
                            <a:latin typeface="+mj-lt"/>
                            <a:ea typeface="+mj-ea"/>
                            <a:cs typeface="+mj-cs"/>
                            <a:sym typeface="Source Sans Pro Regular"/>
                          </a:defRPr>
                        </a:pPr>
                        <a:r>
                          <a:rPr lang="en-US" sz="1000" b="1" err="1">
                            <a:solidFill>
                              <a:srgbClr val="000000"/>
                            </a:solidFill>
                          </a:rPr>
                          <a:t>Obs</a:t>
                        </a:r>
                        <a:endParaRPr sz="1000" b="1">
                          <a:solidFill>
                            <a:srgbClr val="000000"/>
                          </a:solidFill>
                        </a:endParaRPr>
                      </a:p>
                    </a:txBody>
                    <a:tcPr marL="0" marR="0" marT="0" marB="0" anchor="ctr" horzOverflow="overflow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 b="0">
                            <a:latin typeface="+mj-lt"/>
                            <a:ea typeface="+mj-ea"/>
                            <a:cs typeface="+mj-cs"/>
                            <a:sym typeface="Source Sans Pro Regular"/>
                          </a:defRPr>
                        </a:pPr>
                        <a:r>
                          <a:rPr lang="en-US" sz="1000" b="1">
                            <a:solidFill>
                              <a:srgbClr val="000000"/>
                            </a:solidFill>
                            <a:latin typeface="Source Sans Pro" panose="020B0503030403020204" pitchFamily="34" charset="0"/>
                            <a:ea typeface="Source Sans Pro" panose="020B0503030403020204" pitchFamily="34" charset="0"/>
                          </a:rPr>
                          <a:t>DISTRICT</a:t>
                        </a:r>
                        <a:endParaRPr sz="1000" b="1">
                          <a:solidFill>
                            <a:srgbClr val="000000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endParaRPr>
                      </a:p>
                    </a:txBody>
                    <a:tcPr marL="0" marR="0" marT="0" marB="0" anchor="ctr" horzOverflow="overflow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C1C1C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 b="0">
                            <a:latin typeface="+mj-lt"/>
                            <a:ea typeface="+mj-ea"/>
                            <a:cs typeface="+mj-cs"/>
                            <a:sym typeface="Source Sans Pro Regular"/>
                          </a:defRPr>
                        </a:pPr>
                        <a:r>
                          <a:rPr lang="en-US" sz="1000" b="1" i="0" u="none" strike="noStrike" cap="none" spc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uFillTx/>
                            <a:latin typeface="Source Sans Pro"/>
                            <a:ea typeface="Source Sans Pro"/>
                            <a:cs typeface="Source Sans Pro"/>
                            <a:sym typeface="Source Sans Pro Regular"/>
                          </a:rPr>
                          <a:t>SCHOOL</a:t>
                        </a:r>
                        <a:endParaRPr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C1C1C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 b="0">
                            <a:latin typeface="+mj-lt"/>
                            <a:ea typeface="+mj-ea"/>
                            <a:cs typeface="+mj-cs"/>
                            <a:sym typeface="Source Sans Pro Regular"/>
                          </a:defRPr>
                        </a:pPr>
                        <a:r>
                          <a:rPr lang="en-US" sz="1000" b="1" i="0" u="none" strike="noStrike" cap="none" spc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uFillTx/>
                            <a:latin typeface="Source Sans Pro"/>
                            <a:ea typeface="Source Sans Pro"/>
                            <a:cs typeface="Source Sans Pro"/>
                            <a:sym typeface="Source Sans Pro Regular"/>
                          </a:rPr>
                          <a:t>STUDENT</a:t>
                        </a:r>
                        <a:endParaRPr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C1C1C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 b="0">
                            <a:latin typeface="+mj-lt"/>
                            <a:ea typeface="+mj-ea"/>
                            <a:cs typeface="+mj-cs"/>
                            <a:sym typeface="Source Sans Pro Regular"/>
                          </a:defRPr>
                        </a:pPr>
                        <a:r>
                          <a:rPr lang="en-US" sz="1000" b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Source Sans Pro" panose="020B0503030403020204" pitchFamily="34" charset="0"/>
                            <a:ea typeface="Source Sans Pro" panose="020B0503030403020204" pitchFamily="34" charset="0"/>
                          </a:rPr>
                          <a:t>DISTRICT_SIZE</a:t>
                        </a:r>
                        <a:endParaRPr b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endParaRP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C1C1C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 b="0">
                            <a:latin typeface="+mj-lt"/>
                            <a:ea typeface="+mj-ea"/>
                            <a:cs typeface="+mj-cs"/>
                            <a:sym typeface="Source Sans Pro Regular"/>
                          </a:defRPr>
                        </a:pPr>
                        <a:r>
                          <a:rPr lang="en-US" sz="1000" b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Source Sans Pro" panose="020B0503030403020204" pitchFamily="34" charset="0"/>
                            <a:ea typeface="Source Sans Pro" panose="020B0503030403020204" pitchFamily="34" charset="0"/>
                          </a:rPr>
                          <a:t>SCHOOL_SIZE</a:t>
                        </a:r>
                        <a:endParaRPr sz="1000" b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endParaRP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C1C1C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 b="0">
                            <a:latin typeface="+mj-lt"/>
                            <a:ea typeface="+mj-ea"/>
                            <a:cs typeface="+mj-cs"/>
                            <a:sym typeface="Source Sans Pro Regular"/>
                          </a:defRPr>
                        </a:pPr>
                        <a:r>
                          <a:rPr lang="en-US" sz="1000" b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Source Sans Pro" panose="020B0503030403020204" pitchFamily="34" charset="0"/>
                            <a:ea typeface="Source Sans Pro" panose="020B0503030403020204" pitchFamily="34" charset="0"/>
                          </a:rPr>
                          <a:t>WEIGHT</a:t>
                        </a:r>
                        <a:endParaRPr sz="1000" b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endParaRP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C1C1C0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179477"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1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District 1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accent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School 1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accent3">
                          <a:lumMod val="9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Student 1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4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0E0E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100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0E0E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fontAlgn="b"/>
                        <a:r>
                          <a: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rPr>
                          <a:t>100</a:t>
                        </a:r>
                      </a:p>
                    </a:txBody>
                    <a:tcPr marL="7620" marR="7620" marT="7620" marB="0" anchor="b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0E0E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179477"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2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District 1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accent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School 1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accent3">
                          <a:lumMod val="9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Student 2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4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0E0E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100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0E0E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fontAlgn="b"/>
                        <a:r>
                          <a: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rPr>
                          <a:t>100</a:t>
                        </a:r>
                      </a:p>
                    </a:txBody>
                    <a:tcPr marL="7620" marR="7620" marT="7620" marB="0" anchor="b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0E0E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179477"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3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District 1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accent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School 2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accent3">
                          <a:lumMod val="5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Student 3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4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0E0E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150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0E0E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fontAlgn="b"/>
                        <a:r>
                          <a: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rPr>
                          <a:t>150</a:t>
                        </a:r>
                      </a:p>
                    </a:txBody>
                    <a:tcPr marL="7620" marR="7620" marT="7620" marB="0" anchor="b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0E0E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179477"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4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District 1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7DCA7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School 2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BE841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Student 4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accent4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4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0E0E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150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0E0E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fontAlgn="b"/>
                        <a:r>
                          <a: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rPr>
                          <a:t>150</a:t>
                        </a:r>
                      </a:p>
                    </a:txBody>
                    <a:tcPr marL="7620" marR="7620" marT="7620" marB="0" anchor="b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0E0E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179477"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5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District 2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School 3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Student 5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10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0E0E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200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0E0E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fontAlgn="b"/>
                        <a:r>
                          <a: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rPr>
                          <a:t>500</a:t>
                        </a:r>
                      </a:p>
                    </a:txBody>
                    <a:tcPr marL="7620" marR="7620" marT="7620" marB="0" anchor="b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0E0E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  <a:tr h="179477"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6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District 2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School 3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Student 6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10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0E0E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200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0E0E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fontAlgn="b"/>
                        <a:r>
                          <a: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rPr>
                          <a:t>500</a:t>
                        </a:r>
                      </a:p>
                    </a:txBody>
                    <a:tcPr marL="7620" marR="7620" marT="7620" marB="0" anchor="b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0E0E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6"/>
                    </a:ext>
                  </a:extLst>
                </a:tr>
                <a:tr h="179477"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7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District 2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School 4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Student 7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10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0E0E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250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0E0E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fontAlgn="b"/>
                        <a:r>
                          <a: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rPr>
                          <a:t>625</a:t>
                        </a:r>
                      </a:p>
                    </a:txBody>
                    <a:tcPr marL="7620" marR="7620" marT="7620" marB="0" anchor="b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0E0E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45233522"/>
                    </a:ext>
                  </a:extLst>
                </a:tr>
                <a:tr h="179477"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8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District 2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School 4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Student 8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accent6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10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0E0E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defRPr sz="700">
                            <a:sym typeface="Source Sans Pro Regular"/>
                          </a:defRPr>
                        </a:pPr>
                        <a:r>
                          <a:rPr lang="en-US" sz="1000"/>
                          <a:t>250</a:t>
                        </a:r>
                        <a:endParaRPr sz="1000"/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0E0E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fontAlgn="b"/>
                        <a:r>
                          <a: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rPr>
                          <a:t>625</a:t>
                        </a:r>
                      </a:p>
                    </a:txBody>
                    <a:tcPr marL="7620" marR="7620" marT="7620" marB="0" anchor="b">
                      <a:lnL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0E0E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551697261"/>
                    </a:ext>
                  </a:extLst>
                </a:tr>
              </a:tbl>
            </a:graphicData>
          </a:graphic>
        </p:graphicFrame>
        <p:sp>
          <p:nvSpPr>
            <p:cNvPr id="21" name="MOCK TABLES">
              <a:extLst>
                <a:ext uri="{FF2B5EF4-FFF2-40B4-BE49-F238E27FC236}">
                  <a16:creationId xmlns:a16="http://schemas.microsoft.com/office/drawing/2014/main" id="{BAA65FC4-F5D8-2C89-6703-42941D8941EA}"/>
                </a:ext>
              </a:extLst>
            </p:cNvPr>
            <p:cNvSpPr txBox="1"/>
            <p:nvPr/>
          </p:nvSpPr>
          <p:spPr>
            <a:xfrm>
              <a:off x="4967873" y="3454687"/>
              <a:ext cx="2386872" cy="21031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12700" tIns="12700" rIns="12700" bIns="12700" anchor="ctr">
              <a:spAutoFit/>
            </a:bodyPr>
            <a:lstStyle/>
            <a:p>
              <a:pPr lvl="1" indent="0"/>
              <a:r>
                <a:rPr lang="es-ES"/>
                <a:t>EJEMPLO: muestra multietápica</a:t>
              </a:r>
              <a:endParaRPr/>
            </a:p>
          </p:txBody>
        </p:sp>
        <p:sp>
          <p:nvSpPr>
            <p:cNvPr id="22" name="I make my cheatsheets in Apple Keynote, and not latex or R Markdown, because presentation software makes it much easier to tweak the visual appearance of a document">
              <a:extLst>
                <a:ext uri="{FF2B5EF4-FFF2-40B4-BE49-F238E27FC236}">
                  <a16:creationId xmlns:a16="http://schemas.microsoft.com/office/drawing/2014/main" id="{7A2702D5-2E19-1753-759E-86D58AC04495}"/>
                </a:ext>
              </a:extLst>
            </p:cNvPr>
            <p:cNvSpPr txBox="1"/>
            <p:nvPr/>
          </p:nvSpPr>
          <p:spPr>
            <a:xfrm>
              <a:off x="4931213" y="3635363"/>
              <a:ext cx="4884375" cy="44260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54570" tIns="54570" rIns="54570" bIns="5457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300"/>
                </a:spcBef>
                <a:buClr>
                  <a:schemeClr val="accent4">
                    <a:hueOff val="384618"/>
                    <a:satOff val="3869"/>
                    <a:lumOff val="5802"/>
                  </a:schemeClr>
                </a:buClr>
                <a:defRPr b="0">
                  <a:solidFill>
                    <a:srgbClr val="000000"/>
                  </a:solidFill>
                </a:defRPr>
              </a:pPr>
              <a:r>
                <a:rPr lang="es-ES"/>
                <a:t>Encuesta escolar: incluye una </a:t>
              </a:r>
              <a:r>
                <a:rPr lang="es-ES" i="1"/>
                <a:t>muestra</a:t>
              </a:r>
              <a:r>
                <a:rPr lang="es-ES"/>
                <a:t> de estudiantes de cuatro escuelas muestreadas (dos en cada uno de dos distritos)</a:t>
              </a:r>
              <a:endParaRPr/>
            </a:p>
          </p:txBody>
        </p:sp>
        <p:sp>
          <p:nvSpPr>
            <p:cNvPr id="23" name="Cheatsheets make it easy for R users…">
              <a:extLst>
                <a:ext uri="{FF2B5EF4-FFF2-40B4-BE49-F238E27FC236}">
                  <a16:creationId xmlns:a16="http://schemas.microsoft.com/office/drawing/2014/main" id="{B222F727-3D3E-F163-B054-CAA58594040E}"/>
                </a:ext>
              </a:extLst>
            </p:cNvPr>
            <p:cNvSpPr txBox="1"/>
            <p:nvPr/>
          </p:nvSpPr>
          <p:spPr>
            <a:xfrm>
              <a:off x="4986657" y="5811709"/>
              <a:ext cx="4766945" cy="1061599"/>
            </a:xfrm>
            <a:prstGeom prst="rect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miter lim="400000"/>
            </a:ln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lIns="12700" tIns="12700" rIns="12700" bIns="12700"/>
            <a:lstStyle/>
            <a:p>
              <a:pPr>
                <a:lnSpc>
                  <a:spcPct val="90000"/>
                </a:lnSpc>
                <a:spcBef>
                  <a:spcPts val="0"/>
                </a:spcBef>
                <a:defRPr>
                  <a:solidFill>
                    <a:srgbClr val="000000"/>
                  </a:solidFill>
                </a:defRPr>
              </a:pPr>
              <a:r>
                <a:rPr lang="en-US">
                  <a:solidFill>
                    <a:srgbClr val="000000"/>
                  </a:solidFill>
                  <a:latin typeface="Consolas" panose="020B0609020204030204" pitchFamily="49" charset="0"/>
                </a:rPr>
                <a:t> design &lt;- </a:t>
              </a:r>
              <a:r>
                <a:rPr lang="en-US" err="1">
                  <a:solidFill>
                    <a:srgbClr val="000000"/>
                  </a:solidFill>
                  <a:latin typeface="Consolas" panose="020B0609020204030204" pitchFamily="49" charset="0"/>
                </a:rPr>
                <a:t>as_survey_design</a:t>
              </a:r>
              <a:r>
                <a:rPr lang="en-US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</a:p>
            <a:p>
              <a:pPr>
                <a:lnSpc>
                  <a:spcPct val="90000"/>
                </a:lnSpc>
                <a:spcBef>
                  <a:spcPts val="0"/>
                </a:spcBef>
                <a:defRPr>
                  <a:solidFill>
                    <a:srgbClr val="000000"/>
                  </a:solidFill>
                </a:defRPr>
              </a:pPr>
              <a:r>
                <a:rPr lang="en-US">
                  <a:solidFill>
                    <a:srgbClr val="000000"/>
                  </a:solidFill>
                  <a:latin typeface="Consolas" panose="020B0609020204030204" pitchFamily="49" charset="0"/>
                </a:rPr>
                <a:t>   </a:t>
              </a:r>
              <a:r>
                <a:rPr lang="en-US">
                  <a:solidFill>
                    <a:schemeClr val="accent1">
                      <a:lumMod val="50000"/>
                    </a:schemeClr>
                  </a:solidFill>
                  <a:latin typeface="Consolas" panose="020B0609020204030204" pitchFamily="49" charset="0"/>
                </a:rPr>
                <a:t>.data</a:t>
              </a:r>
              <a:r>
                <a:rPr lang="en-US">
                  <a:solidFill>
                    <a:srgbClr val="000000"/>
                  </a:solidFill>
                  <a:latin typeface="Consolas" panose="020B0609020204030204" pitchFamily="49" charset="0"/>
                </a:rPr>
                <a:t>      = </a:t>
              </a:r>
              <a:r>
                <a:rPr lang="en-US" err="1">
                  <a:solidFill>
                    <a:srgbClr val="000000"/>
                  </a:solidFill>
                  <a:latin typeface="Consolas" panose="020B0609020204030204" pitchFamily="49" charset="0"/>
                </a:rPr>
                <a:t>school_survey_data</a:t>
              </a:r>
              <a:r>
                <a:rPr lang="en-US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</a:p>
            <a:p>
              <a:pPr>
                <a:lnSpc>
                  <a:spcPct val="90000"/>
                </a:lnSpc>
                <a:spcBef>
                  <a:spcPts val="0"/>
                </a:spcBef>
                <a:defRPr>
                  <a:solidFill>
                    <a:srgbClr val="000000"/>
                  </a:solidFill>
                </a:defRPr>
              </a:pPr>
              <a:r>
                <a:rPr lang="en-US">
                  <a:solidFill>
                    <a:srgbClr val="000000"/>
                  </a:solidFill>
                  <a:latin typeface="Consolas" panose="020B0609020204030204" pitchFamily="49" charset="0"/>
                </a:rPr>
                <a:t>   </a:t>
              </a:r>
              <a:r>
                <a:rPr lang="en-US">
                  <a:solidFill>
                    <a:schemeClr val="accent1">
                      <a:lumMod val="50000"/>
                    </a:schemeClr>
                  </a:solidFill>
                  <a:latin typeface="Consolas" panose="020B0609020204030204" pitchFamily="49" charset="0"/>
                </a:rPr>
                <a:t>ids</a:t>
              </a:r>
              <a:r>
                <a:rPr lang="en-US">
                  <a:solidFill>
                    <a:srgbClr val="000000"/>
                  </a:solidFill>
                  <a:latin typeface="Consolas" panose="020B0609020204030204" pitchFamily="49" charset="0"/>
                </a:rPr>
                <a:t>        = c(SCHOOL, STUDENT), </a:t>
              </a:r>
            </a:p>
            <a:p>
              <a:pPr>
                <a:lnSpc>
                  <a:spcPct val="90000"/>
                </a:lnSpc>
                <a:spcBef>
                  <a:spcPts val="0"/>
                </a:spcBef>
                <a:defRPr>
                  <a:solidFill>
                    <a:srgbClr val="000000"/>
                  </a:solidFill>
                </a:defRPr>
              </a:pPr>
              <a:r>
                <a:rPr lang="en-US">
                  <a:solidFill>
                    <a:srgbClr val="000000"/>
                  </a:solidFill>
                  <a:latin typeface="Consolas" panose="020B0609020204030204" pitchFamily="49" charset="0"/>
                </a:rPr>
                <a:t>   </a:t>
              </a:r>
              <a:r>
                <a:rPr lang="en-US">
                  <a:solidFill>
                    <a:schemeClr val="accent1">
                      <a:lumMod val="50000"/>
                    </a:schemeClr>
                  </a:solidFill>
                  <a:latin typeface="Consolas" panose="020B0609020204030204" pitchFamily="49" charset="0"/>
                </a:rPr>
                <a:t>strata</a:t>
              </a:r>
              <a:r>
                <a:rPr lang="en-US">
                  <a:solidFill>
                    <a:srgbClr val="000000"/>
                  </a:solidFill>
                  <a:latin typeface="Consolas" panose="020B0609020204030204" pitchFamily="49" charset="0"/>
                </a:rPr>
                <a:t>     = c(DISTRICT, SCHOOL),</a:t>
              </a:r>
            </a:p>
            <a:p>
              <a:pPr>
                <a:lnSpc>
                  <a:spcPct val="90000"/>
                </a:lnSpc>
                <a:spcBef>
                  <a:spcPts val="0"/>
                </a:spcBef>
                <a:defRPr>
                  <a:solidFill>
                    <a:srgbClr val="000000"/>
                  </a:solidFill>
                </a:defRPr>
              </a:pPr>
              <a:r>
                <a:rPr lang="en-US">
                  <a:solidFill>
                    <a:srgbClr val="000000"/>
                  </a:solidFill>
                  <a:latin typeface="Consolas" panose="020B0609020204030204" pitchFamily="49" charset="0"/>
                </a:rPr>
                <a:t>   </a:t>
              </a:r>
              <a:r>
                <a:rPr lang="en-US" err="1">
                  <a:solidFill>
                    <a:schemeClr val="accent1">
                      <a:lumMod val="50000"/>
                    </a:schemeClr>
                  </a:solidFill>
                  <a:latin typeface="Consolas" panose="020B0609020204030204" pitchFamily="49" charset="0"/>
                </a:rPr>
                <a:t>fpc</a:t>
              </a:r>
              <a:r>
                <a:rPr lang="en-US">
                  <a:solidFill>
                    <a:srgbClr val="000000"/>
                  </a:solidFill>
                  <a:latin typeface="Consolas" panose="020B0609020204030204" pitchFamily="49" charset="0"/>
                </a:rPr>
                <a:t>        = c(DISTRICT_SIZE, SCHOOL_SIZE),</a:t>
              </a:r>
            </a:p>
            <a:p>
              <a:pPr>
                <a:lnSpc>
                  <a:spcPct val="90000"/>
                </a:lnSpc>
                <a:spcBef>
                  <a:spcPts val="0"/>
                </a:spcBef>
                <a:defRPr>
                  <a:solidFill>
                    <a:srgbClr val="000000"/>
                  </a:solidFill>
                </a:defRPr>
              </a:pPr>
              <a:r>
                <a:rPr lang="en-US">
                  <a:solidFill>
                    <a:srgbClr val="000000"/>
                  </a:solidFill>
                  <a:latin typeface="Consolas" panose="020B0609020204030204" pitchFamily="49" charset="0"/>
                </a:rPr>
                <a:t>   </a:t>
              </a:r>
              <a:r>
                <a:rPr lang="en-US">
                  <a:solidFill>
                    <a:schemeClr val="accent1">
                      <a:lumMod val="50000"/>
                    </a:schemeClr>
                  </a:solidFill>
                  <a:latin typeface="Consolas" panose="020B0609020204030204" pitchFamily="49" charset="0"/>
                </a:rPr>
                <a:t>weights</a:t>
              </a:r>
              <a:r>
                <a:rPr lang="en-US">
                  <a:solidFill>
                    <a:srgbClr val="000000"/>
                  </a:solidFill>
                  <a:latin typeface="Consolas" panose="020B0609020204030204" pitchFamily="49" charset="0"/>
                </a:rPr>
                <a:t>    = WEIGHT)</a:t>
              </a:r>
              <a:endParaRPr>
                <a:solidFill>
                  <a:srgbClr val="000000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27" name="KEYNOTE TIPS">
            <a:extLst>
              <a:ext uri="{FF2B5EF4-FFF2-40B4-BE49-F238E27FC236}">
                <a16:creationId xmlns:a16="http://schemas.microsoft.com/office/drawing/2014/main" id="{66D33524-E398-FAAF-A8D6-C53BBBFE9801}"/>
              </a:ext>
            </a:extLst>
          </p:cNvPr>
          <p:cNvSpPr txBox="1"/>
          <p:nvPr/>
        </p:nvSpPr>
        <p:spPr>
          <a:xfrm>
            <a:off x="266700" y="2980647"/>
            <a:ext cx="9486900" cy="210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/>
            <a:r>
              <a:rPr lang="es-ES">
                <a:solidFill>
                  <a:srgbClr val="FE7900"/>
                </a:solidFill>
              </a:rPr>
              <a:t>PARA MUESTRAS MULTIETÁPICAS</a:t>
            </a:r>
            <a:r>
              <a:rPr lang="en-US" b="0"/>
              <a:t>:</a:t>
            </a:r>
            <a:r>
              <a:rPr lang="en-US"/>
              <a:t> </a:t>
            </a:r>
            <a:r>
              <a:rPr lang="es-ES" b="0"/>
              <a:t>Una variable por cada etapa de muestreo: p. ej., </a:t>
            </a:r>
            <a:r>
              <a:rPr lang="en-US">
                <a:latin typeface="Consolas" panose="020B0609020204030204" pitchFamily="49" charset="0"/>
              </a:rPr>
              <a:t>c(SCHOOL, STUDENT)</a:t>
            </a:r>
            <a:r>
              <a:rPr lang="es-ES" b="0"/>
              <a:t>. Solo aplica a </a:t>
            </a:r>
            <a:r>
              <a:rPr lang="en-US"/>
              <a:t>ids</a:t>
            </a:r>
            <a:r>
              <a:rPr lang="en-US" b="0"/>
              <a:t>, </a:t>
            </a:r>
            <a:r>
              <a:rPr lang="en-US"/>
              <a:t>strata</a:t>
            </a:r>
            <a:r>
              <a:rPr lang="en-US" b="0"/>
              <a:t>, </a:t>
            </a:r>
            <a:r>
              <a:rPr lang="en-US" err="1"/>
              <a:t>fpc</a:t>
            </a:r>
            <a:r>
              <a:rPr lang="es-ES" b="0"/>
              <a:t> y </a:t>
            </a:r>
            <a:r>
              <a:rPr lang="en-US"/>
              <a:t>probs</a:t>
            </a:r>
            <a:r>
              <a:rPr lang="en-US" b="0"/>
              <a:t>.</a:t>
            </a:r>
            <a:endParaRPr b="0"/>
          </a:p>
        </p:txBody>
      </p:sp>
      <p:sp>
        <p:nvSpPr>
          <p:cNvPr id="30" name="Line">
            <a:extLst>
              <a:ext uri="{FF2B5EF4-FFF2-40B4-BE49-F238E27FC236}">
                <a16:creationId xmlns:a16="http://schemas.microsoft.com/office/drawing/2014/main" id="{AB5E8E21-B3BE-0B44-F5F2-5C01A5D66F41}"/>
              </a:ext>
            </a:extLst>
          </p:cNvPr>
          <p:cNvSpPr/>
          <p:nvPr/>
        </p:nvSpPr>
        <p:spPr>
          <a:xfrm rot="5400000" flipV="1">
            <a:off x="5134923" y="5682259"/>
            <a:ext cx="9401648" cy="0"/>
          </a:xfrm>
          <a:prstGeom prst="line">
            <a:avLst/>
          </a:prstGeom>
          <a:ln w="3175">
            <a:solidFill>
              <a:srgbClr val="767C85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4" name="Cheatsheets make it easy for R users…">
            <a:extLst>
              <a:ext uri="{FF2B5EF4-FFF2-40B4-BE49-F238E27FC236}">
                <a16:creationId xmlns:a16="http://schemas.microsoft.com/office/drawing/2014/main" id="{D7ECE64F-1A78-E777-AE74-7D648B68932E}"/>
              </a:ext>
            </a:extLst>
          </p:cNvPr>
          <p:cNvSpPr txBox="1"/>
          <p:nvPr/>
        </p:nvSpPr>
        <p:spPr>
          <a:xfrm>
            <a:off x="9906000" y="1892930"/>
            <a:ext cx="3771900" cy="1203642"/>
          </a:xfrm>
          <a:prstGeom prst="rect">
            <a:avLst/>
          </a:prstGeom>
          <a:ln w="12700">
            <a:solidFill>
              <a:schemeClr val="bg1">
                <a:lumMod val="75000"/>
              </a:schemeClr>
            </a:solidFill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12700" tIns="12700" rIns="12700" bIns="12700"/>
          <a:lstStyle/>
          <a:p>
            <a:pPr>
              <a:lnSpc>
                <a:spcPct val="90000"/>
              </a:lnSpc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r>
              <a:rPr lang="en-US">
                <a:latin typeface="Consolas" panose="020B0609020204030204" pitchFamily="49" charset="0"/>
              </a:rPr>
              <a:t> design &lt;- </a:t>
            </a:r>
            <a:r>
              <a:rPr lang="en-US" err="1">
                <a:latin typeface="Consolas" panose="020B0609020204030204" pitchFamily="49" charset="0"/>
              </a:rPr>
              <a:t>as_survey_rep</a:t>
            </a:r>
            <a:r>
              <a:rPr lang="en-US"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90000"/>
              </a:lnSpc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r>
              <a:rPr lang="en-US">
                <a:latin typeface="Consolas" panose="020B0609020204030204" pitchFamily="49" charset="0"/>
              </a:rPr>
              <a:t>   </a:t>
            </a:r>
            <a:r>
              <a:rPr lang="en-US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en-US">
                <a:solidFill>
                  <a:srgbClr val="002060"/>
                </a:solidFill>
                <a:latin typeface="Consolas" panose="020B0609020204030204" pitchFamily="49" charset="0"/>
              </a:rPr>
              <a:t>data</a:t>
            </a:r>
            <a:r>
              <a:rPr lang="en-US">
                <a:latin typeface="Consolas" panose="020B0609020204030204" pitchFamily="49" charset="0"/>
              </a:rPr>
              <a:t>      = </a:t>
            </a:r>
            <a:r>
              <a:rPr lang="en-US" err="1">
                <a:latin typeface="Consolas" panose="020B0609020204030204" pitchFamily="49" charset="0"/>
              </a:rPr>
              <a:t>my_data_frame</a:t>
            </a:r>
            <a:r>
              <a:rPr lang="en-US"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90000"/>
              </a:lnSpc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r>
              <a:rPr lang="en-US">
                <a:solidFill>
                  <a:srgbClr val="002060"/>
                </a:solidFill>
                <a:latin typeface="Consolas" panose="020B0609020204030204" pitchFamily="49" charset="0"/>
              </a:rPr>
              <a:t>   weights</a:t>
            </a:r>
            <a:r>
              <a:rPr lang="en-US">
                <a:latin typeface="Consolas" panose="020B0609020204030204" pitchFamily="49" charset="0"/>
              </a:rPr>
              <a:t>    = _,</a:t>
            </a:r>
          </a:p>
          <a:p>
            <a:pPr>
              <a:lnSpc>
                <a:spcPct val="90000"/>
              </a:lnSpc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r>
              <a:rPr lang="en-US">
                <a:latin typeface="Consolas" panose="020B0609020204030204" pitchFamily="49" charset="0"/>
              </a:rPr>
              <a:t>   </a:t>
            </a:r>
            <a:r>
              <a:rPr lang="en-US" err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repweights</a:t>
            </a:r>
            <a:r>
              <a:rPr lang="en-US">
                <a:latin typeface="Consolas" panose="020B0609020204030204" pitchFamily="49" charset="0"/>
              </a:rPr>
              <a:t> = _,</a:t>
            </a:r>
          </a:p>
          <a:p>
            <a:pPr>
              <a:lnSpc>
                <a:spcPct val="90000"/>
              </a:lnSpc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r>
              <a:rPr lang="en-US">
                <a:latin typeface="Consolas" panose="020B0609020204030204" pitchFamily="49" charset="0"/>
              </a:rPr>
              <a:t>   </a:t>
            </a:r>
            <a:r>
              <a:rPr lang="en-US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type</a:t>
            </a:r>
            <a:r>
              <a:rPr lang="en-US">
                <a:latin typeface="Consolas" panose="020B0609020204030204" pitchFamily="49" charset="0"/>
              </a:rPr>
              <a:t>       = _,</a:t>
            </a:r>
          </a:p>
          <a:p>
            <a:pPr>
              <a:lnSpc>
                <a:spcPct val="90000"/>
              </a:lnSpc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r>
              <a:rPr lang="en-US">
                <a:latin typeface="Consolas" panose="020B0609020204030204" pitchFamily="49" charset="0"/>
              </a:rPr>
              <a:t>   </a:t>
            </a:r>
            <a:r>
              <a:rPr lang="en-US" err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mse</a:t>
            </a:r>
            <a:r>
              <a:rPr lang="en-US">
                <a:latin typeface="Consolas" panose="020B0609020204030204" pitchFamily="49" charset="0"/>
              </a:rPr>
              <a:t>        = _</a:t>
            </a:r>
          </a:p>
          <a:p>
            <a:pPr>
              <a:lnSpc>
                <a:spcPct val="90000"/>
              </a:lnSpc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r>
              <a:rPr lang="en-US">
                <a:latin typeface="Consolas" panose="020B0609020204030204" pitchFamily="49" charset="0"/>
              </a:rPr>
              <a:t> )</a:t>
            </a:r>
            <a:endParaRPr>
              <a:latin typeface="Consolas" panose="020B0609020204030204" pitchFamily="49" charset="0"/>
            </a:endParaRPr>
          </a:p>
        </p:txBody>
      </p:sp>
      <p:pic>
        <p:nvPicPr>
          <p:cNvPr id="36" name="Picture 35" descr="A sign with a person holding a telescope&#10;&#10;Description automatically generated">
            <a:extLst>
              <a:ext uri="{FF2B5EF4-FFF2-40B4-BE49-F238E27FC236}">
                <a16:creationId xmlns:a16="http://schemas.microsoft.com/office/drawing/2014/main" id="{904EBD21-14FB-05F6-BC69-5A55B879E3F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14309" y="-6284"/>
            <a:ext cx="1455691" cy="1455691"/>
          </a:xfrm>
          <a:prstGeom prst="rect">
            <a:avLst/>
          </a:prstGeom>
        </p:spPr>
      </p:pic>
      <p:sp>
        <p:nvSpPr>
          <p:cNvPr id="37" name="Select multiple elements by holding down shift and then selecting each. Click on a selected element before letting go of shift to unselect it.…">
            <a:extLst>
              <a:ext uri="{FF2B5EF4-FFF2-40B4-BE49-F238E27FC236}">
                <a16:creationId xmlns:a16="http://schemas.microsoft.com/office/drawing/2014/main" id="{10E545CD-F8FD-3CB6-852A-0B1F1EFA1C04}"/>
              </a:ext>
            </a:extLst>
          </p:cNvPr>
          <p:cNvSpPr txBox="1"/>
          <p:nvPr/>
        </p:nvSpPr>
        <p:spPr>
          <a:xfrm>
            <a:off x="9851390" y="3400272"/>
            <a:ext cx="3826510" cy="2655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54570" tIns="54570" rIns="54570" bIns="54570" anchor="b">
            <a:spAutoFit/>
          </a:bodyPr>
          <a:lstStyle/>
          <a:p>
            <a:pPr marL="114300" indent="-114300" algn="just">
              <a:lnSpc>
                <a:spcPct val="90000"/>
              </a:lnSpc>
              <a:spcBef>
                <a:spcPts val="500"/>
              </a:spcBef>
              <a:buSzPct val="100000"/>
              <a:buChar char="•"/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b="1">
                <a:latin typeface="Source Sans Pro" panose="020B0503030403020204" pitchFamily="34" charset="0"/>
                <a:ea typeface="Source Sans Pro" panose="020B0503030403020204" pitchFamily="34" charset="0"/>
                <a:sym typeface="Source Sans Pro"/>
              </a:rPr>
              <a:t>weights</a:t>
            </a:r>
            <a:r>
              <a:rPr lang="en-US" b="1">
                <a:latin typeface="Source Sans Pro" panose="020B0503030403020204" pitchFamily="34" charset="0"/>
                <a:ea typeface="Source Sans Pro" panose="020B0503030403020204" pitchFamily="34" charset="0"/>
              </a:rPr>
              <a:t>:</a:t>
            </a:r>
            <a:r>
              <a:rPr lang="es-ES" b="0">
                <a:latin typeface="Source Sans Pro" panose="020B0503030403020204" pitchFamily="34" charset="0"/>
                <a:ea typeface="Source Sans Pro" panose="020B0503030403020204" pitchFamily="34" charset="0"/>
              </a:rPr>
              <a:t> Variable con los pesos de la muestra completa</a:t>
            </a:r>
          </a:p>
          <a:p>
            <a:pPr marL="114300" indent="-114300" algn="just">
              <a:lnSpc>
                <a:spcPct val="90000"/>
              </a:lnSpc>
              <a:spcBef>
                <a:spcPts val="500"/>
              </a:spcBef>
              <a:buSzPct val="100000"/>
              <a:buChar char="•"/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b="1" err="1">
                <a:latin typeface="Source Sans Pro" panose="020B0503030403020204" pitchFamily="34" charset="0"/>
                <a:ea typeface="Source Sans Pro" panose="020B0503030403020204" pitchFamily="34" charset="0"/>
                <a:sym typeface="Source Sans Pro"/>
              </a:rPr>
              <a:t>repweights</a:t>
            </a:r>
            <a:r>
              <a:rPr lang="en-US" b="0">
                <a:latin typeface="Source Sans Pro" panose="020B0503030403020204" pitchFamily="34" charset="0"/>
                <a:ea typeface="Source Sans Pro" panose="020B0503030403020204" pitchFamily="34" charset="0"/>
                <a:sym typeface="Source Sans Pro"/>
              </a:rPr>
              <a:t>: </a:t>
            </a:r>
            <a:r>
              <a:rPr lang="es-ES" b="0">
                <a:latin typeface="Source Sans Pro" panose="020B0503030403020204" pitchFamily="34" charset="0"/>
                <a:ea typeface="Source Sans Pro" panose="020B0503030403020204" pitchFamily="34" charset="0"/>
              </a:rPr>
              <a:t>Variables con los pesos replicados. Funciones auxiliares útiles para listarlas:</a:t>
            </a:r>
          </a:p>
          <a:p>
            <a:pPr algn="just">
              <a:lnSpc>
                <a:spcPct val="90000"/>
              </a:lnSpc>
              <a:spcBef>
                <a:spcPts val="500"/>
              </a:spcBef>
              <a:buSzPct val="100000"/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b="0">
                <a:latin typeface="Source Sans Pro" panose="020B0503030403020204" pitchFamily="34" charset="0"/>
                <a:ea typeface="Source Sans Pro" panose="020B0503030403020204" pitchFamily="34" charset="0"/>
              </a:rPr>
              <a:t>           - </a:t>
            </a:r>
            <a:r>
              <a:rPr kumimoji="0" lang="en-US" sz="1200" b="1" i="0" u="none" strike="noStrike" kern="0" cap="none" spc="0" normalizeH="0" baseline="0" noProof="0" err="1">
                <a:ln>
                  <a:noFill/>
                </a:ln>
                <a:solidFill>
                  <a:srgbClr val="4C4C4C"/>
                </a:solidFill>
                <a:effectLst/>
                <a:uLnTx/>
                <a:uFillTx/>
                <a:latin typeface="Source Sans Pro"/>
                <a:ea typeface="Source Sans Pro"/>
                <a:sym typeface="Source Sans Pro"/>
              </a:rPr>
              <a:t>num_range</a:t>
            </a: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4C4C4C"/>
                </a:solidFill>
                <a:effectLst/>
                <a:uLnTx/>
                <a:uFillTx/>
                <a:latin typeface="Source Sans Pro"/>
                <a:ea typeface="Source Sans Pro"/>
                <a:sym typeface="Source Sans Pro"/>
              </a:rPr>
              <a:t>(</a:t>
            </a:r>
            <a:r>
              <a:rPr kumimoji="0" lang="es-ES" sz="1200" b="0" i="0" u="none" strike="noStrike" kern="0" cap="none" spc="0" normalizeH="0" baseline="0" noProof="0">
                <a:ln>
                  <a:noFill/>
                </a:ln>
                <a:solidFill>
                  <a:srgbClr val="4C4C4C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sym typeface="Source Sans Pro"/>
              </a:rPr>
              <a:t>"</a:t>
            </a:r>
            <a:r>
              <a:rPr lang="es-ES" b="0">
                <a:latin typeface="Source Sans Pro" panose="020B0503030403020204" pitchFamily="34" charset="0"/>
                <a:ea typeface="Source Sans Pro" panose="020B0503030403020204" pitchFamily="34" charset="0"/>
              </a:rPr>
              <a:t>REP_WGT"</a:t>
            </a: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4C4C4C"/>
                </a:solidFill>
                <a:effectLst/>
                <a:uLnTx/>
                <a:uFillTx/>
                <a:latin typeface="Source Sans Pro"/>
                <a:ea typeface="Source Sans Pro"/>
                <a:sym typeface="Source Sans Pro"/>
              </a:rPr>
              <a:t>,</a:t>
            </a:r>
            <a:r>
              <a:rPr lang="en-US" b="0">
                <a:latin typeface="Source Sans Pro" panose="020B0503030403020204" pitchFamily="34" charset="0"/>
                <a:ea typeface="Source Sans Pro" panose="020B0503030403020204" pitchFamily="34" charset="0"/>
              </a:rPr>
              <a:t> 1:80</a:t>
            </a: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4C4C4C"/>
                </a:solidFill>
                <a:effectLst/>
                <a:uLnTx/>
                <a:uFillTx/>
                <a:latin typeface="Source Sans Pro"/>
                <a:ea typeface="Source Sans Pro"/>
                <a:sym typeface="Source Sans Pro"/>
              </a:rPr>
              <a:t>)</a:t>
            </a:r>
            <a:r>
              <a:rPr lang="en-US" b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  <a:p>
            <a:pPr algn="just">
              <a:lnSpc>
                <a:spcPct val="90000"/>
              </a:lnSpc>
              <a:spcBef>
                <a:spcPts val="500"/>
              </a:spcBef>
              <a:buSzPct val="100000"/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b="0">
                <a:latin typeface="Source Sans Pro" panose="020B0503030403020204" pitchFamily="34" charset="0"/>
                <a:ea typeface="Source Sans Pro" panose="020B0503030403020204" pitchFamily="34" charset="0"/>
              </a:rPr>
              <a:t>           - </a:t>
            </a:r>
            <a:r>
              <a:rPr kumimoji="0" lang="en-US" sz="1200" b="1" i="0" u="none" strike="noStrike" kern="0" cap="none" spc="0" normalizeH="0" baseline="0" noProof="0" err="1">
                <a:ln>
                  <a:noFill/>
                </a:ln>
                <a:solidFill>
                  <a:srgbClr val="4C4C4C"/>
                </a:solidFill>
                <a:effectLst/>
                <a:uLnTx/>
                <a:uFillTx/>
                <a:latin typeface="Source Sans Pro"/>
                <a:ea typeface="Source Sans Pro"/>
                <a:sym typeface="Source Sans Pro"/>
              </a:rPr>
              <a:t>starts_with</a:t>
            </a: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4C4C4C"/>
                </a:solidFill>
                <a:effectLst/>
                <a:uLnTx/>
                <a:uFillTx/>
                <a:latin typeface="Source Sans Pro"/>
                <a:ea typeface="Source Sans Pro"/>
                <a:sym typeface="Source Sans Pro"/>
              </a:rPr>
              <a:t>(</a:t>
            </a:r>
            <a:r>
              <a:rPr lang="es-ES" b="0">
                <a:latin typeface="Source Sans Pro" panose="020B0503030403020204" pitchFamily="34" charset="0"/>
                <a:ea typeface="Source Sans Pro" panose="020B0503030403020204" pitchFamily="34" charset="0"/>
              </a:rPr>
              <a:t>"REP_WGT"</a:t>
            </a: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4C4C4C"/>
                </a:solidFill>
                <a:effectLst/>
                <a:uLnTx/>
                <a:uFillTx/>
                <a:latin typeface="Source Sans Pro"/>
                <a:ea typeface="Source Sans Pro"/>
                <a:sym typeface="Source Sans Pro"/>
              </a:rPr>
              <a:t>)</a:t>
            </a:r>
            <a:endParaRPr lang="en-US" b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114300" indent="-114300" algn="just">
              <a:lnSpc>
                <a:spcPct val="90000"/>
              </a:lnSpc>
              <a:spcBef>
                <a:spcPts val="500"/>
              </a:spcBef>
              <a:buSzPct val="100000"/>
              <a:buChar char="•"/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b="1">
                <a:latin typeface="Source Sans Pro" panose="020B0503030403020204" pitchFamily="34" charset="0"/>
                <a:ea typeface="Source Sans Pro" panose="020B0503030403020204" pitchFamily="34" charset="0"/>
                <a:sym typeface="Source Sans Pro"/>
              </a:rPr>
              <a:t>type:</a:t>
            </a:r>
            <a:r>
              <a:rPr lang="es-ES" b="0">
                <a:latin typeface="Source Sans Pro" panose="020B0503030403020204" pitchFamily="34" charset="0"/>
                <a:ea typeface="Source Sans Pro" panose="020B0503030403020204" pitchFamily="34" charset="0"/>
              </a:rPr>
              <a:t> Método con el que se crearon los pesos replicados (p. ej., “bootstrap”, “JK1” o “BRR”). Para más flexibilidad, usa type = “other” y los argumentos “scale” y “</a:t>
            </a:r>
            <a:r>
              <a:rPr lang="en-US" b="0" err="1">
                <a:latin typeface="Source Sans Pro" panose="020B0503030403020204" pitchFamily="34" charset="0"/>
                <a:ea typeface="Source Sans Pro" panose="020B0503030403020204" pitchFamily="34" charset="0"/>
              </a:rPr>
              <a:t>rscales</a:t>
            </a:r>
            <a:r>
              <a:rPr lang="es-ES" b="0">
                <a:latin typeface="Source Sans Pro" panose="020B0503030403020204" pitchFamily="34" charset="0"/>
                <a:ea typeface="Source Sans Pro" panose="020B0503030403020204" pitchFamily="34" charset="0"/>
              </a:rPr>
              <a:t>” (ver “Factores de escala” abajo).</a:t>
            </a:r>
          </a:p>
          <a:p>
            <a:pPr marL="114300" indent="-114300" algn="just">
              <a:lnSpc>
                <a:spcPct val="90000"/>
              </a:lnSpc>
              <a:spcBef>
                <a:spcPts val="500"/>
              </a:spcBef>
              <a:buSzPct val="100000"/>
              <a:buChar char="•"/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b="1" err="1">
                <a:latin typeface="Source Sans Pro" panose="020B0503030403020204" pitchFamily="34" charset="0"/>
                <a:ea typeface="Source Sans Pro" panose="020B0503030403020204" pitchFamily="34" charset="0"/>
                <a:sym typeface="Source Sans Pro"/>
              </a:rPr>
              <a:t>mse</a:t>
            </a:r>
            <a:r>
              <a:rPr lang="en-US" b="1">
                <a:latin typeface="Source Sans Pro" panose="020B0503030403020204" pitchFamily="34" charset="0"/>
                <a:ea typeface="Source Sans Pro" panose="020B0503030403020204" pitchFamily="34" charset="0"/>
                <a:sym typeface="Source Sans Pro"/>
              </a:rPr>
              <a:t>:</a:t>
            </a:r>
            <a:r>
              <a:rPr lang="es-ES" b="0">
                <a:latin typeface="Source Sans Pro" panose="020B0503030403020204" pitchFamily="34" charset="0"/>
                <a:ea typeface="Source Sans Pro" panose="020B0503030403020204" pitchFamily="34" charset="0"/>
                <a:sym typeface="Source Sans Pro"/>
              </a:rPr>
              <a:t> Con TRUE</a:t>
            </a:r>
            <a:r>
              <a:rPr lang="es-ES" b="0">
                <a:latin typeface="Source Sans Pro" panose="020B0503030403020204" pitchFamily="34" charset="0"/>
                <a:ea typeface="Source Sans Pro" panose="020B0503030403020204" pitchFamily="34" charset="0"/>
              </a:rPr>
              <a:t>,</a:t>
            </a:r>
            <a:r>
              <a:rPr lang="es-ES" b="0">
                <a:latin typeface="Source Sans Pro" panose="020B0503030403020204" pitchFamily="34" charset="0"/>
                <a:ea typeface="Source Sans Pro" panose="020B0503030403020204" pitchFamily="34" charset="0"/>
                <a:sym typeface="Source Sans Pro"/>
              </a:rPr>
              <a:t> la varianza usa cuadrados en torno a la estimación de la muestra completa</a:t>
            </a:r>
            <a:r>
              <a:rPr lang="en-US" b="0">
                <a:latin typeface="Source Sans Pro" panose="020B0503030403020204" pitchFamily="34" charset="0"/>
                <a:ea typeface="Source Sans Pro" panose="020B0503030403020204" pitchFamily="34" charset="0"/>
              </a:rPr>
              <a:t>;</a:t>
            </a:r>
            <a:r>
              <a:rPr lang="es-ES" b="0">
                <a:latin typeface="Source Sans Pro" panose="020B0503030403020204" pitchFamily="34" charset="0"/>
                <a:ea typeface="Source Sans Pro" panose="020B0503030403020204" pitchFamily="34" charset="0"/>
                <a:sym typeface="Source Sans Pro"/>
              </a:rPr>
              <a:t> con FALSE, en torno a la media de las réplicas</a:t>
            </a:r>
          </a:p>
          <a:p>
            <a:pPr marL="114300" indent="-114300" algn="just">
              <a:lnSpc>
                <a:spcPct val="90000"/>
              </a:lnSpc>
              <a:spcBef>
                <a:spcPts val="500"/>
              </a:spcBef>
              <a:buSzPct val="100000"/>
              <a:buChar char="•"/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b="1" err="1">
                <a:latin typeface="Source Sans Pro" panose="020B0503030403020204" pitchFamily="34" charset="0"/>
                <a:ea typeface="Source Sans Pro" panose="020B0503030403020204" pitchFamily="34" charset="0"/>
                <a:sym typeface="Source Sans Pro"/>
              </a:rPr>
              <a:t>degf</a:t>
            </a:r>
            <a:r>
              <a:rPr lang="es-ES">
                <a:latin typeface="Source Sans Pro" panose="020B0503030403020204" pitchFamily="34" charset="0"/>
                <a:ea typeface="Source Sans Pro" panose="020B0503030403020204" pitchFamily="34" charset="0"/>
                <a:sym typeface="Source Sans Pro"/>
              </a:rPr>
              <a:t>: (Opcional) Indica los grados de libertad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A9E1A12-52A8-C283-A94F-9FBCD11FE680}"/>
              </a:ext>
            </a:extLst>
          </p:cNvPr>
          <p:cNvSpPr txBox="1"/>
          <p:nvPr/>
        </p:nvSpPr>
        <p:spPr>
          <a:xfrm>
            <a:off x="9814560" y="3139202"/>
            <a:ext cx="1612870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>
                <a:solidFill>
                  <a:srgbClr val="FE7900"/>
                </a:solidFill>
              </a:rPr>
              <a:t> ARGUMENTOS</a:t>
            </a:r>
          </a:p>
        </p:txBody>
      </p:sp>
      <p:sp>
        <p:nvSpPr>
          <p:cNvPr id="42" name="Basics">
            <a:extLst>
              <a:ext uri="{FF2B5EF4-FFF2-40B4-BE49-F238E27FC236}">
                <a16:creationId xmlns:a16="http://schemas.microsoft.com/office/drawing/2014/main" id="{5309FA91-8CDA-4E02-92F2-9691B97F127C}"/>
              </a:ext>
            </a:extLst>
          </p:cNvPr>
          <p:cNvSpPr txBox="1"/>
          <p:nvPr/>
        </p:nvSpPr>
        <p:spPr>
          <a:xfrm>
            <a:off x="266700" y="9008921"/>
            <a:ext cx="3241892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s-ES">
                <a:solidFill>
                  <a:srgbClr val="FE7900"/>
                </a:solidFill>
              </a:rPr>
              <a:t>Bases de datos</a:t>
            </a:r>
            <a:endParaRPr>
              <a:solidFill>
                <a:srgbClr val="FE7900"/>
              </a:solidFill>
            </a:endParaRPr>
          </a:p>
        </p:txBody>
      </p:sp>
      <p:sp>
        <p:nvSpPr>
          <p:cNvPr id="44" name="Line">
            <a:extLst>
              <a:ext uri="{FF2B5EF4-FFF2-40B4-BE49-F238E27FC236}">
                <a16:creationId xmlns:a16="http://schemas.microsoft.com/office/drawing/2014/main" id="{F7BFCB91-6FC3-868F-3836-EB8A9AD1F8E8}"/>
              </a:ext>
            </a:extLst>
          </p:cNvPr>
          <p:cNvSpPr/>
          <p:nvPr/>
        </p:nvSpPr>
        <p:spPr>
          <a:xfrm>
            <a:off x="279400" y="8910627"/>
            <a:ext cx="9474200" cy="901"/>
          </a:xfrm>
          <a:prstGeom prst="line">
            <a:avLst/>
          </a:prstGeom>
          <a:ln w="3175">
            <a:solidFill>
              <a:srgbClr val="767C85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lang="en-US"/>
          </a:p>
        </p:txBody>
      </p:sp>
      <p:sp>
        <p:nvSpPr>
          <p:cNvPr id="45" name="This template uses several fonts: Helvetica Neue, Menlo, Source Sans pro, which you can acquire for free here,  www.fontsquirrel.com/fonts/source-sans-pro, and Font Awesome, which you can acquire here, fortawesome.github.io/Font-Awesome/get-started/">
            <a:extLst>
              <a:ext uri="{FF2B5EF4-FFF2-40B4-BE49-F238E27FC236}">
                <a16:creationId xmlns:a16="http://schemas.microsoft.com/office/drawing/2014/main" id="{F0A3D2E6-8E10-D9DA-6579-00698EE15BF9}"/>
              </a:ext>
            </a:extLst>
          </p:cNvPr>
          <p:cNvSpPr txBox="1"/>
          <p:nvPr/>
        </p:nvSpPr>
        <p:spPr>
          <a:xfrm>
            <a:off x="224790" y="9354610"/>
            <a:ext cx="3454964" cy="8858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54570" tIns="54570" rIns="54570" bIns="54570" anchor="ctr">
            <a:spAutoFit/>
          </a:bodyPr>
          <a:lstStyle/>
          <a:p>
            <a:pPr algn="just"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s-ES" sz="1400" b="0"/>
              <a:t>Con datos grandes, puedes guardarlos en una tabla de una base de datos y cargarlos en R solo cuando haga falta. Para saber más, mira la viñeta de </a:t>
            </a:r>
            <a:r>
              <a:rPr lang="en-US" sz="1400" b="0" err="1"/>
              <a:t>srvyr</a:t>
            </a:r>
            <a:r>
              <a:rPr lang="es-ES" sz="1400" b="0"/>
              <a:t> </a:t>
            </a:r>
            <a:r>
              <a:rPr lang="en-US" sz="1400" b="1" i="0" u="sng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  <a:hlinkClick r:id="rId6"/>
              </a:rPr>
              <a:t>“Databases in </a:t>
            </a:r>
            <a:r>
              <a:rPr lang="en-US" sz="1400" b="1" i="0" u="sng" err="1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  <a:hlinkClick r:id="rId6"/>
              </a:rPr>
              <a:t>srvyr</a:t>
            </a:r>
            <a:r>
              <a:rPr lang="en-US" sz="1400" b="1" i="0" u="sng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  <a:hlinkClick r:id="rId6"/>
              </a:rPr>
              <a:t>”</a:t>
            </a:r>
            <a:r>
              <a:rPr lang="en-US" sz="1400" b="0" u="sng"/>
              <a:t>. </a:t>
            </a:r>
            <a:endParaRPr lang="en-US" sz="1400" b="1" i="0" u="sng">
              <a:solidFill>
                <a:srgbClr val="000000"/>
              </a:solidFill>
              <a:effectLst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BE334C4-88D4-D2FB-CCF6-2A193F4F6172}"/>
              </a:ext>
            </a:extLst>
          </p:cNvPr>
          <p:cNvSpPr txBox="1"/>
          <p:nvPr/>
        </p:nvSpPr>
        <p:spPr>
          <a:xfrm>
            <a:off x="9814560" y="7615550"/>
            <a:ext cx="4037925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/>
              <a:t> FACTORES DE ESCALA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Select multiple elements by holding down shift and then selecting each. Click on a selected element before letting go of shift to unselect it.…">
                <a:extLst>
                  <a:ext uri="{FF2B5EF4-FFF2-40B4-BE49-F238E27FC236}">
                    <a16:creationId xmlns:a16="http://schemas.microsoft.com/office/drawing/2014/main" id="{94ABC2E5-F1B3-12F9-AA5E-5C23F539CEFB}"/>
                  </a:ext>
                </a:extLst>
              </p:cNvPr>
              <p:cNvSpPr txBox="1"/>
              <p:nvPr/>
            </p:nvSpPr>
            <p:spPr>
              <a:xfrm>
                <a:off x="9851390" y="7818981"/>
                <a:ext cx="3826510" cy="2318183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="http://schemas.openxmlformats.org/officeDocument/2006/math" xmlns:ma14="http://schemas.microsoft.com/office/mac/drawingml/2011/main" xmlns="" val="1"/>
                </a:ext>
              </a:extLst>
            </p:spPr>
            <p:txBody>
              <a:bodyPr wrap="square" lIns="54570" tIns="54570" rIns="54570" bIns="54570" anchor="b">
                <a:spAutoFit/>
              </a:bodyPr>
              <a:lstStyle/>
              <a:p>
                <a:pPr algn="just">
                  <a:lnSpc>
                    <a:spcPct val="90000"/>
                  </a:lnSpc>
                  <a:spcBef>
                    <a:spcPts val="500"/>
                  </a:spcBef>
                  <a:buSzPct val="100000"/>
                  <a:defRPr b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  <a:sym typeface="Source Sans Pro Light"/>
                  </a:defRPr>
                </a:pPr>
                <a:r>
                  <a:rPr lang="es-ES" b="0">
                    <a:latin typeface="Source Sans Pro" panose="020B0503030403020204" pitchFamily="34" charset="0"/>
                    <a:ea typeface="Source Sans Pro" panose="020B0503030403020204" pitchFamily="34" charset="0"/>
                    <a:sym typeface="Source Sans Pro"/>
                  </a:rPr>
                  <a:t>Todos los tipos de replicación usan la misma fórmula de varianza, con factores de escala </a:t>
                </a:r>
                <a:r>
                  <a:rPr lang="en-US">
                    <a:latin typeface="Source Sans Pro Semibold" panose="020B0603030403020204" pitchFamily="34" charset="0"/>
                    <a:ea typeface="Source Sans Pro Semibold" panose="020B0603030403020204" pitchFamily="34" charset="0"/>
                    <a:sym typeface="Source Sans Pro"/>
                  </a:rPr>
                  <a:t>scale</a:t>
                </a:r>
                <a:r>
                  <a:rPr lang="es-ES">
                    <a:latin typeface="Source Sans Pro" panose="020B0503030403020204" pitchFamily="34" charset="0"/>
                    <a:ea typeface="Source Sans Pro" panose="020B0503030403020204" pitchFamily="34" charset="0"/>
                    <a:sym typeface="Source Sans Pro"/>
                  </a:rPr>
                  <a:t> y </a:t>
                </a:r>
                <a:r>
                  <a:rPr lang="en-US" err="1">
                    <a:latin typeface="Source Sans Pro Semibold" panose="020B0603030403020204" pitchFamily="34" charset="0"/>
                    <a:ea typeface="Source Sans Pro Semibold" panose="020B0603030403020204" pitchFamily="34" charset="0"/>
                    <a:sym typeface="Source Sans Pro"/>
                  </a:rPr>
                  <a:t>rscales</a:t>
                </a:r>
                <a:r>
                  <a:rPr lang="es-ES">
                    <a:latin typeface="Source Sans Pro" panose="020B0503030403020204" pitchFamily="34" charset="0"/>
                    <a:ea typeface="Source Sans Pro" panose="020B0503030403020204" pitchFamily="34" charset="0"/>
                    <a:sym typeface="Source Sans Pro"/>
                  </a:rPr>
                  <a:t>, que se calculan automáticamente salvo con </a:t>
                </a:r>
                <a:r>
                  <a:rPr lang="es-ES" b="1">
                    <a:latin typeface="Source Sans Pro" panose="020B0503030403020204" pitchFamily="34" charset="0"/>
                    <a:ea typeface="Source Sans Pro" panose="020B0503030403020204" pitchFamily="34" charset="0"/>
                    <a:sym typeface="Source Sans Pro"/>
                  </a:rPr>
                  <a:t>type = “other” o “</a:t>
                </a:r>
                <a:r>
                  <a:rPr lang="en-US" b="1" err="1">
                    <a:latin typeface="Source Sans Pro" panose="020B0503030403020204" pitchFamily="34" charset="0"/>
                    <a:ea typeface="Source Sans Pro" panose="020B0503030403020204" pitchFamily="34" charset="0"/>
                    <a:sym typeface="Source Sans Pro"/>
                  </a:rPr>
                  <a:t>JKn</a:t>
                </a:r>
                <a:r>
                  <a:rPr lang="en-US" b="1">
                    <a:latin typeface="Source Sans Pro" panose="020B0503030403020204" pitchFamily="34" charset="0"/>
                    <a:ea typeface="Source Sans Pro" panose="020B0503030403020204" pitchFamily="34" charset="0"/>
                    <a:sym typeface="Source Sans Pro"/>
                  </a:rPr>
                  <a:t>”</a:t>
                </a:r>
                <a:r>
                  <a:rPr lang="es-ES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; en ese caso se pueden usar </a:t>
                </a:r>
                <a:r>
                  <a:rPr lang="es-ES" b="1">
                    <a:latin typeface="Source Sans Pro" panose="020B0503030403020204" pitchFamily="34" charset="0"/>
                    <a:ea typeface="Source Sans Pro" panose="020B0503030403020204" pitchFamily="34" charset="0"/>
                    <a:sym typeface="Source Sans Pro"/>
                  </a:rPr>
                  <a:t>estos argumentos</a:t>
                </a:r>
                <a:r>
                  <a:rPr lang="en-US" b="1">
                    <a:latin typeface="Source Sans Pro" panose="020B0503030403020204" pitchFamily="34" charset="0"/>
                    <a:ea typeface="Source Sans Pro" panose="020B0503030403020204" pitchFamily="34" charset="0"/>
                    <a:sym typeface="Source Sans Pro"/>
                  </a:rPr>
                  <a:t>:</a:t>
                </a:r>
              </a:p>
              <a:p>
                <a:pPr marL="114300" indent="-114300">
                  <a:lnSpc>
                    <a:spcPct val="90000"/>
                  </a:lnSpc>
                  <a:spcBef>
                    <a:spcPts val="500"/>
                  </a:spcBef>
                  <a:buSzPct val="100000"/>
                  <a:buChar char="•"/>
                  <a:defRPr b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  <a:sym typeface="Source Sans Pro Light"/>
                  </a:defRPr>
                </a:pPr>
                <a:r>
                  <a:rPr lang="en-US" b="1">
                    <a:latin typeface="Source Sans Pro" panose="020B0503030403020204" pitchFamily="34" charset="0"/>
                    <a:ea typeface="Source Sans Pro" panose="020B0503030403020204" pitchFamily="34" charset="0"/>
                    <a:sym typeface="Source Sans Pro"/>
                  </a:rPr>
                  <a:t>scale</a:t>
                </a:r>
                <a:r>
                  <a:rPr lang="en-US" b="1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:</a:t>
                </a:r>
                <a:r>
                  <a:rPr lang="es-ES" b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Factor de escala global</a:t>
                </a:r>
              </a:p>
              <a:p>
                <a:pPr marL="114300" indent="-114300">
                  <a:lnSpc>
                    <a:spcPct val="90000"/>
                  </a:lnSpc>
                  <a:spcBef>
                    <a:spcPts val="500"/>
                  </a:spcBef>
                  <a:buSzPct val="100000"/>
                  <a:buChar char="•"/>
                  <a:defRPr b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  <a:sym typeface="Source Sans Pro Light"/>
                  </a:defRPr>
                </a:pPr>
                <a:r>
                  <a:rPr lang="en-US" b="1" err="1">
                    <a:latin typeface="Source Sans Pro" panose="020B0503030403020204" pitchFamily="34" charset="0"/>
                    <a:ea typeface="Source Sans Pro" panose="020B0503030403020204" pitchFamily="34" charset="0"/>
                    <a:sym typeface="Source Sans Pro"/>
                  </a:rPr>
                  <a:t>rscales</a:t>
                </a:r>
                <a:r>
                  <a:rPr lang="en-US" b="1">
                    <a:latin typeface="Source Sans Pro" panose="020B0503030403020204" pitchFamily="34" charset="0"/>
                    <a:ea typeface="Source Sans Pro" panose="020B0503030403020204" pitchFamily="34" charset="0"/>
                    <a:sym typeface="Source Sans Pro"/>
                  </a:rPr>
                  <a:t>:</a:t>
                </a:r>
                <a:r>
                  <a:rPr lang="es-ES" b="0">
                    <a:latin typeface="Source Sans Pro" panose="020B0503030403020204" pitchFamily="34" charset="0"/>
                    <a:ea typeface="Source Sans Pro" panose="020B0503030403020204" pitchFamily="34" charset="0"/>
                    <a:sym typeface="Source Sans Pro"/>
                  </a:rPr>
                  <a:t> Factores de escala de cada réplica</a:t>
                </a:r>
              </a:p>
              <a:p>
                <a:pPr>
                  <a:lnSpc>
                    <a:spcPct val="90000"/>
                  </a:lnSpc>
                  <a:spcBef>
                    <a:spcPts val="500"/>
                  </a:spcBef>
                  <a:buSzPct val="100000"/>
                  <a:defRPr b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  <a:sym typeface="Source Sans Pro Light"/>
                  </a:defRPr>
                </a:pPr>
                <a:endParaRPr lang="en-US" b="0">
                  <a:latin typeface="Source Sans Pro" panose="020B0503030403020204" pitchFamily="34" charset="0"/>
                  <a:ea typeface="Source Sans Pro" panose="020B0503030403020204" pitchFamily="34" charset="0"/>
                  <a:sym typeface="Source Sans Pro"/>
                </a:endParaRPr>
              </a:p>
              <a:p>
                <a:pPr>
                  <a:lnSpc>
                    <a:spcPct val="90000"/>
                  </a:lnSpc>
                  <a:spcBef>
                    <a:spcPts val="500"/>
                  </a:spcBef>
                  <a:buSzPct val="100000"/>
                  <a:defRPr b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  <a:sym typeface="Source Sans Pro Light"/>
                  </a:defRPr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1600" b="0" i="1"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V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Source Sans Pro" panose="020B0503030403020204" pitchFamily="34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ea typeface="Source Sans Pro" panose="020B050303040302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Source Sans Pro" panose="020B0503030403020204" pitchFamily="34" charset="0"/>
                                </a:rPr>
                                <m:t>𝜃</m:t>
                              </m:r>
                            </m:e>
                          </m:acc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𝐴</m:t>
                      </m:r>
                      <m:nary>
                        <m:naryPr>
                          <m:chr m:val="∑"/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Source Sans Pro" panose="020B0503030403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  <a:ea typeface="Source Sans Pro" panose="020B0503030403020204" pitchFamily="34" charset="0"/>
                            </a:rPr>
                            <m:t>𝑟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Source Sans Pro" panose="020B050303040302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Source Sans Pro" panose="020B0503030403020204" pitchFamily="34" charset="0"/>
                            </a:rPr>
                            <m:t>𝑅</m:t>
                          </m:r>
                        </m:sup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ea typeface="Source Sans Pro" panose="020B0503030403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Source Sans Pro" panose="020B0503030403020204" pitchFamily="34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Source Sans Pro" panose="020B0503030403020204" pitchFamily="34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Source Sans Pro" panose="020B0503030403020204" pitchFamily="34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ea typeface="Source Sans Pro" panose="020B050303040302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Source Sans Pro" panose="020B0503030403020204" pitchFamily="3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ea typeface="Source Sans Pro" panose="020B0503030403020204" pitchFamily="34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  <a:ea typeface="Source Sans Pro" panose="020B0503030403020204" pitchFamily="34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  <a:ea typeface="Source Sans Pro" panose="020B0503030403020204" pitchFamily="34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ea typeface="Source Sans Pro" panose="020B0503030403020204" pitchFamily="34" charset="0"/>
                                        </a:rPr>
                                        <m:t>𝑟</m:t>
                                      </m:r>
                                    </m:sub>
                                  </m:s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Source Sans Pro" panose="020B0503030403020204" pitchFamily="34" charset="0"/>
                                    </a:rPr>
                                    <m:t> 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ea typeface="Source Sans Pro" panose="020B0503030403020204" pitchFamily="34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ea typeface="Source Sans Pro" panose="020B0503030403020204" pitchFamily="34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Source Sans Pro" panose="020B0503030403020204" pitchFamily="3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Source Sans Pro" panose="020B0503030403020204" pitchFamily="34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b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>
                  <a:lnSpc>
                    <a:spcPct val="90000"/>
                  </a:lnSpc>
                  <a:spcBef>
                    <a:spcPts val="500"/>
                  </a:spcBef>
                  <a:buSzPct val="100000"/>
                  <a:defRPr b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  <a:sym typeface="Source Sans Pro Light"/>
                  </a:defRPr>
                </a:pPr>
                <a:endParaRPr lang="en-US" b="0">
                  <a:latin typeface="Source Sans Pro" panose="020B0503030403020204" pitchFamily="34" charset="0"/>
                  <a:ea typeface="Source Sans Pro" panose="020B0503030403020204" pitchFamily="34" charset="0"/>
                  <a:sym typeface="Source Sans Pro"/>
                </a:endParaRPr>
              </a:p>
            </p:txBody>
          </p:sp>
        </mc:Choice>
        <mc:Fallback>
          <p:sp>
            <p:nvSpPr>
              <p:cNvPr id="48" name="Select multiple elements by holding down shift and then selecting each. Click on a selected element before letting go of shift to unselect it.…">
                <a:extLst>
                  <a:ext uri="{FF2B5EF4-FFF2-40B4-BE49-F238E27FC236}">
                    <a16:creationId xmlns:a16="http://schemas.microsoft.com/office/drawing/2014/main" id="{94ABC2E5-F1B3-12F9-AA5E-5C23F539C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1390" y="7818981"/>
                <a:ext cx="3826510" cy="2318183"/>
              </a:xfrm>
              <a:prstGeom prst="rect">
                <a:avLst/>
              </a:prstGeom>
              <a:blipFill>
                <a:blip r:embed="rId7"/>
                <a:stretch>
                  <a:fillRect l="-1274" r="-955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a14="http://schemas.microsoft.com/office/drawing/2010/main" xmlns:m="http://schemas.openxmlformats.org/officeDocument/2006/math" xmlns:ma14="http://schemas.microsoft.com/office/mac/drawingml/2011/main" xmlns="" val="1"/>
                </a:ext>
              </a:extLst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Speech Bubble: Rectangle with Corners Rounded 48">
            <a:extLst>
              <a:ext uri="{FF2B5EF4-FFF2-40B4-BE49-F238E27FC236}">
                <a16:creationId xmlns:a16="http://schemas.microsoft.com/office/drawing/2014/main" id="{51C928DB-1640-1F1A-129C-71E7930E87F9}"/>
              </a:ext>
            </a:extLst>
          </p:cNvPr>
          <p:cNvSpPr/>
          <p:nvPr/>
        </p:nvSpPr>
        <p:spPr>
          <a:xfrm flipH="1">
            <a:off x="10729041" y="9062960"/>
            <a:ext cx="799885" cy="285379"/>
          </a:xfrm>
          <a:prstGeom prst="wedgeRoundRectCallout">
            <a:avLst>
              <a:gd name="adj1" fmla="val -33924"/>
              <a:gd name="adj2" fmla="val 98065"/>
              <a:gd name="adj3" fmla="val 16667"/>
            </a:avLst>
          </a:prstGeom>
          <a:blipFill rotWithShape="1">
            <a:blip r:embed="rId8"/>
            <a:srcRect/>
            <a:tile tx="0" ty="0" sx="100000" sy="100000" flip="none" algn="tl"/>
          </a:blip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scale</a:t>
            </a:r>
          </a:p>
        </p:txBody>
      </p:sp>
      <p:sp>
        <p:nvSpPr>
          <p:cNvPr id="50" name="Speech Bubble: Rectangle with Corners Rounded 49">
            <a:extLst>
              <a:ext uri="{FF2B5EF4-FFF2-40B4-BE49-F238E27FC236}">
                <a16:creationId xmlns:a16="http://schemas.microsoft.com/office/drawing/2014/main" id="{489766DA-0E03-E069-1631-BA6587E183AA}"/>
              </a:ext>
            </a:extLst>
          </p:cNvPr>
          <p:cNvSpPr/>
          <p:nvPr/>
        </p:nvSpPr>
        <p:spPr>
          <a:xfrm flipH="1">
            <a:off x="11979545" y="9040955"/>
            <a:ext cx="799885" cy="285379"/>
          </a:xfrm>
          <a:prstGeom prst="wedgeRoundRectCallout">
            <a:avLst>
              <a:gd name="adj1" fmla="val 36915"/>
              <a:gd name="adj2" fmla="val 98835"/>
              <a:gd name="adj3" fmla="val 16667"/>
            </a:avLst>
          </a:prstGeom>
          <a:blipFill rotWithShape="1">
            <a:blip r:embed="rId8"/>
            <a:srcRect/>
            <a:tile tx="0" ty="0" sx="100000" sy="100000" flip="none" algn="tl"/>
          </a:blip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i="0" u="none" strike="noStrike" cap="none" spc="0" normalizeH="0" baseline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rscales</a:t>
            </a:r>
            <a:endParaRPr kumimoji="0" lang="en-US" sz="120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57" name="ggplot(mpg, aes(hwy, cty)) +…">
            <a:extLst>
              <a:ext uri="{FF2B5EF4-FFF2-40B4-BE49-F238E27FC236}">
                <a16:creationId xmlns:a16="http://schemas.microsoft.com/office/drawing/2014/main" id="{F6775F1F-9B0C-A666-8FF2-66371E61D182}"/>
              </a:ext>
            </a:extLst>
          </p:cNvPr>
          <p:cNvSpPr txBox="1"/>
          <p:nvPr/>
        </p:nvSpPr>
        <p:spPr>
          <a:xfrm>
            <a:off x="6720848" y="8953500"/>
            <a:ext cx="3035300" cy="1402867"/>
          </a:xfrm>
          <a:prstGeom prst="rect">
            <a:avLst/>
          </a:prstGeom>
          <a:solidFill>
            <a:srgbClr val="FFFFFF"/>
          </a:solidFill>
          <a:ln w="12700">
            <a:solidFill>
              <a:srgbClr val="A6AAA9"/>
            </a:solidFill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54570" tIns="54570" rIns="54570" bIns="54570" anchor="ctr">
            <a:spAutoFit/>
          </a:bodyPr>
          <a:lstStyle/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en-US">
                <a:latin typeface="Consolas" panose="020B0609020204030204" pitchFamily="49" charset="0"/>
              </a:rPr>
              <a:t>library(DBI)</a:t>
            </a:r>
          </a:p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en-US">
                <a:latin typeface="Consolas" panose="020B0609020204030204" pitchFamily="49" charset="0"/>
              </a:rPr>
              <a:t>library(</a:t>
            </a:r>
            <a:r>
              <a:rPr lang="en-US" err="1">
                <a:latin typeface="Consolas" panose="020B0609020204030204" pitchFamily="49" charset="0"/>
              </a:rPr>
              <a:t>dplyr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endParaRPr lang="en-US" sz="1050"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en-US" err="1">
                <a:latin typeface="Consolas" panose="020B0609020204030204" pitchFamily="49" charset="0"/>
              </a:rPr>
              <a:t>db_conn</a:t>
            </a:r>
            <a:r>
              <a:rPr lang="en-US">
                <a:latin typeface="Consolas" panose="020B0609020204030204" pitchFamily="49" charset="0"/>
              </a:rPr>
              <a:t> &lt;- </a:t>
            </a:r>
            <a:r>
              <a:rPr lang="en-US" err="1">
                <a:latin typeface="Consolas" panose="020B0609020204030204" pitchFamily="49" charset="0"/>
              </a:rPr>
              <a:t>dbConnect</a:t>
            </a:r>
            <a:r>
              <a:rPr lang="en-US">
                <a:latin typeface="Consolas" panose="020B0609020204030204" pitchFamily="49" charset="0"/>
              </a:rPr>
              <a:t>([</a:t>
            </a:r>
            <a:r>
              <a:rPr lang="en-US" err="1">
                <a:latin typeface="Consolas" panose="020B0609020204030204" pitchFamily="49" charset="0"/>
              </a:rPr>
              <a:t>dbdriver</a:t>
            </a:r>
            <a:r>
              <a:rPr lang="en-US">
                <a:latin typeface="Consolas" panose="020B0609020204030204" pitchFamily="49" charset="0"/>
              </a:rPr>
              <a:t>],…)</a:t>
            </a:r>
          </a:p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endParaRPr lang="en-US" sz="1050"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en-US" err="1">
                <a:latin typeface="Consolas" panose="020B0609020204030204" pitchFamily="49" charset="0"/>
              </a:rPr>
              <a:t>tbl</a:t>
            </a:r>
            <a:r>
              <a:rPr lang="en-US">
                <a:latin typeface="Consolas" panose="020B0609020204030204" pitchFamily="49" charset="0"/>
              </a:rPr>
              <a:t>(</a:t>
            </a:r>
            <a:r>
              <a:rPr lang="en-US" err="1">
                <a:latin typeface="Consolas" panose="020B0609020204030204" pitchFamily="49" charset="0"/>
              </a:rPr>
              <a:t>db_conn</a:t>
            </a:r>
            <a:r>
              <a:rPr lang="en-US">
                <a:latin typeface="Consolas" panose="020B0609020204030204" pitchFamily="49" charset="0"/>
              </a:rPr>
              <a:t>, "TABLE_NAME") |&gt;</a:t>
            </a:r>
          </a:p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en-US">
                <a:latin typeface="Consolas" panose="020B0609020204030204" pitchFamily="49" charset="0"/>
              </a:rPr>
              <a:t>  </a:t>
            </a:r>
            <a:r>
              <a:rPr lang="en-US" err="1">
                <a:latin typeface="Consolas" panose="020B0609020204030204" pitchFamily="49" charset="0"/>
              </a:rPr>
              <a:t>as_survey_design</a:t>
            </a:r>
            <a:r>
              <a:rPr lang="en-US">
                <a:latin typeface="Consolas" panose="020B0609020204030204" pitchFamily="49" charset="0"/>
              </a:rPr>
              <a:t>(…)</a:t>
            </a:r>
            <a:endParaRPr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DAC2BB-6BB0-87E8-D7C6-27674427079A}"/>
              </a:ext>
            </a:extLst>
          </p:cNvPr>
          <p:cNvSpPr txBox="1"/>
          <p:nvPr/>
        </p:nvSpPr>
        <p:spPr>
          <a:xfrm>
            <a:off x="3844073" y="8953500"/>
            <a:ext cx="2651466" cy="14496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28600" indent="-228600" algn="just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AutoNum type="arabicPeriod"/>
              <a:defRPr b="0">
                <a:solidFill>
                  <a:srgbClr val="000000"/>
                </a:solidFill>
              </a:defRPr>
            </a:pPr>
            <a:r>
              <a:rPr lang="es-ES" sz="1400">
                <a:latin typeface="+mn-lt"/>
              </a:rPr>
              <a:t>Crea una conexión a la base de datos con el paquete DBI.</a:t>
            </a:r>
          </a:p>
          <a:p>
            <a:pPr marL="228600" indent="-228600" algn="just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Tx/>
              <a:buAutoNum type="arabicPeriod"/>
              <a:defRPr b="0">
                <a:solidFill>
                  <a:srgbClr val="000000"/>
                </a:solidFill>
              </a:defRPr>
            </a:pPr>
            <a:r>
              <a:rPr lang="es-ES" sz="1400">
                <a:latin typeface="+mn-lt"/>
              </a:rPr>
              <a:t>Usa </a:t>
            </a:r>
            <a:r>
              <a:rPr lang="en-US" sz="1400" err="1">
                <a:latin typeface="+mn-lt"/>
              </a:rPr>
              <a:t>dplyr</a:t>
            </a:r>
            <a:r>
              <a:rPr lang="es-ES" sz="1400">
                <a:latin typeface="+mn-lt"/>
              </a:rPr>
              <a:t>::</a:t>
            </a:r>
            <a:r>
              <a:rPr kumimoji="0" lang="en-US" sz="1400" b="1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ource Sans Pro"/>
                <a:sym typeface="Source Sans Pro"/>
              </a:rPr>
              <a:t>tbl</a:t>
            </a: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ource Sans Pro"/>
                <a:sym typeface="Source Sans Pro"/>
              </a:rPr>
              <a:t>()</a:t>
            </a:r>
            <a:r>
              <a:rPr lang="es-ES" sz="1400">
                <a:latin typeface="+mn-lt"/>
              </a:rPr>
              <a:t> para elegir una tabla de la base de datos</a:t>
            </a:r>
          </a:p>
          <a:p>
            <a:pPr marL="228600" indent="-228600" algn="just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Tx/>
              <a:buAutoNum type="arabicPeriod"/>
              <a:defRPr b="0">
                <a:solidFill>
                  <a:srgbClr val="000000"/>
                </a:solidFill>
              </a:defRPr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Pro Light"/>
                <a:ea typeface="Source Sans Pro"/>
                <a:sym typeface="Source Sans Pro"/>
              </a:rPr>
              <a:t>Usa la tabla en </a:t>
            </a: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Pro Light"/>
                <a:ea typeface="Source Sans Pro"/>
                <a:sym typeface="Source Sans Pro"/>
              </a:rPr>
              <a:t>.data</a:t>
            </a: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Pro Light"/>
                <a:ea typeface="Source Sans Pro"/>
                <a:sym typeface="Source Sans Pro"/>
              </a:rPr>
              <a:t> de </a:t>
            </a:r>
            <a:r>
              <a:rPr kumimoji="0" lang="en-US" sz="1400" b="1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Pro Light"/>
                <a:ea typeface="Source Sans Pro"/>
                <a:sym typeface="Source Sans Pro"/>
              </a:rPr>
              <a:t>as_survey_design</a:t>
            </a: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Pro Light"/>
                <a:ea typeface="Source Sans Pro"/>
                <a:sym typeface="Source Sans Pro"/>
              </a:rPr>
              <a:t>()</a:t>
            </a: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Pro Light"/>
                <a:ea typeface="Source Sans Pro"/>
                <a:sym typeface="Source Sans Pro"/>
              </a:rPr>
              <a:t> o </a:t>
            </a:r>
            <a:r>
              <a:rPr kumimoji="0" lang="en-US" sz="1400" b="1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Pro Light"/>
                <a:ea typeface="Source Sans Pro"/>
                <a:sym typeface="Source Sans Pro"/>
              </a:rPr>
              <a:t>as_survey_rep</a:t>
            </a: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Pro Light"/>
                <a:ea typeface="Source Sans Pro"/>
                <a:sym typeface="Source Sans Pro"/>
              </a:rPr>
              <a:t>()</a:t>
            </a:r>
            <a:endParaRPr lang="en-US" sz="1400">
              <a:latin typeface="+mn-lt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5707008-2CAD-F4D5-5AAA-3D9D6A1A0B60}"/>
              </a:ext>
            </a:extLst>
          </p:cNvPr>
          <p:cNvGrpSpPr/>
          <p:nvPr/>
        </p:nvGrpSpPr>
        <p:grpSpPr>
          <a:xfrm>
            <a:off x="10642182" y="9831717"/>
            <a:ext cx="3676358" cy="517711"/>
            <a:chOff x="11229732" y="9687596"/>
            <a:chExt cx="2283688" cy="525123"/>
          </a:xfrm>
        </p:grpSpPr>
        <p:sp>
          <p:nvSpPr>
            <p:cNvPr id="3" name="Speech Bubble: Rectangle with Corners Rounded 2">
              <a:extLst>
                <a:ext uri="{FF2B5EF4-FFF2-40B4-BE49-F238E27FC236}">
                  <a16:creationId xmlns:a16="http://schemas.microsoft.com/office/drawing/2014/main" id="{94809787-6DE3-EA44-6E3E-1EF3B384030A}"/>
                </a:ext>
              </a:extLst>
            </p:cNvPr>
            <p:cNvSpPr/>
            <p:nvPr/>
          </p:nvSpPr>
          <p:spPr>
            <a:xfrm flipH="1">
              <a:off x="11229732" y="9757465"/>
              <a:ext cx="1911341" cy="455254"/>
            </a:xfrm>
            <a:prstGeom prst="wedgeRoundRectCallout">
              <a:avLst>
                <a:gd name="adj1" fmla="val -19822"/>
                <a:gd name="adj2" fmla="val -90629"/>
                <a:gd name="adj3" fmla="val 16667"/>
              </a:avLst>
            </a:prstGeom>
            <a:blipFill rotWithShape="1">
              <a:blip r:embed="rId8"/>
              <a:srcRect/>
              <a:tile tx="0" ty="0" sx="100000" sy="100000" flip="none" algn="tl"/>
            </a:blipFill>
            <a:ln w="12700" cap="flat">
              <a:noFill/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s-ES" b="0">
                  <a:solidFill>
                    <a:schemeClr val="bg1"/>
                  </a:solidFill>
                </a:rPr>
                <a:t>s</a:t>
              </a:r>
              <a:r>
                <a:rPr kumimoji="0" lang="es-ES" sz="12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rPr>
                <a:t>i </a:t>
              </a:r>
              <a:r>
                <a:rPr kumimoji="0" lang="en-US" sz="1200" i="0" u="none" strike="noStrike" cap="none" spc="0" normalizeH="0" baseline="0" err="1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sym typeface="Source Sans Pro"/>
                </a:rPr>
                <a:t>mse</a:t>
              </a:r>
              <a:r>
                <a:rPr kumimoji="0" lang="en-US" sz="120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sym typeface="Source Sans Pro"/>
                </a:rPr>
                <a:t>=FALSE</a:t>
              </a:r>
              <a:r>
                <a:rPr kumimoji="0" lang="en-US" sz="12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rPr>
                <a:t>,</a:t>
              </a:r>
            </a:p>
            <a:p>
              <a:pPr marL="0" marR="0" indent="0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s-ES" b="0">
                  <a:solidFill>
                    <a:schemeClr val="bg1"/>
                  </a:solidFill>
                </a:rPr>
                <a:t>se reemplaza por el promedio: </a:t>
              </a: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A1945F80-FD48-0D7B-826F-B0C1851CFDA1}"/>
                    </a:ext>
                  </a:extLst>
                </p:cNvPr>
                <p:cNvSpPr txBox="1"/>
                <p:nvPr/>
              </p:nvSpPr>
              <p:spPr>
                <a:xfrm>
                  <a:off x="12547787" y="9687596"/>
                  <a:ext cx="965633" cy="49031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4570" tIns="54570" rIns="54570" bIns="54570" numCol="1" spcCol="38100" rtlCol="0" anchor="ctr">
                  <a:spAutoFit/>
                </a:bodyPr>
                <a:lstStyle/>
                <a:p>
                  <a:pPr marL="0" marR="0" indent="0" algn="l" defTabSz="584200" rtl="0" fontAlgn="auto" latinLnBrk="0" hangingPunct="0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 xmlns:m="http://schemas.openxmlformats.org/officeDocument/2006/math">
                      <m:f>
                        <m:fPr>
                          <m:ctrlPr>
                            <a:rPr kumimoji="0" lang="en-US" sz="1600" b="1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Source Sans Pro"/>
                              <a:sym typeface="Source Sans Pro"/>
                            </a:rPr>
                          </m:ctrlPr>
                        </m:fPr>
                        <m:num>
                          <m:r>
                            <a:rPr kumimoji="0" lang="en-US" sz="1600" b="1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Source Sans Pro"/>
                              <a:sym typeface="Source Sans Pro"/>
                            </a:rPr>
                            <m:t>𝟏</m:t>
                          </m:r>
                        </m:num>
                        <m:den>
                          <m:r>
                            <a:rPr kumimoji="0" lang="en-US" sz="1600" b="1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Source Sans Pro"/>
                              <a:sym typeface="Source Sans Pro"/>
                            </a:rPr>
                            <m:t>𝑹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0" lang="en-US" sz="1600" b="1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Source Sans Pro"/>
                              <a:sym typeface="Source Sans Pro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sz="1600" b="1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Source Sans Pro"/>
                              <a:sym typeface="Source Sans Pro"/>
                            </a:rPr>
                            <m:t>𝒓</m:t>
                          </m:r>
                          <m:r>
                            <a:rPr kumimoji="0" lang="en-US" sz="1600" b="1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Source Sans Pro"/>
                              <a:sym typeface="Source Sans Pro"/>
                            </a:rPr>
                            <m:t>=</m:t>
                          </m:r>
                          <m:r>
                            <a:rPr kumimoji="0" lang="en-US" sz="1600" b="1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Source Sans Pro"/>
                              <a:sym typeface="Source Sans Pro"/>
                            </a:rPr>
                            <m:t>𝟏</m:t>
                          </m:r>
                        </m:sub>
                        <m:sup>
                          <m:r>
                            <a:rPr kumimoji="0" lang="en-US" sz="1600" b="1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Source Sans Pro"/>
                              <a:sym typeface="Source Sans Pro"/>
                            </a:rPr>
                            <m:t>𝑹</m:t>
                          </m:r>
                        </m:sup>
                        <m:e>
                          <m:sSub>
                            <m:sSubPr>
                              <m:ctrlPr>
                                <a:rPr kumimoji="0" lang="en-US" sz="1600" b="1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Source Sans Pro"/>
                                  <a:sym typeface="Source Sans Pro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kumimoji="0" lang="en-US" sz="1600" b="1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bg1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Source Sans Pro"/>
                                      <a:sym typeface="Source Sans Pro"/>
                                    </a:rPr>
                                  </m:ctrlPr>
                                </m:accPr>
                                <m:e>
                                  <m:r>
                                    <a:rPr kumimoji="0" lang="en-US" sz="1600" b="1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bg1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Source Sans Pro"/>
                                      <a:sym typeface="Source Sans Pro"/>
                                    </a:rPr>
                                    <m:t>𝜽</m:t>
                                  </m:r>
                                </m:e>
                              </m:acc>
                            </m:e>
                            <m:sub>
                              <m:r>
                                <a:rPr kumimoji="0" lang="en-US" sz="1600" b="1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Source Sans Pro"/>
                                  <a:sym typeface="Source Sans Pro"/>
                                </a:rPr>
                                <m:t>𝒓</m:t>
                              </m:r>
                            </m:sub>
                          </m:sSub>
                        </m:e>
                      </m:nary>
                    </m:oMath>
                  </a14:m>
                  <a:r>
                    <a:rPr kumimoji="0" lang="en-US" sz="1600" b="1" i="0" u="none" strike="noStrike" cap="none" spc="0" normalizeH="0" baseline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FillTx/>
                      <a:ea typeface="Source Sans Pro"/>
                      <a:sym typeface="Source Sans Pro"/>
                    </a:rPr>
                    <a:t> </a:t>
                  </a:r>
                </a:p>
              </p:txBody>
            </p:sp>
          </mc:Choice>
          <mc:Fallback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A1945F80-FD48-0D7B-826F-B0C1851CFD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47787" y="9687596"/>
                  <a:ext cx="965633" cy="490310"/>
                </a:xfrm>
                <a:prstGeom prst="rect">
                  <a:avLst/>
                </a:prstGeom>
                <a:blipFill>
                  <a:blip r:embed="rId9"/>
                  <a:stretch>
                    <a:fillRect l="-11765" t="-58228" b="-108861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Select multiple elements by holding down shift and then selecting each. Click on a selected element before letting go of shift to unselect it.…">
            <a:extLst>
              <a:ext uri="{FF2B5EF4-FFF2-40B4-BE49-F238E27FC236}">
                <a16:creationId xmlns:a16="http://schemas.microsoft.com/office/drawing/2014/main" id="{DA52C1B6-1D87-1391-51ED-2B9F56C3D549}"/>
              </a:ext>
            </a:extLst>
          </p:cNvPr>
          <p:cNvSpPr txBox="1"/>
          <p:nvPr/>
        </p:nvSpPr>
        <p:spPr>
          <a:xfrm>
            <a:off x="3285490" y="6883400"/>
            <a:ext cx="3095247" cy="2038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54570" tIns="54570" rIns="54570" bIns="54570" anchor="b">
            <a:spAutoFit/>
          </a:bodyPr>
          <a:lstStyle/>
          <a:p>
            <a:pPr marL="114300" indent="-114300" algn="just">
              <a:lnSpc>
                <a:spcPct val="90000"/>
              </a:lnSpc>
              <a:spcBef>
                <a:spcPts val="500"/>
              </a:spcBef>
              <a:buSzPct val="100000"/>
              <a:buChar char="•"/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s-ES" b="0"/>
              <a:t>Una </a:t>
            </a:r>
            <a:r>
              <a:rPr lang="es-ES">
                <a:latin typeface="Source Sans Pro" panose="020B0503030403020204" pitchFamily="34" charset="0"/>
                <a:ea typeface="Source Sans Pro" panose="020B0503030403020204" pitchFamily="34" charset="0"/>
              </a:rPr>
              <a:t>“UPM solitaria” (lonely PSU)</a:t>
            </a:r>
            <a:r>
              <a:rPr lang="es-ES" b="0"/>
              <a:t> es la única unidad de muestreo de su estrato (o “estrato unitario”). </a:t>
            </a:r>
          </a:p>
          <a:p>
            <a:pPr marL="114300" indent="-114300" algn="just">
              <a:lnSpc>
                <a:spcPct val="90000"/>
              </a:lnSpc>
              <a:spcBef>
                <a:spcPts val="500"/>
              </a:spcBef>
              <a:buSzPct val="100000"/>
              <a:buChar char="•"/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s-ES" b="0"/>
              <a:t>Esto puede ser un problema al estimar varianzas. Puedes usar la opción “</a:t>
            </a:r>
            <a:r>
              <a:rPr lang="en-US" b="0" err="1"/>
              <a:t>survey.lonely.psu</a:t>
            </a:r>
            <a:r>
              <a:rPr lang="es-ES" b="0"/>
              <a:t>” para resolverlo.</a:t>
            </a:r>
          </a:p>
          <a:p>
            <a:pPr marL="114300" indent="-114300" algn="just">
              <a:lnSpc>
                <a:spcPct val="90000"/>
              </a:lnSpc>
              <a:spcBef>
                <a:spcPts val="500"/>
              </a:spcBef>
              <a:buSzPct val="100000"/>
              <a:buFontTx/>
              <a:buChar char="•"/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s-ES" b="0"/>
              <a:t>Al analizar subconjuntos de los datos (es decir, “dominios”), esta opción se puede aplicar a subconjuntos con una sola UPM con: </a:t>
            </a:r>
            <a:r>
              <a:rPr lang="en-US" sz="1100" b="0" i="0"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options(</a:t>
            </a:r>
            <a:r>
              <a:rPr lang="en-US" sz="1100" b="0" i="0" err="1"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survey.adjust.domain.lonely</a:t>
            </a:r>
            <a:r>
              <a:rPr lang="en-US" sz="1100" b="0" i="0"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= TRUE)</a:t>
            </a:r>
            <a:endParaRPr lang="en-US" sz="1400" b="0"/>
          </a:p>
        </p:txBody>
      </p:sp>
      <p:sp>
        <p:nvSpPr>
          <p:cNvPr id="13" name="KEYNOTE TIPS">
            <a:extLst>
              <a:ext uri="{FF2B5EF4-FFF2-40B4-BE49-F238E27FC236}">
                <a16:creationId xmlns:a16="http://schemas.microsoft.com/office/drawing/2014/main" id="{061D1DF2-358F-80DC-83A1-14F99C909A33}"/>
              </a:ext>
            </a:extLst>
          </p:cNvPr>
          <p:cNvSpPr txBox="1"/>
          <p:nvPr/>
        </p:nvSpPr>
        <p:spPr>
          <a:xfrm>
            <a:off x="3340100" y="6718300"/>
            <a:ext cx="2136803" cy="210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/>
            <a:r>
              <a:rPr lang="es-ES"/>
              <a:t>MANEJO DE “UPM SOLITARIAS”</a:t>
            </a:r>
            <a:endParaRPr/>
          </a:p>
        </p:txBody>
      </p:sp>
      <p:sp>
        <p:nvSpPr>
          <p:cNvPr id="14" name="Select multiple elements by holding down shift and then selecting each. Click on a selected element before letting go of shift to unselect it.…">
            <a:extLst>
              <a:ext uri="{FF2B5EF4-FFF2-40B4-BE49-F238E27FC236}">
                <a16:creationId xmlns:a16="http://schemas.microsoft.com/office/drawing/2014/main" id="{1742FE91-10A0-7339-8525-27B92D6099F9}"/>
              </a:ext>
            </a:extLst>
          </p:cNvPr>
          <p:cNvSpPr txBox="1"/>
          <p:nvPr/>
        </p:nvSpPr>
        <p:spPr>
          <a:xfrm>
            <a:off x="6414458" y="6757181"/>
            <a:ext cx="3441203" cy="2082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54570" tIns="54570" rIns="54570" bIns="54570" anchor="b">
            <a:spAutoFit/>
          </a:bodyPr>
          <a:lstStyle/>
          <a:p>
            <a:pPr>
              <a:lnSpc>
                <a:spcPct val="90000"/>
              </a:lnSpc>
              <a:spcBef>
                <a:spcPts val="500"/>
              </a:spcBef>
              <a:buSzPct val="100000"/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100" b="0" i="0"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options(</a:t>
            </a:r>
            <a:r>
              <a:rPr lang="en-US" sz="1100" b="0" i="0" err="1"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survey.lonely.psu</a:t>
            </a:r>
            <a:r>
              <a:rPr lang="en-US" sz="1100" b="0" i="0"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= "fail")</a:t>
            </a:r>
          </a:p>
          <a:p>
            <a:pPr>
              <a:lnSpc>
                <a:spcPct val="90000"/>
              </a:lnSpc>
              <a:spcBef>
                <a:spcPts val="500"/>
              </a:spcBef>
              <a:buSzPct val="100000"/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s-ES" sz="1100" b="0" i="0">
                <a:solidFill>
                  <a:schemeClr val="tx1">
                    <a:lumMod val="50000"/>
                  </a:schemeClr>
                </a:solidFill>
                <a:effectLst/>
                <a:latin typeface="+mj-lt"/>
              </a:rPr>
              <a:t>Muestra un mensaje de error si hay alguna UPM solitaria</a:t>
            </a:r>
            <a:endParaRPr lang="en-US" sz="1100" b="0" i="0">
              <a:solidFill>
                <a:schemeClr val="tx1">
                  <a:lumMod val="50000"/>
                </a:schemeClr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ts val="500"/>
              </a:spcBef>
              <a:buSzPct val="100000"/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100" b="0" i="0"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options(</a:t>
            </a:r>
            <a:r>
              <a:rPr lang="en-US" sz="1100" b="0" i="0" err="1"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survey.lonely.psu</a:t>
            </a:r>
            <a:r>
              <a:rPr lang="en-US" sz="1100" b="0" i="0"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= "adjust")</a:t>
            </a:r>
          </a:p>
          <a:p>
            <a:pPr>
              <a:lnSpc>
                <a:spcPct val="90000"/>
              </a:lnSpc>
              <a:spcBef>
                <a:spcPts val="500"/>
              </a:spcBef>
              <a:buSzPct val="100000"/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s-ES" sz="1100" b="0" i="0">
                <a:solidFill>
                  <a:schemeClr val="tx1">
                    <a:lumMod val="50000"/>
                  </a:schemeClr>
                </a:solidFill>
                <a:effectLst/>
                <a:latin typeface="+mj-lt"/>
              </a:rPr>
              <a:t>Supone que la UPM solitaria proviene de un estrato cuya media es igual a la de una UPM promedio.</a:t>
            </a:r>
          </a:p>
          <a:p>
            <a:pPr>
              <a:lnSpc>
                <a:spcPct val="90000"/>
              </a:lnSpc>
              <a:spcBef>
                <a:spcPts val="500"/>
              </a:spcBef>
              <a:buSzPct val="100000"/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100" b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options(</a:t>
            </a:r>
            <a:r>
              <a:rPr lang="en-US" sz="1100" b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survey.lonely.psu</a:t>
            </a:r>
            <a:r>
              <a:rPr lang="en-US" sz="1100" b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 = "average")</a:t>
            </a:r>
            <a:endParaRPr lang="en-US" sz="1100" b="0" i="0">
              <a:solidFill>
                <a:schemeClr val="tx1">
                  <a:lumMod val="50000"/>
                </a:schemeClr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ts val="500"/>
              </a:spcBef>
              <a:buSzPct val="100000"/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s-ES" sz="1100" b="0" i="0">
                <a:solidFill>
                  <a:schemeClr val="tx1">
                    <a:lumMod val="50000"/>
                  </a:schemeClr>
                </a:solidFill>
                <a:effectLst/>
                <a:latin typeface="+mj-lt"/>
              </a:rPr>
              <a:t>Supone que la UPM solitaria aporta a la varianza lo mismo que un estrato promedio.</a:t>
            </a:r>
            <a:r>
              <a:rPr lang="en-US" sz="1100" b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90000"/>
              </a:lnSpc>
              <a:spcBef>
                <a:spcPts val="500"/>
              </a:spcBef>
              <a:buSzPct val="100000"/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100" b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options(</a:t>
            </a:r>
            <a:r>
              <a:rPr lang="en-US" sz="1100" b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survey.lonely.psu</a:t>
            </a:r>
            <a:r>
              <a:rPr lang="en-US" sz="1100" b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 = "remove")</a:t>
            </a:r>
          </a:p>
          <a:p>
            <a:pPr>
              <a:lnSpc>
                <a:spcPct val="90000"/>
              </a:lnSpc>
              <a:spcBef>
                <a:spcPts val="500"/>
              </a:spcBef>
              <a:buSzPct val="100000"/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s-ES" sz="1100" b="0" i="0">
                <a:solidFill>
                  <a:schemeClr val="tx1">
                    <a:lumMod val="50000"/>
                  </a:schemeClr>
                </a:solidFill>
                <a:effectLst/>
                <a:latin typeface="+mj-lt"/>
              </a:rPr>
              <a:t>Ignora la UPM solitaria al estimar varianzas.</a:t>
            </a:r>
            <a:endParaRPr lang="en-US" sz="1100" b="0"/>
          </a:p>
        </p:txBody>
      </p:sp>
      <p:sp>
        <p:nvSpPr>
          <p:cNvPr id="15" name="Line">
            <a:extLst>
              <a:ext uri="{FF2B5EF4-FFF2-40B4-BE49-F238E27FC236}">
                <a16:creationId xmlns:a16="http://schemas.microsoft.com/office/drawing/2014/main" id="{D0C269FB-4C80-6276-462F-16ED89012ABC}"/>
              </a:ext>
            </a:extLst>
          </p:cNvPr>
          <p:cNvSpPr/>
          <p:nvPr/>
        </p:nvSpPr>
        <p:spPr>
          <a:xfrm rot="5400000" flipV="1">
            <a:off x="2231101" y="7819706"/>
            <a:ext cx="2019716" cy="0"/>
          </a:xfrm>
          <a:prstGeom prst="line">
            <a:avLst/>
          </a:prstGeom>
          <a:ln w="3175">
            <a:solidFill>
              <a:srgbClr val="767C85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6" name="Cheatsheets make it easy for R users…">
            <a:extLst>
              <a:ext uri="{FF2B5EF4-FFF2-40B4-BE49-F238E27FC236}">
                <a16:creationId xmlns:a16="http://schemas.microsoft.com/office/drawing/2014/main" id="{07DD943D-0189-2909-CF79-E00E17D36716}"/>
              </a:ext>
            </a:extLst>
          </p:cNvPr>
          <p:cNvSpPr txBox="1"/>
          <p:nvPr/>
        </p:nvSpPr>
        <p:spPr>
          <a:xfrm>
            <a:off x="9906000" y="6377350"/>
            <a:ext cx="3771900" cy="1203642"/>
          </a:xfrm>
          <a:prstGeom prst="rect">
            <a:avLst/>
          </a:prstGeom>
          <a:ln w="12700">
            <a:solidFill>
              <a:schemeClr val="bg1">
                <a:lumMod val="75000"/>
              </a:schemeClr>
            </a:solidFill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12700" tIns="12700" rIns="12700" bIns="12700"/>
          <a:lstStyle/>
          <a:p>
            <a:pPr>
              <a:lnSpc>
                <a:spcPct val="90000"/>
              </a:lnSpc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r>
              <a:rPr lang="en-US">
                <a:latin typeface="Consolas" panose="020B0609020204030204" pitchFamily="49" charset="0"/>
              </a:rPr>
              <a:t> design &lt;- </a:t>
            </a:r>
            <a:r>
              <a:rPr lang="en-US" err="1">
                <a:latin typeface="Consolas" panose="020B0609020204030204" pitchFamily="49" charset="0"/>
              </a:rPr>
              <a:t>as_survey_rep</a:t>
            </a:r>
            <a:r>
              <a:rPr lang="en-US"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90000"/>
              </a:lnSpc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r>
              <a:rPr lang="en-US">
                <a:latin typeface="Consolas" panose="020B0609020204030204" pitchFamily="49" charset="0"/>
              </a:rPr>
              <a:t>   </a:t>
            </a:r>
            <a:r>
              <a:rPr lang="en-US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.data  </a:t>
            </a:r>
            <a:r>
              <a:rPr lang="en-US">
                <a:latin typeface="Consolas" panose="020B0609020204030204" pitchFamily="49" charset="0"/>
              </a:rPr>
              <a:t>    = </a:t>
            </a:r>
            <a:r>
              <a:rPr lang="en-US" err="1">
                <a:latin typeface="Consolas" panose="020B0609020204030204" pitchFamily="49" charset="0"/>
              </a:rPr>
              <a:t>my_data_frame</a:t>
            </a:r>
            <a:r>
              <a:rPr lang="en-US"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90000"/>
              </a:lnSpc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r>
              <a:rPr lang="en-US">
                <a:solidFill>
                  <a:srgbClr val="002060"/>
                </a:solidFill>
                <a:latin typeface="Consolas" panose="020B0609020204030204" pitchFamily="49" charset="0"/>
              </a:rPr>
              <a:t>   weights</a:t>
            </a:r>
            <a:r>
              <a:rPr lang="en-US">
                <a:latin typeface="Consolas" panose="020B0609020204030204" pitchFamily="49" charset="0"/>
              </a:rPr>
              <a:t>    = FULL_SAMPLE_WGT,</a:t>
            </a:r>
          </a:p>
          <a:p>
            <a:pPr>
              <a:lnSpc>
                <a:spcPct val="90000"/>
              </a:lnSpc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r>
              <a:rPr lang="en-US">
                <a:latin typeface="Consolas" panose="020B0609020204030204" pitchFamily="49" charset="0"/>
              </a:rPr>
              <a:t>   </a:t>
            </a:r>
            <a:r>
              <a:rPr lang="en-US" err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repweights</a:t>
            </a:r>
            <a:r>
              <a:rPr lang="en-US">
                <a:latin typeface="Consolas" panose="020B0609020204030204" pitchFamily="49" charset="0"/>
              </a:rPr>
              <a:t> = </a:t>
            </a:r>
            <a:r>
              <a:rPr lang="en-US" err="1">
                <a:latin typeface="Consolas" panose="020B0609020204030204" pitchFamily="49" charset="0"/>
              </a:rPr>
              <a:t>num_range</a:t>
            </a:r>
            <a:r>
              <a:rPr lang="en-US">
                <a:latin typeface="Consolas" panose="020B0609020204030204" pitchFamily="49" charset="0"/>
              </a:rPr>
              <a:t>("REP_WGT", 1:50),</a:t>
            </a:r>
          </a:p>
          <a:p>
            <a:pPr>
              <a:lnSpc>
                <a:spcPct val="90000"/>
              </a:lnSpc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r>
              <a:rPr lang="en-US">
                <a:latin typeface="Consolas" panose="020B0609020204030204" pitchFamily="49" charset="0"/>
              </a:rPr>
              <a:t>   </a:t>
            </a:r>
            <a:r>
              <a:rPr lang="en-US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type</a:t>
            </a:r>
            <a:r>
              <a:rPr lang="en-US">
                <a:latin typeface="Consolas" panose="020B0609020204030204" pitchFamily="49" charset="0"/>
              </a:rPr>
              <a:t>       = "bootstrap",</a:t>
            </a:r>
          </a:p>
          <a:p>
            <a:pPr>
              <a:lnSpc>
                <a:spcPct val="90000"/>
              </a:lnSpc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r>
              <a:rPr lang="en-US">
                <a:latin typeface="Consolas" panose="020B0609020204030204" pitchFamily="49" charset="0"/>
              </a:rPr>
              <a:t>   </a:t>
            </a:r>
            <a:r>
              <a:rPr lang="en-US" err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mse</a:t>
            </a:r>
            <a:r>
              <a:rPr lang="en-US">
                <a:latin typeface="Consolas" panose="020B0609020204030204" pitchFamily="49" charset="0"/>
              </a:rPr>
              <a:t>        = TRUE</a:t>
            </a:r>
          </a:p>
          <a:p>
            <a:pPr>
              <a:lnSpc>
                <a:spcPct val="90000"/>
              </a:lnSpc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r>
              <a:rPr lang="en-US">
                <a:latin typeface="Consolas" panose="020B0609020204030204" pitchFamily="49" charset="0"/>
              </a:rPr>
              <a:t> )</a:t>
            </a:r>
            <a:endParaRPr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9305BE-4FE7-BC09-C14C-3BBE5353B03B}"/>
              </a:ext>
            </a:extLst>
          </p:cNvPr>
          <p:cNvSpPr txBox="1"/>
          <p:nvPr/>
        </p:nvSpPr>
        <p:spPr>
          <a:xfrm>
            <a:off x="9814560" y="6104795"/>
            <a:ext cx="3279396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lvl="1" indent="0"/>
            <a:r>
              <a:rPr lang="es-ES"/>
              <a:t>CÓDIGO DE EJEMPLO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315" y="-436972"/>
            <a:ext cx="5715608" cy="2200695"/>
          </a:xfrm>
          <a:prstGeom prst="rect">
            <a:avLst/>
          </a:prstGeom>
          <a:ln w="12700">
            <a:miter lim="400000"/>
          </a:ln>
        </p:spPr>
      </p:pic>
      <p:sp>
        <p:nvSpPr>
          <p:cNvPr id="312" name="Line"/>
          <p:cNvSpPr/>
          <p:nvPr/>
        </p:nvSpPr>
        <p:spPr>
          <a:xfrm>
            <a:off x="279400" y="10391263"/>
            <a:ext cx="13398500" cy="1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22" name="RStudio® is a trademark of RStudio, Inc.  •  CC BY SA Your Name •  your@email.com  •  844-448-1212 • your.website.com •  Learn more at webpage or vignette   •  package version  0.5.0 •  Updated: 2017-01"/>
          <p:cNvSpPr txBox="1"/>
          <p:nvPr/>
        </p:nvSpPr>
        <p:spPr>
          <a:xfrm>
            <a:off x="2355643" y="10431941"/>
            <a:ext cx="11322666" cy="234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4570" tIns="54570" rIns="54570" bIns="54570" anchor="ctr">
            <a:sp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defRPr sz="900" b="0">
                <a:solidFill>
                  <a:srgbClr val="000000"/>
                </a:solidFill>
              </a:defRPr>
            </a:pPr>
            <a:r>
              <a:rPr lang="en-US">
                <a:hlinkClick r:id="rId4"/>
              </a:rPr>
              <a:t>CC</a:t>
            </a:r>
            <a:r>
              <a:rPr lang="es-ES"/>
              <a:t> by SA Greg Freedman Ellis  y Ben Schneider  •  Más información en </a:t>
            </a:r>
            <a:r>
              <a:rPr lang="en-US" b="1">
                <a:hlinkClick r:id="rId5"/>
              </a:rPr>
              <a:t>http://gdfe.co/srvyr/</a:t>
            </a:r>
            <a:r>
              <a:rPr lang="en-US" b="1"/>
              <a:t> </a:t>
            </a:r>
            <a:r>
              <a:rPr lang="es-ES"/>
              <a:t>•  versión del paquete  1.3.0 •  Actualizado: 2025-01  •  Traducido por Anthony Romero-Cerdán  •  anthonyromero.netlify.app</a:t>
            </a:r>
          </a:p>
        </p:txBody>
      </p:sp>
      <p:sp>
        <p:nvSpPr>
          <p:cNvPr id="325" name="Line"/>
          <p:cNvSpPr/>
          <p:nvPr/>
        </p:nvSpPr>
        <p:spPr>
          <a:xfrm>
            <a:off x="9182100" y="2173415"/>
            <a:ext cx="4495800" cy="1"/>
          </a:xfrm>
          <a:prstGeom prst="line">
            <a:avLst/>
          </a:prstGeom>
          <a:ln w="12700">
            <a:solidFill>
              <a:srgbClr val="E0E0E0"/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34" name="Three Column Layout: : CHEAT SHEET"/>
          <p:cNvSpPr txBox="1">
            <a:spLocks noGrp="1"/>
          </p:cNvSpPr>
          <p:nvPr>
            <p:ph type="title"/>
          </p:nvPr>
        </p:nvSpPr>
        <p:spPr>
          <a:xfrm>
            <a:off x="275721" y="361177"/>
            <a:ext cx="12163429" cy="80334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r>
              <a:rPr lang="es-ES"/>
              <a:t>Análisis de encuestas con </a:t>
            </a:r>
            <a:r>
              <a:rPr lang="en-US" err="1"/>
              <a:t>srvyr</a:t>
            </a:r>
            <a:r>
              <a:rPr lang="en-US"/>
              <a:t> </a:t>
            </a:r>
            <a:r>
              <a:t>: : </a:t>
            </a:r>
            <a:r>
              <a:rPr sz="3300">
                <a:latin typeface="Source Sans Pro Semibold"/>
                <a:ea typeface="Source Sans Pro Semibold"/>
                <a:cs typeface="Source Sans Pro Semibold"/>
                <a:sym typeface="Source Sans Pro Semibold"/>
              </a:rPr>
              <a:t>CHEAT SHEET</a:t>
            </a:r>
            <a:r>
              <a:rPr lang="es-ES" sz="3300">
                <a:latin typeface="Source Sans Pro Semibold"/>
                <a:ea typeface="Source Sans Pro Semibold"/>
                <a:cs typeface="Source Sans Pro Semibold"/>
                <a:sym typeface="Source Sans Pro Semibold"/>
              </a:rPr>
              <a:t> (2 de 2)</a:t>
            </a:r>
            <a:r>
              <a:t> </a:t>
            </a:r>
          </a:p>
        </p:txBody>
      </p:sp>
      <p:sp>
        <p:nvSpPr>
          <p:cNvPr id="359" name="Line"/>
          <p:cNvSpPr/>
          <p:nvPr/>
        </p:nvSpPr>
        <p:spPr>
          <a:xfrm>
            <a:off x="9182100" y="4019994"/>
            <a:ext cx="4495800" cy="1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82" name="Logistics"/>
          <p:cNvSpPr txBox="1"/>
          <p:nvPr/>
        </p:nvSpPr>
        <p:spPr>
          <a:xfrm>
            <a:off x="266700" y="3652456"/>
            <a:ext cx="3258905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s-ES">
                <a:solidFill>
                  <a:srgbClr val="FE7900"/>
                </a:solidFill>
              </a:rPr>
              <a:t>Funciones de resumen </a:t>
            </a:r>
            <a:endParaRPr>
              <a:solidFill>
                <a:srgbClr val="FE7900"/>
              </a:solidFill>
            </a:endParaRPr>
          </a:p>
        </p:txBody>
      </p:sp>
      <p:sp>
        <p:nvSpPr>
          <p:cNvPr id="384" name="Layout Suggestions"/>
          <p:cNvSpPr txBox="1"/>
          <p:nvPr/>
        </p:nvSpPr>
        <p:spPr>
          <a:xfrm>
            <a:off x="266700" y="1524000"/>
            <a:ext cx="2487861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s-ES">
                <a:solidFill>
                  <a:srgbClr val="FE7900"/>
                </a:solidFill>
              </a:rPr>
              <a:t>Manipular datos</a:t>
            </a:r>
            <a:endParaRPr>
              <a:solidFill>
                <a:srgbClr val="FE7900"/>
              </a:solidFill>
            </a:endParaRPr>
          </a:p>
        </p:txBody>
      </p:sp>
      <p:sp>
        <p:nvSpPr>
          <p:cNvPr id="5" name="Line">
            <a:extLst>
              <a:ext uri="{FF2B5EF4-FFF2-40B4-BE49-F238E27FC236}">
                <a16:creationId xmlns:a16="http://schemas.microsoft.com/office/drawing/2014/main" id="{48C3118B-F8A7-0BEF-2CD9-9BF5D526BD2D}"/>
              </a:ext>
            </a:extLst>
          </p:cNvPr>
          <p:cNvSpPr/>
          <p:nvPr/>
        </p:nvSpPr>
        <p:spPr>
          <a:xfrm>
            <a:off x="708216" y="2165021"/>
            <a:ext cx="139607" cy="2"/>
          </a:xfrm>
          <a:prstGeom prst="line">
            <a:avLst/>
          </a:prstGeom>
          <a:ln w="12700">
            <a:solidFill>
              <a:srgbClr val="53585F"/>
            </a:solidFill>
            <a:miter lim="400000"/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graphicFrame>
        <p:nvGraphicFramePr>
          <p:cNvPr id="6" name="Table">
            <a:extLst>
              <a:ext uri="{FF2B5EF4-FFF2-40B4-BE49-F238E27FC236}">
                <a16:creationId xmlns:a16="http://schemas.microsoft.com/office/drawing/2014/main" id="{51154FDB-0296-767A-54CC-D7BEE06B84CC}"/>
              </a:ext>
            </a:extLst>
          </p:cNvPr>
          <p:cNvGraphicFramePr/>
          <p:nvPr/>
        </p:nvGraphicFramePr>
        <p:xfrm>
          <a:off x="281300" y="1989825"/>
          <a:ext cx="342900" cy="57150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1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16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16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1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Table">
            <a:extLst>
              <a:ext uri="{FF2B5EF4-FFF2-40B4-BE49-F238E27FC236}">
                <a16:creationId xmlns:a16="http://schemas.microsoft.com/office/drawing/2014/main" id="{E3AD3077-82A6-8560-DD4B-9C687E625424}"/>
              </a:ext>
            </a:extLst>
          </p:cNvPr>
          <p:cNvGraphicFramePr/>
          <p:nvPr/>
        </p:nvGraphicFramePr>
        <p:xfrm>
          <a:off x="925493" y="1989825"/>
          <a:ext cx="342900" cy="22860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1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16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16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1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" name="Picture 2" descr="A sign with a person holding a telescope&#10;&#10;Description automatically generated">
            <a:extLst>
              <a:ext uri="{FF2B5EF4-FFF2-40B4-BE49-F238E27FC236}">
                <a16:creationId xmlns:a16="http://schemas.microsoft.com/office/drawing/2014/main" id="{CE58A615-B913-8CE7-6D7C-E69302E57B9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06428" y="3202"/>
            <a:ext cx="1455691" cy="1455691"/>
          </a:xfrm>
          <a:prstGeom prst="rect">
            <a:avLst/>
          </a:prstGeom>
        </p:spPr>
      </p:pic>
      <p:sp>
        <p:nvSpPr>
          <p:cNvPr id="4" name="filter(.data, …, .preserve = FALSE) Extract rows that meet logical criteria.…">
            <a:extLst>
              <a:ext uri="{FF2B5EF4-FFF2-40B4-BE49-F238E27FC236}">
                <a16:creationId xmlns:a16="http://schemas.microsoft.com/office/drawing/2014/main" id="{D57E3DDA-3F8F-C099-A224-1FDCA07816BB}"/>
              </a:ext>
            </a:extLst>
          </p:cNvPr>
          <p:cNvSpPr txBox="1"/>
          <p:nvPr/>
        </p:nvSpPr>
        <p:spPr>
          <a:xfrm>
            <a:off x="1390243" y="1921545"/>
            <a:ext cx="3030897" cy="16976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defRPr>
            </a:pPr>
            <a:r>
              <a:t>filter(</a:t>
            </a:r>
            <a:r>
              <a:rPr>
                <a:latin typeface="+mj-lt"/>
                <a:ea typeface="+mj-ea"/>
                <a:cs typeface="+mj-cs"/>
                <a:sym typeface="Source Sans Pro Regular"/>
              </a:rPr>
              <a:t>.data, …, .preserve = FALSE</a:t>
            </a:r>
            <a:r>
              <a:t>)</a:t>
            </a:r>
            <a:r>
              <a:rPr>
                <a:latin typeface="+mj-lt"/>
                <a:ea typeface="+mj-ea"/>
                <a:cs typeface="+mj-cs"/>
                <a:sym typeface="Source Sans Pro Regular"/>
              </a:rPr>
              <a:t> </a:t>
            </a:r>
            <a:endParaRPr lang="en-US">
              <a:latin typeface="+mj-lt"/>
              <a:ea typeface="+mj-ea"/>
              <a:cs typeface="+mj-cs"/>
              <a:sym typeface="Source Sans Pro Regular"/>
            </a:endParaRPr>
          </a:p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defRPr>
            </a:pPr>
            <a:r>
              <a:rPr lang="en-US">
                <a:latin typeface="+mj-lt"/>
                <a:ea typeface="+mj-ea"/>
                <a:cs typeface="+mj-cs"/>
                <a:sym typeface="Source Sans Pro Regular"/>
              </a:rPr>
              <a:t>    </a:t>
            </a:r>
            <a:r>
              <a:rPr lang="es-ES">
                <a:latin typeface="+mj-lt"/>
                <a:ea typeface="+mj-ea"/>
                <a:cs typeface="+mj-cs"/>
                <a:sym typeface="Source Sans Pro Regular"/>
              </a:rPr>
              <a:t>Extrae las filas que cumplen criterios lógicos.</a:t>
            </a:r>
            <a:endParaRPr lang="en-US">
              <a:latin typeface="+mj-lt"/>
              <a:ea typeface="+mj-ea"/>
              <a:cs typeface="+mj-cs"/>
              <a:sym typeface="Source Sans Pro Regular"/>
            </a:endParaRPr>
          </a:p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defRPr>
            </a:pPr>
            <a:r>
              <a:rPr>
                <a:latin typeface="+mj-lt"/>
                <a:ea typeface="+mj-ea"/>
                <a:cs typeface="+mj-cs"/>
                <a:sym typeface="Source Sans Pro Regular"/>
              </a:rPr>
              <a:t> </a:t>
            </a:r>
          </a:p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ExtraLight"/>
                <a:ea typeface="Source Sans Pro ExtraLight"/>
                <a:cs typeface="Source Sans Pro ExtraLight"/>
                <a:sym typeface="Source Sans Pro ExtraLight"/>
              </a:defRPr>
            </a:pPr>
            <a:r>
              <a:rPr lang="en-US"/>
              <a:t>    design |&gt; </a:t>
            </a:r>
            <a:r>
              <a:t>filter(</a:t>
            </a:r>
            <a:r>
              <a:rPr lang="en-US"/>
              <a:t>AGE </a:t>
            </a:r>
            <a:r>
              <a:t>&gt;</a:t>
            </a:r>
            <a:r>
              <a:rPr lang="en-US"/>
              <a:t>=</a:t>
            </a:r>
            <a:r>
              <a:t> </a:t>
            </a:r>
            <a:r>
              <a:rPr lang="en-US"/>
              <a:t>16, AGE &lt;= 65</a:t>
            </a:r>
            <a:r>
              <a:t>)</a:t>
            </a:r>
            <a:endParaRPr lang="en-US"/>
          </a:p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ExtraLight"/>
                <a:ea typeface="Source Sans Pro ExtraLight"/>
                <a:cs typeface="Source Sans Pro ExtraLight"/>
                <a:sym typeface="Source Sans Pro ExtraLight"/>
              </a:defRPr>
            </a:pPr>
            <a:endParaRPr lang="en-US"/>
          </a:p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ExtraLight"/>
                <a:ea typeface="Source Sans Pro ExtraLight"/>
                <a:cs typeface="Source Sans Pro ExtraLight"/>
                <a:sym typeface="Source Sans Pro ExtraLight"/>
              </a:defRPr>
            </a:pPr>
            <a:endParaRPr lang="en-US"/>
          </a:p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defRPr>
            </a:pPr>
            <a:r>
              <a:rPr lang="en-US"/>
              <a:t>mutate(</a:t>
            </a:r>
            <a:r>
              <a:rPr lang="en-US">
                <a:latin typeface="+mj-lt"/>
                <a:ea typeface="+mj-ea"/>
                <a:cs typeface="+mj-cs"/>
                <a:sym typeface="Source Sans Pro Regular"/>
              </a:rPr>
              <a:t>.data, …</a:t>
            </a:r>
            <a:r>
              <a:rPr lang="en-US"/>
              <a:t>)</a:t>
            </a:r>
            <a:r>
              <a:rPr lang="en-US">
                <a:latin typeface="+mj-lt"/>
                <a:ea typeface="+mj-ea"/>
                <a:cs typeface="+mj-cs"/>
                <a:sym typeface="Source Sans Pro Regular"/>
              </a:rPr>
              <a:t> </a:t>
            </a:r>
          </a:p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defRPr>
            </a:pPr>
            <a:r>
              <a:rPr lang="es-ES">
                <a:latin typeface="+mj-lt"/>
                <a:ea typeface="+mj-ea"/>
                <a:cs typeface="+mj-cs"/>
                <a:sym typeface="Source Sans Pro Regular"/>
              </a:rPr>
              <a:t>    Calcula nueva(s) columna(s)</a:t>
            </a:r>
            <a:r>
              <a:rPr lang="en-US"/>
              <a:t>.</a:t>
            </a:r>
          </a:p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defRPr>
            </a:pPr>
            <a:endParaRPr lang="en-US"/>
          </a:p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ExtraLight"/>
                <a:ea typeface="Source Sans Pro ExtraLight"/>
                <a:cs typeface="Source Sans Pro ExtraLight"/>
                <a:sym typeface="Source Sans Pro ExtraLight"/>
              </a:defRPr>
            </a:pPr>
            <a:r>
              <a:rPr lang="es-ES"/>
              <a:t>     design |&gt; mutate(BMI = WGT/HEIGHT^2)</a:t>
            </a:r>
          </a:p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1" name="Line">
            <a:extLst>
              <a:ext uri="{FF2B5EF4-FFF2-40B4-BE49-F238E27FC236}">
                <a16:creationId xmlns:a16="http://schemas.microsoft.com/office/drawing/2014/main" id="{9F7AF22B-026F-7CFB-5CEC-2C4270C5F1D7}"/>
              </a:ext>
            </a:extLst>
          </p:cNvPr>
          <p:cNvSpPr/>
          <p:nvPr/>
        </p:nvSpPr>
        <p:spPr>
          <a:xfrm>
            <a:off x="714333" y="2988428"/>
            <a:ext cx="139607" cy="3"/>
          </a:xfrm>
          <a:prstGeom prst="line">
            <a:avLst/>
          </a:prstGeom>
          <a:ln w="12700">
            <a:solidFill>
              <a:srgbClr val="53585F"/>
            </a:solidFill>
            <a:miter lim="400000"/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graphicFrame>
        <p:nvGraphicFramePr>
          <p:cNvPr id="12" name="Table">
            <a:extLst>
              <a:ext uri="{FF2B5EF4-FFF2-40B4-BE49-F238E27FC236}">
                <a16:creationId xmlns:a16="http://schemas.microsoft.com/office/drawing/2014/main" id="{6A2BD0D1-E17B-46B8-CC5E-48D49A78B2AA}"/>
              </a:ext>
            </a:extLst>
          </p:cNvPr>
          <p:cNvGraphicFramePr/>
          <p:nvPr/>
        </p:nvGraphicFramePr>
        <p:xfrm>
          <a:off x="274652" y="2783374"/>
          <a:ext cx="342900" cy="45720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1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" name="Table">
            <a:extLst>
              <a:ext uri="{FF2B5EF4-FFF2-40B4-BE49-F238E27FC236}">
                <a16:creationId xmlns:a16="http://schemas.microsoft.com/office/drawing/2014/main" id="{571BB64E-5196-A5F7-6D84-E98DE248BFB7}"/>
              </a:ext>
            </a:extLst>
          </p:cNvPr>
          <p:cNvGraphicFramePr/>
          <p:nvPr/>
        </p:nvGraphicFramePr>
        <p:xfrm>
          <a:off x="928260" y="2783374"/>
          <a:ext cx="342900" cy="45720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1A44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83A8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83A8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83A8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Line">
            <a:extLst>
              <a:ext uri="{FF2B5EF4-FFF2-40B4-BE49-F238E27FC236}">
                <a16:creationId xmlns:a16="http://schemas.microsoft.com/office/drawing/2014/main" id="{3F52E8EC-FBB3-8716-8C48-956F98D280CE}"/>
              </a:ext>
            </a:extLst>
          </p:cNvPr>
          <p:cNvSpPr/>
          <p:nvPr/>
        </p:nvSpPr>
        <p:spPr>
          <a:xfrm>
            <a:off x="660644" y="8163092"/>
            <a:ext cx="139607" cy="3"/>
          </a:xfrm>
          <a:prstGeom prst="line">
            <a:avLst/>
          </a:prstGeom>
          <a:ln w="12700">
            <a:solidFill>
              <a:srgbClr val="53585F"/>
            </a:solidFill>
            <a:miter lim="400000"/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7" name="Line">
            <a:extLst>
              <a:ext uri="{FF2B5EF4-FFF2-40B4-BE49-F238E27FC236}">
                <a16:creationId xmlns:a16="http://schemas.microsoft.com/office/drawing/2014/main" id="{BF365626-200F-583E-6F47-E9AEB754C119}"/>
              </a:ext>
            </a:extLst>
          </p:cNvPr>
          <p:cNvSpPr/>
          <p:nvPr/>
        </p:nvSpPr>
        <p:spPr>
          <a:xfrm>
            <a:off x="1257226" y="8163092"/>
            <a:ext cx="139608" cy="3"/>
          </a:xfrm>
          <a:prstGeom prst="line">
            <a:avLst/>
          </a:prstGeom>
          <a:ln w="12700">
            <a:solidFill>
              <a:srgbClr val="53585F"/>
            </a:solidFill>
            <a:miter lim="400000"/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8" name="Use group_by(.data, …, .add = FALSE, .drop = TRUE) to create a &quot;grouped&quot; copy of a table grouped by columns in ... dplyr functions will manipulate each &quot;group&quot; separately and combine the results.">
            <a:extLst>
              <a:ext uri="{FF2B5EF4-FFF2-40B4-BE49-F238E27FC236}">
                <a16:creationId xmlns:a16="http://schemas.microsoft.com/office/drawing/2014/main" id="{8BA97F0D-7AF4-9109-8982-8C60ADB1E93F}"/>
              </a:ext>
            </a:extLst>
          </p:cNvPr>
          <p:cNvSpPr txBox="1"/>
          <p:nvPr/>
        </p:nvSpPr>
        <p:spPr>
          <a:xfrm>
            <a:off x="279400" y="6504024"/>
            <a:ext cx="4140200" cy="1162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 lnSpcReduction="10000"/>
          </a:bodyPr>
          <a:lstStyle/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r>
              <a:rPr lang="es-ES" b="0"/>
              <a:t>Usa </a:t>
            </a:r>
            <a:r>
              <a:rPr err="1">
                <a:latin typeface="Source Sans Pro Bold"/>
                <a:ea typeface="Source Sans Pro Bold"/>
                <a:cs typeface="Source Sans Pro Bold"/>
                <a:sym typeface="Source Sans Pro Bold"/>
              </a:rPr>
              <a:t>group_by</a:t>
            </a:r>
            <a:r>
              <a:rPr>
                <a:latin typeface="Source Sans Pro Bold"/>
                <a:ea typeface="Source Sans Pro Bold"/>
                <a:cs typeface="Source Sans Pro Bold"/>
                <a:sym typeface="Source Sans Pro Bold"/>
              </a:rPr>
              <a:t>(</a:t>
            </a:r>
            <a:r>
              <a:t>.data, …</a:t>
            </a:r>
            <a:r>
              <a:rPr>
                <a:latin typeface="Source Sans Pro Bold"/>
                <a:ea typeface="Source Sans Pro Bold"/>
                <a:cs typeface="Source Sans Pro Bold"/>
                <a:sym typeface="Source Sans Pro Bold"/>
              </a:rPr>
              <a:t>)</a:t>
            </a:r>
            <a:r>
              <a:t> </a:t>
            </a:r>
            <a:r>
              <a:rPr lang="es-ES" b="0"/>
              <a:t>para crear una copia "agrupada" de una tabla según las columnas en ... </a:t>
            </a:r>
            <a:endParaRPr lang="en-US" b="0"/>
          </a:p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endParaRPr lang="en-US" b="0"/>
          </a:p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r>
              <a:rPr b="0" err="1"/>
              <a:t>dplyr</a:t>
            </a:r>
            <a:r>
              <a:rPr b="0"/>
              <a:t> </a:t>
            </a:r>
            <a:r>
              <a:rPr lang="es-ES" b="0"/>
              <a:t>y </a:t>
            </a:r>
            <a:r>
              <a:rPr lang="en-US" b="0" err="1"/>
              <a:t>srvyr</a:t>
            </a:r>
            <a:r>
              <a:rPr lang="en-US" b="0"/>
              <a:t> </a:t>
            </a:r>
            <a:r>
              <a:rPr lang="es-ES" b="0"/>
              <a:t>manipulan cada "grupo" por separado y combinan los resultados.</a:t>
            </a:r>
            <a:endParaRPr lang="en-US" b="0"/>
          </a:p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endParaRPr lang="en-US"/>
          </a:p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r>
              <a:rPr lang="es-ES"/>
              <a:t>CONSEJO: las operaciones agrupadas funcionan con `summarize()`, `mutate()` y `filter()`</a:t>
            </a:r>
            <a:endParaRPr/>
          </a:p>
        </p:txBody>
      </p:sp>
      <p:sp>
        <p:nvSpPr>
          <p:cNvPr id="19" name="Apply summary functions to columns to create a new table of summary statistics. Summary functions take vectors as input and return one value (see back).">
            <a:extLst>
              <a:ext uri="{FF2B5EF4-FFF2-40B4-BE49-F238E27FC236}">
                <a16:creationId xmlns:a16="http://schemas.microsoft.com/office/drawing/2014/main" id="{CEBDDEE6-F083-1450-656B-62399C30F779}"/>
              </a:ext>
            </a:extLst>
          </p:cNvPr>
          <p:cNvSpPr txBox="1"/>
          <p:nvPr/>
        </p:nvSpPr>
        <p:spPr>
          <a:xfrm>
            <a:off x="279400" y="4073946"/>
            <a:ext cx="4140200" cy="63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pPr algn="just"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r>
              <a:rPr lang="es-ES"/>
              <a:t>Aplica </a:t>
            </a:r>
            <a:r>
              <a:rPr lang="es-ES">
                <a:latin typeface="Source Sans Pro Bold"/>
                <a:ea typeface="Source Sans Pro Bold"/>
                <a:cs typeface="Source Sans Pro Bold"/>
                <a:sym typeface="Source Sans Pro Bold"/>
              </a:rPr>
              <a:t>funciones de resumen </a:t>
            </a:r>
            <a:r>
              <a:rPr lang="es-ES"/>
              <a:t>a las columnas para crear una tabla nueva de estadísticos de resumen. Las funciones de resumen reciben vectores y devuelven un valor (ver reverso).</a:t>
            </a:r>
          </a:p>
        </p:txBody>
      </p:sp>
      <p:sp>
        <p:nvSpPr>
          <p:cNvPr id="20" name="Line">
            <a:extLst>
              <a:ext uri="{FF2B5EF4-FFF2-40B4-BE49-F238E27FC236}">
                <a16:creationId xmlns:a16="http://schemas.microsoft.com/office/drawing/2014/main" id="{09DCA779-60A3-259D-C692-943008A565C9}"/>
              </a:ext>
            </a:extLst>
          </p:cNvPr>
          <p:cNvSpPr/>
          <p:nvPr/>
        </p:nvSpPr>
        <p:spPr>
          <a:xfrm>
            <a:off x="660644" y="4766070"/>
            <a:ext cx="139607" cy="3"/>
          </a:xfrm>
          <a:prstGeom prst="line">
            <a:avLst/>
          </a:prstGeom>
          <a:ln w="12700">
            <a:solidFill>
              <a:srgbClr val="53585F"/>
            </a:solidFill>
            <a:miter lim="400000"/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1" name="Line">
            <a:extLst>
              <a:ext uri="{FF2B5EF4-FFF2-40B4-BE49-F238E27FC236}">
                <a16:creationId xmlns:a16="http://schemas.microsoft.com/office/drawing/2014/main" id="{B5818B6F-43C4-D89B-A410-D647029F5101}"/>
              </a:ext>
            </a:extLst>
          </p:cNvPr>
          <p:cNvSpPr/>
          <p:nvPr/>
        </p:nvSpPr>
        <p:spPr>
          <a:xfrm>
            <a:off x="660644" y="5415847"/>
            <a:ext cx="139607" cy="3"/>
          </a:xfrm>
          <a:prstGeom prst="line">
            <a:avLst/>
          </a:prstGeom>
          <a:ln w="12700">
            <a:solidFill>
              <a:srgbClr val="53585F"/>
            </a:solidFill>
            <a:miter lim="400000"/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2" name="summarise(.data, …) Compute table of summaries.  summarise(mtcars, avg = mean(mpg))…">
            <a:extLst>
              <a:ext uri="{FF2B5EF4-FFF2-40B4-BE49-F238E27FC236}">
                <a16:creationId xmlns:a16="http://schemas.microsoft.com/office/drawing/2014/main" id="{67E45998-2172-2AC3-5143-1698270FF0DA}"/>
              </a:ext>
            </a:extLst>
          </p:cNvPr>
          <p:cNvSpPr txBox="1"/>
          <p:nvPr/>
        </p:nvSpPr>
        <p:spPr>
          <a:xfrm>
            <a:off x="1098125" y="4560421"/>
            <a:ext cx="3342260" cy="1415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 fontScale="92500"/>
          </a:bodyPr>
          <a:lstStyle/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defRPr>
            </a:pPr>
            <a:r>
              <a:t>summari</a:t>
            </a:r>
            <a:r>
              <a:rPr lang="en-US"/>
              <a:t>z</a:t>
            </a:r>
            <a:r>
              <a:t>e(</a:t>
            </a:r>
            <a:r>
              <a:rPr>
                <a:latin typeface="+mj-lt"/>
                <a:ea typeface="+mj-ea"/>
                <a:cs typeface="+mj-cs"/>
                <a:sym typeface="Source Sans Pro Regular"/>
              </a:rPr>
              <a:t>.data, …</a:t>
            </a:r>
            <a:r>
              <a:t>)</a:t>
            </a:r>
            <a:br>
              <a:rPr/>
            </a:br>
            <a:r>
              <a:rPr lang="en-US"/>
              <a:t>    </a:t>
            </a:r>
            <a:r>
              <a:rPr lang="es-ES">
                <a:latin typeface="+mj-lt"/>
                <a:ea typeface="+mj-ea"/>
                <a:cs typeface="+mj-cs"/>
                <a:sym typeface="Source Sans Pro Regular"/>
              </a:rPr>
              <a:t>Calcula una tabla de resúmenes. </a:t>
            </a:r>
            <a:endParaRPr lang="en-US">
              <a:latin typeface="+mj-lt"/>
              <a:ea typeface="+mj-ea"/>
              <a:cs typeface="+mj-cs"/>
              <a:sym typeface="Source Sans Pro Regular"/>
            </a:endParaRPr>
          </a:p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defRPr>
            </a:pPr>
            <a:br>
              <a:rPr>
                <a:latin typeface="+mj-lt"/>
                <a:ea typeface="+mj-ea"/>
                <a:cs typeface="+mj-cs"/>
                <a:sym typeface="Source Sans Pro Regular"/>
              </a:rPr>
            </a:br>
            <a:r>
              <a:rPr lang="en-US">
                <a:latin typeface="+mj-lt"/>
                <a:ea typeface="+mj-ea"/>
                <a:cs typeface="+mj-cs"/>
                <a:sym typeface="Source Sans Pro Regular"/>
              </a:rPr>
              <a:t>    design |&gt; </a:t>
            </a:r>
            <a:r>
              <a:rPr err="1">
                <a:latin typeface="Source Sans Pro ExtraLight"/>
                <a:ea typeface="Source Sans Pro ExtraLight"/>
                <a:cs typeface="Source Sans Pro ExtraLight"/>
                <a:sym typeface="Source Sans Pro ExtraLight"/>
              </a:rPr>
              <a:t>summarise</a:t>
            </a:r>
            <a:r>
              <a:rPr>
                <a:latin typeface="Source Sans Pro ExtraLight"/>
                <a:ea typeface="Source Sans Pro ExtraLight"/>
                <a:cs typeface="Source Sans Pro ExtraLight"/>
                <a:sym typeface="Source Sans Pro ExtraLight"/>
              </a:rPr>
              <a:t>(</a:t>
            </a:r>
            <a:r>
              <a:rPr lang="en-US" err="1">
                <a:latin typeface="Source Sans Pro ExtraLight"/>
                <a:ea typeface="Source Sans Pro ExtraLight"/>
                <a:cs typeface="Source Sans Pro ExtraLight"/>
                <a:sym typeface="Source Sans Pro ExtraLight"/>
              </a:rPr>
              <a:t>mean_age</a:t>
            </a:r>
            <a:r>
              <a:rPr lang="en-US">
                <a:latin typeface="Source Sans Pro ExtraLight"/>
                <a:ea typeface="Source Sans Pro ExtraLight"/>
                <a:cs typeface="Source Sans Pro ExtraLight"/>
                <a:sym typeface="Source Sans Pro ExtraLight"/>
              </a:rPr>
              <a:t> = </a:t>
            </a:r>
            <a:r>
              <a:rPr lang="en-US" err="1">
                <a:latin typeface="Source Sans Pro ExtraLight"/>
                <a:ea typeface="Source Sans Pro ExtraLight"/>
                <a:cs typeface="Source Sans Pro ExtraLight"/>
                <a:sym typeface="Source Sans Pro ExtraLight"/>
              </a:rPr>
              <a:t>survey_mean</a:t>
            </a:r>
            <a:r>
              <a:rPr lang="en-US">
                <a:latin typeface="Source Sans Pro ExtraLight"/>
                <a:ea typeface="Source Sans Pro ExtraLight"/>
                <a:cs typeface="Source Sans Pro ExtraLight"/>
                <a:sym typeface="Source Sans Pro ExtraLight"/>
              </a:rPr>
              <a:t>(AGE))</a:t>
            </a:r>
            <a:endParaRPr>
              <a:latin typeface="Source Sans Pro ExtraLight"/>
              <a:ea typeface="Source Sans Pro ExtraLight"/>
              <a:cs typeface="Source Sans Pro ExtraLight"/>
              <a:sym typeface="Source Sans Pro ExtraLight"/>
            </a:endParaRPr>
          </a:p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endParaRPr>
              <a:latin typeface="Source Sans Pro ExtraLight"/>
              <a:ea typeface="Source Sans Pro ExtraLight"/>
              <a:cs typeface="Source Sans Pro ExtraLight"/>
              <a:sym typeface="Source Sans Pro ExtraLight"/>
            </a:endParaRPr>
          </a:p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defRPr>
            </a:pPr>
            <a:r>
              <a:rPr lang="en-US" err="1"/>
              <a:t>survey_</a:t>
            </a:r>
            <a:r>
              <a:rPr err="1"/>
              <a:t>count</a:t>
            </a:r>
            <a:r>
              <a:t>(</a:t>
            </a:r>
            <a:r>
              <a:rPr lang="es-ES">
                <a:latin typeface="+mj-lt"/>
                <a:ea typeface="+mj-ea"/>
                <a:cs typeface="+mj-cs"/>
                <a:sym typeface="Source Sans Pro Regular"/>
              </a:rPr>
              <a:t>x, …, sort = FALSE, name = "n"</a:t>
            </a:r>
            <a:r>
              <a:t>) </a:t>
            </a:r>
            <a:r>
              <a:rPr lang="en-US"/>
              <a:t>    </a:t>
            </a:r>
          </a:p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defRPr>
            </a:pPr>
            <a:r>
              <a:rPr lang="es-ES">
                <a:latin typeface="+mj-lt"/>
                <a:ea typeface="+mj-ea"/>
                <a:cs typeface="+mj-cs"/>
                <a:sym typeface="Source Sans Pro Regular"/>
              </a:rPr>
              <a:t>    Conteos ponderados y errores estándar de cada</a:t>
            </a:r>
            <a:endParaRPr lang="en-US">
              <a:latin typeface="+mj-lt"/>
              <a:ea typeface="+mj-ea"/>
              <a:cs typeface="+mj-cs"/>
              <a:sym typeface="Source Sans Pro Regular"/>
            </a:endParaRPr>
          </a:p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defRPr>
            </a:pPr>
            <a:r>
              <a:rPr>
                <a:latin typeface="+mj-lt"/>
                <a:ea typeface="+mj-ea"/>
                <a:cs typeface="+mj-cs"/>
                <a:sym typeface="Source Sans Pro Regular"/>
              </a:rPr>
              <a:t> </a:t>
            </a:r>
            <a:r>
              <a:rPr lang="en-US">
                <a:latin typeface="+mj-lt"/>
                <a:ea typeface="+mj-ea"/>
                <a:cs typeface="+mj-cs"/>
                <a:sym typeface="Source Sans Pro Regular"/>
              </a:rPr>
              <a:t>   </a:t>
            </a:r>
            <a:r>
              <a:rPr lang="es-ES">
                <a:latin typeface="+mj-lt"/>
                <a:ea typeface="+mj-ea"/>
                <a:cs typeface="+mj-cs"/>
                <a:sym typeface="Source Sans Pro Regular"/>
              </a:rPr>
              <a:t>grupo definido por las variables en </a:t>
            </a:r>
            <a:r>
              <a:rPr sz="1400">
                <a:latin typeface="+mj-lt"/>
                <a:ea typeface="+mj-ea"/>
                <a:cs typeface="+mj-cs"/>
                <a:sym typeface="Source Sans Pro Regular"/>
              </a:rPr>
              <a:t>…</a:t>
            </a:r>
            <a:r>
              <a:rPr>
                <a:latin typeface="+mj-lt"/>
                <a:ea typeface="+mj-ea"/>
                <a:cs typeface="+mj-cs"/>
                <a:sym typeface="Source Sans Pro Regular"/>
              </a:rPr>
              <a:t> </a:t>
            </a:r>
            <a:endParaRPr lang="en-US">
              <a:latin typeface="+mj-lt"/>
              <a:ea typeface="+mj-ea"/>
              <a:cs typeface="+mj-cs"/>
              <a:sym typeface="Source Sans Pro Regular"/>
            </a:endParaRPr>
          </a:p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defRPr>
            </a:pPr>
            <a:r>
              <a:rPr lang="en-US">
                <a:latin typeface="+mj-lt"/>
                <a:ea typeface="+mj-ea"/>
                <a:cs typeface="+mj-cs"/>
                <a:sym typeface="Source Sans Pro Regular"/>
              </a:rPr>
              <a:t>    </a:t>
            </a:r>
          </a:p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defRPr>
            </a:pPr>
            <a:r>
              <a:rPr lang="en-US">
                <a:latin typeface="+mj-lt"/>
                <a:ea typeface="+mj-ea"/>
                <a:cs typeface="+mj-cs"/>
                <a:sym typeface="Source Sans Pro Regular"/>
              </a:rPr>
              <a:t>    </a:t>
            </a:r>
            <a:r>
              <a:rPr lang="en-US" err="1">
                <a:latin typeface="+mj-lt"/>
                <a:ea typeface="+mj-ea"/>
                <a:cs typeface="+mj-cs"/>
                <a:sym typeface="Source Sans Pro Regular"/>
              </a:rPr>
              <a:t>survey_</a:t>
            </a:r>
            <a:r>
              <a:rPr err="1">
                <a:latin typeface="Source Sans Pro ExtraLight"/>
                <a:ea typeface="Source Sans Pro ExtraLight"/>
                <a:cs typeface="Source Sans Pro ExtraLight"/>
                <a:sym typeface="Source Sans Pro ExtraLight"/>
              </a:rPr>
              <a:t>count</a:t>
            </a:r>
            <a:r>
              <a:rPr>
                <a:latin typeface="Source Sans Pro ExtraLight"/>
                <a:ea typeface="Source Sans Pro ExtraLight"/>
                <a:cs typeface="Source Sans Pro ExtraLight"/>
                <a:sym typeface="Source Sans Pro ExtraLight"/>
              </a:rPr>
              <a:t>(</a:t>
            </a:r>
            <a:r>
              <a:rPr lang="es-ES" err="1">
                <a:latin typeface="Source Sans Pro ExtraLight"/>
                <a:ea typeface="Source Sans Pro ExtraLight"/>
                <a:cs typeface="Source Sans Pro ExtraLight"/>
                <a:sym typeface="Source Sans Pro ExtraLight"/>
              </a:rPr>
              <a:t>design</a:t>
            </a:r>
            <a:r>
              <a:rPr>
                <a:latin typeface="Source Sans Pro ExtraLight"/>
                <a:ea typeface="Source Sans Pro ExtraLight"/>
                <a:cs typeface="Source Sans Pro ExtraLight"/>
                <a:sym typeface="Source Sans Pro ExtraLight"/>
              </a:rPr>
              <a:t>, </a:t>
            </a:r>
            <a:r>
              <a:rPr err="1">
                <a:latin typeface="Source Sans Pro ExtraLight"/>
                <a:ea typeface="Source Sans Pro ExtraLight"/>
                <a:cs typeface="Source Sans Pro ExtraLight"/>
                <a:sym typeface="Source Sans Pro ExtraLight"/>
              </a:rPr>
              <a:t>cyl</a:t>
            </a:r>
            <a:r>
              <a:rPr>
                <a:latin typeface="Source Sans Pro ExtraLight"/>
                <a:ea typeface="Source Sans Pro ExtraLight"/>
                <a:cs typeface="Source Sans Pro ExtraLight"/>
                <a:sym typeface="Source Sans Pro ExtraLight"/>
              </a:rPr>
              <a:t>)</a:t>
            </a:r>
          </a:p>
        </p:txBody>
      </p:sp>
      <p:sp>
        <p:nvSpPr>
          <p:cNvPr id="24" name="Line">
            <a:extLst>
              <a:ext uri="{FF2B5EF4-FFF2-40B4-BE49-F238E27FC236}">
                <a16:creationId xmlns:a16="http://schemas.microsoft.com/office/drawing/2014/main" id="{F59CBA9C-3FA5-19BE-A7A2-4EFA630841BD}"/>
              </a:ext>
            </a:extLst>
          </p:cNvPr>
          <p:cNvSpPr/>
          <p:nvPr/>
        </p:nvSpPr>
        <p:spPr>
          <a:xfrm>
            <a:off x="279400" y="5989178"/>
            <a:ext cx="4140200" cy="2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30" name="mtcars  %&gt;%…">
            <a:extLst>
              <a:ext uri="{FF2B5EF4-FFF2-40B4-BE49-F238E27FC236}">
                <a16:creationId xmlns:a16="http://schemas.microsoft.com/office/drawing/2014/main" id="{5018AC85-33A1-0A8F-7DD9-C4FCCAE7C661}"/>
              </a:ext>
            </a:extLst>
          </p:cNvPr>
          <p:cNvSpPr txBox="1"/>
          <p:nvPr/>
        </p:nvSpPr>
        <p:spPr>
          <a:xfrm>
            <a:off x="1898418" y="7814986"/>
            <a:ext cx="2362230" cy="730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 lnSpcReduction="10000"/>
          </a:bodyPr>
          <a:lstStyle/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ExtraLight"/>
                <a:ea typeface="Source Sans Pro ExtraLight"/>
                <a:cs typeface="Source Sans Pro ExtraLight"/>
                <a:sym typeface="Source Sans Pro ExtraLight"/>
              </a:defRPr>
            </a:pPr>
            <a:r>
              <a:rPr lang="en-US"/>
              <a:t>design |&gt;</a:t>
            </a:r>
            <a:endParaRPr/>
          </a:p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ExtraLight"/>
                <a:ea typeface="Source Sans Pro ExtraLight"/>
                <a:cs typeface="Source Sans Pro ExtraLight"/>
                <a:sym typeface="Source Sans Pro ExtraLight"/>
              </a:defRPr>
            </a:pPr>
            <a:r>
              <a:t>   </a:t>
            </a:r>
            <a:r>
              <a:rPr err="1"/>
              <a:t>group_by</a:t>
            </a:r>
            <a:r>
              <a:t>(</a:t>
            </a:r>
            <a:r>
              <a:rPr lang="en-US"/>
              <a:t> REGION </a:t>
            </a:r>
            <a:r>
              <a:t>)</a:t>
            </a:r>
            <a:r>
              <a:rPr lang="en-US"/>
              <a:t> |&gt;</a:t>
            </a:r>
            <a:endParaRPr/>
          </a:p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ExtraLight"/>
                <a:ea typeface="Source Sans Pro ExtraLight"/>
                <a:cs typeface="Source Sans Pro ExtraLight"/>
                <a:sym typeface="Source Sans Pro ExtraLight"/>
              </a:defRPr>
            </a:pPr>
            <a:r>
              <a:t>   summari</a:t>
            </a:r>
            <a:r>
              <a:rPr lang="en-US"/>
              <a:t>z</a:t>
            </a:r>
            <a:r>
              <a:t>e(</a:t>
            </a:r>
            <a:endParaRPr lang="en-US"/>
          </a:p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ExtraLight"/>
                <a:ea typeface="Source Sans Pro ExtraLight"/>
                <a:cs typeface="Source Sans Pro ExtraLight"/>
                <a:sym typeface="Source Sans Pro ExtraLight"/>
              </a:defRPr>
            </a:pPr>
            <a:r>
              <a:rPr lang="en-US"/>
              <a:t>       </a:t>
            </a:r>
            <a:r>
              <a:rPr lang="en-US" err="1"/>
              <a:t>mean_age</a:t>
            </a:r>
            <a:r>
              <a:rPr lang="en-US"/>
              <a:t> = </a:t>
            </a:r>
            <a:r>
              <a:rPr lang="en-US" err="1"/>
              <a:t>survey_mean</a:t>
            </a:r>
            <a:r>
              <a:rPr lang="en-US"/>
              <a:t>( AGE </a:t>
            </a:r>
            <a:r>
              <a:t>)</a:t>
            </a:r>
            <a:endParaRPr lang="en-US"/>
          </a:p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ExtraLight"/>
                <a:ea typeface="Source Sans Pro ExtraLight"/>
                <a:cs typeface="Source Sans Pro ExtraLight"/>
                <a:sym typeface="Source Sans Pro ExtraLight"/>
              </a:defRPr>
            </a:pPr>
            <a:r>
              <a:rPr lang="en-US"/>
              <a:t>   )</a:t>
            </a:r>
            <a:endParaRPr/>
          </a:p>
        </p:txBody>
      </p:sp>
      <p:graphicFrame>
        <p:nvGraphicFramePr>
          <p:cNvPr id="32" name="Table">
            <a:extLst>
              <a:ext uri="{FF2B5EF4-FFF2-40B4-BE49-F238E27FC236}">
                <a16:creationId xmlns:a16="http://schemas.microsoft.com/office/drawing/2014/main" id="{6FC49C9A-CB49-5ABF-9209-A836E6031885}"/>
              </a:ext>
            </a:extLst>
          </p:cNvPr>
          <p:cNvGraphicFramePr/>
          <p:nvPr/>
        </p:nvGraphicFramePr>
        <p:xfrm>
          <a:off x="279407" y="4586609"/>
          <a:ext cx="342900" cy="45720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1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F0C16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F0C16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F0C16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3" name="Table">
            <a:extLst>
              <a:ext uri="{FF2B5EF4-FFF2-40B4-BE49-F238E27FC236}">
                <a16:creationId xmlns:a16="http://schemas.microsoft.com/office/drawing/2014/main" id="{61A78612-8151-B767-F3A1-057E5589B5DE}"/>
              </a:ext>
            </a:extLst>
          </p:cNvPr>
          <p:cNvGraphicFramePr/>
          <p:nvPr/>
        </p:nvGraphicFramePr>
        <p:xfrm>
          <a:off x="279407" y="5233573"/>
          <a:ext cx="342900" cy="45720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1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F7DCA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F0C16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F0C16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4" name="Table">
            <a:extLst>
              <a:ext uri="{FF2B5EF4-FFF2-40B4-BE49-F238E27FC236}">
                <a16:creationId xmlns:a16="http://schemas.microsoft.com/office/drawing/2014/main" id="{88730AE5-C480-40F0-7296-3D6AA504981A}"/>
              </a:ext>
            </a:extLst>
          </p:cNvPr>
          <p:cNvGraphicFramePr/>
          <p:nvPr/>
        </p:nvGraphicFramePr>
        <p:xfrm>
          <a:off x="844340" y="4586609"/>
          <a:ext cx="114300" cy="22860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1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1A43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83A8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Table">
            <a:extLst>
              <a:ext uri="{FF2B5EF4-FFF2-40B4-BE49-F238E27FC236}">
                <a16:creationId xmlns:a16="http://schemas.microsoft.com/office/drawing/2014/main" id="{5B9ADFCF-D002-5697-7CD9-F5E32802A315}"/>
              </a:ext>
            </a:extLst>
          </p:cNvPr>
          <p:cNvGraphicFramePr/>
          <p:nvPr/>
        </p:nvGraphicFramePr>
        <p:xfrm>
          <a:off x="844340" y="5233573"/>
          <a:ext cx="114300" cy="34290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1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1A43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B2D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83A8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6" name="Table">
            <a:extLst>
              <a:ext uri="{FF2B5EF4-FFF2-40B4-BE49-F238E27FC236}">
                <a16:creationId xmlns:a16="http://schemas.microsoft.com/office/drawing/2014/main" id="{67C8F484-AEDF-2D3B-E2EA-3D228BB701E9}"/>
              </a:ext>
            </a:extLst>
          </p:cNvPr>
          <p:cNvGraphicFramePr/>
          <p:nvPr/>
        </p:nvGraphicFramePr>
        <p:xfrm>
          <a:off x="279407" y="7722729"/>
          <a:ext cx="342900" cy="80010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1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F7DCA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F7DCA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F0C16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F0C16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4A24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4A24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7" name="Table">
            <a:extLst>
              <a:ext uri="{FF2B5EF4-FFF2-40B4-BE49-F238E27FC236}">
                <a16:creationId xmlns:a16="http://schemas.microsoft.com/office/drawing/2014/main" id="{298E73DE-3E31-CE07-6728-246DD61C8ED0}"/>
              </a:ext>
            </a:extLst>
          </p:cNvPr>
          <p:cNvGraphicFramePr/>
          <p:nvPr/>
        </p:nvGraphicFramePr>
        <p:xfrm>
          <a:off x="844340" y="7665109"/>
          <a:ext cx="342900" cy="34290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1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F7DCA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F7DCA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8" name="Table">
            <a:extLst>
              <a:ext uri="{FF2B5EF4-FFF2-40B4-BE49-F238E27FC236}">
                <a16:creationId xmlns:a16="http://schemas.microsoft.com/office/drawing/2014/main" id="{10DB26C7-98B5-5707-87D4-721104577D2D}"/>
              </a:ext>
            </a:extLst>
          </p:cNvPr>
          <p:cNvGraphicFramePr/>
          <p:nvPr/>
        </p:nvGraphicFramePr>
        <p:xfrm>
          <a:off x="844340" y="8099550"/>
          <a:ext cx="342900" cy="2286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1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F0C16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F0C16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9" name="Table">
            <a:extLst>
              <a:ext uri="{FF2B5EF4-FFF2-40B4-BE49-F238E27FC236}">
                <a16:creationId xmlns:a16="http://schemas.microsoft.com/office/drawing/2014/main" id="{DB181526-787C-8352-135F-1BD7ED5FCF2C}"/>
              </a:ext>
            </a:extLst>
          </p:cNvPr>
          <p:cNvGraphicFramePr/>
          <p:nvPr/>
        </p:nvGraphicFramePr>
        <p:xfrm>
          <a:off x="844340" y="8399087"/>
          <a:ext cx="342900" cy="2286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1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4A24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4A24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0" name="Table">
            <a:extLst>
              <a:ext uri="{FF2B5EF4-FFF2-40B4-BE49-F238E27FC236}">
                <a16:creationId xmlns:a16="http://schemas.microsoft.com/office/drawing/2014/main" id="{0B00212E-9107-31FE-131F-672ACB7F3CD5}"/>
              </a:ext>
            </a:extLst>
          </p:cNvPr>
          <p:cNvGraphicFramePr/>
          <p:nvPr/>
        </p:nvGraphicFramePr>
        <p:xfrm>
          <a:off x="1488335" y="7886790"/>
          <a:ext cx="228600" cy="45720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1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1A43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F8DCA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B2D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EFC16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83A8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4A24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4E78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6" name="Logistics">
            <a:extLst>
              <a:ext uri="{FF2B5EF4-FFF2-40B4-BE49-F238E27FC236}">
                <a16:creationId xmlns:a16="http://schemas.microsoft.com/office/drawing/2014/main" id="{8D3C2411-5CE5-069D-8147-43BF44978927}"/>
              </a:ext>
            </a:extLst>
          </p:cNvPr>
          <p:cNvSpPr txBox="1"/>
          <p:nvPr/>
        </p:nvSpPr>
        <p:spPr>
          <a:xfrm>
            <a:off x="266700" y="6052495"/>
            <a:ext cx="2111155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s-ES">
                <a:solidFill>
                  <a:srgbClr val="FE7900"/>
                </a:solidFill>
              </a:rPr>
              <a:t>Agrupar casos</a:t>
            </a:r>
            <a:endParaRPr>
              <a:solidFill>
                <a:srgbClr val="FE7900"/>
              </a:solidFill>
            </a:endParaRPr>
          </a:p>
        </p:txBody>
      </p:sp>
      <p:sp>
        <p:nvSpPr>
          <p:cNvPr id="2" name="Layout Suggestions">
            <a:extLst>
              <a:ext uri="{FF2B5EF4-FFF2-40B4-BE49-F238E27FC236}">
                <a16:creationId xmlns:a16="http://schemas.microsoft.com/office/drawing/2014/main" id="{D99129F9-A2B9-7C22-5424-92F581BD5312}"/>
              </a:ext>
            </a:extLst>
          </p:cNvPr>
          <p:cNvSpPr txBox="1"/>
          <p:nvPr/>
        </p:nvSpPr>
        <p:spPr>
          <a:xfrm>
            <a:off x="4533900" y="1524000"/>
            <a:ext cx="4119718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s-ES">
                <a:solidFill>
                  <a:srgbClr val="FE7900"/>
                </a:solidFill>
              </a:rPr>
              <a:t>Funciones de resumen estadístico</a:t>
            </a:r>
            <a:endParaRPr>
              <a:solidFill>
                <a:srgbClr val="FE7900"/>
              </a:solidFill>
            </a:endParaRPr>
          </a:p>
        </p:txBody>
      </p:sp>
      <p:sp>
        <p:nvSpPr>
          <p:cNvPr id="15" name="filter(.data, …, .preserve = FALSE) Extract rows that meet logical criteria.…">
            <a:extLst>
              <a:ext uri="{FF2B5EF4-FFF2-40B4-BE49-F238E27FC236}">
                <a16:creationId xmlns:a16="http://schemas.microsoft.com/office/drawing/2014/main" id="{426DF82B-E408-7FC5-9979-7C474B302A96}"/>
              </a:ext>
            </a:extLst>
          </p:cNvPr>
          <p:cNvSpPr txBox="1"/>
          <p:nvPr/>
        </p:nvSpPr>
        <p:spPr>
          <a:xfrm>
            <a:off x="4546600" y="4445206"/>
            <a:ext cx="4131327" cy="5827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 lnSpcReduction="10000"/>
          </a:bodyPr>
          <a:lstStyle/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defRPr>
            </a:pPr>
            <a:r>
              <a:rPr lang="en-US" err="1"/>
              <a:t>survey_total</a:t>
            </a:r>
            <a:r>
              <a:rPr lang="en-US"/>
              <a:t>(</a:t>
            </a:r>
            <a:r>
              <a:rPr lang="es-ES">
                <a:latin typeface="+mj-lt"/>
                <a:ea typeface="+mj-ea"/>
                <a:cs typeface="+mj-cs"/>
                <a:sym typeface="Source Sans Pro Regular"/>
              </a:rPr>
              <a:t>x</a:t>
            </a:r>
            <a:r>
              <a:rPr lang="en-US"/>
              <a:t>)</a:t>
            </a:r>
            <a:r>
              <a:rPr lang="en-US">
                <a:latin typeface="+mj-lt"/>
                <a:ea typeface="+mj-ea"/>
                <a:cs typeface="+mj-cs"/>
                <a:sym typeface="Source Sans Pro Regular"/>
              </a:rPr>
              <a:t> </a:t>
            </a:r>
          </a:p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defRPr>
            </a:pPr>
            <a:endParaRPr lang="en-US">
              <a:latin typeface="+mj-lt"/>
              <a:ea typeface="+mj-ea"/>
              <a:cs typeface="+mj-cs"/>
              <a:sym typeface="Source Sans Pro Regular"/>
            </a:endParaRPr>
          </a:p>
          <a:p>
            <a:pPr lvl="1"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defRPr>
            </a:pPr>
            <a:r>
              <a:rPr lang="es-ES">
                <a:latin typeface="+mj-lt"/>
                <a:ea typeface="+mj-ea"/>
                <a:cs typeface="+mj-cs"/>
                <a:sym typeface="Source Sans Pro Regular"/>
              </a:rPr>
              <a:t>Estima el total poblacional, ya sea de una variable numérica </a:t>
            </a:r>
            <a:r>
              <a:rPr lang="en-US">
                <a:latin typeface="Source Sans Pro Bold" panose="020B0703030403020204" pitchFamily="34" charset="0"/>
                <a:ea typeface="Source Sans Pro Bold" panose="020B0703030403020204" pitchFamily="34" charset="0"/>
                <a:cs typeface="+mj-cs"/>
                <a:sym typeface="Source Sans Pro Regular"/>
              </a:rPr>
              <a:t>x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defRPr>
            </a:pPr>
            <a:r>
              <a:rPr lang="es-ES">
                <a:solidFill>
                  <a:srgbClr val="000000"/>
                </a:solidFill>
                <a:latin typeface="+mj-lt"/>
                <a:ea typeface="+mj-ea"/>
                <a:cs typeface="+mj-cs"/>
                <a:sym typeface="Source Sans Pro Regular"/>
              </a:rPr>
              <a:t>o, si no se indica </a:t>
            </a:r>
            <a:r>
              <a:rPr lang="en-US">
                <a:latin typeface="Source Sans Pro Bold" panose="020B0703030403020204" pitchFamily="34" charset="0"/>
                <a:ea typeface="Source Sans Pro Bold" panose="020B0703030403020204" pitchFamily="34" charset="0"/>
                <a:cs typeface="+mj-cs"/>
                <a:sym typeface="Source Sans Pro Regular"/>
              </a:rPr>
              <a:t>x</a:t>
            </a:r>
            <a:r>
              <a:rPr lang="es-ES">
                <a:solidFill>
                  <a:srgbClr val="000000"/>
                </a:solidFill>
                <a:latin typeface="+mj-lt"/>
                <a:ea typeface="+mj-ea"/>
                <a:cs typeface="+mj-cs"/>
                <a:sym typeface="Source Sans Pro Regular"/>
              </a:rPr>
              <a:t>, del grupo actual.</a:t>
            </a:r>
          </a:p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defRPr>
            </a:pPr>
            <a:endParaRPr lang="en-US">
              <a:solidFill>
                <a:srgbClr val="000000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defRPr>
            </a:pPr>
            <a:r>
              <a:rPr lang="en-US" err="1"/>
              <a:t>survey_mean</a:t>
            </a:r>
            <a:r>
              <a:t>(</a:t>
            </a:r>
            <a:r>
              <a:rPr lang="es-ES">
                <a:latin typeface="+mj-lt"/>
                <a:ea typeface="+mj-ea"/>
                <a:cs typeface="+mj-cs"/>
                <a:sym typeface="Source Sans Pro Regular"/>
              </a:rPr>
              <a:t>x, …</a:t>
            </a:r>
            <a:r>
              <a:t>)</a:t>
            </a:r>
            <a:r>
              <a:rPr>
                <a:latin typeface="+mj-lt"/>
                <a:ea typeface="+mj-ea"/>
                <a:cs typeface="+mj-cs"/>
                <a:sym typeface="Source Sans Pro Regular"/>
              </a:rPr>
              <a:t> </a:t>
            </a:r>
            <a:endParaRPr lang="en-US">
              <a:latin typeface="+mj-lt"/>
              <a:ea typeface="+mj-ea"/>
              <a:cs typeface="+mj-cs"/>
              <a:sym typeface="Source Sans Pro Regular"/>
            </a:endParaRPr>
          </a:p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defRPr>
            </a:pPr>
            <a:endParaRPr lang="en-US">
              <a:latin typeface="+mj-lt"/>
              <a:ea typeface="+mj-ea"/>
              <a:cs typeface="+mj-cs"/>
              <a:sym typeface="Source Sans Pro Regular"/>
            </a:endParaRPr>
          </a:p>
          <a:p>
            <a:pPr lvl="1"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defRPr>
            </a:pPr>
            <a:r>
              <a:rPr lang="es-ES">
                <a:latin typeface="+mj-lt"/>
                <a:ea typeface="+mj-ea"/>
                <a:cs typeface="+mj-cs"/>
                <a:sym typeface="Source Sans Pro Regular"/>
              </a:rPr>
              <a:t>Estima la media poblacional.</a:t>
            </a:r>
          </a:p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ExtraLight"/>
                <a:ea typeface="Source Sans Pro ExtraLight"/>
                <a:cs typeface="Source Sans Pro ExtraLight"/>
                <a:sym typeface="Source Sans Pro ExtraLight"/>
              </a:defRPr>
            </a:pPr>
            <a:endParaRPr lang="en-US"/>
          </a:p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defRPr>
            </a:pPr>
            <a:r>
              <a:rPr lang="en-US" err="1"/>
              <a:t>survey_mean</a:t>
            </a:r>
            <a:r>
              <a:rPr lang="en-US"/>
              <a:t>(</a:t>
            </a:r>
            <a:r>
              <a:rPr lang="es-ES">
                <a:latin typeface="+mj-lt"/>
                <a:ea typeface="+mj-ea"/>
                <a:cs typeface="+mj-cs"/>
                <a:sym typeface="Source Sans Pro Regular"/>
              </a:rPr>
              <a:t>x, proportion = TRUE, </a:t>
            </a:r>
            <a:r>
              <a:rPr lang="en-US" err="1">
                <a:latin typeface="+mj-lt"/>
                <a:ea typeface="+mj-ea"/>
                <a:cs typeface="+mj-cs"/>
                <a:sym typeface="Source Sans Pro Regular"/>
              </a:rPr>
              <a:t>prop_method</a:t>
            </a:r>
            <a:r>
              <a:rPr lang="es-ES">
                <a:latin typeface="+mj-lt"/>
                <a:ea typeface="+mj-ea"/>
                <a:cs typeface="+mj-cs"/>
                <a:sym typeface="Source Sans Pro Regular"/>
              </a:rPr>
              <a:t> = "logit"</a:t>
            </a:r>
            <a:r>
              <a:rPr lang="en-US"/>
              <a:t>)</a:t>
            </a:r>
            <a:r>
              <a:rPr lang="en-US">
                <a:latin typeface="+mj-lt"/>
                <a:ea typeface="+mj-ea"/>
                <a:cs typeface="+mj-cs"/>
                <a:sym typeface="Source Sans Pro Regular"/>
              </a:rPr>
              <a:t> </a:t>
            </a:r>
          </a:p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defRPr>
            </a:pPr>
            <a:endParaRPr lang="en-US">
              <a:latin typeface="+mj-lt"/>
              <a:ea typeface="+mj-ea"/>
              <a:cs typeface="+mj-cs"/>
              <a:sym typeface="Source Sans Pro Regular"/>
            </a:endParaRPr>
          </a:p>
          <a:p>
            <a:pPr lvl="1"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defRPr>
            </a:pPr>
            <a:r>
              <a:rPr lang="es-ES">
                <a:latin typeface="+mj-lt"/>
                <a:ea typeface="+mj-ea"/>
                <a:cs typeface="+mj-cs"/>
                <a:sym typeface="Source Sans Pro Regular"/>
              </a:rPr>
              <a:t>Estima una proporción si </a:t>
            </a:r>
            <a:r>
              <a:rPr lang="en-US">
                <a:latin typeface="Source Sans Pro Bold" panose="020B0703030403020204" pitchFamily="34" charset="0"/>
                <a:ea typeface="Source Sans Pro Bold" panose="020B0703030403020204" pitchFamily="34" charset="0"/>
                <a:cs typeface="+mj-cs"/>
                <a:sym typeface="Source Sans Pro Regular"/>
              </a:rPr>
              <a:t>x</a:t>
            </a:r>
            <a:r>
              <a:rPr lang="es-ES">
                <a:latin typeface="+mj-lt"/>
                <a:ea typeface="+mj-ea"/>
                <a:cs typeface="+mj-cs"/>
                <a:sym typeface="Source Sans Pro Regular"/>
              </a:rPr>
              <a:t> es una variable binaria con valores 0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defRPr>
            </a:pPr>
            <a:r>
              <a:rPr lang="es-ES">
                <a:latin typeface="+mj-lt"/>
                <a:ea typeface="+mj-ea"/>
                <a:cs typeface="+mj-cs"/>
                <a:sym typeface="Source Sans Pro Regular"/>
              </a:rPr>
              <a:t>y 1 o una variable lógica.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defRPr>
            </a:pPr>
            <a:endParaRPr lang="en-US">
              <a:latin typeface="+mj-lt"/>
              <a:ea typeface="+mj-ea"/>
              <a:cs typeface="+mj-cs"/>
              <a:sym typeface="Source Sans Pro Regular"/>
            </a:endParaRPr>
          </a:p>
          <a:p>
            <a:pPr lvl="1"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defRPr>
            </a:pPr>
            <a:r>
              <a:rPr lang="en-US">
                <a:latin typeface="Source Sans Pro Bold" panose="020B0703030403020204" pitchFamily="34" charset="0"/>
                <a:ea typeface="Source Sans Pro Bold" panose="020B0703030403020204" pitchFamily="34" charset="0"/>
                <a:cs typeface="+mj-cs"/>
                <a:sym typeface="Source Sans Pro Regular"/>
              </a:rPr>
              <a:t>x </a:t>
            </a:r>
            <a:r>
              <a:rPr lang="es-ES">
                <a:latin typeface="+mj-lt"/>
                <a:ea typeface="+mj-ea"/>
                <a:cs typeface="+mj-cs"/>
                <a:sym typeface="Source Sans Pro Regular"/>
              </a:rPr>
              <a:t>puede ser una expresión como `AGE &gt; 25`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defRPr>
            </a:pPr>
            <a:endParaRPr lang="en-US">
              <a:latin typeface="+mj-lt"/>
              <a:ea typeface="+mj-ea"/>
              <a:cs typeface="+mj-cs"/>
              <a:sym typeface="Source Sans Pro Regular"/>
            </a:endParaRPr>
          </a:p>
          <a:p>
            <a:pPr lvl="1"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defRPr>
            </a:pPr>
            <a:r>
              <a:rPr lang="es-ES">
                <a:latin typeface="+mj-lt"/>
                <a:ea typeface="+mj-ea"/>
                <a:cs typeface="+mj-cs"/>
                <a:sym typeface="Source Sans Pro Regular"/>
              </a:rPr>
              <a:t>Usa el argumento </a:t>
            </a:r>
            <a:r>
              <a:rPr lang="en-US" err="1">
                <a:latin typeface="Source Sans Pro Bold" panose="020B0703030403020204" pitchFamily="34" charset="0"/>
                <a:ea typeface="Source Sans Pro Bold" panose="020B0703030403020204" pitchFamily="34" charset="0"/>
                <a:cs typeface="+mj-cs"/>
                <a:sym typeface="Source Sans Pro Regular"/>
              </a:rPr>
              <a:t>prop_method</a:t>
            </a:r>
            <a:r>
              <a:rPr lang="es-ES">
                <a:latin typeface="+mj-lt"/>
                <a:ea typeface="+mj-ea"/>
                <a:cs typeface="+mj-cs"/>
                <a:sym typeface="Source Sans Pro Regular"/>
              </a:rPr>
              <a:t> para elegir un método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defRPr>
            </a:pPr>
            <a:r>
              <a:rPr lang="es-ES">
                <a:latin typeface="+mj-lt"/>
                <a:ea typeface="+mj-ea"/>
                <a:cs typeface="+mj-cs"/>
                <a:sym typeface="Source Sans Pro Regular"/>
              </a:rPr>
              <a:t>especializado para calcular intervalos de confianza.</a:t>
            </a:r>
          </a:p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ExtraLight"/>
                <a:ea typeface="Source Sans Pro ExtraLight"/>
                <a:cs typeface="Source Sans Pro ExtraLight"/>
                <a:sym typeface="Source Sans Pro ExtraLight"/>
              </a:defRPr>
            </a:pPr>
            <a:endParaRPr lang="en-US"/>
          </a:p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defRPr>
            </a:pPr>
            <a:r>
              <a:rPr lang="en-US" err="1"/>
              <a:t>survey_median</a:t>
            </a:r>
            <a:r>
              <a:rPr lang="en-US"/>
              <a:t>(</a:t>
            </a:r>
            <a:r>
              <a:rPr lang="es-ES">
                <a:latin typeface="+mj-lt"/>
                <a:ea typeface="+mj-ea"/>
                <a:cs typeface="+mj-cs"/>
                <a:sym typeface="Source Sans Pro Regular"/>
              </a:rPr>
              <a:t>x)</a:t>
            </a:r>
          </a:p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defRPr>
            </a:pPr>
            <a:endParaRPr lang="en-US">
              <a:latin typeface="+mj-lt"/>
              <a:ea typeface="+mj-ea"/>
              <a:cs typeface="+mj-cs"/>
              <a:sym typeface="Source Sans Pro Regular"/>
            </a:endParaRPr>
          </a:p>
          <a:p>
            <a:pPr lvl="1"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defRPr>
            </a:pPr>
            <a:r>
              <a:rPr lang="es-ES">
                <a:latin typeface="+mj-lt"/>
                <a:ea typeface="+mj-ea"/>
                <a:cs typeface="+mj-cs"/>
                <a:sym typeface="Source Sans Pro Regular"/>
              </a:rPr>
              <a:t>Estima la mediana poblacional.</a:t>
            </a:r>
          </a:p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ExtraLight"/>
                <a:ea typeface="Source Sans Pro ExtraLight"/>
                <a:cs typeface="Source Sans Pro ExtraLight"/>
                <a:sym typeface="Source Sans Pro ExtraLight"/>
              </a:defRPr>
            </a:pPr>
            <a:endParaRPr lang="en-US"/>
          </a:p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defRPr>
            </a:pPr>
            <a:r>
              <a:rPr lang="en-US" err="1"/>
              <a:t>survey_quantile</a:t>
            </a:r>
            <a:r>
              <a:rPr lang="en-US"/>
              <a:t>(</a:t>
            </a:r>
            <a:r>
              <a:rPr lang="es-ES">
                <a:latin typeface="+mj-lt"/>
                <a:ea typeface="+mj-ea"/>
                <a:cs typeface="+mj-cs"/>
                <a:sym typeface="Source Sans Pro Regular"/>
              </a:rPr>
              <a:t>x, quantiles = 0.5</a:t>
            </a:r>
            <a:r>
              <a:rPr lang="en-US"/>
              <a:t>)</a:t>
            </a:r>
            <a:r>
              <a:rPr lang="en-US">
                <a:latin typeface="+mj-lt"/>
                <a:ea typeface="+mj-ea"/>
                <a:cs typeface="+mj-cs"/>
                <a:sym typeface="Source Sans Pro Regular"/>
              </a:rPr>
              <a:t> </a:t>
            </a:r>
          </a:p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defRPr>
            </a:pPr>
            <a:endParaRPr lang="en-US">
              <a:latin typeface="+mj-lt"/>
              <a:ea typeface="+mj-ea"/>
              <a:cs typeface="+mj-cs"/>
              <a:sym typeface="Source Sans Pro Regular"/>
            </a:endParaRPr>
          </a:p>
          <a:p>
            <a:pPr lvl="1"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defRPr>
            </a:pPr>
            <a:r>
              <a:rPr lang="es-ES">
                <a:latin typeface="+mj-lt"/>
                <a:ea typeface="+mj-ea"/>
                <a:cs typeface="+mj-cs"/>
                <a:sym typeface="Source Sans Pro Regular"/>
              </a:rPr>
              <a:t>Estima cuantiles poblacionales, como la mediana o los cuartiles.</a:t>
            </a:r>
          </a:p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ExtraLight"/>
                <a:ea typeface="Source Sans Pro ExtraLight"/>
                <a:cs typeface="Source Sans Pro ExtraLight"/>
                <a:sym typeface="Source Sans Pro ExtraLight"/>
              </a:defRPr>
            </a:pPr>
            <a:endParaRPr lang="en-US"/>
          </a:p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defRPr>
            </a:pPr>
            <a:r>
              <a:rPr lang="en-US" err="1"/>
              <a:t>survey_sd</a:t>
            </a:r>
            <a:r>
              <a:rPr lang="en-US"/>
              <a:t>(</a:t>
            </a:r>
            <a:r>
              <a:rPr lang="es-ES">
                <a:latin typeface="+mj-lt"/>
                <a:ea typeface="+mj-ea"/>
                <a:cs typeface="+mj-cs"/>
                <a:sym typeface="Source Sans Pro Regular"/>
              </a:rPr>
              <a:t>x)</a:t>
            </a:r>
          </a:p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defRPr>
            </a:pPr>
            <a:endParaRPr lang="en-US">
              <a:latin typeface="+mj-lt"/>
              <a:ea typeface="+mj-ea"/>
              <a:cs typeface="+mj-cs"/>
              <a:sym typeface="Source Sans Pro Regular"/>
            </a:endParaRPr>
          </a:p>
          <a:p>
            <a:pPr lvl="1"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defRPr>
            </a:pPr>
            <a:r>
              <a:rPr lang="es-ES">
                <a:latin typeface="+mj-lt"/>
                <a:ea typeface="+mj-ea"/>
                <a:cs typeface="+mj-cs"/>
                <a:sym typeface="Source Sans Pro Regular"/>
              </a:rPr>
              <a:t>Estima la desviación estándar poblacional de una variable.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defRPr>
            </a:pPr>
            <a:endParaRPr lang="en-US">
              <a:latin typeface="+mj-lt"/>
              <a:ea typeface="+mj-ea"/>
              <a:cs typeface="+mj-cs"/>
              <a:sym typeface="Source Sans Pro Regular"/>
            </a:endParaRPr>
          </a:p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defRPr>
            </a:pPr>
            <a:r>
              <a:rPr lang="en-US" err="1"/>
              <a:t>survey_var</a:t>
            </a:r>
            <a:r>
              <a:rPr lang="en-US"/>
              <a:t>(</a:t>
            </a:r>
            <a:r>
              <a:rPr lang="es-ES">
                <a:latin typeface="+mj-lt"/>
                <a:ea typeface="+mj-ea"/>
                <a:cs typeface="+mj-cs"/>
                <a:sym typeface="Source Sans Pro Regular"/>
              </a:rPr>
              <a:t>x)</a:t>
            </a:r>
          </a:p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defRPr>
            </a:pPr>
            <a:endParaRPr lang="en-US">
              <a:latin typeface="+mj-lt"/>
              <a:ea typeface="+mj-ea"/>
              <a:cs typeface="+mj-cs"/>
              <a:sym typeface="Source Sans Pro Regular"/>
            </a:endParaRPr>
          </a:p>
          <a:p>
            <a:pPr lvl="1"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defRPr>
            </a:pPr>
            <a:r>
              <a:rPr lang="es-ES">
                <a:latin typeface="+mj-lt"/>
                <a:ea typeface="+mj-ea"/>
                <a:cs typeface="+mj-cs"/>
                <a:sym typeface="Source Sans Pro Regular"/>
              </a:rPr>
              <a:t>Estima la varianza poblacional de una variable.</a:t>
            </a:r>
          </a:p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ExtraLight"/>
                <a:ea typeface="Source Sans Pro ExtraLight"/>
                <a:cs typeface="Source Sans Pro ExtraLight"/>
                <a:sym typeface="Source Sans Pro ExtraLight"/>
              </a:defRPr>
            </a:pPr>
            <a:endParaRPr lang="en-US"/>
          </a:p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defRPr>
            </a:pPr>
            <a:r>
              <a:rPr lang="en-US" err="1"/>
              <a:t>survey_ratio</a:t>
            </a:r>
            <a:r>
              <a:rPr lang="en-US"/>
              <a:t>(</a:t>
            </a:r>
            <a:r>
              <a:rPr lang="es-ES">
                <a:latin typeface="+mj-lt"/>
                <a:ea typeface="+mj-ea"/>
                <a:cs typeface="+mj-cs"/>
                <a:sym typeface="Source Sans Pro Regular"/>
              </a:rPr>
              <a:t>numerator, denominator</a:t>
            </a:r>
            <a:r>
              <a:rPr lang="en-US"/>
              <a:t>)</a:t>
            </a:r>
            <a:r>
              <a:rPr lang="en-US">
                <a:latin typeface="+mj-lt"/>
                <a:ea typeface="+mj-ea"/>
                <a:cs typeface="+mj-cs"/>
                <a:sym typeface="Source Sans Pro Regular"/>
              </a:rPr>
              <a:t> 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defRPr>
            </a:pPr>
            <a:endParaRPr lang="en-US">
              <a:latin typeface="+mj-lt"/>
              <a:ea typeface="+mj-ea"/>
              <a:cs typeface="+mj-cs"/>
              <a:sym typeface="Source Sans Pro Regular"/>
            </a:endParaRPr>
          </a:p>
          <a:p>
            <a:pPr lvl="1"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defRPr>
            </a:pPr>
            <a:r>
              <a:rPr lang="es-ES">
                <a:latin typeface="+mj-lt"/>
                <a:ea typeface="+mj-ea"/>
                <a:cs typeface="+mj-cs"/>
                <a:sym typeface="Source Sans Pro Regular"/>
              </a:rPr>
              <a:t>Estima la razón entre las medias poblacionales de dos variables.</a:t>
            </a:r>
          </a:p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ExtraLight"/>
                <a:ea typeface="Source Sans Pro ExtraLight"/>
                <a:cs typeface="Source Sans Pro ExtraLight"/>
                <a:sym typeface="Source Sans Pro ExtraLight"/>
              </a:defRPr>
            </a:pPr>
            <a:endParaRPr lang="en-US"/>
          </a:p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defRPr>
            </a:pPr>
            <a:r>
              <a:rPr lang="en-US" err="1"/>
              <a:t>survey_corr</a:t>
            </a:r>
            <a:r>
              <a:rPr lang="en-US"/>
              <a:t>(</a:t>
            </a:r>
            <a:r>
              <a:rPr lang="es-ES">
                <a:latin typeface="+mj-lt"/>
                <a:ea typeface="+mj-ea"/>
                <a:cs typeface="+mj-cs"/>
                <a:sym typeface="Source Sans Pro Regular"/>
              </a:rPr>
              <a:t>x, y</a:t>
            </a:r>
            <a:r>
              <a:rPr lang="en-US"/>
              <a:t>)</a:t>
            </a:r>
            <a:r>
              <a:rPr lang="en-US">
                <a:latin typeface="+mj-lt"/>
                <a:ea typeface="+mj-ea"/>
                <a:cs typeface="+mj-cs"/>
                <a:sym typeface="Source Sans Pro Regular"/>
              </a:rPr>
              <a:t> 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defRPr>
            </a:pPr>
            <a:endParaRPr lang="en-US">
              <a:latin typeface="+mj-lt"/>
              <a:ea typeface="+mj-ea"/>
              <a:cs typeface="+mj-cs"/>
              <a:sym typeface="Source Sans Pro Regular"/>
            </a:endParaRPr>
          </a:p>
          <a:p>
            <a:pPr lvl="1"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defRPr>
            </a:pPr>
            <a:r>
              <a:rPr lang="es-ES">
                <a:latin typeface="+mj-lt"/>
                <a:ea typeface="+mj-ea"/>
                <a:cs typeface="+mj-cs"/>
                <a:sym typeface="Source Sans Pro Regular"/>
              </a:rPr>
              <a:t>Estima la correlación poblacional entre dos variables.</a:t>
            </a:r>
          </a:p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ExtraLight"/>
                <a:ea typeface="Source Sans Pro ExtraLight"/>
                <a:cs typeface="Source Sans Pro ExtraLight"/>
                <a:sym typeface="Source Sans Pro ExtraLight"/>
              </a:defRPr>
            </a:pPr>
            <a:endParaRPr lang="en-US"/>
          </a:p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6" name="ggplot(mpg, aes(hwy, cty)) +…">
            <a:extLst>
              <a:ext uri="{FF2B5EF4-FFF2-40B4-BE49-F238E27FC236}">
                <a16:creationId xmlns:a16="http://schemas.microsoft.com/office/drawing/2014/main" id="{0BF61773-9B54-8343-1175-EAAA63D2BAD2}"/>
              </a:ext>
            </a:extLst>
          </p:cNvPr>
          <p:cNvSpPr txBox="1"/>
          <p:nvPr/>
        </p:nvSpPr>
        <p:spPr>
          <a:xfrm>
            <a:off x="5333971" y="2656723"/>
            <a:ext cx="3025059" cy="84887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AA9"/>
            </a:solidFill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4570" tIns="54570" rIns="54570" bIns="54570" anchor="ctr">
            <a:spAutoFit/>
          </a:bodyPr>
          <a:lstStyle/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en-US"/>
              <a:t>design |&gt;</a:t>
            </a:r>
          </a:p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en-US"/>
              <a:t>  </a:t>
            </a:r>
            <a:r>
              <a:rPr lang="en-US" err="1"/>
              <a:t>group_by</a:t>
            </a:r>
            <a:r>
              <a:rPr lang="en-US"/>
              <a:t>(region) |&gt;</a:t>
            </a:r>
          </a:p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en-US"/>
              <a:t>  summarize(</a:t>
            </a:r>
            <a:r>
              <a:rPr lang="en-US" err="1"/>
              <a:t>pop_size</a:t>
            </a:r>
            <a:r>
              <a:rPr lang="en-US"/>
              <a:t>    = </a:t>
            </a:r>
            <a:r>
              <a:rPr lang="en-US" err="1"/>
              <a:t>survey_total</a:t>
            </a:r>
            <a:r>
              <a:rPr lang="en-US"/>
              <a:t>(),</a:t>
            </a:r>
          </a:p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en-US"/>
              <a:t>                       </a:t>
            </a:r>
            <a:r>
              <a:rPr lang="en-US" err="1"/>
              <a:t>mean_age</a:t>
            </a:r>
            <a:r>
              <a:rPr lang="en-US"/>
              <a:t> = </a:t>
            </a:r>
            <a:r>
              <a:rPr lang="en-US" err="1"/>
              <a:t>survey_mean</a:t>
            </a:r>
            <a:r>
              <a:rPr lang="en-US"/>
              <a:t>(AGE))</a:t>
            </a:r>
            <a:endParaRPr/>
          </a:p>
        </p:txBody>
      </p:sp>
      <p:sp>
        <p:nvSpPr>
          <p:cNvPr id="28" name="This template uses several fonts: Helvetica Neue, Menlo, Source Sans pro, which you can acquire for free here,  www.fontsquirrel.com/fonts/source-sans-pro, and Font Awesome, which you can acquire here, fortawesome.github.io/Font-Awesome/get-started/">
            <a:extLst>
              <a:ext uri="{FF2B5EF4-FFF2-40B4-BE49-F238E27FC236}">
                <a16:creationId xmlns:a16="http://schemas.microsoft.com/office/drawing/2014/main" id="{61BCAC4C-F459-6F61-D1B9-2FF105C0E8A0}"/>
              </a:ext>
            </a:extLst>
          </p:cNvPr>
          <p:cNvSpPr txBox="1"/>
          <p:nvPr/>
        </p:nvSpPr>
        <p:spPr>
          <a:xfrm>
            <a:off x="9127490" y="2128918"/>
            <a:ext cx="4194614" cy="813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54570" tIns="54570" rIns="54570" bIns="54570" anchor="ctr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s-ES">
                <a:latin typeface="Source Sans Pro"/>
                <a:ea typeface="Source Sans Pro"/>
                <a:cs typeface="Source Sans Pro"/>
                <a:sym typeface="Source Sans Pro"/>
              </a:rPr>
              <a:t>Toda función de resumen estadístico incluye un argumento </a:t>
            </a:r>
            <a:r>
              <a:rPr lang="en-US" err="1">
                <a:latin typeface="Source Sans Pro Bold" panose="020B0703030403020204" pitchFamily="34" charset="0"/>
                <a:ea typeface="Source Sans Pro Bold" panose="020B0703030403020204" pitchFamily="34" charset="0"/>
                <a:sym typeface="Source Sans Pro"/>
              </a:rPr>
              <a:t>vartype</a:t>
            </a:r>
            <a:r>
              <a:rPr lang="en-US">
                <a:latin typeface="Source Sans Pro Bold" panose="020B0703030403020204" pitchFamily="34" charset="0"/>
                <a:ea typeface="Source Sans Pro Bold" panose="020B0703030403020204" pitchFamily="34" charset="0"/>
                <a:sym typeface="Source Sans Pro"/>
              </a:rPr>
              <a:t> </a:t>
            </a:r>
            <a:r>
              <a:rPr lang="es-ES">
                <a:latin typeface="Source Sans Pro" panose="020B0503030403020204" pitchFamily="34" charset="0"/>
                <a:ea typeface="Source Sans Pro" panose="020B0503030403020204" pitchFamily="34" charset="0"/>
                <a:sym typeface="Source Sans Pro"/>
              </a:rPr>
              <a:t>con el que se puede pedir una o más de las siguientes medidas de variación muestral.</a:t>
            </a:r>
            <a:endParaRPr lang="en-US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endParaRPr u="sng">
              <a:latin typeface="Source Sans Pro" panose="020B0503030403020204" pitchFamily="34" charset="0"/>
              <a:ea typeface="Source Sans Pro" panose="020B0503030403020204" pitchFamily="34" charset="0"/>
              <a:sym typeface="Source Sans Pro"/>
              <a:hlinkClick r:id="rId7"/>
            </a:endParaRPr>
          </a:p>
        </p:txBody>
      </p:sp>
      <p:sp>
        <p:nvSpPr>
          <p:cNvPr id="41" name="Line">
            <a:extLst>
              <a:ext uri="{FF2B5EF4-FFF2-40B4-BE49-F238E27FC236}">
                <a16:creationId xmlns:a16="http://schemas.microsoft.com/office/drawing/2014/main" id="{688A39FE-37FA-101B-E9B4-53DAA26EFE16}"/>
              </a:ext>
            </a:extLst>
          </p:cNvPr>
          <p:cNvSpPr/>
          <p:nvPr/>
        </p:nvSpPr>
        <p:spPr>
          <a:xfrm>
            <a:off x="279400" y="3540607"/>
            <a:ext cx="4140200" cy="2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2" name="Line">
            <a:extLst>
              <a:ext uri="{FF2B5EF4-FFF2-40B4-BE49-F238E27FC236}">
                <a16:creationId xmlns:a16="http://schemas.microsoft.com/office/drawing/2014/main" id="{2611A06D-5EB8-6EAC-58CA-F382172C5A76}"/>
              </a:ext>
            </a:extLst>
          </p:cNvPr>
          <p:cNvSpPr/>
          <p:nvPr/>
        </p:nvSpPr>
        <p:spPr>
          <a:xfrm flipV="1">
            <a:off x="279400" y="982678"/>
            <a:ext cx="11988800" cy="0"/>
          </a:xfrm>
          <a:prstGeom prst="line">
            <a:avLst/>
          </a:prstGeom>
          <a:ln w="3175">
            <a:solidFill>
              <a:srgbClr val="767C85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3" name="Thank you for making a new cheatsheet for R! These cheatsheets have an important job:">
            <a:extLst>
              <a:ext uri="{FF2B5EF4-FFF2-40B4-BE49-F238E27FC236}">
                <a16:creationId xmlns:a16="http://schemas.microsoft.com/office/drawing/2014/main" id="{76533412-4E68-6D7B-5E08-A3DDA18653D5}"/>
              </a:ext>
            </a:extLst>
          </p:cNvPr>
          <p:cNvSpPr txBox="1"/>
          <p:nvPr/>
        </p:nvSpPr>
        <p:spPr>
          <a:xfrm>
            <a:off x="279400" y="1084682"/>
            <a:ext cx="12071396" cy="3411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</a:defRPr>
            </a:pPr>
            <a:r>
              <a:rPr lang="es-ES" b="0"/>
              <a:t>Tras crear un </a:t>
            </a:r>
            <a:r>
              <a:rPr lang="es-ES" b="1"/>
              <a:t>objeto de diseño de encuesta</a:t>
            </a:r>
            <a:r>
              <a:rPr lang="es-ES" b="0"/>
              <a:t> con </a:t>
            </a:r>
            <a:r>
              <a:rPr lang="en-US" b="0" err="1"/>
              <a:t>srvyr</a:t>
            </a:r>
            <a:r>
              <a:rPr lang="es-ES" b="0"/>
              <a:t>, puedes manipular los datos y calcular resúmenes con los verbos de </a:t>
            </a:r>
            <a:r>
              <a:rPr lang="en-US" b="0" err="1"/>
              <a:t>dplyr</a:t>
            </a:r>
            <a:r>
              <a:rPr lang="es-ES" b="0"/>
              <a:t>, como </a:t>
            </a:r>
            <a:r>
              <a:rPr lang="en-US">
                <a:latin typeface="Source Sans Pro Bold" panose="020B0703030403020204" pitchFamily="34" charset="0"/>
                <a:ea typeface="Source Sans Pro Bold" panose="020B0703030403020204" pitchFamily="34" charset="0"/>
              </a:rPr>
              <a:t>filter()</a:t>
            </a:r>
            <a:r>
              <a:rPr lang="es-ES"/>
              <a:t> o </a:t>
            </a:r>
            <a:r>
              <a:rPr lang="en-US">
                <a:latin typeface="Source Sans Pro Bold" panose="020B0703030403020204" pitchFamily="34" charset="0"/>
                <a:ea typeface="Source Sans Pro Bold" panose="020B0703030403020204" pitchFamily="34" charset="0"/>
              </a:rPr>
              <a:t>summarize()</a:t>
            </a:r>
            <a:r>
              <a:rPr lang="en-US" b="0"/>
              <a:t>. </a:t>
            </a:r>
            <a:r>
              <a:rPr lang="en-US" b="0" err="1"/>
              <a:t>srvyr</a:t>
            </a:r>
            <a:r>
              <a:rPr lang="es-ES" b="0"/>
              <a:t> ofrece funciones especializadas de resumen estadístico para calcular estimaciones ponderadas junto con errores estándar e intervalos de confianza.</a:t>
            </a:r>
            <a:endParaRPr b="0"/>
          </a:p>
        </p:txBody>
      </p:sp>
      <p:sp>
        <p:nvSpPr>
          <p:cNvPr id="44" name="CODE">
            <a:extLst>
              <a:ext uri="{FF2B5EF4-FFF2-40B4-BE49-F238E27FC236}">
                <a16:creationId xmlns:a16="http://schemas.microsoft.com/office/drawing/2014/main" id="{F43B7002-494E-684D-C32D-7B0B5C075F74}"/>
              </a:ext>
            </a:extLst>
          </p:cNvPr>
          <p:cNvSpPr txBox="1"/>
          <p:nvPr/>
        </p:nvSpPr>
        <p:spPr>
          <a:xfrm>
            <a:off x="4533900" y="2633392"/>
            <a:ext cx="613951" cy="420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/>
            <a:r>
              <a:rPr lang="es-ES"/>
              <a:t>Código</a:t>
            </a:r>
          </a:p>
          <a:p>
            <a:pPr lvl="1" indent="0"/>
            <a:r>
              <a:rPr lang="es-ES"/>
              <a:t>de ejemplo</a:t>
            </a:r>
            <a:endParaRPr/>
          </a:p>
        </p:txBody>
      </p:sp>
      <p:sp>
        <p:nvSpPr>
          <p:cNvPr id="45" name="CODE">
            <a:extLst>
              <a:ext uri="{FF2B5EF4-FFF2-40B4-BE49-F238E27FC236}">
                <a16:creationId xmlns:a16="http://schemas.microsoft.com/office/drawing/2014/main" id="{059BD985-D4EE-C554-21A9-EC4E11282F34}"/>
              </a:ext>
            </a:extLst>
          </p:cNvPr>
          <p:cNvSpPr txBox="1"/>
          <p:nvPr/>
        </p:nvSpPr>
        <p:spPr>
          <a:xfrm>
            <a:off x="4533900" y="3656125"/>
            <a:ext cx="644407" cy="420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/>
            <a:r>
              <a:rPr lang="es-ES"/>
              <a:t>Resultado </a:t>
            </a:r>
          </a:p>
          <a:p>
            <a:pPr lvl="1" indent="0"/>
            <a:r>
              <a:rPr lang="es-ES"/>
              <a:t>de ejemplo</a:t>
            </a:r>
            <a:endParaRPr/>
          </a:p>
        </p:txBody>
      </p:sp>
      <p:sp>
        <p:nvSpPr>
          <p:cNvPr id="47" name="filter(.data, …, .preserve = FALSE) Extract rows that meet logical criteria.…">
            <a:extLst>
              <a:ext uri="{FF2B5EF4-FFF2-40B4-BE49-F238E27FC236}">
                <a16:creationId xmlns:a16="http://schemas.microsoft.com/office/drawing/2014/main" id="{5535D9A1-8993-43BA-862F-5DEC8555A2A6}"/>
              </a:ext>
            </a:extLst>
          </p:cNvPr>
          <p:cNvSpPr txBox="1"/>
          <p:nvPr/>
        </p:nvSpPr>
        <p:spPr>
          <a:xfrm>
            <a:off x="9182100" y="6055846"/>
            <a:ext cx="4080953" cy="232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defRPr>
            </a:pPr>
            <a:r>
              <a:rPr lang="en-US"/>
              <a:t>    </a:t>
            </a:r>
            <a:r>
              <a:rPr lang="en-US" err="1"/>
              <a:t>survey_prop</a:t>
            </a:r>
            <a:r>
              <a:rPr lang="en-US"/>
              <a:t>(</a:t>
            </a:r>
            <a:r>
              <a:rPr lang="es-ES">
                <a:latin typeface="+mj-lt"/>
                <a:ea typeface="+mj-ea"/>
                <a:cs typeface="+mj-cs"/>
                <a:sym typeface="Source Sans Pro Regular"/>
              </a:rPr>
              <a:t>…, </a:t>
            </a:r>
            <a:r>
              <a:rPr lang="en-US" err="1">
                <a:latin typeface="+mj-lt"/>
                <a:ea typeface="+mj-ea"/>
                <a:cs typeface="+mj-cs"/>
                <a:sym typeface="Source Sans Pro Regular"/>
              </a:rPr>
              <a:t>prop_method</a:t>
            </a:r>
            <a:r>
              <a:rPr lang="es-ES">
                <a:latin typeface="+mj-lt"/>
                <a:ea typeface="+mj-ea"/>
                <a:cs typeface="+mj-cs"/>
                <a:sym typeface="Source Sans Pro Regular"/>
              </a:rPr>
              <a:t> = "logit"</a:t>
            </a:r>
            <a:r>
              <a:rPr lang="en-US"/>
              <a:t>)</a:t>
            </a:r>
            <a:endParaRPr lang="en-US">
              <a:latin typeface="+mj-lt"/>
              <a:ea typeface="+mj-ea"/>
              <a:cs typeface="+mj-cs"/>
              <a:sym typeface="Source Sans Pro Regular"/>
            </a:endParaRPr>
          </a:p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defRPr>
            </a:pPr>
            <a:endParaRPr lang="en-US">
              <a:latin typeface="+mj-lt"/>
              <a:ea typeface="+mj-ea"/>
              <a:cs typeface="+mj-cs"/>
              <a:sym typeface="Source Sans Pro Regular"/>
            </a:endParaRPr>
          </a:p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ExtraLight"/>
                <a:ea typeface="Source Sans Pro ExtraLight"/>
                <a:cs typeface="Source Sans Pro ExtraLight"/>
                <a:sym typeface="Source Sans Pro ExtraLight"/>
              </a:defRPr>
            </a:pPr>
            <a:endParaRPr lang="en-US"/>
          </a:p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Source Sans Pro ExtraLight"/>
                <a:ea typeface="Source Sans Pro ExtraLight"/>
                <a:cs typeface="Source Sans Pro ExtraLight"/>
                <a:sym typeface="Source Sans Pro ExtraLight"/>
              </a:defRPr>
            </a:pPr>
            <a:endParaRPr lang="en-US"/>
          </a:p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endParaRPr/>
          </a:p>
        </p:txBody>
      </p: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34659627-1B6F-D334-A59D-E7BD3ED8B2F1}"/>
              </a:ext>
            </a:extLst>
          </p:cNvPr>
          <p:cNvGraphicFramePr>
            <a:graphicFrameLocks noGrp="1"/>
          </p:cNvGraphicFramePr>
          <p:nvPr/>
        </p:nvGraphicFramePr>
        <p:xfrm>
          <a:off x="5333971" y="3708634"/>
          <a:ext cx="3618710" cy="55245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22365">
                  <a:extLst>
                    <a:ext uri="{9D8B030D-6E8A-4147-A177-3AD203B41FA5}">
                      <a16:colId xmlns:a16="http://schemas.microsoft.com/office/drawing/2014/main" val="2092234209"/>
                    </a:ext>
                  </a:extLst>
                </a:gridCol>
                <a:gridCol w="727584">
                  <a:extLst>
                    <a:ext uri="{9D8B030D-6E8A-4147-A177-3AD203B41FA5}">
                      <a16:colId xmlns:a16="http://schemas.microsoft.com/office/drawing/2014/main" val="2096494197"/>
                    </a:ext>
                  </a:extLst>
                </a:gridCol>
                <a:gridCol w="798915">
                  <a:extLst>
                    <a:ext uri="{9D8B030D-6E8A-4147-A177-3AD203B41FA5}">
                      <a16:colId xmlns:a16="http://schemas.microsoft.com/office/drawing/2014/main" val="3756200582"/>
                    </a:ext>
                  </a:extLst>
                </a:gridCol>
                <a:gridCol w="798915">
                  <a:extLst>
                    <a:ext uri="{9D8B030D-6E8A-4147-A177-3AD203B41FA5}">
                      <a16:colId xmlns:a16="http://schemas.microsoft.com/office/drawing/2014/main" val="547291331"/>
                    </a:ext>
                  </a:extLst>
                </a:gridCol>
                <a:gridCol w="870931">
                  <a:extLst>
                    <a:ext uri="{9D8B030D-6E8A-4147-A177-3AD203B41FA5}">
                      <a16:colId xmlns:a16="http://schemas.microsoft.com/office/drawing/2014/main" val="3472064207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>
                          <a:effectLst/>
                        </a:rPr>
                        <a:t> region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u="none" strike="noStrike" err="1">
                          <a:effectLst/>
                        </a:rPr>
                        <a:t>pop_size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u="none" strike="noStrike" err="1">
                          <a:effectLst/>
                        </a:rPr>
                        <a:t>pop_size_se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u="none" strike="noStrike" err="1">
                          <a:effectLst/>
                        </a:rPr>
                        <a:t>mean_age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err="1">
                          <a:effectLst/>
                        </a:rPr>
                        <a:t>mean_age_se</a:t>
                      </a:r>
                      <a:r>
                        <a:rPr lang="en-US" sz="1100" b="1" u="none" strike="noStrike">
                          <a:effectLst/>
                        </a:rPr>
                        <a:t> 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6467910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North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   15,342,875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           25,410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               1.2     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733663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South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     5,861,942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           37,902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               1.1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46157605"/>
                  </a:ext>
                </a:extLst>
              </a:tr>
            </a:tbl>
          </a:graphicData>
        </a:graphic>
      </p:graphicFrame>
      <p:sp>
        <p:nvSpPr>
          <p:cNvPr id="52" name="Manipulate Variables">
            <a:extLst>
              <a:ext uri="{FF2B5EF4-FFF2-40B4-BE49-F238E27FC236}">
                <a16:creationId xmlns:a16="http://schemas.microsoft.com/office/drawing/2014/main" id="{20947439-88B9-27A1-0656-F6515EBB3E46}"/>
              </a:ext>
            </a:extLst>
          </p:cNvPr>
          <p:cNvSpPr txBox="1"/>
          <p:nvPr/>
        </p:nvSpPr>
        <p:spPr>
          <a:xfrm>
            <a:off x="9169400" y="5193532"/>
            <a:ext cx="3920945" cy="309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s-ES">
                <a:solidFill>
                  <a:srgbClr val="FE7900"/>
                </a:solidFill>
              </a:rPr>
              <a:t>Proporciones y porcentajes</a:t>
            </a:r>
            <a:endParaRPr>
              <a:solidFill>
                <a:srgbClr val="FE7900"/>
              </a:solidFill>
            </a:endParaRPr>
          </a:p>
        </p:txBody>
      </p:sp>
      <p:sp>
        <p:nvSpPr>
          <p:cNvPr id="53" name="This template uses several fonts: Helvetica Neue, Menlo, Source Sans pro, which you can acquire for free here,  www.fontsquirrel.com/fonts/source-sans-pro, and Font Awesome, which you can acquire here, fortawesome.github.io/Font-Awesome/get-started/">
            <a:extLst>
              <a:ext uri="{FF2B5EF4-FFF2-40B4-BE49-F238E27FC236}">
                <a16:creationId xmlns:a16="http://schemas.microsoft.com/office/drawing/2014/main" id="{3179C2A8-D817-B960-A067-C75B6AB399BE}"/>
              </a:ext>
            </a:extLst>
          </p:cNvPr>
          <p:cNvSpPr txBox="1"/>
          <p:nvPr/>
        </p:nvSpPr>
        <p:spPr>
          <a:xfrm>
            <a:off x="4491990" y="1906604"/>
            <a:ext cx="4194614" cy="813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54570" tIns="54570" rIns="54570" bIns="54570" anchor="ctr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s-ES">
                <a:latin typeface="Source Sans Pro"/>
                <a:ea typeface="Source Sans Pro"/>
                <a:cs typeface="Source Sans Pro"/>
                <a:sym typeface="Source Sans Pro"/>
              </a:rPr>
              <a:t>Estas funciones se usan </a:t>
            </a:r>
            <a:r>
              <a:rPr lang="es-ES" i="1">
                <a:latin typeface="Source Sans Pro Bold" panose="020B0703030403020204" pitchFamily="34" charset="0"/>
                <a:ea typeface="Source Sans Pro Bold" panose="020B0703030403020204" pitchFamily="34" charset="0"/>
                <a:sym typeface="Source Sans Pro"/>
              </a:rPr>
              <a:t>dentro</a:t>
            </a:r>
            <a:r>
              <a:rPr lang="es-ES">
                <a:latin typeface="Source Sans Pro"/>
                <a:ea typeface="Source Sans Pro"/>
                <a:cs typeface="Source Sans Pro"/>
                <a:sym typeface="Source Sans Pro"/>
              </a:rPr>
              <a:t> de las funciones de </a:t>
            </a:r>
            <a:r>
              <a:rPr lang="en-US" err="1">
                <a:latin typeface="Source Sans Pro"/>
                <a:ea typeface="Source Sans Pro"/>
                <a:cs typeface="Source Sans Pro"/>
                <a:sym typeface="Source Sans Pro"/>
              </a:rPr>
              <a:t>dplyr</a:t>
            </a:r>
            <a:r>
              <a:rPr lang="es-ES"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>
                <a:latin typeface="Source Sans Pro Bold" panose="020B0703030403020204" pitchFamily="34" charset="0"/>
                <a:ea typeface="Source Sans Pro Bold" panose="020B0703030403020204" pitchFamily="34" charset="0"/>
              </a:rPr>
              <a:t>summarize()</a:t>
            </a:r>
            <a:r>
              <a:rPr lang="en-US"/>
              <a:t> </a:t>
            </a:r>
            <a:r>
              <a:rPr lang="es-ES">
                <a:latin typeface="Source Sans Pro" panose="020B0503030403020204" pitchFamily="34" charset="0"/>
                <a:ea typeface="Source Sans Pro" panose="020B0503030403020204" pitchFamily="34" charset="0"/>
              </a:rPr>
              <a:t>y</a:t>
            </a:r>
            <a:r>
              <a:rPr lang="en-US"/>
              <a:t> </a:t>
            </a:r>
            <a:r>
              <a:rPr lang="en-US">
                <a:latin typeface="Source Sans Pro Bold" panose="020B0703030403020204" pitchFamily="34" charset="0"/>
                <a:ea typeface="Source Sans Pro Bold" panose="020B0703030403020204" pitchFamily="34" charset="0"/>
              </a:rPr>
              <a:t>mutate()</a:t>
            </a:r>
            <a:r>
              <a:rPr lang="es-ES">
                <a:latin typeface="Source Sans Pro" panose="020B0503030403020204" pitchFamily="34" charset="0"/>
                <a:ea typeface="Source Sans Pro" panose="020B0503030403020204" pitchFamily="34" charset="0"/>
              </a:rPr>
              <a:t> y devuelven una estimación y su error estándar (con el sufijo “_se”)</a:t>
            </a: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endParaRPr u="sng">
              <a:latin typeface="Source Sans Pro" panose="020B0503030403020204" pitchFamily="34" charset="0"/>
              <a:ea typeface="Source Sans Pro" panose="020B0503030403020204" pitchFamily="34" charset="0"/>
              <a:sym typeface="Source Sans Pro"/>
              <a:hlinkClick r:id="rId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B808959-82BA-F835-0CB5-4239B21F8B0C}"/>
              </a:ext>
            </a:extLst>
          </p:cNvPr>
          <p:cNvSpPr txBox="1"/>
          <p:nvPr/>
        </p:nvSpPr>
        <p:spPr>
          <a:xfrm>
            <a:off x="9375360" y="2735631"/>
            <a:ext cx="4002180" cy="11182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/>
              <a:t>“var”</a:t>
            </a:r>
            <a:r>
              <a:rPr lang="es-ES" b="0"/>
              <a:t>: La varianza muestral</a:t>
            </a:r>
            <a:endParaRPr lang="en-US"/>
          </a:p>
          <a:p>
            <a:r>
              <a:rPr lang="en-US"/>
              <a:t>“se”</a:t>
            </a:r>
            <a:r>
              <a:rPr lang="es-ES" b="0"/>
              <a:t>: El error estándar (incluido por defecto)</a:t>
            </a:r>
          </a:p>
          <a:p>
            <a:r>
              <a:rPr lang="en-US"/>
              <a:t>“cv”</a:t>
            </a:r>
            <a:r>
              <a:rPr lang="es-ES" b="0"/>
              <a:t>: El coeficiente de variación </a:t>
            </a:r>
          </a:p>
          <a:p>
            <a:r>
              <a:rPr lang="en-US"/>
              <a:t>“ci”</a:t>
            </a:r>
            <a:r>
              <a:rPr lang="es-ES" b="0"/>
              <a:t>: Un intervalo de confianza; el nivel de confianza se   </a:t>
            </a:r>
          </a:p>
          <a:p>
            <a:r>
              <a:rPr lang="es-ES" b="0"/>
              <a:t>           controla con el argumento </a:t>
            </a:r>
            <a:r>
              <a:rPr lang="en-US" b="0">
                <a:latin typeface="Source Sans Pro Bold" panose="020B0703030403020204" pitchFamily="34" charset="0"/>
                <a:ea typeface="Source Sans Pro Bold" panose="020B0703030403020204" pitchFamily="34" charset="0"/>
              </a:rPr>
              <a:t>level </a:t>
            </a:r>
          </a:p>
        </p:txBody>
      </p:sp>
      <p:sp>
        <p:nvSpPr>
          <p:cNvPr id="57" name="ggplot(mpg, aes(hwy, cty)) +…">
            <a:extLst>
              <a:ext uri="{FF2B5EF4-FFF2-40B4-BE49-F238E27FC236}">
                <a16:creationId xmlns:a16="http://schemas.microsoft.com/office/drawing/2014/main" id="{EE92CCC0-644B-F2E8-7C20-D2A162CEC723}"/>
              </a:ext>
            </a:extLst>
          </p:cNvPr>
          <p:cNvSpPr txBox="1"/>
          <p:nvPr/>
        </p:nvSpPr>
        <p:spPr>
          <a:xfrm>
            <a:off x="9182100" y="4122057"/>
            <a:ext cx="4495800" cy="84887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AA9"/>
            </a:solidFill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54570" tIns="54570" rIns="54570" bIns="54570" anchor="ctr">
            <a:spAutoFit/>
          </a:bodyPr>
          <a:lstStyle/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en-US"/>
              <a:t>design |&gt;</a:t>
            </a:r>
          </a:p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en-US"/>
              <a:t>  summarize(</a:t>
            </a:r>
          </a:p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en-US"/>
              <a:t>      age = </a:t>
            </a:r>
            <a:r>
              <a:rPr lang="en-US" err="1"/>
              <a:t>survey_mean</a:t>
            </a:r>
            <a:r>
              <a:rPr lang="en-US"/>
              <a:t>(AGE, </a:t>
            </a:r>
            <a:r>
              <a:rPr lang="en-US" err="1"/>
              <a:t>vartype</a:t>
            </a:r>
            <a:r>
              <a:rPr lang="es-ES"/>
              <a:t> = c("se", "ci"), level = 0.95)</a:t>
            </a:r>
          </a:p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en-US"/>
              <a:t>  )</a:t>
            </a:r>
            <a:endParaRPr/>
          </a:p>
        </p:txBody>
      </p:sp>
      <p:sp>
        <p:nvSpPr>
          <p:cNvPr id="59" name="CODE">
            <a:extLst>
              <a:ext uri="{FF2B5EF4-FFF2-40B4-BE49-F238E27FC236}">
                <a16:creationId xmlns:a16="http://schemas.microsoft.com/office/drawing/2014/main" id="{9543FB97-C03F-7F61-E334-7FEC4FBB8A84}"/>
              </a:ext>
            </a:extLst>
          </p:cNvPr>
          <p:cNvSpPr txBox="1"/>
          <p:nvPr/>
        </p:nvSpPr>
        <p:spPr>
          <a:xfrm>
            <a:off x="9169400" y="3819478"/>
            <a:ext cx="987450" cy="210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/>
            <a:r>
              <a:rPr lang="es-ES"/>
              <a:t>Código de ejemplo</a:t>
            </a:r>
            <a:endParaRPr/>
          </a:p>
        </p:txBody>
      </p:sp>
      <p:sp>
        <p:nvSpPr>
          <p:cNvPr id="61" name="KEYNOTE TIPS">
            <a:extLst>
              <a:ext uri="{FF2B5EF4-FFF2-40B4-BE49-F238E27FC236}">
                <a16:creationId xmlns:a16="http://schemas.microsoft.com/office/drawing/2014/main" id="{BC740957-4AE5-B30D-C81B-44E8523FDAC3}"/>
              </a:ext>
            </a:extLst>
          </p:cNvPr>
          <p:cNvSpPr txBox="1"/>
          <p:nvPr/>
        </p:nvSpPr>
        <p:spPr>
          <a:xfrm>
            <a:off x="9169400" y="1924413"/>
            <a:ext cx="3340658" cy="210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/>
            <a:r>
              <a:rPr lang="es-ES"/>
              <a:t>ERRORES ESTÁNDAR E INTERVALOS DE CONFIANZA</a:t>
            </a:r>
            <a:endParaRPr/>
          </a:p>
        </p:txBody>
      </p:sp>
      <p:sp>
        <p:nvSpPr>
          <p:cNvPr id="62" name="This template uses several fonts: Helvetica Neue, Menlo, Source Sans pro, which you can acquire for free here,  www.fontsquirrel.com/fonts/source-sans-pro, and Font Awesome, which you can acquire here, fortawesome.github.io/Font-Awesome/get-started/">
            <a:extLst>
              <a:ext uri="{FF2B5EF4-FFF2-40B4-BE49-F238E27FC236}">
                <a16:creationId xmlns:a16="http://schemas.microsoft.com/office/drawing/2014/main" id="{BB853890-88F3-D400-42A5-DB3434B97B86}"/>
              </a:ext>
            </a:extLst>
          </p:cNvPr>
          <p:cNvSpPr txBox="1"/>
          <p:nvPr/>
        </p:nvSpPr>
        <p:spPr>
          <a:xfrm>
            <a:off x="9127490" y="5575432"/>
            <a:ext cx="4413250" cy="442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54570" tIns="54570" rIns="54570" bIns="54570" anchor="ctr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s-ES">
                <a:latin typeface="Source Sans Pro"/>
                <a:ea typeface="Source Sans Pro"/>
                <a:cs typeface="Source Sans Pro"/>
                <a:sym typeface="Source Sans Pro"/>
              </a:rPr>
              <a:t>En datos agrupados, puedes estimar la proporción de la población total de cada grupo con </a:t>
            </a:r>
            <a:r>
              <a:rPr lang="en-US" err="1">
                <a:latin typeface="Source Sans Pro Bold" panose="020B0703030403020204" pitchFamily="34" charset="0"/>
                <a:ea typeface="Source Sans Pro Bold" panose="020B0703030403020204" pitchFamily="34" charset="0"/>
              </a:rPr>
              <a:t>survey_prop</a:t>
            </a:r>
            <a:r>
              <a:rPr lang="en-US">
                <a:latin typeface="Source Sans Pro Bold" panose="020B0703030403020204" pitchFamily="34" charset="0"/>
                <a:ea typeface="Source Sans Pro Bold" panose="020B0703030403020204" pitchFamily="34" charset="0"/>
              </a:rPr>
              <a:t>()</a:t>
            </a:r>
            <a:r>
              <a:rPr lang="en-US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  <a:r>
              <a:rPr lang="en-US" sz="600" u="sng">
                <a:latin typeface="Source Sans Pro" panose="020B0503030403020204" pitchFamily="34" charset="0"/>
                <a:ea typeface="Source Sans Pro" panose="020B0503030403020204" pitchFamily="34" charset="0"/>
                <a:sym typeface="Source Sans Pro"/>
                <a:hlinkClick r:id="rId7"/>
              </a:rPr>
              <a:t>      </a:t>
            </a:r>
            <a:endParaRPr sz="600" u="sng">
              <a:latin typeface="Source Sans Pro" panose="020B0503030403020204" pitchFamily="34" charset="0"/>
              <a:ea typeface="Source Sans Pro" panose="020B0503030403020204" pitchFamily="34" charset="0"/>
              <a:sym typeface="Source Sans Pro"/>
              <a:hlinkClick r:id="rId7"/>
            </a:endParaRPr>
          </a:p>
        </p:txBody>
      </p:sp>
      <p:sp>
        <p:nvSpPr>
          <p:cNvPr id="63" name="This template uses several fonts: Helvetica Neue, Menlo, Source Sans pro, which you can acquire for free here,  www.fontsquirrel.com/fonts/source-sans-pro, and Font Awesome, which you can acquire here, fortawesome.github.io/Font-Awesome/get-started/">
            <a:extLst>
              <a:ext uri="{FF2B5EF4-FFF2-40B4-BE49-F238E27FC236}">
                <a16:creationId xmlns:a16="http://schemas.microsoft.com/office/drawing/2014/main" id="{D8C4A04E-CB0E-7057-9472-68EF8C580641}"/>
              </a:ext>
            </a:extLst>
          </p:cNvPr>
          <p:cNvSpPr txBox="1"/>
          <p:nvPr/>
        </p:nvSpPr>
        <p:spPr>
          <a:xfrm>
            <a:off x="9127490" y="6233246"/>
            <a:ext cx="4413250" cy="813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54570" tIns="54570" rIns="54570" bIns="54570" anchor="ctr">
            <a:spAutoFit/>
          </a:bodyPr>
          <a:lstStyle/>
          <a:p>
            <a:pPr algn="just"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s-ES">
                <a:latin typeface="Source Sans Pro" panose="020B0503030403020204" pitchFamily="34" charset="0"/>
                <a:ea typeface="Source Sans Pro" panose="020B0503030403020204" pitchFamily="34" charset="0"/>
              </a:rPr>
              <a:t>Por defecto, con </a:t>
            </a:r>
            <a:r>
              <a:rPr lang="es-ES" i="1">
                <a:latin typeface="Source Sans Pro" panose="020B0503030403020204" pitchFamily="34" charset="0"/>
                <a:ea typeface="Source Sans Pro" panose="020B0503030403020204" pitchFamily="34" charset="0"/>
              </a:rPr>
              <a:t>varias</a:t>
            </a:r>
            <a:r>
              <a:rPr lang="es-ES">
                <a:latin typeface="Source Sans Pro" panose="020B0503030403020204" pitchFamily="34" charset="0"/>
                <a:ea typeface="Source Sans Pro" panose="020B0503030403020204" pitchFamily="34" charset="0"/>
              </a:rPr>
              <a:t> variables de agrupación, </a:t>
            </a:r>
            <a:r>
              <a:rPr lang="en-US">
                <a:latin typeface="Source Sans Pro Bold" panose="020B0703030403020204" pitchFamily="34" charset="0"/>
                <a:ea typeface="Source Sans Pro Bold" panose="020B0703030403020204" pitchFamily="34" charset="0"/>
              </a:rPr>
              <a:t>x </a:t>
            </a:r>
            <a:r>
              <a:rPr lang="es-ES">
                <a:latin typeface="Source Sans Pro" panose="020B0503030403020204" pitchFamily="34" charset="0"/>
                <a:ea typeface="Source Sans Pro" panose="020B0503030403020204" pitchFamily="34" charset="0"/>
              </a:rPr>
              <a:t>e</a:t>
            </a:r>
            <a:r>
              <a:rPr lang="en-US">
                <a:latin typeface="Source Sans Pro Bold" panose="020B0703030403020204" pitchFamily="34" charset="0"/>
                <a:ea typeface="Source Sans Pro Bold" panose="020B0703030403020204" pitchFamily="34" charset="0"/>
              </a:rPr>
              <a:t> y</a:t>
            </a:r>
            <a:r>
              <a:rPr lang="es-ES">
                <a:latin typeface="Source Sans Pro" panose="020B0503030403020204" pitchFamily="34" charset="0"/>
                <a:ea typeface="Source Sans Pro" panose="020B0503030403020204" pitchFamily="34" charset="0"/>
              </a:rPr>
              <a:t>, se obtienen proporciones de </a:t>
            </a:r>
            <a:r>
              <a:rPr lang="en-US">
                <a:latin typeface="Source Sans Pro Bold" panose="020B0703030403020204" pitchFamily="34" charset="0"/>
                <a:ea typeface="Source Sans Pro Bold" panose="020B0703030403020204" pitchFamily="34" charset="0"/>
              </a:rPr>
              <a:t>y </a:t>
            </a:r>
            <a:r>
              <a:rPr lang="es-ES">
                <a:latin typeface="Source Sans Pro" panose="020B0503030403020204" pitchFamily="34" charset="0"/>
                <a:ea typeface="Source Sans Pro" panose="020B0503030403020204" pitchFamily="34" charset="0"/>
              </a:rPr>
              <a:t>dentro de las categorías de </a:t>
            </a:r>
            <a:r>
              <a:rPr lang="en-US">
                <a:latin typeface="Source Sans Pro Bold" panose="020B0703030403020204" pitchFamily="34" charset="0"/>
                <a:ea typeface="Source Sans Pro Bold" panose="020B0703030403020204" pitchFamily="34" charset="0"/>
              </a:rPr>
              <a:t>x</a:t>
            </a:r>
            <a:r>
              <a:rPr lang="en-US">
                <a:latin typeface="+mj-lt"/>
                <a:ea typeface="Source Sans Pro Bold" panose="020B0703030403020204" pitchFamily="34" charset="0"/>
              </a:rPr>
              <a:t>.</a:t>
            </a:r>
          </a:p>
          <a:p>
            <a:pPr algn="just"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s-ES">
                <a:latin typeface="Source Sans Pro" panose="020B0503030403020204" pitchFamily="34" charset="0"/>
                <a:ea typeface="Source Sans Pro" panose="020B0503030403020204" pitchFamily="34" charset="0"/>
              </a:rPr>
              <a:t>La función </a:t>
            </a:r>
            <a:r>
              <a:rPr lang="en-US">
                <a:latin typeface="Source Sans Pro Bold" panose="020B0703030403020204" pitchFamily="34" charset="0"/>
                <a:ea typeface="Source Sans Pro Bold" panose="020B0703030403020204" pitchFamily="34" charset="0"/>
              </a:rPr>
              <a:t>interact() </a:t>
            </a:r>
            <a:r>
              <a:rPr lang="es-ES">
                <a:latin typeface="Source Sans Pro" panose="020B0503030403020204" pitchFamily="34" charset="0"/>
                <a:ea typeface="Source Sans Pro" panose="020B0503030403020204" pitchFamily="34" charset="0"/>
              </a:rPr>
              <a:t>permite obtener proporciones para combinaciones de variables.</a:t>
            </a:r>
            <a:endParaRPr u="sng">
              <a:latin typeface="+mj-lt"/>
              <a:ea typeface="Source Sans Pro" panose="020B0503030403020204" pitchFamily="34" charset="0"/>
              <a:sym typeface="Source Sans Pro"/>
              <a:hlinkClick r:id="rId7"/>
            </a:endParaRPr>
          </a:p>
        </p:txBody>
      </p:sp>
      <p:sp>
        <p:nvSpPr>
          <p:cNvPr id="128" name="ggplot(mpg, aes(hwy, cty)) +…">
            <a:extLst>
              <a:ext uri="{FF2B5EF4-FFF2-40B4-BE49-F238E27FC236}">
                <a16:creationId xmlns:a16="http://schemas.microsoft.com/office/drawing/2014/main" id="{AE17AA67-0D33-16FC-2A85-AB4BAF00F5C0}"/>
              </a:ext>
            </a:extLst>
          </p:cNvPr>
          <p:cNvSpPr txBox="1"/>
          <p:nvPr/>
        </p:nvSpPr>
        <p:spPr>
          <a:xfrm>
            <a:off x="9127490" y="7431951"/>
            <a:ext cx="2299815" cy="664204"/>
          </a:xfrm>
          <a:prstGeom prst="rect">
            <a:avLst/>
          </a:prstGeom>
          <a:solidFill>
            <a:srgbClr val="FFFFFF"/>
          </a:solidFill>
          <a:ln w="12700">
            <a:solidFill>
              <a:srgbClr val="A6AAA9"/>
            </a:solidFill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54570" tIns="54570" rIns="54570" bIns="54570" anchor="ctr">
            <a:spAutoFit/>
          </a:bodyPr>
          <a:lstStyle/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en-US"/>
              <a:t>design |&gt;</a:t>
            </a:r>
          </a:p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en-US"/>
              <a:t>  </a:t>
            </a:r>
            <a:r>
              <a:rPr lang="en-US" err="1"/>
              <a:t>group_by</a:t>
            </a:r>
            <a:r>
              <a:rPr lang="en-US"/>
              <a:t>(region, agree) |&gt;</a:t>
            </a:r>
          </a:p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en-US"/>
              <a:t>  summarize(prop = </a:t>
            </a:r>
            <a:r>
              <a:rPr lang="en-US" err="1"/>
              <a:t>survey_prop</a:t>
            </a:r>
            <a:r>
              <a:rPr lang="en-US"/>
              <a:t>())</a:t>
            </a:r>
            <a:endParaRPr/>
          </a:p>
        </p:txBody>
      </p:sp>
      <p:sp>
        <p:nvSpPr>
          <p:cNvPr id="129" name="CODE">
            <a:extLst>
              <a:ext uri="{FF2B5EF4-FFF2-40B4-BE49-F238E27FC236}">
                <a16:creationId xmlns:a16="http://schemas.microsoft.com/office/drawing/2014/main" id="{9C43C7E8-D731-0453-549D-6E8C9EC4C95A}"/>
              </a:ext>
            </a:extLst>
          </p:cNvPr>
          <p:cNvSpPr txBox="1"/>
          <p:nvPr/>
        </p:nvSpPr>
        <p:spPr>
          <a:xfrm>
            <a:off x="9169400" y="7104808"/>
            <a:ext cx="4089261" cy="210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/>
            <a:r>
              <a:rPr lang="es-ES"/>
              <a:t>Proporciones anidadas: </a:t>
            </a:r>
            <a:r>
              <a:rPr lang="es-ES" b="0"/>
              <a:t>proporción de una variable </a:t>
            </a:r>
            <a:r>
              <a:rPr lang="es-ES" b="0" i="1"/>
              <a:t>dentro</a:t>
            </a:r>
            <a:r>
              <a:rPr lang="es-ES" b="0"/>
              <a:t> de otra</a:t>
            </a:r>
            <a:endParaRPr b="0"/>
          </a:p>
        </p:txBody>
      </p:sp>
      <p:graphicFrame>
        <p:nvGraphicFramePr>
          <p:cNvPr id="137" name="Table 136">
            <a:extLst>
              <a:ext uri="{FF2B5EF4-FFF2-40B4-BE49-F238E27FC236}">
                <a16:creationId xmlns:a16="http://schemas.microsoft.com/office/drawing/2014/main" id="{0DF2225C-BDE2-1DC3-9A8C-44AAE1702B1E}"/>
              </a:ext>
            </a:extLst>
          </p:cNvPr>
          <p:cNvGraphicFramePr>
            <a:graphicFrameLocks noGrp="1"/>
          </p:cNvGraphicFramePr>
          <p:nvPr/>
        </p:nvGraphicFramePr>
        <p:xfrm>
          <a:off x="11596234" y="7431951"/>
          <a:ext cx="2079268" cy="102691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19817">
                  <a:extLst>
                    <a:ext uri="{9D8B030D-6E8A-4147-A177-3AD203B41FA5}">
                      <a16:colId xmlns:a16="http://schemas.microsoft.com/office/drawing/2014/main" val="2092234209"/>
                    </a:ext>
                  </a:extLst>
                </a:gridCol>
                <a:gridCol w="519817">
                  <a:extLst>
                    <a:ext uri="{9D8B030D-6E8A-4147-A177-3AD203B41FA5}">
                      <a16:colId xmlns:a16="http://schemas.microsoft.com/office/drawing/2014/main" val="2096494197"/>
                    </a:ext>
                  </a:extLst>
                </a:gridCol>
                <a:gridCol w="519817">
                  <a:extLst>
                    <a:ext uri="{9D8B030D-6E8A-4147-A177-3AD203B41FA5}">
                      <a16:colId xmlns:a16="http://schemas.microsoft.com/office/drawing/2014/main" val="547291331"/>
                    </a:ext>
                  </a:extLst>
                </a:gridCol>
                <a:gridCol w="519817">
                  <a:extLst>
                    <a:ext uri="{9D8B030D-6E8A-4147-A177-3AD203B41FA5}">
                      <a16:colId xmlns:a16="http://schemas.microsoft.com/office/drawing/2014/main" val="3472064207"/>
                    </a:ext>
                  </a:extLst>
                </a:gridCol>
              </a:tblGrid>
              <a:tr h="12858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>
                          <a:effectLst/>
                        </a:rPr>
                        <a:t> region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u="none" strike="noStrike">
                          <a:effectLst/>
                        </a:rPr>
                        <a:t>agree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u="none" strike="noStrike">
                          <a:effectLst/>
                        </a:rPr>
                        <a:t>prop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err="1">
                          <a:effectLst/>
                        </a:rPr>
                        <a:t>prop_se</a:t>
                      </a:r>
                      <a:r>
                        <a:rPr lang="en-US" sz="1100" b="1" u="none" strike="noStrike">
                          <a:effectLst/>
                        </a:rPr>
                        <a:t>  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64679105"/>
                  </a:ext>
                </a:extLst>
              </a:tr>
              <a:tr h="21323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  <a:latin typeface="Source Sans Pro Light (Body)"/>
                        </a:rPr>
                        <a:t> North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ource Sans Pro Light (Body)"/>
                      </a:endParaRPr>
                    </a:p>
                  </a:txBody>
                  <a:tcPr marL="6350" marR="6350" marT="635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  <a:latin typeface="Source Sans Pro Light (Body)"/>
                        </a:rPr>
                        <a:t>   Yes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ource Sans Pro Light (Body)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  <a:latin typeface="Source Sans Pro Light (Body)"/>
                        </a:rPr>
                        <a:t>0.9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ource Sans Pro Light (Body)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  <a:latin typeface="Source Sans Pro Light (Body)"/>
                        </a:rPr>
                        <a:t>        0.01     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ource Sans Pro Light (Body)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7336636"/>
                  </a:ext>
                </a:extLst>
              </a:tr>
              <a:tr h="21323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  <a:latin typeface="Source Sans Pro Light (Body)"/>
                        </a:rPr>
                        <a:t> North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ource Sans Pro Light (Body)"/>
                      </a:endParaRPr>
                    </a:p>
                  </a:txBody>
                  <a:tcPr marL="6350" marR="6350" marT="635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  <a:latin typeface="Source Sans Pro Light (Body)"/>
                        </a:rPr>
                        <a:t> No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ource Sans Pro Light (Body)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  <a:latin typeface="Source Sans Pro Light (Body)"/>
                        </a:rPr>
                        <a:t>0.1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ource Sans Pro Light (Body)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  <a:latin typeface="Source Sans Pro Light (Body)"/>
                        </a:rPr>
                        <a:t>        0.01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ource Sans Pro Light (Body)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46157605"/>
                  </a:ext>
                </a:extLst>
              </a:tr>
              <a:tr h="21323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 Light (Body)"/>
                        </a:rPr>
                        <a:t> South</a:t>
                      </a:r>
                    </a:p>
                  </a:txBody>
                  <a:tcPr marL="6350" marR="6350" marT="635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 Light (Body)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 Light (Body)"/>
                        </a:rPr>
                        <a:t>0.5</a:t>
                      </a:r>
                    </a:p>
                  </a:txBody>
                  <a:tcPr marL="6350" marR="6350" marT="6350" marB="0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 Light (Body)"/>
                        </a:rPr>
                        <a:t>        0.05</a:t>
                      </a:r>
                    </a:p>
                  </a:txBody>
                  <a:tcPr marL="6350" marR="6350" marT="6350" marB="0" anchor="b">
                    <a:lnL w="12700" cmpd="sng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95782758"/>
                  </a:ext>
                </a:extLst>
              </a:tr>
              <a:tr h="21323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 Light (Body)"/>
                        </a:rPr>
                        <a:t> South</a:t>
                      </a:r>
                    </a:p>
                  </a:txBody>
                  <a:tcPr marL="6350" marR="6350" marT="635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 Light (Body)"/>
                        </a:rPr>
                        <a:t>No</a:t>
                      </a:r>
                    </a:p>
                  </a:txBody>
                  <a:tcPr marL="6350" marR="6350" marT="635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 Light (Body)"/>
                        </a:rPr>
                        <a:t>0.5</a:t>
                      </a:r>
                    </a:p>
                  </a:txBody>
                  <a:tcPr marL="6350" marR="6350" marT="635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 Light (Body)"/>
                        </a:rPr>
                        <a:t>        0.05</a:t>
                      </a:r>
                    </a:p>
                  </a:txBody>
                  <a:tcPr marL="6350" marR="6350" marT="6350" marB="0" anchor="b">
                    <a:lnL w="12700" cmpd="sng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6493565"/>
                  </a:ext>
                </a:extLst>
              </a:tr>
            </a:tbl>
          </a:graphicData>
        </a:graphic>
      </p:graphicFrame>
      <p:sp>
        <p:nvSpPr>
          <p:cNvPr id="138" name="ggplot(mpg, aes(hwy, cty)) +…">
            <a:extLst>
              <a:ext uri="{FF2B5EF4-FFF2-40B4-BE49-F238E27FC236}">
                <a16:creationId xmlns:a16="http://schemas.microsoft.com/office/drawing/2014/main" id="{87AC246D-F792-9758-5CBB-37B6A2F42660}"/>
              </a:ext>
            </a:extLst>
          </p:cNvPr>
          <p:cNvSpPr txBox="1"/>
          <p:nvPr/>
        </p:nvSpPr>
        <p:spPr>
          <a:xfrm>
            <a:off x="9127489" y="8775913"/>
            <a:ext cx="2299815" cy="84887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AA9"/>
            </a:solidFill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54570" tIns="54570" rIns="54570" bIns="54570" anchor="ctr">
            <a:spAutoFit/>
          </a:bodyPr>
          <a:lstStyle/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en-US"/>
              <a:t>design |&gt;</a:t>
            </a:r>
          </a:p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en-US"/>
              <a:t>  </a:t>
            </a:r>
            <a:r>
              <a:rPr lang="en-US" err="1"/>
              <a:t>group_by</a:t>
            </a:r>
            <a:r>
              <a:rPr lang="en-US"/>
              <a:t>(interact(region, agree)) |&gt;</a:t>
            </a:r>
          </a:p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en-US"/>
              <a:t>  summarize(prop = </a:t>
            </a:r>
            <a:r>
              <a:rPr lang="en-US" err="1"/>
              <a:t>survey_prop</a:t>
            </a:r>
            <a:r>
              <a:rPr lang="en-US"/>
              <a:t>())</a:t>
            </a:r>
            <a:endParaRPr/>
          </a:p>
        </p:txBody>
      </p:sp>
      <p:graphicFrame>
        <p:nvGraphicFramePr>
          <p:cNvPr id="141" name="Table 140">
            <a:extLst>
              <a:ext uri="{FF2B5EF4-FFF2-40B4-BE49-F238E27FC236}">
                <a16:creationId xmlns:a16="http://schemas.microsoft.com/office/drawing/2014/main" id="{04296DD6-8F37-612E-B2E3-9A7696AAE5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7431012"/>
              </p:ext>
            </p:extLst>
          </p:nvPr>
        </p:nvGraphicFramePr>
        <p:xfrm>
          <a:off x="11599041" y="8776475"/>
          <a:ext cx="2079268" cy="96045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19817">
                  <a:extLst>
                    <a:ext uri="{9D8B030D-6E8A-4147-A177-3AD203B41FA5}">
                      <a16:colId xmlns:a16="http://schemas.microsoft.com/office/drawing/2014/main" val="2092234209"/>
                    </a:ext>
                  </a:extLst>
                </a:gridCol>
                <a:gridCol w="519817">
                  <a:extLst>
                    <a:ext uri="{9D8B030D-6E8A-4147-A177-3AD203B41FA5}">
                      <a16:colId xmlns:a16="http://schemas.microsoft.com/office/drawing/2014/main" val="2096494197"/>
                    </a:ext>
                  </a:extLst>
                </a:gridCol>
                <a:gridCol w="519817">
                  <a:extLst>
                    <a:ext uri="{9D8B030D-6E8A-4147-A177-3AD203B41FA5}">
                      <a16:colId xmlns:a16="http://schemas.microsoft.com/office/drawing/2014/main" val="547291331"/>
                    </a:ext>
                  </a:extLst>
                </a:gridCol>
                <a:gridCol w="519817">
                  <a:extLst>
                    <a:ext uri="{9D8B030D-6E8A-4147-A177-3AD203B41FA5}">
                      <a16:colId xmlns:a16="http://schemas.microsoft.com/office/drawing/2014/main" val="3472064207"/>
                    </a:ext>
                  </a:extLst>
                </a:gridCol>
              </a:tblGrid>
              <a:tr h="12858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>
                          <a:effectLst/>
                        </a:rPr>
                        <a:t> region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u="none" strike="noStrike">
                          <a:effectLst/>
                        </a:rPr>
                        <a:t>agree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u="none" strike="noStrike">
                          <a:effectLst/>
                        </a:rPr>
                        <a:t>prop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err="1">
                          <a:effectLst/>
                        </a:rPr>
                        <a:t>prop_se</a:t>
                      </a:r>
                      <a:r>
                        <a:rPr lang="en-US" sz="1100" b="1" u="none" strike="noStrike">
                          <a:effectLst/>
                        </a:rPr>
                        <a:t>  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64679105"/>
                  </a:ext>
                </a:extLst>
              </a:tr>
              <a:tr h="21323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  <a:latin typeface="Source Sans Pro Light (Body)"/>
                        </a:rPr>
                        <a:t> North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ource Sans Pro Light (Body)"/>
                      </a:endParaRPr>
                    </a:p>
                  </a:txBody>
                  <a:tcPr marL="6350" marR="6350" marT="635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  <a:latin typeface="Source Sans Pro Light (Body)"/>
                        </a:rPr>
                        <a:t>   Yes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ource Sans Pro Light (Body)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  <a:latin typeface="Source Sans Pro Light (Body)"/>
                        </a:rPr>
                        <a:t>0.675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ource Sans Pro Light (Body)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  <a:latin typeface="Source Sans Pro Light (Body)"/>
                        </a:rPr>
                        <a:t>        0.01     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ource Sans Pro Light (Body)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733663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  <a:latin typeface="Source Sans Pro Light (Body)"/>
                        </a:rPr>
                        <a:t> North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ource Sans Pro Light (Body)"/>
                      </a:endParaRPr>
                    </a:p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 Light (Body)"/>
                        </a:rPr>
                        <a:t> South</a:t>
                      </a:r>
                    </a:p>
                  </a:txBody>
                  <a:tcPr marL="6350" marR="6350" marT="635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  <a:latin typeface="Source Sans Pro Light (Body)"/>
                        </a:rPr>
                        <a:t> No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ource Sans Pro Light (Body)"/>
                      </a:endParaRPr>
                    </a:p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 Light (Body)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  <a:latin typeface="Source Sans Pro Light (Body)"/>
                        </a:rPr>
                        <a:t>0.075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ource Sans Pro Light (Body)"/>
                      </a:endParaRPr>
                    </a:p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 Light (Body)"/>
                        </a:rPr>
                        <a:t>0.125</a:t>
                      </a:r>
                    </a:p>
                  </a:txBody>
                  <a:tcPr marL="6350" marR="6350" marT="635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  <a:latin typeface="Source Sans Pro Light (Body)"/>
                        </a:rPr>
                        <a:t>        0.01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ource Sans Pro Light (Body)"/>
                      </a:endParaRPr>
                    </a:p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 Light (Body)"/>
                        </a:rPr>
                        <a:t>        0.05</a:t>
                      </a:r>
                    </a:p>
                  </a:txBody>
                  <a:tcPr marL="6350" marR="6350" marT="6350" marB="0" anchor="b">
                    <a:lnL w="12700" cmpd="sng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46157605"/>
                  </a:ext>
                </a:extLst>
              </a:tr>
              <a:tr h="21323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 Light (Body)"/>
                        </a:rPr>
                        <a:t> South</a:t>
                      </a:r>
                    </a:p>
                  </a:txBody>
                  <a:tcPr marL="6350" marR="6350" marT="635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 Light (Body)"/>
                        </a:rPr>
                        <a:t>No</a:t>
                      </a:r>
                    </a:p>
                  </a:txBody>
                  <a:tcPr marL="6350" marR="6350" marT="635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 Light (Body)"/>
                        </a:rPr>
                        <a:t>0.125</a:t>
                      </a:r>
                    </a:p>
                  </a:txBody>
                  <a:tcPr marL="6350" marR="6350" marT="635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 Light (Body)"/>
                        </a:rPr>
                        <a:t>        0.05</a:t>
                      </a:r>
                    </a:p>
                  </a:txBody>
                  <a:tcPr marL="6350" marR="6350" marT="6350" marB="0" anchor="b">
                    <a:lnL w="12700" cmpd="sng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6493565"/>
                  </a:ext>
                </a:extLst>
              </a:tr>
            </a:tbl>
          </a:graphicData>
        </a:graphic>
      </p:graphicFrame>
      <p:sp>
        <p:nvSpPr>
          <p:cNvPr id="142" name="CODE">
            <a:extLst>
              <a:ext uri="{FF2B5EF4-FFF2-40B4-BE49-F238E27FC236}">
                <a16:creationId xmlns:a16="http://schemas.microsoft.com/office/drawing/2014/main" id="{CACBCF7D-549F-7126-F866-088AC40E701D}"/>
              </a:ext>
            </a:extLst>
          </p:cNvPr>
          <p:cNvSpPr txBox="1"/>
          <p:nvPr/>
        </p:nvSpPr>
        <p:spPr>
          <a:xfrm>
            <a:off x="9169400" y="8561153"/>
            <a:ext cx="4619854" cy="210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/>
            <a:r>
              <a:rPr lang="es-ES"/>
              <a:t>Proporciones cruzadas</a:t>
            </a:r>
            <a:r>
              <a:rPr lang="es-ES" b="0"/>
              <a:t>: proporciones de </a:t>
            </a:r>
            <a:r>
              <a:rPr lang="es-ES" b="0" i="1"/>
              <a:t>combinaciones</a:t>
            </a:r>
            <a:r>
              <a:rPr lang="es-ES" b="0"/>
              <a:t> de variables</a:t>
            </a:r>
            <a:endParaRPr/>
          </a:p>
        </p:txBody>
      </p:sp>
      <p:sp>
        <p:nvSpPr>
          <p:cNvPr id="8" name="Logistics">
            <a:extLst>
              <a:ext uri="{FF2B5EF4-FFF2-40B4-BE49-F238E27FC236}">
                <a16:creationId xmlns:a16="http://schemas.microsoft.com/office/drawing/2014/main" id="{8C7ED33D-28C7-C45B-3305-E5A680278BC1}"/>
              </a:ext>
            </a:extLst>
          </p:cNvPr>
          <p:cNvSpPr txBox="1"/>
          <p:nvPr/>
        </p:nvSpPr>
        <p:spPr>
          <a:xfrm>
            <a:off x="266700" y="8727583"/>
            <a:ext cx="3682687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s-ES">
                <a:solidFill>
                  <a:srgbClr val="FE7900"/>
                </a:solidFill>
              </a:rPr>
              <a:t>Operaciones por columnas</a:t>
            </a:r>
            <a:endParaRPr>
              <a:solidFill>
                <a:srgbClr val="FE7900"/>
              </a:solidFill>
            </a:endParaRPr>
          </a:p>
        </p:txBody>
      </p:sp>
      <p:sp>
        <p:nvSpPr>
          <p:cNvPr id="9" name="Use group_by(.data, …, .add = FALSE, .drop = TRUE) to create a &quot;grouped&quot; copy of a table grouped by columns in ... dplyr functions will manipulate each &quot;group&quot; separately and combine the results.">
            <a:extLst>
              <a:ext uri="{FF2B5EF4-FFF2-40B4-BE49-F238E27FC236}">
                <a16:creationId xmlns:a16="http://schemas.microsoft.com/office/drawing/2014/main" id="{16FDDB7C-12F3-C53F-48E1-F135D6C14E7B}"/>
              </a:ext>
            </a:extLst>
          </p:cNvPr>
          <p:cNvSpPr txBox="1"/>
          <p:nvPr/>
        </p:nvSpPr>
        <p:spPr>
          <a:xfrm>
            <a:off x="279400" y="9133604"/>
            <a:ext cx="4140200" cy="1162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 lnSpcReduction="10000"/>
          </a:bodyPr>
          <a:lstStyle/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r>
              <a:rPr lang="es-ES" b="0"/>
              <a:t>Usa funciones de </a:t>
            </a:r>
            <a:r>
              <a:rPr lang="en-US" err="1"/>
              <a:t>dplyr</a:t>
            </a:r>
            <a:r>
              <a:rPr lang="es-ES" b="0"/>
              <a:t> como `across()` para aplicar resúmenes a varias columnas.</a:t>
            </a:r>
          </a:p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endParaRPr lang="en-US" b="0"/>
          </a:p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r>
              <a:rPr lang="es-ES"/>
              <a:t>Ejemplo:</a:t>
            </a:r>
            <a:r>
              <a:rPr lang="en-US" b="0"/>
              <a:t> design |&gt; </a:t>
            </a:r>
            <a:r>
              <a:rPr lang="en-US" b="0" err="1"/>
              <a:t>summarise</a:t>
            </a:r>
            <a:r>
              <a:rPr lang="en-US" b="0"/>
              <a:t>(across(</a:t>
            </a:r>
            <a:r>
              <a:rPr lang="es-ES" b="0" err="1"/>
              <a:t>where(is.numeric)</a:t>
            </a:r>
            <a:r>
              <a:rPr lang="en-US" b="0"/>
              <a:t>, </a:t>
            </a:r>
            <a:r>
              <a:rPr lang="en-US" b="0" err="1"/>
              <a:t>survey_mean</a:t>
            </a:r>
            <a:r>
              <a:rPr lang="en-US" b="0"/>
              <a:t>))</a:t>
            </a:r>
          </a:p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endParaRPr lang="en-US" b="0"/>
          </a:p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r>
              <a:rPr lang="es-ES" b="0"/>
              <a:t>Más información sobre las funciones por columnas de </a:t>
            </a:r>
            <a:r>
              <a:rPr lang="en-US" err="1"/>
              <a:t>dplyr</a:t>
            </a:r>
            <a:r>
              <a:rPr lang="es-ES" b="0"/>
              <a:t> aquí:</a:t>
            </a:r>
          </a:p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r>
              <a:rPr lang="en-US">
                <a:hlinkClick r:id="rId8"/>
              </a:rPr>
              <a:t>https://dplyr.tidyverse.org/articles/colwise.html</a:t>
            </a:r>
            <a:endParaRPr lang="en-US"/>
          </a:p>
          <a:p>
            <a:pPr>
              <a:lnSpc>
                <a:spcPct val="80000"/>
              </a:lnSpc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0024511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4C4C4C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F7DCA7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Source Sans Pro Light"/>
        <a:ea typeface="Source Sans Pro Light"/>
        <a:cs typeface="Source Sans Pro Light"/>
      </a:majorFont>
      <a:minorFont>
        <a:latin typeface="Source Sans Pro Light"/>
        <a:ea typeface="Source Sans Pro Light"/>
        <a:cs typeface="Source Sans Pro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200"/>
          </a:spcBef>
          <a:spcAft>
            <a:spcPts val="0"/>
          </a:spcAft>
          <a:buClrTx/>
          <a:buSzTx/>
          <a:buFontTx/>
          <a:buNone/>
          <a:tabLst/>
          <a:defRPr kumimoji="0" sz="1200" b="1" i="0" u="none" strike="noStrike" cap="none" spc="0" normalizeH="0" baseline="0">
            <a:ln>
              <a:noFill/>
            </a:ln>
            <a:solidFill>
              <a:srgbClr val="4C4C4C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F7DCA7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Source Sans Pro Light"/>
        <a:ea typeface="Source Sans Pro Light"/>
        <a:cs typeface="Source Sans Pro Light"/>
      </a:majorFont>
      <a:minorFont>
        <a:latin typeface="Source Sans Pro Light"/>
        <a:ea typeface="Source Sans Pro Light"/>
        <a:cs typeface="Source Sans Pro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200"/>
          </a:spcBef>
          <a:spcAft>
            <a:spcPts val="0"/>
          </a:spcAft>
          <a:buClrTx/>
          <a:buSzTx/>
          <a:buFontTx/>
          <a:buNone/>
          <a:tabLst/>
          <a:defRPr kumimoji="0" sz="1200" b="1" i="0" u="none" strike="noStrike" cap="none" spc="0" normalizeH="0" baseline="0">
            <a:ln>
              <a:noFill/>
            </a:ln>
            <a:solidFill>
              <a:srgbClr val="4C4C4C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E384CB9-CA1F-4FBA-AFB9-FF76279DF477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8031e4d3-5f3e-4fdc-8be4-f311ce9e1b3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2368</Words>
  <Application>Microsoft Office PowerPoint</Application>
  <PresentationFormat>Personalizado</PresentationFormat>
  <Paragraphs>393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12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15" baseType="lpstr">
      <vt:lpstr>Aptos Narrow</vt:lpstr>
      <vt:lpstr>Avenir</vt:lpstr>
      <vt:lpstr>Calibri</vt:lpstr>
      <vt:lpstr>Cambria Math</vt:lpstr>
      <vt:lpstr>Consolas</vt:lpstr>
      <vt:lpstr>Helvetica Light</vt:lpstr>
      <vt:lpstr>Source Sans Pro</vt:lpstr>
      <vt:lpstr>Source Sans Pro Bold</vt:lpstr>
      <vt:lpstr>Source Sans Pro ExtraLight</vt:lpstr>
      <vt:lpstr>Source Sans Pro Light</vt:lpstr>
      <vt:lpstr>Source Sans Pro Light (Body)</vt:lpstr>
      <vt:lpstr>Source Sans Pro Semibold</vt:lpstr>
      <vt:lpstr>White</vt:lpstr>
      <vt:lpstr>Análisis de encuestas con srvyr : : CHEAT SHEET (1 de 2) </vt:lpstr>
      <vt:lpstr>Análisis de encuestas con srvyr : : CHEAT SHEET (2 de 2)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Four Column Layout : : CHEAT SHEET</dc:title>
  <dc:creator>Benjamin Schneider</dc:creator>
  <cp:lastModifiedBy>Anthony Romero</cp:lastModifiedBy>
  <cp:revision>1</cp:revision>
  <dcterms:modified xsi:type="dcterms:W3CDTF">2026-10-12T16:58:57Z</dcterms:modified>
</cp:coreProperties>
</file>