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3972032" cy="10799064"/>
  <p:notesSz cx="10799064" cy="1397203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hyperlink" Target="https://creativecommons.org/licenses/by-sa/4.0/" TargetMode="External"/><Relationship Id="rId3" Type="http://schemas.openxmlformats.org/officeDocument/2006/relationships/hyperlink" Target="https://anthonyromero.netlify.app" TargetMode="External"/><Relationship Id="rId4" Type="http://schemas.openxmlformats.org/officeDocument/2006/relationships/hyperlink" Target="https://rpkgs.datanovia.com/rstatix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hyperlink" Target="https://creativecommons.org/licenses/by-sa/4.0/" TargetMode="External"/><Relationship Id="rId3" Type="http://schemas.openxmlformats.org/officeDocument/2006/relationships/hyperlink" Target="https://anthonyromero.netlify.app" TargetMode="External"/><Relationship Id="rId4" Type="http://schemas.openxmlformats.org/officeDocument/2006/relationships/hyperlink" Target="https://rpkgs.datanovia.com/rstatix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10680192" y="0"/>
            <a:ext cx="3291840" cy="1965960"/>
          </a:xfrm>
          <a:prstGeom prst="rtTriangle">
            <a:avLst/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s-ES" sz="4000" dirty="0">
                <a:solidFill>
                  <a:srgbClr val="4B2C82"/>
                </a:solidFill>
                <a:latin typeface="Source Sans Pro Light" pitchFamily="34" charset="0"/>
                <a:ea typeface="Source Sans Pro Light" pitchFamily="34" charset="-122"/>
                <a:cs typeface="Source Sans Pro Light" pitchFamily="34" charset="-120"/>
              </a:rPr>
              <a:t>Pruebas estadísticas con rstatix</a:t>
            </a:r>
            <a:pPr indent="0" marL="0">
              <a:buNone/>
            </a:pPr>
            <a:r>
              <a:rPr lang="en-US" sz="4000" dirty="0">
                <a:solidFill>
                  <a:srgbClr val="5F6675"/>
                </a:solidFill>
                <a:latin typeface="Source Sans Pro Light" pitchFamily="34" charset="0"/>
                <a:ea typeface="Source Sans Pro Light" pitchFamily="34" charset="-122"/>
                <a:cs typeface="Source Sans Pro Light" pitchFamily="34" charset="-120"/>
              </a:rPr>
              <a:t>  ::  </a:t>
            </a:r>
            <a:pPr indent="0" marL="0">
              <a:buNone/>
            </a:pPr>
            <a:r>
              <a:rPr lang="en-US" sz="30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CHEAT SHEET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29768" y="104241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3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rstatix ejecuta las pruebas habituales de R base con una gramática compatible con pipes y devuelve data frames ordenados, listos para reportar y graficar.</a:t>
            </a:r>
            <a:endParaRPr lang="en-US" sz="1300" dirty="0"/>
          </a:p>
        </p:txBody>
      </p:sp>
      <p:pic>
        <p:nvPicPr>
          <p:cNvPr id="5" name="Image 0" descr="/home/claude/sheets/rstatix/h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9264" y="182880"/>
            <a:ext cx="118872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645920"/>
            <a:ext cx="402336" cy="402336"/>
          </a:xfrm>
          <a:prstGeom prst="ellipse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23544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0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Elige la prueba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194560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</a:t>
            </a:r>
            <a:pPr indent="0" marL="0">
              <a:buNone/>
            </a:pPr>
            <a:r>
              <a:rPr lang="es-ES" sz="10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diseño</a:t>
            </a:r>
            <a:pPr indent="0" marL="0">
              <a:buNone/>
            </a:pPr>
            <a:r>
              <a:rPr lang="es-E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elige la fila; los </a:t>
            </a:r>
            <a:pPr indent="0" marL="0">
              <a:buNone/>
            </a:pPr>
            <a:r>
              <a:rPr lang="es-ES" sz="10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supuestos</a:t>
            </a:r>
            <a:pPr indent="0" marL="0">
              <a:buNone/>
            </a:pPr>
            <a:r>
              <a:rPr lang="es-E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(sección 3), la columna. En gris: tamaño del efecto u opción clave.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11480" y="2651760"/>
            <a:ext cx="1549908" cy="237744"/>
          </a:xfrm>
          <a:prstGeom prst="rect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34540" y="2651760"/>
            <a:ext cx="1549908" cy="237744"/>
          </a:xfrm>
          <a:prstGeom prst="rect">
            <a:avLst/>
          </a:prstGeom>
          <a:solidFill>
            <a:srgbClr val="D9731E"/>
          </a:solidFill>
          <a:ln w="12700">
            <a:solidFill>
              <a:srgbClr val="D973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1480" y="2651760"/>
            <a:ext cx="15499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900" b="1" spc="100" kern="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 CUMPLEN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2034540" y="2651760"/>
            <a:ext cx="15499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900" b="1" spc="100" kern="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CUMPLEN / n BAJO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11480" y="296265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 grupos independientes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11480" y="3163824"/>
            <a:ext cx="1549908" cy="228600"/>
          </a:xfrm>
          <a:prstGeom prst="rect">
            <a:avLst/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11480" y="3163824"/>
            <a:ext cx="1549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t_test()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034540" y="3163824"/>
            <a:ext cx="1549908" cy="228600"/>
          </a:xfrm>
          <a:prstGeom prst="rect">
            <a:avLst/>
          </a:prstGeom>
          <a:solidFill>
            <a:srgbClr val="FCEEDF"/>
          </a:solidFill>
          <a:ln w="12700">
            <a:solidFill>
              <a:srgbClr val="FCEED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034540" y="3163824"/>
            <a:ext cx="1549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5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wilcox_test()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411480" y="3410712"/>
            <a:ext cx="15499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cohens_d()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2034540" y="3410712"/>
            <a:ext cx="15499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wilcox_effsize()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411480" y="364845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 grupos pareados</a:t>
            </a:r>
            <a:pPr indent="0" marL="0">
              <a:buNone/>
            </a:pPr>
            <a:r>
              <a:rPr lang="en-US" sz="850" dirty="0">
                <a:solidFill>
                  <a:srgbClr val="7A5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+ paired = TRUE, id =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11480" y="3849624"/>
            <a:ext cx="1549908" cy="228600"/>
          </a:xfrm>
          <a:prstGeom prst="rect">
            <a:avLst/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11480" y="3849624"/>
            <a:ext cx="1549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t_test()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034540" y="3849624"/>
            <a:ext cx="1549908" cy="228600"/>
          </a:xfrm>
          <a:prstGeom prst="rect">
            <a:avLst/>
          </a:prstGeom>
          <a:solidFill>
            <a:srgbClr val="FCEEDF"/>
          </a:solidFill>
          <a:ln w="12700">
            <a:solidFill>
              <a:srgbClr val="FCEED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034540" y="3849624"/>
            <a:ext cx="1549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5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wilcox_test()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411480" y="4096512"/>
            <a:ext cx="15499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cohens_d()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2034540" y="4096512"/>
            <a:ext cx="15499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wilcox_effsize()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411480" y="433425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3+ grupos independientes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11480" y="4535424"/>
            <a:ext cx="1549908" cy="228600"/>
          </a:xfrm>
          <a:prstGeom prst="rect">
            <a:avLst/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11480" y="4535424"/>
            <a:ext cx="1549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anova_test()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034540" y="4535424"/>
            <a:ext cx="1549908" cy="228600"/>
          </a:xfrm>
          <a:prstGeom prst="rect">
            <a:avLst/>
          </a:prstGeom>
          <a:solidFill>
            <a:srgbClr val="FCEEDF"/>
          </a:solidFill>
          <a:ln w="12700">
            <a:solidFill>
              <a:srgbClr val="FCEED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034540" y="4535424"/>
            <a:ext cx="1549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5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kruskal_test()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411480" y="4782312"/>
            <a:ext cx="15499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ES" sz="8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columna ges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2034540" y="4782312"/>
            <a:ext cx="15499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kruskal_effsize()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411480" y="502005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pares post hoc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11480" y="5221224"/>
            <a:ext cx="1549908" cy="228600"/>
          </a:xfrm>
          <a:prstGeom prst="rect">
            <a:avLst/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11480" y="5221224"/>
            <a:ext cx="1549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tukey_hsd()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034540" y="5221224"/>
            <a:ext cx="1549908" cy="228600"/>
          </a:xfrm>
          <a:prstGeom prst="rect">
            <a:avLst/>
          </a:prstGeom>
          <a:solidFill>
            <a:srgbClr val="FCEEDF"/>
          </a:solidFill>
          <a:ln w="12700">
            <a:solidFill>
              <a:srgbClr val="FCEED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034540" y="5221224"/>
            <a:ext cx="1549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5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dunn_test()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411480" y="5513832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3+ repetidas</a:t>
            </a:r>
            <a:pPr indent="0" marL="0">
              <a:buNone/>
            </a:pPr>
            <a:r>
              <a:rPr lang="en-US" sz="850" dirty="0">
                <a:solidFill>
                  <a:srgbClr val="7A5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+ wid = , within =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11480" y="5715000"/>
            <a:ext cx="1549908" cy="228600"/>
          </a:xfrm>
          <a:prstGeom prst="rect">
            <a:avLst/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411480" y="5715000"/>
            <a:ext cx="1549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anova_test()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2034540" y="5715000"/>
            <a:ext cx="1549908" cy="228600"/>
          </a:xfrm>
          <a:prstGeom prst="rect">
            <a:avLst/>
          </a:prstGeom>
          <a:solidFill>
            <a:srgbClr val="FCEEDF"/>
          </a:solidFill>
          <a:ln w="12700">
            <a:solidFill>
              <a:srgbClr val="FCEED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034540" y="5715000"/>
            <a:ext cx="1549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5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friedman_test()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411480" y="5961888"/>
            <a:ext cx="15499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ES" sz="8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columna ges</a:t>
            </a:r>
            <a:endParaRPr lang="en-US" sz="800" dirty="0"/>
          </a:p>
        </p:txBody>
      </p:sp>
      <p:sp>
        <p:nvSpPr>
          <p:cNvPr id="46" name="Text 43"/>
          <p:cNvSpPr txBox="1"/>
          <p:nvPr/>
        </p:nvSpPr>
        <p:spPr>
          <a:xfrm>
            <a:off x="2034540" y="5961888"/>
            <a:ext cx="15499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friedman_effsize()</a:t>
            </a:r>
            <a:endParaRPr lang="en-US" sz="800" dirty="0"/>
          </a:p>
        </p:txBody>
      </p:sp>
      <p:sp>
        <p:nvSpPr>
          <p:cNvPr id="47" name="Text 44"/>
          <p:cNvSpPr txBox="1"/>
          <p:nvPr/>
        </p:nvSpPr>
        <p:spPr>
          <a:xfrm>
            <a:off x="411480" y="6199632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 variables numéricas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411480" y="6400800"/>
            <a:ext cx="1549908" cy="228600"/>
          </a:xfrm>
          <a:prstGeom prst="rect">
            <a:avLst/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11480" y="6400800"/>
            <a:ext cx="1549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cor_test()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2034540" y="6400800"/>
            <a:ext cx="1549908" cy="228600"/>
          </a:xfrm>
          <a:prstGeom prst="rect">
            <a:avLst/>
          </a:prstGeom>
          <a:solidFill>
            <a:srgbClr val="FCEEDF"/>
          </a:solidFill>
          <a:ln w="12700">
            <a:solidFill>
              <a:srgbClr val="FCEEDF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2034540" y="6400800"/>
            <a:ext cx="1549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5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cor_test()</a:t>
            </a:r>
            <a:endParaRPr lang="en-US" sz="900" dirty="0"/>
          </a:p>
        </p:txBody>
      </p:sp>
      <p:sp>
        <p:nvSpPr>
          <p:cNvPr id="52" name="Text 49"/>
          <p:cNvSpPr txBox="1"/>
          <p:nvPr/>
        </p:nvSpPr>
        <p:spPr>
          <a:xfrm>
            <a:off x="411480" y="6647688"/>
            <a:ext cx="15499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 = "pearson"</a:t>
            </a:r>
            <a:endParaRPr lang="en-US" sz="800" dirty="0"/>
          </a:p>
        </p:txBody>
      </p:sp>
      <p:sp>
        <p:nvSpPr>
          <p:cNvPr id="53" name="Text 50"/>
          <p:cNvSpPr txBox="1"/>
          <p:nvPr/>
        </p:nvSpPr>
        <p:spPr>
          <a:xfrm>
            <a:off x="2034540" y="6647688"/>
            <a:ext cx="15499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 = "spearman"</a:t>
            </a:r>
            <a:endParaRPr lang="en-US" sz="800" dirty="0"/>
          </a:p>
        </p:txBody>
      </p:sp>
      <p:sp>
        <p:nvSpPr>
          <p:cNvPr id="54" name="Text 51"/>
          <p:cNvSpPr txBox="1"/>
          <p:nvPr/>
        </p:nvSpPr>
        <p:spPr>
          <a:xfrm>
            <a:off x="411480" y="6885432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 variables categóricas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411480" y="7086600"/>
            <a:ext cx="1549908" cy="228600"/>
          </a:xfrm>
          <a:prstGeom prst="rect">
            <a:avLst/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411480" y="7086600"/>
            <a:ext cx="1549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chisq_test()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2034540" y="7086600"/>
            <a:ext cx="1549908" cy="228600"/>
          </a:xfrm>
          <a:prstGeom prst="rect">
            <a:avLst/>
          </a:prstGeom>
          <a:solidFill>
            <a:srgbClr val="FCEEDF"/>
          </a:solidFill>
          <a:ln w="12700">
            <a:solidFill>
              <a:srgbClr val="FCEED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2034540" y="7086600"/>
            <a:ext cx="1549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5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fisher_test()</a:t>
            </a:r>
            <a:endParaRPr lang="en-US" sz="900" dirty="0"/>
          </a:p>
        </p:txBody>
      </p:sp>
      <p:sp>
        <p:nvSpPr>
          <p:cNvPr id="59" name="Text 56"/>
          <p:cNvSpPr txBox="1"/>
          <p:nvPr/>
        </p:nvSpPr>
        <p:spPr>
          <a:xfrm>
            <a:off x="411480" y="7333488"/>
            <a:ext cx="15499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cramer_v()</a:t>
            </a:r>
            <a:endParaRPr lang="en-US" sz="800" dirty="0"/>
          </a:p>
        </p:txBody>
      </p:sp>
      <p:sp>
        <p:nvSpPr>
          <p:cNvPr id="60" name="Text 57"/>
          <p:cNvSpPr txBox="1"/>
          <p:nvPr/>
        </p:nvSpPr>
        <p:spPr>
          <a:xfrm>
            <a:off x="2034540" y="7333488"/>
            <a:ext cx="15499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ES" sz="8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frecuencias esperadas &lt; 5</a:t>
            </a:r>
            <a:endParaRPr lang="en-US" sz="800" dirty="0"/>
          </a:p>
        </p:txBody>
      </p:sp>
      <p:sp>
        <p:nvSpPr>
          <p:cNvPr id="61" name="Text 58"/>
          <p:cNvSpPr txBox="1"/>
          <p:nvPr/>
        </p:nvSpPr>
        <p:spPr>
          <a:xfrm>
            <a:off x="411480" y="7571232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categóricas pareadas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411480" y="7772400"/>
            <a:ext cx="1549908" cy="228600"/>
          </a:xfrm>
          <a:prstGeom prst="rect">
            <a:avLst/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411480" y="7772400"/>
            <a:ext cx="1549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mcnemar_test()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411480" y="8119872"/>
            <a:ext cx="3172968" cy="841248"/>
          </a:xfrm>
          <a:prstGeom prst="roundRect">
            <a:avLst>
              <a:gd name="adj" fmla="val 6522"/>
            </a:avLst>
          </a:prstGeom>
          <a:solidFill>
            <a:srgbClr val="FCEEDF"/>
          </a:solidFill>
          <a:ln w="9525">
            <a:solidFill>
              <a:srgbClr val="D9731E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502920" y="8183880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CONSEJO  </a:t>
            </a:r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t_test()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es una prueba de </a:t>
            </a:r>
            <a:pPr indent="0" marL="0">
              <a:buNone/>
            </a:pPr>
            <a:r>
              <a:rPr lang="en-U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Welch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por defecto (var.equal = FALSE). Con 3+ grupos y varianzas distintas usa </a:t>
            </a:r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welch_anova_test()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+ </a:t>
            </a:r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games_howell_test()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950" dirty="0"/>
          </a:p>
        </p:txBody>
      </p:sp>
      <p:sp>
        <p:nvSpPr>
          <p:cNvPr id="66" name="Text 63"/>
          <p:cNvSpPr txBox="1"/>
          <p:nvPr/>
        </p:nvSpPr>
        <p:spPr>
          <a:xfrm>
            <a:off x="411480" y="907084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PRUEBAS MÚLTIPLES  p.adjust.method =</a:t>
            </a:r>
            <a:endParaRPr lang="en-US" sz="1000" dirty="0"/>
          </a:p>
        </p:txBody>
      </p:sp>
      <p:sp>
        <p:nvSpPr>
          <p:cNvPr id="67" name="Text 64"/>
          <p:cNvSpPr txBox="1"/>
          <p:nvPr/>
        </p:nvSpPr>
        <p:spPr>
          <a:xfrm>
            <a:off x="411480" y="9317736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"holm"</a:t>
            </a:r>
            <a:pPr indent="0" marL="0">
              <a:buNone/>
            </a:pPr>
            <a:r>
              <a:rPr lang="es-E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por defecto en pruebas por pares</a:t>
            </a:r>
            <a:endParaRPr lang="en-US" sz="1100" dirty="0"/>
          </a:p>
        </p:txBody>
      </p:sp>
      <p:sp>
        <p:nvSpPr>
          <p:cNvPr id="68" name="Text 65"/>
          <p:cNvSpPr txBox="1"/>
          <p:nvPr/>
        </p:nvSpPr>
        <p:spPr>
          <a:xfrm>
            <a:off x="411480" y="9537192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"bonferroni"</a:t>
            </a:r>
            <a:pPr indent="0" marL="0">
              <a:buNone/>
            </a:pPr>
            <a:r>
              <a:rPr lang="es-E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la más simple y conservadora</a:t>
            </a:r>
            <a:endParaRPr lang="en-US" sz="1100" dirty="0"/>
          </a:p>
        </p:txBody>
      </p:sp>
      <p:sp>
        <p:nvSpPr>
          <p:cNvPr id="69" name="Text 66"/>
          <p:cNvSpPr txBox="1"/>
          <p:nvPr/>
        </p:nvSpPr>
        <p:spPr>
          <a:xfrm>
            <a:off x="411480" y="9756648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"BH"</a:t>
            </a:r>
            <a:pPr indent="0" marL="0">
              <a:buNone/>
            </a:pPr>
            <a:r>
              <a:rPr lang="es-E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tasa de falsos descubrimientos</a:t>
            </a:r>
            <a:endParaRPr lang="en-US" sz="1100" dirty="0"/>
          </a:p>
        </p:txBody>
      </p:sp>
      <p:sp>
        <p:nvSpPr>
          <p:cNvPr id="70" name="Text 67"/>
          <p:cNvSpPr txBox="1"/>
          <p:nvPr/>
        </p:nvSpPr>
        <p:spPr>
          <a:xfrm>
            <a:off x="411480" y="9976104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"none"</a:t>
            </a:r>
            <a:pPr indent="0" marL="0">
              <a:buNone/>
            </a:pPr>
            <a:r>
              <a:rPr lang="es-E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solo para una prueba planificada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3767328" y="1645920"/>
            <a:ext cx="402336" cy="402336"/>
          </a:xfrm>
          <a:prstGeom prst="ellipse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3767328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</a:t>
            </a:r>
            <a:endParaRPr lang="en-US" sz="1600" dirty="0"/>
          </a:p>
        </p:txBody>
      </p:sp>
      <p:sp>
        <p:nvSpPr>
          <p:cNvPr id="73" name="Text 70"/>
          <p:cNvSpPr txBox="1"/>
          <p:nvPr/>
        </p:nvSpPr>
        <p:spPr>
          <a:xfrm>
            <a:off x="4279392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0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Una sola gramática</a:t>
            </a:r>
            <a:endParaRPr lang="en-US" sz="2000" dirty="0"/>
          </a:p>
        </p:txBody>
      </p:sp>
      <p:sp>
        <p:nvSpPr>
          <p:cNvPr id="74" name="Shape 71"/>
          <p:cNvSpPr/>
          <p:nvPr/>
        </p:nvSpPr>
        <p:spPr>
          <a:xfrm>
            <a:off x="3767328" y="2194560"/>
            <a:ext cx="3172968" cy="598932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3840480" y="2258568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(rstatix)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&lt;- ToothGrowth   </a:t>
            </a:r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len, supp, dose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df$dose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(df$dose)</a:t>
            </a:r>
            <a:endParaRPr lang="en-US" sz="1100" dirty="0"/>
          </a:p>
        </p:txBody>
      </p:sp>
      <p:sp>
        <p:nvSpPr>
          <p:cNvPr id="76" name="Text 73"/>
          <p:cNvSpPr txBox="1"/>
          <p:nvPr/>
        </p:nvSpPr>
        <p:spPr>
          <a:xfrm>
            <a:off x="3813048" y="2939796"/>
            <a:ext cx="3089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endParaRPr lang="en-US" sz="1400" dirty="0"/>
          </a:p>
        </p:txBody>
      </p:sp>
      <p:sp>
        <p:nvSpPr>
          <p:cNvPr id="77" name="Text 74"/>
          <p:cNvSpPr txBox="1"/>
          <p:nvPr/>
        </p:nvSpPr>
        <p:spPr>
          <a:xfrm>
            <a:off x="4139336" y="2939796"/>
            <a:ext cx="417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%&gt;%</a:t>
            </a:r>
            <a:endParaRPr lang="en-US" sz="1400" dirty="0"/>
          </a:p>
        </p:txBody>
      </p:sp>
      <p:sp>
        <p:nvSpPr>
          <p:cNvPr id="78" name="Text 75"/>
          <p:cNvSpPr txBox="1"/>
          <p:nvPr/>
        </p:nvSpPr>
        <p:spPr>
          <a:xfrm>
            <a:off x="4574388" y="2939796"/>
            <a:ext cx="7440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t_test</a:t>
            </a:r>
            <a:endParaRPr lang="en-US" sz="1400" dirty="0"/>
          </a:p>
        </p:txBody>
      </p:sp>
      <p:sp>
        <p:nvSpPr>
          <p:cNvPr id="79" name="Text 76"/>
          <p:cNvSpPr txBox="1"/>
          <p:nvPr/>
        </p:nvSpPr>
        <p:spPr>
          <a:xfrm>
            <a:off x="5226964" y="2939796"/>
            <a:ext cx="2002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400" dirty="0"/>
          </a:p>
        </p:txBody>
      </p:sp>
      <p:sp>
        <p:nvSpPr>
          <p:cNvPr id="80" name="Text 77"/>
          <p:cNvSpPr txBox="1"/>
          <p:nvPr/>
        </p:nvSpPr>
        <p:spPr>
          <a:xfrm>
            <a:off x="5335727" y="2939796"/>
            <a:ext cx="417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73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endParaRPr lang="en-US" sz="1400" dirty="0"/>
          </a:p>
        </p:txBody>
      </p:sp>
      <p:sp>
        <p:nvSpPr>
          <p:cNvPr id="81" name="Text 78"/>
          <p:cNvSpPr txBox="1"/>
          <p:nvPr/>
        </p:nvSpPr>
        <p:spPr>
          <a:xfrm>
            <a:off x="5770778" y="2939796"/>
            <a:ext cx="2002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</a:t>
            </a:r>
            <a:endParaRPr lang="en-US" sz="1400" dirty="0"/>
          </a:p>
        </p:txBody>
      </p:sp>
      <p:sp>
        <p:nvSpPr>
          <p:cNvPr id="82" name="Text 79"/>
          <p:cNvSpPr txBox="1"/>
          <p:nvPr/>
        </p:nvSpPr>
        <p:spPr>
          <a:xfrm>
            <a:off x="5988304" y="2939796"/>
            <a:ext cx="5264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A5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</a:t>
            </a:r>
            <a:endParaRPr lang="en-US" sz="1400" dirty="0"/>
          </a:p>
        </p:txBody>
      </p:sp>
      <p:sp>
        <p:nvSpPr>
          <p:cNvPr id="83" name="Text 80"/>
          <p:cNvSpPr txBox="1"/>
          <p:nvPr/>
        </p:nvSpPr>
        <p:spPr>
          <a:xfrm>
            <a:off x="6423355" y="2939796"/>
            <a:ext cx="2002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84" name="Shape 81"/>
          <p:cNvSpPr/>
          <p:nvPr/>
        </p:nvSpPr>
        <p:spPr>
          <a:xfrm>
            <a:off x="3813048" y="3250692"/>
            <a:ext cx="217526" cy="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921811" y="3250692"/>
            <a:ext cx="0" cy="54864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3876091" y="376275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8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los datos van primero → pipes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4574388" y="3250692"/>
            <a:ext cx="652577" cy="0"/>
          </a:xfrm>
          <a:prstGeom prst="line">
            <a:avLst/>
          </a:prstGeom>
          <a:noFill/>
          <a:ln w="19050">
            <a:solidFill>
              <a:srgbClr val="4B2C82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4900676" y="3250692"/>
            <a:ext cx="0" cy="329184"/>
          </a:xfrm>
          <a:prstGeom prst="line">
            <a:avLst/>
          </a:prstGeom>
          <a:noFill/>
          <a:ln w="9525">
            <a:solidFill>
              <a:srgbClr val="4B2C82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854956" y="35433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8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función de prueba</a:t>
            </a:r>
            <a:endParaRPr lang="en-US" sz="850" dirty="0"/>
          </a:p>
        </p:txBody>
      </p:sp>
      <p:sp>
        <p:nvSpPr>
          <p:cNvPr id="90" name="Shape 87"/>
          <p:cNvSpPr/>
          <p:nvPr/>
        </p:nvSpPr>
        <p:spPr>
          <a:xfrm>
            <a:off x="5335727" y="3250692"/>
            <a:ext cx="326288" cy="0"/>
          </a:xfrm>
          <a:prstGeom prst="line">
            <a:avLst/>
          </a:prstGeom>
          <a:noFill/>
          <a:ln w="19050">
            <a:solidFill>
              <a:srgbClr val="D9731E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5498871" y="3250692"/>
            <a:ext cx="0" cy="109728"/>
          </a:xfrm>
          <a:prstGeom prst="line">
            <a:avLst/>
          </a:prstGeom>
          <a:noFill/>
          <a:ln w="9525">
            <a:solidFill>
              <a:srgbClr val="D9731E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453151" y="332384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8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desenlace</a:t>
            </a:r>
            <a:endParaRPr lang="en-US" sz="850" dirty="0"/>
          </a:p>
        </p:txBody>
      </p:sp>
      <p:sp>
        <p:nvSpPr>
          <p:cNvPr id="93" name="Shape 90"/>
          <p:cNvSpPr/>
          <p:nvPr/>
        </p:nvSpPr>
        <p:spPr>
          <a:xfrm>
            <a:off x="5988304" y="3250692"/>
            <a:ext cx="435051" cy="0"/>
          </a:xfrm>
          <a:prstGeom prst="line">
            <a:avLst/>
          </a:prstGeom>
          <a:noFill/>
          <a:ln w="19050">
            <a:solidFill>
              <a:srgbClr val="7A5DB5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6205830" y="3250692"/>
            <a:ext cx="0" cy="329184"/>
          </a:xfrm>
          <a:prstGeom prst="line">
            <a:avLst/>
          </a:prstGeom>
          <a:noFill/>
          <a:ln w="9525">
            <a:solidFill>
              <a:srgbClr val="7A5DB5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6160110" y="35433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850" b="1" dirty="0">
                <a:solidFill>
                  <a:srgbClr val="7A5DB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grupo</a:t>
            </a:r>
            <a:endParaRPr lang="en-US" sz="850" dirty="0"/>
          </a:p>
        </p:txBody>
      </p:sp>
      <p:sp>
        <p:nvSpPr>
          <p:cNvPr id="96" name="Shape 93"/>
          <p:cNvSpPr/>
          <p:nvPr/>
        </p:nvSpPr>
        <p:spPr>
          <a:xfrm>
            <a:off x="3767328" y="4000500"/>
            <a:ext cx="3172968" cy="219456"/>
          </a:xfrm>
          <a:prstGeom prst="rect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3794760" y="400050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.y.</a:t>
            </a:r>
            <a:endParaRPr lang="en-US" sz="850" dirty="0"/>
          </a:p>
        </p:txBody>
      </p:sp>
      <p:sp>
        <p:nvSpPr>
          <p:cNvPr id="98" name="Text 95"/>
          <p:cNvSpPr txBox="1"/>
          <p:nvPr/>
        </p:nvSpPr>
        <p:spPr>
          <a:xfrm>
            <a:off x="4087368" y="400050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group1</a:t>
            </a:r>
            <a:endParaRPr lang="en-US" sz="850" dirty="0"/>
          </a:p>
        </p:txBody>
      </p:sp>
      <p:sp>
        <p:nvSpPr>
          <p:cNvPr id="99" name="Text 96"/>
          <p:cNvSpPr txBox="1"/>
          <p:nvPr/>
        </p:nvSpPr>
        <p:spPr>
          <a:xfrm>
            <a:off x="4544568" y="400050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group2</a:t>
            </a:r>
            <a:endParaRPr lang="en-US" sz="850" dirty="0"/>
          </a:p>
        </p:txBody>
      </p:sp>
      <p:sp>
        <p:nvSpPr>
          <p:cNvPr id="100" name="Text 97"/>
          <p:cNvSpPr txBox="1"/>
          <p:nvPr/>
        </p:nvSpPr>
        <p:spPr>
          <a:xfrm>
            <a:off x="5001768" y="4000500"/>
            <a:ext cx="192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n1</a:t>
            </a:r>
            <a:endParaRPr lang="en-US" sz="850" dirty="0"/>
          </a:p>
        </p:txBody>
      </p:sp>
      <p:sp>
        <p:nvSpPr>
          <p:cNvPr id="101" name="Text 98"/>
          <p:cNvSpPr txBox="1"/>
          <p:nvPr/>
        </p:nvSpPr>
        <p:spPr>
          <a:xfrm>
            <a:off x="5248656" y="4000500"/>
            <a:ext cx="192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n2</a:t>
            </a:r>
            <a:endParaRPr lang="en-US" sz="850" dirty="0"/>
          </a:p>
        </p:txBody>
      </p:sp>
      <p:sp>
        <p:nvSpPr>
          <p:cNvPr id="102" name="Text 99"/>
          <p:cNvSpPr txBox="1"/>
          <p:nvPr/>
        </p:nvSpPr>
        <p:spPr>
          <a:xfrm>
            <a:off x="5495544" y="400050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statistic</a:t>
            </a:r>
            <a:endParaRPr lang="en-US" sz="850" dirty="0"/>
          </a:p>
        </p:txBody>
      </p:sp>
      <p:sp>
        <p:nvSpPr>
          <p:cNvPr id="103" name="Text 100"/>
          <p:cNvSpPr txBox="1"/>
          <p:nvPr/>
        </p:nvSpPr>
        <p:spPr>
          <a:xfrm>
            <a:off x="6080760" y="4000500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df</a:t>
            </a:r>
            <a:endParaRPr lang="en-US" sz="850" dirty="0"/>
          </a:p>
        </p:txBody>
      </p:sp>
      <p:sp>
        <p:nvSpPr>
          <p:cNvPr id="104" name="Text 101"/>
          <p:cNvSpPr txBox="1"/>
          <p:nvPr/>
        </p:nvSpPr>
        <p:spPr>
          <a:xfrm>
            <a:off x="6492240" y="400050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</a:t>
            </a:r>
            <a:endParaRPr lang="en-US" sz="850" dirty="0"/>
          </a:p>
        </p:txBody>
      </p:sp>
      <p:sp>
        <p:nvSpPr>
          <p:cNvPr id="105" name="Text 102"/>
          <p:cNvSpPr txBox="1"/>
          <p:nvPr/>
        </p:nvSpPr>
        <p:spPr>
          <a:xfrm>
            <a:off x="3794760" y="421995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len</a:t>
            </a:r>
            <a:endParaRPr lang="en-US" sz="850" dirty="0"/>
          </a:p>
        </p:txBody>
      </p:sp>
      <p:sp>
        <p:nvSpPr>
          <p:cNvPr id="106" name="Text 103"/>
          <p:cNvSpPr txBox="1"/>
          <p:nvPr/>
        </p:nvSpPr>
        <p:spPr>
          <a:xfrm>
            <a:off x="4087368" y="4219956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OJ</a:t>
            </a:r>
            <a:endParaRPr lang="en-US" sz="850" dirty="0"/>
          </a:p>
        </p:txBody>
      </p:sp>
      <p:sp>
        <p:nvSpPr>
          <p:cNvPr id="107" name="Text 104"/>
          <p:cNvSpPr txBox="1"/>
          <p:nvPr/>
        </p:nvSpPr>
        <p:spPr>
          <a:xfrm>
            <a:off x="4544568" y="4219956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VC</a:t>
            </a:r>
            <a:endParaRPr lang="en-US" sz="850" dirty="0"/>
          </a:p>
        </p:txBody>
      </p:sp>
      <p:sp>
        <p:nvSpPr>
          <p:cNvPr id="108" name="Text 105"/>
          <p:cNvSpPr txBox="1"/>
          <p:nvPr/>
        </p:nvSpPr>
        <p:spPr>
          <a:xfrm>
            <a:off x="5001768" y="4219956"/>
            <a:ext cx="192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30</a:t>
            </a:r>
            <a:endParaRPr lang="en-US" sz="850" dirty="0"/>
          </a:p>
        </p:txBody>
      </p:sp>
      <p:sp>
        <p:nvSpPr>
          <p:cNvPr id="109" name="Text 106"/>
          <p:cNvSpPr txBox="1"/>
          <p:nvPr/>
        </p:nvSpPr>
        <p:spPr>
          <a:xfrm>
            <a:off x="5248656" y="4219956"/>
            <a:ext cx="192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30</a:t>
            </a:r>
            <a:endParaRPr lang="en-US" sz="850" dirty="0"/>
          </a:p>
        </p:txBody>
      </p:sp>
      <p:sp>
        <p:nvSpPr>
          <p:cNvPr id="110" name="Text 107"/>
          <p:cNvSpPr txBox="1"/>
          <p:nvPr/>
        </p:nvSpPr>
        <p:spPr>
          <a:xfrm>
            <a:off x="5495544" y="421995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1.92</a:t>
            </a:r>
            <a:endParaRPr lang="en-US" sz="850" dirty="0"/>
          </a:p>
        </p:txBody>
      </p:sp>
      <p:sp>
        <p:nvSpPr>
          <p:cNvPr id="111" name="Text 108"/>
          <p:cNvSpPr txBox="1"/>
          <p:nvPr/>
        </p:nvSpPr>
        <p:spPr>
          <a:xfrm>
            <a:off x="6080760" y="4219956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55.3</a:t>
            </a:r>
            <a:endParaRPr lang="en-US" sz="850" dirty="0"/>
          </a:p>
        </p:txBody>
      </p:sp>
      <p:sp>
        <p:nvSpPr>
          <p:cNvPr id="112" name="Text 109"/>
          <p:cNvSpPr txBox="1"/>
          <p:nvPr/>
        </p:nvSpPr>
        <p:spPr>
          <a:xfrm>
            <a:off x="6492240" y="421995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0.061</a:t>
            </a:r>
            <a:endParaRPr lang="en-US" sz="850" dirty="0"/>
          </a:p>
        </p:txBody>
      </p:sp>
      <p:sp>
        <p:nvSpPr>
          <p:cNvPr id="113" name="Text 110"/>
          <p:cNvSpPr txBox="1"/>
          <p:nvPr/>
        </p:nvSpPr>
        <p:spPr>
          <a:xfrm>
            <a:off x="3767328" y="449427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 tibble, no un texto impreso: fíltralo, únelo, expórtalo o dale formato como a cualquier tabla.</a:t>
            </a:r>
            <a:endParaRPr lang="en-US" sz="900" dirty="0"/>
          </a:p>
        </p:txBody>
      </p:sp>
      <p:sp>
        <p:nvSpPr>
          <p:cNvPr id="114" name="Text 111"/>
          <p:cNvSpPr txBox="1"/>
          <p:nvPr/>
        </p:nvSpPr>
        <p:spPr>
          <a:xfrm>
            <a:off x="3767328" y="48234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POR SUBGRUPO → AJUSTA → ASTERISCOS</a:t>
            </a:r>
            <a:endParaRPr lang="en-US" sz="1000" dirty="0"/>
          </a:p>
        </p:txBody>
      </p:sp>
      <p:sp>
        <p:nvSpPr>
          <p:cNvPr id="115" name="Shape 112"/>
          <p:cNvSpPr/>
          <p:nvPr/>
        </p:nvSpPr>
        <p:spPr>
          <a:xfrm>
            <a:off x="3767328" y="5070348"/>
            <a:ext cx="3172968" cy="749808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16" name="Text 113"/>
          <p:cNvSpPr txBox="1"/>
          <p:nvPr/>
        </p:nvSpPr>
        <p:spPr>
          <a:xfrm>
            <a:off x="3840480" y="5134356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group_by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(dose) %&gt;%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supp) %&gt;%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adjust_pvalue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(method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"bonferroni"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%&gt;%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add_significance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</p:txBody>
      </p:sp>
      <p:sp>
        <p:nvSpPr>
          <p:cNvPr id="117" name="Shape 114"/>
          <p:cNvSpPr/>
          <p:nvPr/>
        </p:nvSpPr>
        <p:spPr>
          <a:xfrm>
            <a:off x="3767328" y="5893308"/>
            <a:ext cx="3172968" cy="219456"/>
          </a:xfrm>
          <a:prstGeom prst="rect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118" name="Text 115"/>
          <p:cNvSpPr txBox="1"/>
          <p:nvPr/>
        </p:nvSpPr>
        <p:spPr>
          <a:xfrm>
            <a:off x="3794760" y="589330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dose</a:t>
            </a:r>
            <a:endParaRPr lang="en-US" sz="900" dirty="0"/>
          </a:p>
        </p:txBody>
      </p:sp>
      <p:sp>
        <p:nvSpPr>
          <p:cNvPr id="119" name="Text 116"/>
          <p:cNvSpPr txBox="1"/>
          <p:nvPr/>
        </p:nvSpPr>
        <p:spPr>
          <a:xfrm>
            <a:off x="4343400" y="5893308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900" dirty="0"/>
          </a:p>
        </p:txBody>
      </p:sp>
      <p:sp>
        <p:nvSpPr>
          <p:cNvPr id="120" name="Text 117"/>
          <p:cNvSpPr txBox="1"/>
          <p:nvPr/>
        </p:nvSpPr>
        <p:spPr>
          <a:xfrm>
            <a:off x="5074920" y="5893308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p.adj</a:t>
            </a:r>
            <a:endParaRPr lang="en-US" sz="900" dirty="0"/>
          </a:p>
        </p:txBody>
      </p:sp>
      <p:sp>
        <p:nvSpPr>
          <p:cNvPr id="121" name="Text 118"/>
          <p:cNvSpPr txBox="1"/>
          <p:nvPr/>
        </p:nvSpPr>
        <p:spPr>
          <a:xfrm>
            <a:off x="5806440" y="5893308"/>
            <a:ext cx="1106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p.adj.signif</a:t>
            </a:r>
            <a:endParaRPr lang="en-US" sz="900" dirty="0"/>
          </a:p>
        </p:txBody>
      </p:sp>
      <p:sp>
        <p:nvSpPr>
          <p:cNvPr id="122" name="Text 119"/>
          <p:cNvSpPr txBox="1"/>
          <p:nvPr/>
        </p:nvSpPr>
        <p:spPr>
          <a:xfrm>
            <a:off x="3794760" y="611276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0.5</a:t>
            </a:r>
            <a:endParaRPr lang="en-US" sz="900" dirty="0"/>
          </a:p>
        </p:txBody>
      </p:sp>
      <p:sp>
        <p:nvSpPr>
          <p:cNvPr id="123" name="Text 120"/>
          <p:cNvSpPr txBox="1"/>
          <p:nvPr/>
        </p:nvSpPr>
        <p:spPr>
          <a:xfrm>
            <a:off x="4343400" y="6112764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0.006</a:t>
            </a:r>
            <a:endParaRPr lang="en-US" sz="900" dirty="0"/>
          </a:p>
        </p:txBody>
      </p:sp>
      <p:sp>
        <p:nvSpPr>
          <p:cNvPr id="124" name="Text 121"/>
          <p:cNvSpPr txBox="1"/>
          <p:nvPr/>
        </p:nvSpPr>
        <p:spPr>
          <a:xfrm>
            <a:off x="5074920" y="6112764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0.019</a:t>
            </a:r>
            <a:endParaRPr lang="en-US" sz="900" dirty="0"/>
          </a:p>
        </p:txBody>
      </p:sp>
      <p:sp>
        <p:nvSpPr>
          <p:cNvPr id="125" name="Text 122"/>
          <p:cNvSpPr txBox="1"/>
          <p:nvPr/>
        </p:nvSpPr>
        <p:spPr>
          <a:xfrm>
            <a:off x="5806440" y="6112764"/>
            <a:ext cx="1106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*</a:t>
            </a:r>
            <a:endParaRPr lang="en-US" sz="900" dirty="0"/>
          </a:p>
        </p:txBody>
      </p:sp>
      <p:sp>
        <p:nvSpPr>
          <p:cNvPr id="126" name="Shape 123"/>
          <p:cNvSpPr/>
          <p:nvPr/>
        </p:nvSpPr>
        <p:spPr>
          <a:xfrm>
            <a:off x="3767328" y="6332220"/>
            <a:ext cx="3172968" cy="219456"/>
          </a:xfrm>
          <a:prstGeom prst="rect">
            <a:avLst/>
          </a:prstGeom>
          <a:solidFill>
            <a:srgbClr val="F7F5FB"/>
          </a:solidFill>
          <a:ln w="12700">
            <a:solidFill>
              <a:srgbClr val="F7F5FB"/>
            </a:solidFill>
            <a:prstDash val="solid"/>
          </a:ln>
        </p:spPr>
      </p:sp>
      <p:sp>
        <p:nvSpPr>
          <p:cNvPr id="127" name="Text 124"/>
          <p:cNvSpPr txBox="1"/>
          <p:nvPr/>
        </p:nvSpPr>
        <p:spPr>
          <a:xfrm>
            <a:off x="3794760" y="633222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</a:t>
            </a:r>
            <a:endParaRPr lang="en-US" sz="900" dirty="0"/>
          </a:p>
        </p:txBody>
      </p:sp>
      <p:sp>
        <p:nvSpPr>
          <p:cNvPr id="128" name="Text 125"/>
          <p:cNvSpPr txBox="1"/>
          <p:nvPr/>
        </p:nvSpPr>
        <p:spPr>
          <a:xfrm>
            <a:off x="4343400" y="6332220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0.001</a:t>
            </a:r>
            <a:endParaRPr lang="en-US" sz="900" dirty="0"/>
          </a:p>
        </p:txBody>
      </p:sp>
      <p:sp>
        <p:nvSpPr>
          <p:cNvPr id="129" name="Text 126"/>
          <p:cNvSpPr txBox="1"/>
          <p:nvPr/>
        </p:nvSpPr>
        <p:spPr>
          <a:xfrm>
            <a:off x="5074920" y="6332220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0.003</a:t>
            </a:r>
            <a:endParaRPr lang="en-US" sz="900" dirty="0"/>
          </a:p>
        </p:txBody>
      </p:sp>
      <p:sp>
        <p:nvSpPr>
          <p:cNvPr id="130" name="Text 127"/>
          <p:cNvSpPr txBox="1"/>
          <p:nvPr/>
        </p:nvSpPr>
        <p:spPr>
          <a:xfrm>
            <a:off x="5806440" y="6332220"/>
            <a:ext cx="1106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**</a:t>
            </a:r>
            <a:endParaRPr lang="en-US" sz="900" dirty="0"/>
          </a:p>
        </p:txBody>
      </p:sp>
      <p:sp>
        <p:nvSpPr>
          <p:cNvPr id="131" name="Text 128"/>
          <p:cNvSpPr txBox="1"/>
          <p:nvPr/>
        </p:nvSpPr>
        <p:spPr>
          <a:xfrm>
            <a:off x="3794760" y="655167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</a:t>
            </a:r>
            <a:endParaRPr lang="en-US" sz="900" dirty="0"/>
          </a:p>
        </p:txBody>
      </p:sp>
      <p:sp>
        <p:nvSpPr>
          <p:cNvPr id="132" name="Text 129"/>
          <p:cNvSpPr txBox="1"/>
          <p:nvPr/>
        </p:nvSpPr>
        <p:spPr>
          <a:xfrm>
            <a:off x="4343400" y="6551676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0.964</a:t>
            </a:r>
            <a:endParaRPr lang="en-US" sz="900" dirty="0"/>
          </a:p>
        </p:txBody>
      </p:sp>
      <p:sp>
        <p:nvSpPr>
          <p:cNvPr id="133" name="Text 130"/>
          <p:cNvSpPr txBox="1"/>
          <p:nvPr/>
        </p:nvSpPr>
        <p:spPr>
          <a:xfrm>
            <a:off x="5074920" y="6551676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1.000</a:t>
            </a:r>
            <a:endParaRPr lang="en-US" sz="900" dirty="0"/>
          </a:p>
        </p:txBody>
      </p:sp>
      <p:sp>
        <p:nvSpPr>
          <p:cNvPr id="134" name="Text 131"/>
          <p:cNvSpPr txBox="1"/>
          <p:nvPr/>
        </p:nvSpPr>
        <p:spPr>
          <a:xfrm>
            <a:off x="5806440" y="6551676"/>
            <a:ext cx="1106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ns</a:t>
            </a:r>
            <a:endParaRPr lang="en-US" sz="900" dirty="0"/>
          </a:p>
        </p:txBody>
      </p:sp>
      <p:sp>
        <p:nvSpPr>
          <p:cNvPr id="135" name="Text 132"/>
          <p:cNvSpPr txBox="1"/>
          <p:nvPr/>
        </p:nvSpPr>
        <p:spPr>
          <a:xfrm>
            <a:off x="3767328" y="682599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Asteriscos: </a:t>
            </a:r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**** &lt; 0.0001 · *** &lt; 0.001 · ** &lt; 0.01 · * &lt; 0.05 · ns</a:t>
            </a:r>
            <a:endParaRPr lang="en-US" sz="900" dirty="0"/>
          </a:p>
        </p:txBody>
      </p:sp>
      <p:sp>
        <p:nvSpPr>
          <p:cNvPr id="136" name="Text 133"/>
          <p:cNvSpPr txBox="1"/>
          <p:nvPr/>
        </p:nvSpPr>
        <p:spPr>
          <a:xfrm>
            <a:off x="3767328" y="715518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¿QUÉ COMPARACIONES?</a:t>
            </a:r>
            <a:endParaRPr lang="en-US" sz="1000" dirty="0"/>
          </a:p>
        </p:txBody>
      </p:sp>
      <p:sp>
        <p:nvSpPr>
          <p:cNvPr id="137" name="Text 134"/>
          <p:cNvSpPr txBox="1"/>
          <p:nvPr/>
        </p:nvSpPr>
        <p:spPr>
          <a:xfrm>
            <a:off x="3767328" y="7402068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 ~ dose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todos los pares (ajuste de Holm)</a:t>
            </a:r>
            <a:endParaRPr lang="en-US" sz="950" dirty="0"/>
          </a:p>
        </p:txBody>
      </p:sp>
      <p:sp>
        <p:nvSpPr>
          <p:cNvPr id="138" name="Text 135"/>
          <p:cNvSpPr txBox="1"/>
          <p:nvPr/>
        </p:nvSpPr>
        <p:spPr>
          <a:xfrm>
            <a:off x="3767328" y="7648956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ref.group = "0.5"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cada nivel frente a una referencia</a:t>
            </a:r>
            <a:endParaRPr lang="en-US" sz="950" dirty="0"/>
          </a:p>
        </p:txBody>
      </p:sp>
      <p:sp>
        <p:nvSpPr>
          <p:cNvPr id="139" name="Text 136"/>
          <p:cNvSpPr txBox="1"/>
          <p:nvPr/>
        </p:nvSpPr>
        <p:spPr>
          <a:xfrm>
            <a:off x="3767328" y="7895844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comparisons = list(c("0.5", "2"))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solo los pares planificados</a:t>
            </a:r>
            <a:endParaRPr lang="en-US" sz="950" dirty="0"/>
          </a:p>
        </p:txBody>
      </p:sp>
      <p:sp>
        <p:nvSpPr>
          <p:cNvPr id="140" name="Text 137"/>
          <p:cNvSpPr txBox="1"/>
          <p:nvPr/>
        </p:nvSpPr>
        <p:spPr>
          <a:xfrm>
            <a:off x="3767328" y="8325612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effect.size = TRUE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añade la d de Cohen: 0.49 ("small")</a:t>
            </a:r>
            <a:endParaRPr lang="en-US" sz="950" dirty="0"/>
          </a:p>
        </p:txBody>
      </p:sp>
      <p:sp>
        <p:nvSpPr>
          <p:cNvPr id="141" name="Text 138"/>
          <p:cNvSpPr txBox="1"/>
          <p:nvPr/>
        </p:nvSpPr>
        <p:spPr>
          <a:xfrm>
            <a:off x="3767328" y="8572500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detailed = TRUE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añade estimación, IC 95%, método: OJ − VC = 3.7 (−0.17 a 7.57)</a:t>
            </a:r>
            <a:endParaRPr lang="en-US" sz="950" dirty="0"/>
          </a:p>
        </p:txBody>
      </p:sp>
      <p:sp>
        <p:nvSpPr>
          <p:cNvPr id="142" name="Text 139"/>
          <p:cNvSpPr txBox="1"/>
          <p:nvPr/>
        </p:nvSpPr>
        <p:spPr>
          <a:xfrm>
            <a:off x="3767328" y="909370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REPORTA EN TEXTO</a:t>
            </a:r>
            <a:endParaRPr lang="en-US" sz="1000" dirty="0"/>
          </a:p>
        </p:txBody>
      </p:sp>
      <p:sp>
        <p:nvSpPr>
          <p:cNvPr id="143" name="Shape 140"/>
          <p:cNvSpPr/>
          <p:nvPr/>
        </p:nvSpPr>
        <p:spPr>
          <a:xfrm>
            <a:off x="3767328" y="9340596"/>
            <a:ext cx="3172968" cy="598932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44" name="Text 141"/>
          <p:cNvSpPr txBox="1"/>
          <p:nvPr/>
        </p:nvSpPr>
        <p:spPr>
          <a:xfrm>
            <a:off x="3840480" y="9404604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&lt;- 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supp)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get_test_label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(res, detailed = TRUE,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type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"text"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45" name="Text 142"/>
          <p:cNvSpPr txBox="1"/>
          <p:nvPr/>
        </p:nvSpPr>
        <p:spPr>
          <a:xfrm>
            <a:off x="3767328" y="9994392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pPr indent="0" marL="0">
              <a:buNone/>
            </a:pPr>
            <a:r>
              <a:rPr lang="en-U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 test, t(55.31) = 1.92, p = 0.061, n = 60</a:t>
            </a:r>
            <a:endParaRPr lang="en-US" sz="950" dirty="0"/>
          </a:p>
        </p:txBody>
      </p:sp>
      <p:sp>
        <p:nvSpPr>
          <p:cNvPr id="146" name="Text 143"/>
          <p:cNvSpPr txBox="1"/>
          <p:nvPr/>
        </p:nvSpPr>
        <p:spPr>
          <a:xfrm>
            <a:off x="3767328" y="10213848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type por defecto devuelve un subtítulo para gráficos.</a:t>
            </a:r>
            <a:endParaRPr lang="en-US" sz="900" dirty="0"/>
          </a:p>
        </p:txBody>
      </p:sp>
      <p:sp>
        <p:nvSpPr>
          <p:cNvPr id="147" name="Shape 144"/>
          <p:cNvSpPr/>
          <p:nvPr/>
        </p:nvSpPr>
        <p:spPr>
          <a:xfrm>
            <a:off x="7123176" y="1645920"/>
            <a:ext cx="402336" cy="402336"/>
          </a:xfrm>
          <a:prstGeom prst="ellipse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148" name="Text 145"/>
          <p:cNvSpPr txBox="1"/>
          <p:nvPr/>
        </p:nvSpPr>
        <p:spPr>
          <a:xfrm>
            <a:off x="7123176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</a:t>
            </a:r>
            <a:endParaRPr lang="en-US" sz="1600" dirty="0"/>
          </a:p>
        </p:txBody>
      </p:sp>
      <p:sp>
        <p:nvSpPr>
          <p:cNvPr id="149" name="Text 146"/>
          <p:cNvSpPr txBox="1"/>
          <p:nvPr/>
        </p:nvSpPr>
        <p:spPr>
          <a:xfrm>
            <a:off x="7635240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0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Revisa los supuestos</a:t>
            </a:r>
            <a:endParaRPr lang="en-US" sz="2000" dirty="0"/>
          </a:p>
        </p:txBody>
      </p:sp>
      <p:sp>
        <p:nvSpPr>
          <p:cNvPr id="150" name="Text 147"/>
          <p:cNvSpPr txBox="1"/>
          <p:nvPr/>
        </p:nvSpPr>
        <p:spPr>
          <a:xfrm>
            <a:off x="7123176" y="21945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NORMALIDAD  (SHAPIRO–WILK)</a:t>
            </a:r>
            <a:endParaRPr lang="en-US" sz="1000" dirty="0"/>
          </a:p>
        </p:txBody>
      </p:sp>
      <p:sp>
        <p:nvSpPr>
          <p:cNvPr id="151" name="Shape 148"/>
          <p:cNvSpPr/>
          <p:nvPr/>
        </p:nvSpPr>
        <p:spPr>
          <a:xfrm>
            <a:off x="7123176" y="2441448"/>
            <a:ext cx="3172968" cy="448056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52" name="Text 149"/>
          <p:cNvSpPr txBox="1"/>
          <p:nvPr/>
        </p:nvSpPr>
        <p:spPr>
          <a:xfrm>
            <a:off x="7196328" y="2505456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group_by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(supp, dose) %&gt;%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shapiro_test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(len)</a:t>
            </a:r>
            <a:endParaRPr lang="en-US" sz="1100" dirty="0"/>
          </a:p>
        </p:txBody>
      </p:sp>
      <p:sp>
        <p:nvSpPr>
          <p:cNvPr id="153" name="Text 150"/>
          <p:cNvSpPr txBox="1"/>
          <p:nvPr/>
        </p:nvSpPr>
        <p:spPr>
          <a:xfrm>
            <a:off x="7123176" y="2944368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 celdas, p mínimo = 0.17 → </a:t>
            </a:r>
            <a:pPr indent="0" marL="0">
              <a:buNone/>
            </a:pPr>
            <a:r>
              <a:rPr lang="es-E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se rechaza la normalidad.</a:t>
            </a:r>
            <a:endParaRPr lang="en-US" sz="950" dirty="0"/>
          </a:p>
        </p:txBody>
      </p:sp>
      <p:sp>
        <p:nvSpPr>
          <p:cNvPr id="154" name="Text 151"/>
          <p:cNvSpPr txBox="1"/>
          <p:nvPr/>
        </p:nvSpPr>
        <p:spPr>
          <a:xfrm>
            <a:off x="7123176" y="3182112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Evalúa los grupos que comparas. 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OJ sin separar por dosis da p = 0.024: mezcla tres dosis.</a:t>
            </a:r>
            <a:endParaRPr lang="en-US" sz="950" dirty="0"/>
          </a:p>
        </p:txBody>
      </p:sp>
      <p:sp>
        <p:nvSpPr>
          <p:cNvPr id="155" name="Shape 152"/>
          <p:cNvSpPr/>
          <p:nvPr/>
        </p:nvSpPr>
        <p:spPr>
          <a:xfrm>
            <a:off x="7123176" y="3621024"/>
            <a:ext cx="3172968" cy="448056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56" name="Text 153"/>
          <p:cNvSpPr txBox="1"/>
          <p:nvPr/>
        </p:nvSpPr>
        <p:spPr>
          <a:xfrm>
            <a:off x="7196328" y="3685032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supp * dose, data = df)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shapiro_test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residuals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(fit))  </a:t>
            </a:r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 = 0.67</a:t>
            </a:r>
            <a:endParaRPr lang="en-US" sz="1100" dirty="0"/>
          </a:p>
        </p:txBody>
      </p:sp>
      <p:sp>
        <p:nvSpPr>
          <p:cNvPr id="157" name="Text 154"/>
          <p:cNvSpPr txBox="1"/>
          <p:nvPr/>
        </p:nvSpPr>
        <p:spPr>
          <a:xfrm>
            <a:off x="7123176" y="410565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 diseños de ANOVA, revisa los residuos del modelo.</a:t>
            </a:r>
            <a:endParaRPr lang="en-US" sz="900" dirty="0"/>
          </a:p>
        </p:txBody>
      </p:sp>
      <p:sp>
        <p:nvSpPr>
          <p:cNvPr id="158" name="Shape 155"/>
          <p:cNvSpPr/>
          <p:nvPr/>
        </p:nvSpPr>
        <p:spPr>
          <a:xfrm>
            <a:off x="7123176" y="4361688"/>
            <a:ext cx="3172968" cy="448056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59" name="Text 156"/>
          <p:cNvSpPr txBox="1"/>
          <p:nvPr/>
        </p:nvSpPr>
        <p:spPr>
          <a:xfrm>
            <a:off x="7196328" y="4425696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ggpubr::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ggqqplot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"len"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facet.by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"dose"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</a:t>
            </a:r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línea = normal</a:t>
            </a:r>
            <a:endParaRPr lang="en-US" sz="1100" dirty="0"/>
          </a:p>
        </p:txBody>
      </p:sp>
      <p:sp>
        <p:nvSpPr>
          <p:cNvPr id="160" name="Text 157"/>
          <p:cNvSpPr txBox="1"/>
          <p:nvPr/>
        </p:nvSpPr>
        <p:spPr>
          <a:xfrm>
            <a:off x="7123176" y="495604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VARIANZAS IGUALES  (LEVENE)</a:t>
            </a:r>
            <a:endParaRPr lang="en-US" sz="1000" dirty="0"/>
          </a:p>
        </p:txBody>
      </p:sp>
      <p:sp>
        <p:nvSpPr>
          <p:cNvPr id="161" name="Shape 158"/>
          <p:cNvSpPr/>
          <p:nvPr/>
        </p:nvSpPr>
        <p:spPr>
          <a:xfrm>
            <a:off x="7123176" y="5202936"/>
            <a:ext cx="3172968" cy="297180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62" name="Text 159"/>
          <p:cNvSpPr txBox="1"/>
          <p:nvPr/>
        </p:nvSpPr>
        <p:spPr>
          <a:xfrm>
            <a:off x="7196328" y="5266944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levene_test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supp * dose)</a:t>
            </a:r>
            <a:endParaRPr lang="en-US" sz="1100" dirty="0"/>
          </a:p>
        </p:txBody>
      </p:sp>
      <p:sp>
        <p:nvSpPr>
          <p:cNvPr id="163" name="Text 160"/>
          <p:cNvSpPr txBox="1"/>
          <p:nvPr/>
        </p:nvSpPr>
        <p:spPr>
          <a:xfrm>
            <a:off x="7123176" y="5554980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F(5, 54) = 1.71, p = 0.15 → </a:t>
            </a:r>
            <a:pPr indent="0" marL="0">
              <a:buNone/>
            </a:pPr>
            <a:r>
              <a:rPr lang="es-E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sin evidencia de varianzas distintas.</a:t>
            </a:r>
            <a:endParaRPr lang="en-US" sz="950" dirty="0"/>
          </a:p>
        </p:txBody>
      </p:sp>
      <p:sp>
        <p:nvSpPr>
          <p:cNvPr id="164" name="Text 161"/>
          <p:cNvSpPr txBox="1"/>
          <p:nvPr/>
        </p:nvSpPr>
        <p:spPr>
          <a:xfrm>
            <a:off x="7123176" y="588416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VALORES ATÍPICOS</a:t>
            </a:r>
            <a:endParaRPr lang="en-US" sz="1000" dirty="0"/>
          </a:p>
        </p:txBody>
      </p:sp>
      <p:sp>
        <p:nvSpPr>
          <p:cNvPr id="165" name="Shape 162"/>
          <p:cNvSpPr/>
          <p:nvPr/>
        </p:nvSpPr>
        <p:spPr>
          <a:xfrm>
            <a:off x="7123176" y="6131052"/>
            <a:ext cx="3172968" cy="448056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66" name="Text 163"/>
          <p:cNvSpPr txBox="1"/>
          <p:nvPr/>
        </p:nvSpPr>
        <p:spPr>
          <a:xfrm>
            <a:off x="7196328" y="6195060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group_by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(dose) %&gt;%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identify_outliers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(len)</a:t>
            </a:r>
            <a:endParaRPr lang="en-US" sz="1100" dirty="0"/>
          </a:p>
        </p:txBody>
      </p:sp>
      <p:sp>
        <p:nvSpPr>
          <p:cNvPr id="167" name="Shape 164"/>
          <p:cNvSpPr/>
          <p:nvPr/>
        </p:nvSpPr>
        <p:spPr>
          <a:xfrm>
            <a:off x="7123176" y="6652260"/>
            <a:ext cx="3172968" cy="219456"/>
          </a:xfrm>
          <a:prstGeom prst="rect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168" name="Text 165"/>
          <p:cNvSpPr txBox="1"/>
          <p:nvPr/>
        </p:nvSpPr>
        <p:spPr>
          <a:xfrm>
            <a:off x="7150608" y="665226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dose</a:t>
            </a:r>
            <a:endParaRPr lang="en-US" sz="900" dirty="0"/>
          </a:p>
        </p:txBody>
      </p:sp>
      <p:sp>
        <p:nvSpPr>
          <p:cNvPr id="169" name="Text 166"/>
          <p:cNvSpPr txBox="1"/>
          <p:nvPr/>
        </p:nvSpPr>
        <p:spPr>
          <a:xfrm>
            <a:off x="7607808" y="665226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endParaRPr lang="en-US" sz="900" dirty="0"/>
          </a:p>
        </p:txBody>
      </p:sp>
      <p:sp>
        <p:nvSpPr>
          <p:cNvPr id="170" name="Text 167"/>
          <p:cNvSpPr txBox="1"/>
          <p:nvPr/>
        </p:nvSpPr>
        <p:spPr>
          <a:xfrm>
            <a:off x="8065008" y="665226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</a:t>
            </a:r>
            <a:endParaRPr lang="en-US" sz="900" dirty="0"/>
          </a:p>
        </p:txBody>
      </p:sp>
      <p:sp>
        <p:nvSpPr>
          <p:cNvPr id="171" name="Text 168"/>
          <p:cNvSpPr txBox="1"/>
          <p:nvPr/>
        </p:nvSpPr>
        <p:spPr>
          <a:xfrm>
            <a:off x="8522208" y="6652260"/>
            <a:ext cx="832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is.outlier</a:t>
            </a:r>
            <a:endParaRPr lang="en-US" sz="900" dirty="0"/>
          </a:p>
        </p:txBody>
      </p:sp>
      <p:sp>
        <p:nvSpPr>
          <p:cNvPr id="172" name="Text 169"/>
          <p:cNvSpPr txBox="1"/>
          <p:nvPr/>
        </p:nvSpPr>
        <p:spPr>
          <a:xfrm>
            <a:off x="9409176" y="6652260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is.extreme</a:t>
            </a:r>
            <a:endParaRPr lang="en-US" sz="900" dirty="0"/>
          </a:p>
        </p:txBody>
      </p:sp>
      <p:sp>
        <p:nvSpPr>
          <p:cNvPr id="173" name="Text 170"/>
          <p:cNvSpPr txBox="1"/>
          <p:nvPr/>
        </p:nvSpPr>
        <p:spPr>
          <a:xfrm>
            <a:off x="7150608" y="6871716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endParaRPr lang="en-US" sz="900" dirty="0"/>
          </a:p>
        </p:txBody>
      </p:sp>
      <p:sp>
        <p:nvSpPr>
          <p:cNvPr id="174" name="Text 171"/>
          <p:cNvSpPr txBox="1"/>
          <p:nvPr/>
        </p:nvSpPr>
        <p:spPr>
          <a:xfrm>
            <a:off x="7607808" y="6871716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21.5</a:t>
            </a:r>
            <a:endParaRPr lang="en-US" sz="900" dirty="0"/>
          </a:p>
        </p:txBody>
      </p:sp>
      <p:sp>
        <p:nvSpPr>
          <p:cNvPr id="175" name="Text 172"/>
          <p:cNvSpPr txBox="1"/>
          <p:nvPr/>
        </p:nvSpPr>
        <p:spPr>
          <a:xfrm>
            <a:off x="8065008" y="6871716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OJ</a:t>
            </a:r>
            <a:endParaRPr lang="en-US" sz="900" dirty="0"/>
          </a:p>
        </p:txBody>
      </p:sp>
      <p:sp>
        <p:nvSpPr>
          <p:cNvPr id="176" name="Text 173"/>
          <p:cNvSpPr txBox="1"/>
          <p:nvPr/>
        </p:nvSpPr>
        <p:spPr>
          <a:xfrm>
            <a:off x="8522208" y="6871716"/>
            <a:ext cx="832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3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00" dirty="0"/>
          </a:p>
        </p:txBody>
      </p:sp>
      <p:sp>
        <p:nvSpPr>
          <p:cNvPr id="177" name="Text 174"/>
          <p:cNvSpPr txBox="1"/>
          <p:nvPr/>
        </p:nvSpPr>
        <p:spPr>
          <a:xfrm>
            <a:off x="9409176" y="6871716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900" dirty="0"/>
          </a:p>
        </p:txBody>
      </p:sp>
      <p:sp>
        <p:nvSpPr>
          <p:cNvPr id="178" name="Shape 175"/>
          <p:cNvSpPr/>
          <p:nvPr/>
        </p:nvSpPr>
        <p:spPr>
          <a:xfrm>
            <a:off x="7260336" y="7219188"/>
            <a:ext cx="434797" cy="347472"/>
          </a:xfrm>
          <a:prstGeom prst="rect">
            <a:avLst/>
          </a:prstGeom>
          <a:solidFill>
            <a:srgbClr val="F6D3D0"/>
          </a:solidFill>
          <a:ln w="12700">
            <a:solidFill>
              <a:srgbClr val="F6D3D0"/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9724187" y="7219188"/>
            <a:ext cx="434797" cy="347472"/>
          </a:xfrm>
          <a:prstGeom prst="rect">
            <a:avLst/>
          </a:prstGeom>
          <a:solidFill>
            <a:srgbClr val="F6D3D0"/>
          </a:solidFill>
          <a:ln w="12700">
            <a:solidFill>
              <a:srgbClr val="F6D3D0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7695133" y="7219188"/>
            <a:ext cx="434797" cy="347472"/>
          </a:xfrm>
          <a:prstGeom prst="rect">
            <a:avLst/>
          </a:prstGeom>
          <a:solidFill>
            <a:srgbClr val="FCEEDF"/>
          </a:solidFill>
          <a:ln w="12700">
            <a:solidFill>
              <a:srgbClr val="FCEEDF"/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9289390" y="7219188"/>
            <a:ext cx="434797" cy="347472"/>
          </a:xfrm>
          <a:prstGeom prst="rect">
            <a:avLst/>
          </a:prstGeom>
          <a:solidFill>
            <a:srgbClr val="FCEEDF"/>
          </a:solidFill>
          <a:ln w="12700">
            <a:solidFill>
              <a:srgbClr val="FCEEDF"/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8129930" y="7392924"/>
            <a:ext cx="1159459" cy="0"/>
          </a:xfrm>
          <a:prstGeom prst="line">
            <a:avLst/>
          </a:prstGeom>
          <a:noFill/>
          <a:ln w="12700">
            <a:solidFill>
              <a:srgbClr val="4B2C82"/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8564728" y="7292340"/>
            <a:ext cx="289865" cy="201168"/>
          </a:xfrm>
          <a:prstGeom prst="rect">
            <a:avLst/>
          </a:prstGeom>
          <a:solidFill>
            <a:srgbClr val="EEE9F7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184" name="Text 181"/>
          <p:cNvSpPr txBox="1"/>
          <p:nvPr/>
        </p:nvSpPr>
        <p:spPr>
          <a:xfrm>
            <a:off x="8564728" y="7292340"/>
            <a:ext cx="2898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Q1–Q3</a:t>
            </a:r>
            <a:endParaRPr lang="en-US" sz="750" dirty="0"/>
          </a:p>
        </p:txBody>
      </p:sp>
      <p:sp>
        <p:nvSpPr>
          <p:cNvPr id="185" name="Text 182"/>
          <p:cNvSpPr txBox="1"/>
          <p:nvPr/>
        </p:nvSpPr>
        <p:spPr>
          <a:xfrm>
            <a:off x="7695133" y="7584948"/>
            <a:ext cx="4347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ES" sz="80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atípico</a:t>
            </a:r>
            <a:endParaRPr lang="en-US" sz="800" dirty="0"/>
          </a:p>
        </p:txBody>
      </p:sp>
      <p:sp>
        <p:nvSpPr>
          <p:cNvPr id="186" name="Text 183"/>
          <p:cNvSpPr txBox="1"/>
          <p:nvPr/>
        </p:nvSpPr>
        <p:spPr>
          <a:xfrm>
            <a:off x="9289390" y="7584948"/>
            <a:ext cx="4347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ES" sz="80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atípico</a:t>
            </a:r>
            <a:endParaRPr lang="en-US" sz="800" dirty="0"/>
          </a:p>
        </p:txBody>
      </p:sp>
      <p:sp>
        <p:nvSpPr>
          <p:cNvPr id="187" name="Text 184"/>
          <p:cNvSpPr txBox="1"/>
          <p:nvPr/>
        </p:nvSpPr>
        <p:spPr>
          <a:xfrm>
            <a:off x="7260336" y="7584948"/>
            <a:ext cx="4347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ES" sz="800" b="1" dirty="0">
                <a:solidFill>
                  <a:srgbClr val="B23A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extremo</a:t>
            </a:r>
            <a:endParaRPr lang="en-US" sz="800" dirty="0"/>
          </a:p>
        </p:txBody>
      </p:sp>
      <p:sp>
        <p:nvSpPr>
          <p:cNvPr id="188" name="Text 185"/>
          <p:cNvSpPr txBox="1"/>
          <p:nvPr/>
        </p:nvSpPr>
        <p:spPr>
          <a:xfrm>
            <a:off x="9724187" y="7584948"/>
            <a:ext cx="4347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ES" sz="800" b="1" dirty="0">
                <a:solidFill>
                  <a:srgbClr val="B23A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extremo</a:t>
            </a:r>
            <a:endParaRPr lang="en-US" sz="800" dirty="0"/>
          </a:p>
        </p:txBody>
      </p:sp>
      <p:sp>
        <p:nvSpPr>
          <p:cNvPr id="189" name="Text 186"/>
          <p:cNvSpPr txBox="1"/>
          <p:nvPr/>
        </p:nvSpPr>
        <p:spPr>
          <a:xfrm>
            <a:off x="7123176" y="7786116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Atípico: a más de 1.5 × RIC de Q1 o Q3. Extremo: a más de 3 × RIC. Investiga antes de eliminar.</a:t>
            </a:r>
            <a:endParaRPr lang="en-US" sz="900" dirty="0"/>
          </a:p>
        </p:txBody>
      </p:sp>
      <p:sp>
        <p:nvSpPr>
          <p:cNvPr id="190" name="Shape 187"/>
          <p:cNvSpPr/>
          <p:nvPr/>
        </p:nvSpPr>
        <p:spPr>
          <a:xfrm>
            <a:off x="7123176" y="8243316"/>
            <a:ext cx="3172968" cy="676656"/>
          </a:xfrm>
          <a:prstGeom prst="roundRect">
            <a:avLst>
              <a:gd name="adj" fmla="val 8108"/>
            </a:avLst>
          </a:prstGeom>
          <a:solidFill>
            <a:srgbClr val="FCEEDF"/>
          </a:solidFill>
          <a:ln w="9525">
            <a:solidFill>
              <a:srgbClr val="D9731E"/>
            </a:solidFill>
            <a:prstDash val="solid"/>
          </a:ln>
        </p:spPr>
      </p:sp>
      <p:sp>
        <p:nvSpPr>
          <p:cNvPr id="191" name="Text 188"/>
          <p:cNvSpPr txBox="1"/>
          <p:nvPr/>
        </p:nvSpPr>
        <p:spPr>
          <a:xfrm>
            <a:off x="7214616" y="8307324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CONSEJO  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Shapiro–Wilk detecta desvíos triviales en muestras </a:t>
            </a:r>
            <a:pPr indent="0" marL="0">
              <a:buNone/>
            </a:pPr>
            <a:r>
              <a:rPr lang="es-E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grandes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y pasa por alto desvíos importantes en muestras </a:t>
            </a:r>
            <a:pPr indent="0" marL="0">
              <a:buNone/>
            </a:pPr>
            <a:r>
              <a:rPr lang="es-E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pequeñas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 léelo junto al gráfico QQ.</a:t>
            </a:r>
            <a:endParaRPr lang="en-US" sz="950" dirty="0"/>
          </a:p>
        </p:txBody>
      </p:sp>
      <p:sp>
        <p:nvSpPr>
          <p:cNvPr id="192" name="Text 189"/>
          <p:cNvSpPr txBox="1"/>
          <p:nvPr/>
        </p:nvSpPr>
        <p:spPr>
          <a:xfrm>
            <a:off x="7123176" y="902970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DATOS PAREADOS: EVALÚA LAS DIFERENCIAS</a:t>
            </a:r>
            <a:endParaRPr lang="en-US" sz="1000" dirty="0"/>
          </a:p>
        </p:txBody>
      </p:sp>
      <p:sp>
        <p:nvSpPr>
          <p:cNvPr id="193" name="Shape 190"/>
          <p:cNvSpPr/>
          <p:nvPr/>
        </p:nvSpPr>
        <p:spPr>
          <a:xfrm>
            <a:off x="7123176" y="9276588"/>
            <a:ext cx="3172968" cy="598932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94" name="Text 191"/>
          <p:cNvSpPr txBox="1"/>
          <p:nvPr/>
        </p:nvSpPr>
        <p:spPr>
          <a:xfrm>
            <a:off x="7196328" y="9340596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(sleep, extra[group == 2] -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extra[group == 1])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shapiro_test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(d)   </a:t>
            </a:r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 = 0.033</a:t>
            </a:r>
            <a:endParaRPr lang="en-US" sz="1100" dirty="0"/>
          </a:p>
        </p:txBody>
      </p:sp>
      <p:sp>
        <p:nvSpPr>
          <p:cNvPr id="195" name="Text 192"/>
          <p:cNvSpPr txBox="1"/>
          <p:nvPr/>
        </p:nvSpPr>
        <p:spPr>
          <a:xfrm>
            <a:off x="7123176" y="9930384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No normal: usa el Wilcoxon pareado (p = 0.009). </a:t>
            </a:r>
            <a:endParaRPr lang="en-US" sz="950" dirty="0"/>
          </a:p>
          <a:p>
            <a:pPr indent="0" marL="0">
              <a:buNone/>
            </a:pPr>
            <a:r>
              <a:rPr lang="es-E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Varios desenlaces a la vez: </a:t>
            </a:r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mshapiro_test()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</a:t>
            </a:r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box_m()</a:t>
            </a:r>
            <a:endParaRPr lang="en-US" sz="950" dirty="0"/>
          </a:p>
        </p:txBody>
      </p:sp>
      <p:sp>
        <p:nvSpPr>
          <p:cNvPr id="196" name="Shape 193"/>
          <p:cNvSpPr/>
          <p:nvPr/>
        </p:nvSpPr>
        <p:spPr>
          <a:xfrm>
            <a:off x="10479024" y="1645920"/>
            <a:ext cx="402336" cy="402336"/>
          </a:xfrm>
          <a:prstGeom prst="ellipse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197" name="Text 194"/>
          <p:cNvSpPr txBox="1"/>
          <p:nvPr/>
        </p:nvSpPr>
        <p:spPr>
          <a:xfrm>
            <a:off x="10479024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</a:t>
            </a:r>
            <a:endParaRPr lang="en-US" sz="1600" dirty="0"/>
          </a:p>
        </p:txBody>
      </p:sp>
      <p:sp>
        <p:nvSpPr>
          <p:cNvPr id="198" name="Text 195"/>
          <p:cNvSpPr txBox="1"/>
          <p:nvPr/>
        </p:nvSpPr>
        <p:spPr>
          <a:xfrm>
            <a:off x="10991088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0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Describe y grafica</a:t>
            </a:r>
            <a:endParaRPr lang="en-US" sz="2000" dirty="0"/>
          </a:p>
        </p:txBody>
      </p:sp>
      <p:sp>
        <p:nvSpPr>
          <p:cNvPr id="199" name="Text 196"/>
          <p:cNvSpPr txBox="1"/>
          <p:nvPr/>
        </p:nvSpPr>
        <p:spPr>
          <a:xfrm>
            <a:off x="10479024" y="21945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ESTADÍSTICOS DESCRIPTIVOS</a:t>
            </a:r>
            <a:endParaRPr lang="en-US" sz="1000" dirty="0"/>
          </a:p>
        </p:txBody>
      </p:sp>
      <p:sp>
        <p:nvSpPr>
          <p:cNvPr id="200" name="Shape 197"/>
          <p:cNvSpPr/>
          <p:nvPr/>
        </p:nvSpPr>
        <p:spPr>
          <a:xfrm>
            <a:off x="10479024" y="2441448"/>
            <a:ext cx="3172968" cy="448056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01" name="Text 198"/>
          <p:cNvSpPr txBox="1"/>
          <p:nvPr/>
        </p:nvSpPr>
        <p:spPr>
          <a:xfrm>
            <a:off x="10552176" y="2505456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group_by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(supp) %&gt;%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get_summary_stats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(len, type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"mean_sd"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202" name="Shape 199"/>
          <p:cNvSpPr/>
          <p:nvPr/>
        </p:nvSpPr>
        <p:spPr>
          <a:xfrm>
            <a:off x="10479024" y="2962656"/>
            <a:ext cx="3172968" cy="219456"/>
          </a:xfrm>
          <a:prstGeom prst="rect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203" name="Text 200"/>
          <p:cNvSpPr txBox="1"/>
          <p:nvPr/>
        </p:nvSpPr>
        <p:spPr>
          <a:xfrm>
            <a:off x="10506456" y="296265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</a:t>
            </a:r>
            <a:endParaRPr lang="en-US" sz="900" dirty="0"/>
          </a:p>
        </p:txBody>
      </p:sp>
      <p:sp>
        <p:nvSpPr>
          <p:cNvPr id="204" name="Text 201"/>
          <p:cNvSpPr txBox="1"/>
          <p:nvPr/>
        </p:nvSpPr>
        <p:spPr>
          <a:xfrm>
            <a:off x="11055096" y="2962656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</a:t>
            </a:r>
            <a:endParaRPr lang="en-US" sz="900" dirty="0"/>
          </a:p>
        </p:txBody>
      </p:sp>
      <p:sp>
        <p:nvSpPr>
          <p:cNvPr id="205" name="Text 202"/>
          <p:cNvSpPr txBox="1"/>
          <p:nvPr/>
        </p:nvSpPr>
        <p:spPr>
          <a:xfrm>
            <a:off x="11832336" y="2962656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900" dirty="0"/>
          </a:p>
        </p:txBody>
      </p:sp>
      <p:sp>
        <p:nvSpPr>
          <p:cNvPr id="206" name="Text 203"/>
          <p:cNvSpPr txBox="1"/>
          <p:nvPr/>
        </p:nvSpPr>
        <p:spPr>
          <a:xfrm>
            <a:off x="12289536" y="29626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</a:t>
            </a:r>
            <a:endParaRPr lang="en-US" sz="900" dirty="0"/>
          </a:p>
        </p:txBody>
      </p:sp>
      <p:sp>
        <p:nvSpPr>
          <p:cNvPr id="207" name="Text 204"/>
          <p:cNvSpPr txBox="1"/>
          <p:nvPr/>
        </p:nvSpPr>
        <p:spPr>
          <a:xfrm>
            <a:off x="12984480" y="29626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</a:t>
            </a:r>
            <a:endParaRPr lang="en-US" sz="900" dirty="0"/>
          </a:p>
        </p:txBody>
      </p:sp>
      <p:sp>
        <p:nvSpPr>
          <p:cNvPr id="208" name="Text 205"/>
          <p:cNvSpPr txBox="1"/>
          <p:nvPr/>
        </p:nvSpPr>
        <p:spPr>
          <a:xfrm>
            <a:off x="10506456" y="318211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OJ</a:t>
            </a:r>
            <a:endParaRPr lang="en-US" sz="900" dirty="0"/>
          </a:p>
        </p:txBody>
      </p:sp>
      <p:sp>
        <p:nvSpPr>
          <p:cNvPr id="209" name="Text 206"/>
          <p:cNvSpPr txBox="1"/>
          <p:nvPr/>
        </p:nvSpPr>
        <p:spPr>
          <a:xfrm>
            <a:off x="11055096" y="3182112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len</a:t>
            </a:r>
            <a:endParaRPr lang="en-US" sz="900" dirty="0"/>
          </a:p>
        </p:txBody>
      </p:sp>
      <p:sp>
        <p:nvSpPr>
          <p:cNvPr id="210" name="Text 207"/>
          <p:cNvSpPr txBox="1"/>
          <p:nvPr/>
        </p:nvSpPr>
        <p:spPr>
          <a:xfrm>
            <a:off x="11832336" y="3182112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30</a:t>
            </a:r>
            <a:endParaRPr lang="en-US" sz="900" dirty="0"/>
          </a:p>
        </p:txBody>
      </p:sp>
      <p:sp>
        <p:nvSpPr>
          <p:cNvPr id="211" name="Text 208"/>
          <p:cNvSpPr txBox="1"/>
          <p:nvPr/>
        </p:nvSpPr>
        <p:spPr>
          <a:xfrm>
            <a:off x="12289536" y="31821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20.66</a:t>
            </a:r>
            <a:endParaRPr lang="en-US" sz="900" dirty="0"/>
          </a:p>
        </p:txBody>
      </p:sp>
      <p:sp>
        <p:nvSpPr>
          <p:cNvPr id="212" name="Text 209"/>
          <p:cNvSpPr txBox="1"/>
          <p:nvPr/>
        </p:nvSpPr>
        <p:spPr>
          <a:xfrm>
            <a:off x="12984480" y="31821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6.61</a:t>
            </a:r>
            <a:endParaRPr lang="en-US" sz="900" dirty="0"/>
          </a:p>
        </p:txBody>
      </p:sp>
      <p:sp>
        <p:nvSpPr>
          <p:cNvPr id="213" name="Shape 210"/>
          <p:cNvSpPr/>
          <p:nvPr/>
        </p:nvSpPr>
        <p:spPr>
          <a:xfrm>
            <a:off x="10479024" y="3401568"/>
            <a:ext cx="3172968" cy="219456"/>
          </a:xfrm>
          <a:prstGeom prst="rect">
            <a:avLst/>
          </a:prstGeom>
          <a:solidFill>
            <a:srgbClr val="F7F5FB"/>
          </a:solidFill>
          <a:ln w="12700">
            <a:solidFill>
              <a:srgbClr val="F7F5FB"/>
            </a:solidFill>
            <a:prstDash val="solid"/>
          </a:ln>
        </p:spPr>
      </p:sp>
      <p:sp>
        <p:nvSpPr>
          <p:cNvPr id="214" name="Text 211"/>
          <p:cNvSpPr txBox="1"/>
          <p:nvPr/>
        </p:nvSpPr>
        <p:spPr>
          <a:xfrm>
            <a:off x="10506456" y="340156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VC</a:t>
            </a:r>
            <a:endParaRPr lang="en-US" sz="900" dirty="0"/>
          </a:p>
        </p:txBody>
      </p:sp>
      <p:sp>
        <p:nvSpPr>
          <p:cNvPr id="215" name="Text 212"/>
          <p:cNvSpPr txBox="1"/>
          <p:nvPr/>
        </p:nvSpPr>
        <p:spPr>
          <a:xfrm>
            <a:off x="11055096" y="3401568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len</a:t>
            </a:r>
            <a:endParaRPr lang="en-US" sz="900" dirty="0"/>
          </a:p>
        </p:txBody>
      </p:sp>
      <p:sp>
        <p:nvSpPr>
          <p:cNvPr id="216" name="Text 213"/>
          <p:cNvSpPr txBox="1"/>
          <p:nvPr/>
        </p:nvSpPr>
        <p:spPr>
          <a:xfrm>
            <a:off x="11832336" y="3401568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30</a:t>
            </a:r>
            <a:endParaRPr lang="en-US" sz="900" dirty="0"/>
          </a:p>
        </p:txBody>
      </p:sp>
      <p:sp>
        <p:nvSpPr>
          <p:cNvPr id="217" name="Text 214"/>
          <p:cNvSpPr txBox="1"/>
          <p:nvPr/>
        </p:nvSpPr>
        <p:spPr>
          <a:xfrm>
            <a:off x="12289536" y="34015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16.96</a:t>
            </a:r>
            <a:endParaRPr lang="en-US" sz="900" dirty="0"/>
          </a:p>
        </p:txBody>
      </p:sp>
      <p:sp>
        <p:nvSpPr>
          <p:cNvPr id="218" name="Text 215"/>
          <p:cNvSpPr txBox="1"/>
          <p:nvPr/>
        </p:nvSpPr>
        <p:spPr>
          <a:xfrm>
            <a:off x="12984480" y="34015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8.27</a:t>
            </a:r>
            <a:endParaRPr lang="en-US" sz="900" dirty="0"/>
          </a:p>
        </p:txBody>
      </p:sp>
      <p:sp>
        <p:nvSpPr>
          <p:cNvPr id="219" name="Text 216"/>
          <p:cNvSpPr txBox="1"/>
          <p:nvPr/>
        </p:nvSpPr>
        <p:spPr>
          <a:xfrm>
            <a:off x="10479024" y="3712464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= </a:t>
            </a:r>
            <a:endParaRPr lang="en-US" sz="1100" dirty="0"/>
          </a:p>
        </p:txBody>
      </p:sp>
      <p:sp>
        <p:nvSpPr>
          <p:cNvPr id="220" name="Shape 217"/>
          <p:cNvSpPr/>
          <p:nvPr/>
        </p:nvSpPr>
        <p:spPr>
          <a:xfrm>
            <a:off x="10479024" y="3931920"/>
            <a:ext cx="1027176" cy="210312"/>
          </a:xfrm>
          <a:prstGeom prst="roundRect">
            <a:avLst>
              <a:gd name="adj" fmla="val 21739"/>
            </a:avLst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221" name="Text 218"/>
          <p:cNvSpPr txBox="1"/>
          <p:nvPr/>
        </p:nvSpPr>
        <p:spPr>
          <a:xfrm>
            <a:off x="10479024" y="3931920"/>
            <a:ext cx="1027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"full"</a:t>
            </a:r>
            <a:endParaRPr lang="en-US" sz="850" dirty="0"/>
          </a:p>
        </p:txBody>
      </p:sp>
      <p:sp>
        <p:nvSpPr>
          <p:cNvPr id="222" name="Shape 219"/>
          <p:cNvSpPr/>
          <p:nvPr/>
        </p:nvSpPr>
        <p:spPr>
          <a:xfrm>
            <a:off x="11551920" y="3931920"/>
            <a:ext cx="1027176" cy="210312"/>
          </a:xfrm>
          <a:prstGeom prst="roundRect">
            <a:avLst>
              <a:gd name="adj" fmla="val 21739"/>
            </a:avLst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223" name="Text 220"/>
          <p:cNvSpPr txBox="1"/>
          <p:nvPr/>
        </p:nvSpPr>
        <p:spPr>
          <a:xfrm>
            <a:off x="11551920" y="3931920"/>
            <a:ext cx="1027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"common"</a:t>
            </a:r>
            <a:endParaRPr lang="en-US" sz="850" dirty="0"/>
          </a:p>
        </p:txBody>
      </p:sp>
      <p:sp>
        <p:nvSpPr>
          <p:cNvPr id="224" name="Shape 221"/>
          <p:cNvSpPr/>
          <p:nvPr/>
        </p:nvSpPr>
        <p:spPr>
          <a:xfrm>
            <a:off x="12624816" y="3931920"/>
            <a:ext cx="1027176" cy="210312"/>
          </a:xfrm>
          <a:prstGeom prst="roundRect">
            <a:avLst>
              <a:gd name="adj" fmla="val 21739"/>
            </a:avLst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225" name="Text 222"/>
          <p:cNvSpPr txBox="1"/>
          <p:nvPr/>
        </p:nvSpPr>
        <p:spPr>
          <a:xfrm>
            <a:off x="12624816" y="3931920"/>
            <a:ext cx="1027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"robust"</a:t>
            </a:r>
            <a:endParaRPr lang="en-US" sz="850" dirty="0"/>
          </a:p>
        </p:txBody>
      </p:sp>
      <p:sp>
        <p:nvSpPr>
          <p:cNvPr id="226" name="Shape 223"/>
          <p:cNvSpPr/>
          <p:nvPr/>
        </p:nvSpPr>
        <p:spPr>
          <a:xfrm>
            <a:off x="10479024" y="4178808"/>
            <a:ext cx="1027176" cy="210312"/>
          </a:xfrm>
          <a:prstGeom prst="roundRect">
            <a:avLst>
              <a:gd name="adj" fmla="val 21739"/>
            </a:avLst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227" name="Text 224"/>
          <p:cNvSpPr txBox="1"/>
          <p:nvPr/>
        </p:nvSpPr>
        <p:spPr>
          <a:xfrm>
            <a:off x="10479024" y="4178808"/>
            <a:ext cx="1027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"five_number"</a:t>
            </a:r>
            <a:endParaRPr lang="en-US" sz="850" dirty="0"/>
          </a:p>
        </p:txBody>
      </p:sp>
      <p:sp>
        <p:nvSpPr>
          <p:cNvPr id="228" name="Shape 225"/>
          <p:cNvSpPr/>
          <p:nvPr/>
        </p:nvSpPr>
        <p:spPr>
          <a:xfrm>
            <a:off x="11551920" y="4178808"/>
            <a:ext cx="1027176" cy="210312"/>
          </a:xfrm>
          <a:prstGeom prst="roundRect">
            <a:avLst>
              <a:gd name="adj" fmla="val 21739"/>
            </a:avLst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229" name="Text 226"/>
          <p:cNvSpPr txBox="1"/>
          <p:nvPr/>
        </p:nvSpPr>
        <p:spPr>
          <a:xfrm>
            <a:off x="11551920" y="4178808"/>
            <a:ext cx="1027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"mean_sd"</a:t>
            </a:r>
            <a:endParaRPr lang="en-US" sz="850" dirty="0"/>
          </a:p>
        </p:txBody>
      </p:sp>
      <p:sp>
        <p:nvSpPr>
          <p:cNvPr id="230" name="Shape 227"/>
          <p:cNvSpPr/>
          <p:nvPr/>
        </p:nvSpPr>
        <p:spPr>
          <a:xfrm>
            <a:off x="12624816" y="4178808"/>
            <a:ext cx="1027176" cy="210312"/>
          </a:xfrm>
          <a:prstGeom prst="roundRect">
            <a:avLst>
              <a:gd name="adj" fmla="val 21739"/>
            </a:avLst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231" name="Text 228"/>
          <p:cNvSpPr txBox="1"/>
          <p:nvPr/>
        </p:nvSpPr>
        <p:spPr>
          <a:xfrm>
            <a:off x="12624816" y="4178808"/>
            <a:ext cx="1027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"mean_se"</a:t>
            </a:r>
            <a:endParaRPr lang="en-US" sz="850" dirty="0"/>
          </a:p>
        </p:txBody>
      </p:sp>
      <p:sp>
        <p:nvSpPr>
          <p:cNvPr id="232" name="Shape 229"/>
          <p:cNvSpPr/>
          <p:nvPr/>
        </p:nvSpPr>
        <p:spPr>
          <a:xfrm>
            <a:off x="10479024" y="4425696"/>
            <a:ext cx="1027176" cy="210312"/>
          </a:xfrm>
          <a:prstGeom prst="roundRect">
            <a:avLst>
              <a:gd name="adj" fmla="val 21739"/>
            </a:avLst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233" name="Text 230"/>
          <p:cNvSpPr txBox="1"/>
          <p:nvPr/>
        </p:nvSpPr>
        <p:spPr>
          <a:xfrm>
            <a:off x="10479024" y="4425696"/>
            <a:ext cx="1027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"mean_ci"</a:t>
            </a:r>
            <a:endParaRPr lang="en-US" sz="850" dirty="0"/>
          </a:p>
        </p:txBody>
      </p:sp>
      <p:sp>
        <p:nvSpPr>
          <p:cNvPr id="234" name="Shape 231"/>
          <p:cNvSpPr/>
          <p:nvPr/>
        </p:nvSpPr>
        <p:spPr>
          <a:xfrm>
            <a:off x="11551920" y="4425696"/>
            <a:ext cx="1027176" cy="210312"/>
          </a:xfrm>
          <a:prstGeom prst="roundRect">
            <a:avLst>
              <a:gd name="adj" fmla="val 21739"/>
            </a:avLst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235" name="Text 232"/>
          <p:cNvSpPr txBox="1"/>
          <p:nvPr/>
        </p:nvSpPr>
        <p:spPr>
          <a:xfrm>
            <a:off x="11551920" y="4425696"/>
            <a:ext cx="1027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"median_iqr"</a:t>
            </a:r>
            <a:endParaRPr lang="en-US" sz="850" dirty="0"/>
          </a:p>
        </p:txBody>
      </p:sp>
      <p:sp>
        <p:nvSpPr>
          <p:cNvPr id="236" name="Shape 233"/>
          <p:cNvSpPr/>
          <p:nvPr/>
        </p:nvSpPr>
        <p:spPr>
          <a:xfrm>
            <a:off x="12624816" y="4425696"/>
            <a:ext cx="1027176" cy="210312"/>
          </a:xfrm>
          <a:prstGeom prst="roundRect">
            <a:avLst>
              <a:gd name="adj" fmla="val 21739"/>
            </a:avLst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237" name="Text 234"/>
          <p:cNvSpPr txBox="1"/>
          <p:nvPr/>
        </p:nvSpPr>
        <p:spPr>
          <a:xfrm>
            <a:off x="12624816" y="4425696"/>
            <a:ext cx="1027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"median_mad"</a:t>
            </a:r>
            <a:endParaRPr lang="en-US" sz="850" dirty="0"/>
          </a:p>
        </p:txBody>
      </p:sp>
      <p:sp>
        <p:nvSpPr>
          <p:cNvPr id="238" name="Shape 235"/>
          <p:cNvSpPr/>
          <p:nvPr/>
        </p:nvSpPr>
        <p:spPr>
          <a:xfrm>
            <a:off x="10479024" y="4672584"/>
            <a:ext cx="1027176" cy="210312"/>
          </a:xfrm>
          <a:prstGeom prst="roundRect">
            <a:avLst>
              <a:gd name="adj" fmla="val 21739"/>
            </a:avLst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239" name="Text 236"/>
          <p:cNvSpPr txBox="1"/>
          <p:nvPr/>
        </p:nvSpPr>
        <p:spPr>
          <a:xfrm>
            <a:off x="10479024" y="4672584"/>
            <a:ext cx="1027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"quantile"</a:t>
            </a:r>
            <a:endParaRPr lang="en-US" sz="850" dirty="0"/>
          </a:p>
        </p:txBody>
      </p:sp>
      <p:sp>
        <p:nvSpPr>
          <p:cNvPr id="240" name="Text 237"/>
          <p:cNvSpPr txBox="1"/>
          <p:nvPr/>
        </p:nvSpPr>
        <p:spPr>
          <a:xfrm>
            <a:off x="10479024" y="4956048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 elige columnas: </a:t>
            </a:r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= c("mean", "sd", "median", "iqr")</a:t>
            </a:r>
            <a:endParaRPr lang="en-US" sz="950" dirty="0"/>
          </a:p>
        </p:txBody>
      </p:sp>
      <p:sp>
        <p:nvSpPr>
          <p:cNvPr id="241" name="Text 238"/>
          <p:cNvSpPr txBox="1"/>
          <p:nvPr/>
        </p:nvSpPr>
        <p:spPr>
          <a:xfrm>
            <a:off x="10479024" y="537667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FRECUENCIAS</a:t>
            </a:r>
            <a:endParaRPr lang="en-US" sz="1000" dirty="0"/>
          </a:p>
        </p:txBody>
      </p:sp>
      <p:sp>
        <p:nvSpPr>
          <p:cNvPr id="242" name="Shape 239"/>
          <p:cNvSpPr/>
          <p:nvPr/>
        </p:nvSpPr>
        <p:spPr>
          <a:xfrm>
            <a:off x="10479024" y="5623560"/>
            <a:ext cx="3172968" cy="297180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43" name="Text 240"/>
          <p:cNvSpPr txBox="1"/>
          <p:nvPr/>
        </p:nvSpPr>
        <p:spPr>
          <a:xfrm>
            <a:off x="10552176" y="5687568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freq_table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(supp, dose)   </a:t>
            </a:r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n, prop</a:t>
            </a:r>
            <a:endParaRPr lang="en-US" sz="1100" dirty="0"/>
          </a:p>
        </p:txBody>
      </p:sp>
      <p:sp>
        <p:nvSpPr>
          <p:cNvPr id="244" name="Text 241"/>
          <p:cNvSpPr txBox="1"/>
          <p:nvPr/>
        </p:nvSpPr>
        <p:spPr>
          <a:xfrm>
            <a:off x="10479024" y="606704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 LA PRUEBA AL GRÁFICO</a:t>
            </a:r>
            <a:endParaRPr lang="en-US" sz="1000" dirty="0"/>
          </a:p>
        </p:txBody>
      </p:sp>
      <p:sp>
        <p:nvSpPr>
          <p:cNvPr id="245" name="Shape 242"/>
          <p:cNvSpPr/>
          <p:nvPr/>
        </p:nvSpPr>
        <p:spPr>
          <a:xfrm>
            <a:off x="10479024" y="6313932"/>
            <a:ext cx="3172968" cy="900684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46" name="Text 243"/>
          <p:cNvSpPr txBox="1"/>
          <p:nvPr/>
        </p:nvSpPr>
        <p:spPr>
          <a:xfrm>
            <a:off x="10552176" y="6377940"/>
            <a:ext cx="3044952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 &lt;- 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dose) %&gt;%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add_xy_position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"dose"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ggpubr::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ggboxplot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"dose"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"len"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+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ggpubr::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stat_pvalue_manual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"p.adj.signif"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247" name="Shape 244"/>
          <p:cNvSpPr/>
          <p:nvPr/>
        </p:nvSpPr>
        <p:spPr>
          <a:xfrm>
            <a:off x="10863072" y="9089136"/>
            <a:ext cx="2670048" cy="0"/>
          </a:xfrm>
          <a:prstGeom prst="line">
            <a:avLst/>
          </a:prstGeom>
          <a:noFill/>
          <a:ln w="6350">
            <a:solidFill>
              <a:srgbClr val="ECE8F3"/>
            </a:solidFill>
            <a:prstDash val="solid"/>
          </a:ln>
        </p:spPr>
      </p:sp>
      <p:sp>
        <p:nvSpPr>
          <p:cNvPr id="248" name="Text 245"/>
          <p:cNvSpPr txBox="1"/>
          <p:nvPr/>
        </p:nvSpPr>
        <p:spPr>
          <a:xfrm>
            <a:off x="10533888" y="90068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</a:t>
            </a:r>
            <a:endParaRPr lang="en-US" sz="800" dirty="0"/>
          </a:p>
        </p:txBody>
      </p:sp>
      <p:sp>
        <p:nvSpPr>
          <p:cNvPr id="249" name="Shape 246"/>
          <p:cNvSpPr/>
          <p:nvPr/>
        </p:nvSpPr>
        <p:spPr>
          <a:xfrm>
            <a:off x="10863072" y="8654796"/>
            <a:ext cx="2670048" cy="0"/>
          </a:xfrm>
          <a:prstGeom prst="line">
            <a:avLst/>
          </a:prstGeom>
          <a:noFill/>
          <a:ln w="6350">
            <a:solidFill>
              <a:srgbClr val="ECE8F3"/>
            </a:solidFill>
            <a:prstDash val="solid"/>
          </a:ln>
        </p:spPr>
      </p:sp>
      <p:sp>
        <p:nvSpPr>
          <p:cNvPr id="250" name="Text 247"/>
          <p:cNvSpPr txBox="1"/>
          <p:nvPr/>
        </p:nvSpPr>
        <p:spPr>
          <a:xfrm>
            <a:off x="10533888" y="85725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10</a:t>
            </a:r>
            <a:endParaRPr lang="en-US" sz="800" dirty="0"/>
          </a:p>
        </p:txBody>
      </p:sp>
      <p:sp>
        <p:nvSpPr>
          <p:cNvPr id="251" name="Shape 248"/>
          <p:cNvSpPr/>
          <p:nvPr/>
        </p:nvSpPr>
        <p:spPr>
          <a:xfrm>
            <a:off x="10863072" y="8220456"/>
            <a:ext cx="2670048" cy="0"/>
          </a:xfrm>
          <a:prstGeom prst="line">
            <a:avLst/>
          </a:prstGeom>
          <a:noFill/>
          <a:ln w="6350">
            <a:solidFill>
              <a:srgbClr val="ECE8F3"/>
            </a:solidFill>
            <a:prstDash val="solid"/>
          </a:ln>
        </p:spPr>
      </p:sp>
      <p:sp>
        <p:nvSpPr>
          <p:cNvPr id="252" name="Text 249"/>
          <p:cNvSpPr txBox="1"/>
          <p:nvPr/>
        </p:nvSpPr>
        <p:spPr>
          <a:xfrm>
            <a:off x="10533888" y="81381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20</a:t>
            </a:r>
            <a:endParaRPr lang="en-US" sz="800" dirty="0"/>
          </a:p>
        </p:txBody>
      </p:sp>
      <p:sp>
        <p:nvSpPr>
          <p:cNvPr id="253" name="Shape 250"/>
          <p:cNvSpPr/>
          <p:nvPr/>
        </p:nvSpPr>
        <p:spPr>
          <a:xfrm>
            <a:off x="10863072" y="7786116"/>
            <a:ext cx="2670048" cy="0"/>
          </a:xfrm>
          <a:prstGeom prst="line">
            <a:avLst/>
          </a:prstGeom>
          <a:noFill/>
          <a:ln w="6350">
            <a:solidFill>
              <a:srgbClr val="ECE8F3"/>
            </a:solidFill>
            <a:prstDash val="solid"/>
          </a:ln>
        </p:spPr>
      </p:sp>
      <p:sp>
        <p:nvSpPr>
          <p:cNvPr id="254" name="Text 251"/>
          <p:cNvSpPr txBox="1"/>
          <p:nvPr/>
        </p:nvSpPr>
        <p:spPr>
          <a:xfrm>
            <a:off x="10533888" y="77038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30</a:t>
            </a:r>
            <a:endParaRPr lang="en-US" sz="800" dirty="0"/>
          </a:p>
        </p:txBody>
      </p:sp>
      <p:sp>
        <p:nvSpPr>
          <p:cNvPr id="255" name="Shape 252"/>
          <p:cNvSpPr/>
          <p:nvPr/>
        </p:nvSpPr>
        <p:spPr>
          <a:xfrm>
            <a:off x="10863072" y="7351776"/>
            <a:ext cx="2670048" cy="0"/>
          </a:xfrm>
          <a:prstGeom prst="line">
            <a:avLst/>
          </a:prstGeom>
          <a:noFill/>
          <a:ln w="6350">
            <a:solidFill>
              <a:srgbClr val="ECE8F3"/>
            </a:solidFill>
            <a:prstDash val="solid"/>
          </a:ln>
        </p:spPr>
      </p:sp>
      <p:sp>
        <p:nvSpPr>
          <p:cNvPr id="256" name="Text 253"/>
          <p:cNvSpPr txBox="1"/>
          <p:nvPr/>
        </p:nvSpPr>
        <p:spPr>
          <a:xfrm>
            <a:off x="10533888" y="726948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40</a:t>
            </a:r>
            <a:endParaRPr lang="en-US" sz="800" dirty="0"/>
          </a:p>
        </p:txBody>
      </p:sp>
      <p:sp>
        <p:nvSpPr>
          <p:cNvPr id="257" name="Shape 254"/>
          <p:cNvSpPr/>
          <p:nvPr/>
        </p:nvSpPr>
        <p:spPr>
          <a:xfrm>
            <a:off x="11308080" y="8324698"/>
            <a:ext cx="0" cy="232372"/>
          </a:xfrm>
          <a:prstGeom prst="line">
            <a:avLst/>
          </a:prstGeom>
          <a:noFill/>
          <a:ln w="12700">
            <a:solidFill>
              <a:srgbClr val="4B2C82"/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11308080" y="8775325"/>
            <a:ext cx="0" cy="131388"/>
          </a:xfrm>
          <a:prstGeom prst="line">
            <a:avLst/>
          </a:prstGeom>
          <a:noFill/>
          <a:ln w="12700">
            <a:solidFill>
              <a:srgbClr val="4B2C82"/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11116056" y="8557070"/>
            <a:ext cx="384048" cy="218256"/>
          </a:xfrm>
          <a:prstGeom prst="rect">
            <a:avLst/>
          </a:prstGeom>
          <a:solidFill>
            <a:srgbClr val="EEE9F7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11116056" y="8661311"/>
            <a:ext cx="384048" cy="0"/>
          </a:xfrm>
          <a:prstGeom prst="line">
            <a:avLst/>
          </a:prstGeom>
          <a:noFill/>
          <a:ln w="25400">
            <a:solidFill>
              <a:srgbClr val="4B2C82"/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11262360" y="8109585"/>
            <a:ext cx="91440" cy="91440"/>
          </a:xfrm>
          <a:prstGeom prst="ellipse">
            <a:avLst/>
          </a:prstGeom>
          <a:solidFill>
            <a:srgbClr val="D9731E"/>
          </a:solidFill>
          <a:ln w="12700">
            <a:solidFill>
              <a:srgbClr val="D9731E"/>
            </a:solidFill>
            <a:prstDash val="solid"/>
          </a:ln>
        </p:spPr>
      </p:sp>
      <p:sp>
        <p:nvSpPr>
          <p:cNvPr id="262" name="Text 259"/>
          <p:cNvSpPr txBox="1"/>
          <p:nvPr/>
        </p:nvSpPr>
        <p:spPr>
          <a:xfrm>
            <a:off x="11033760" y="910742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0.5</a:t>
            </a:r>
            <a:endParaRPr lang="en-US" sz="850" dirty="0"/>
          </a:p>
        </p:txBody>
      </p:sp>
      <p:sp>
        <p:nvSpPr>
          <p:cNvPr id="263" name="Shape 260"/>
          <p:cNvSpPr/>
          <p:nvPr/>
        </p:nvSpPr>
        <p:spPr>
          <a:xfrm>
            <a:off x="12198096" y="7903388"/>
            <a:ext cx="0" cy="170478"/>
          </a:xfrm>
          <a:prstGeom prst="line">
            <a:avLst/>
          </a:prstGeom>
          <a:noFill/>
          <a:ln w="12700">
            <a:solidFill>
              <a:srgbClr val="4B2C82"/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12198096" y="8383334"/>
            <a:ext cx="0" cy="115100"/>
          </a:xfrm>
          <a:prstGeom prst="line">
            <a:avLst/>
          </a:prstGeom>
          <a:noFill/>
          <a:ln w="12700">
            <a:solidFill>
              <a:srgbClr val="4B2C82"/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12006072" y="8073866"/>
            <a:ext cx="384048" cy="309467"/>
          </a:xfrm>
          <a:prstGeom prst="rect">
            <a:avLst/>
          </a:prstGeom>
          <a:solidFill>
            <a:srgbClr val="EEE9F7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12006072" y="8253032"/>
            <a:ext cx="384048" cy="0"/>
          </a:xfrm>
          <a:prstGeom prst="line">
            <a:avLst/>
          </a:prstGeom>
          <a:noFill/>
          <a:ln w="25400">
            <a:solidFill>
              <a:srgbClr val="4B2C82"/>
            </a:solidFill>
            <a:prstDash val="solid"/>
          </a:ln>
        </p:spPr>
      </p:sp>
      <p:sp>
        <p:nvSpPr>
          <p:cNvPr id="267" name="Text 264"/>
          <p:cNvSpPr txBox="1"/>
          <p:nvPr/>
        </p:nvSpPr>
        <p:spPr>
          <a:xfrm>
            <a:off x="11923776" y="910742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</a:t>
            </a:r>
            <a:endParaRPr lang="en-US" sz="850" dirty="0"/>
          </a:p>
        </p:txBody>
      </p:sp>
      <p:sp>
        <p:nvSpPr>
          <p:cNvPr id="268" name="Shape 265"/>
          <p:cNvSpPr/>
          <p:nvPr/>
        </p:nvSpPr>
        <p:spPr>
          <a:xfrm>
            <a:off x="13088112" y="7616723"/>
            <a:ext cx="0" cy="263862"/>
          </a:xfrm>
          <a:prstGeom prst="line">
            <a:avLst/>
          </a:prstGeom>
          <a:noFill/>
          <a:ln w="12700">
            <a:solidFill>
              <a:srgbClr val="4B2C82"/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13088112" y="8067351"/>
            <a:ext cx="0" cy="218256"/>
          </a:xfrm>
          <a:prstGeom prst="line">
            <a:avLst/>
          </a:prstGeom>
          <a:noFill/>
          <a:ln w="12700">
            <a:solidFill>
              <a:srgbClr val="4B2C82"/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12896088" y="7880585"/>
            <a:ext cx="384048" cy="186766"/>
          </a:xfrm>
          <a:prstGeom prst="rect">
            <a:avLst/>
          </a:prstGeom>
          <a:solidFill>
            <a:srgbClr val="EEE9F7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12896088" y="7962024"/>
            <a:ext cx="384048" cy="0"/>
          </a:xfrm>
          <a:prstGeom prst="line">
            <a:avLst/>
          </a:prstGeom>
          <a:noFill/>
          <a:ln w="25400">
            <a:solidFill>
              <a:srgbClr val="4B2C82"/>
            </a:solidFill>
            <a:prstDash val="solid"/>
          </a:ln>
        </p:spPr>
      </p:sp>
      <p:sp>
        <p:nvSpPr>
          <p:cNvPr id="272" name="Text 269"/>
          <p:cNvSpPr txBox="1"/>
          <p:nvPr/>
        </p:nvSpPr>
        <p:spPr>
          <a:xfrm>
            <a:off x="12813792" y="910742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</a:t>
            </a:r>
            <a:endParaRPr lang="en-US" sz="850" dirty="0"/>
          </a:p>
        </p:txBody>
      </p:sp>
      <p:sp>
        <p:nvSpPr>
          <p:cNvPr id="273" name="Text 270"/>
          <p:cNvSpPr txBox="1"/>
          <p:nvPr/>
        </p:nvSpPr>
        <p:spPr>
          <a:xfrm>
            <a:off x="11381232" y="8073009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800" i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21.5 (atípico)</a:t>
            </a:r>
            <a:endParaRPr lang="en-US" sz="800" dirty="0"/>
          </a:p>
        </p:txBody>
      </p:sp>
      <p:sp>
        <p:nvSpPr>
          <p:cNvPr id="274" name="Shape 271"/>
          <p:cNvSpPr/>
          <p:nvPr/>
        </p:nvSpPr>
        <p:spPr>
          <a:xfrm>
            <a:off x="11308080" y="7552094"/>
            <a:ext cx="890016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11308080" y="7552094"/>
            <a:ext cx="0" cy="4572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12198096" y="7552094"/>
            <a:ext cx="0" cy="4572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277" name="Text 274"/>
          <p:cNvSpPr txBox="1"/>
          <p:nvPr/>
        </p:nvSpPr>
        <p:spPr>
          <a:xfrm>
            <a:off x="11478768" y="739664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****</a:t>
            </a:r>
            <a:endParaRPr lang="en-US" sz="850" dirty="0"/>
          </a:p>
        </p:txBody>
      </p:sp>
      <p:sp>
        <p:nvSpPr>
          <p:cNvPr id="278" name="Shape 275"/>
          <p:cNvSpPr/>
          <p:nvPr/>
        </p:nvSpPr>
        <p:spPr>
          <a:xfrm>
            <a:off x="11308080" y="7487464"/>
            <a:ext cx="1780032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11308080" y="7487464"/>
            <a:ext cx="0" cy="4572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13088112" y="7487464"/>
            <a:ext cx="0" cy="4572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281" name="Text 278"/>
          <p:cNvSpPr txBox="1"/>
          <p:nvPr/>
        </p:nvSpPr>
        <p:spPr>
          <a:xfrm>
            <a:off x="11923776" y="733201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****</a:t>
            </a:r>
            <a:endParaRPr lang="en-US" sz="850" dirty="0"/>
          </a:p>
        </p:txBody>
      </p:sp>
      <p:sp>
        <p:nvSpPr>
          <p:cNvPr id="282" name="Shape 279"/>
          <p:cNvSpPr/>
          <p:nvPr/>
        </p:nvSpPr>
        <p:spPr>
          <a:xfrm>
            <a:off x="12198096" y="7422834"/>
            <a:ext cx="890016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12198096" y="7422834"/>
            <a:ext cx="0" cy="4572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13088112" y="7422834"/>
            <a:ext cx="0" cy="4572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285" name="Text 282"/>
          <p:cNvSpPr txBox="1"/>
          <p:nvPr/>
        </p:nvSpPr>
        <p:spPr>
          <a:xfrm>
            <a:off x="12368784" y="726738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****</a:t>
            </a:r>
            <a:endParaRPr lang="en-US" sz="850" dirty="0"/>
          </a:p>
        </p:txBody>
      </p:sp>
      <p:sp>
        <p:nvSpPr>
          <p:cNvPr id="286" name="Shape 283"/>
          <p:cNvSpPr/>
          <p:nvPr/>
        </p:nvSpPr>
        <p:spPr>
          <a:xfrm>
            <a:off x="10863072" y="9089136"/>
            <a:ext cx="2670048" cy="0"/>
          </a:xfrm>
          <a:prstGeom prst="line">
            <a:avLst/>
          </a:prstGeom>
          <a:noFill/>
          <a:ln w="9525">
            <a:solidFill>
              <a:srgbClr val="5F6675"/>
            </a:solidFill>
            <a:prstDash val="solid"/>
          </a:ln>
        </p:spPr>
      </p:sp>
      <p:sp>
        <p:nvSpPr>
          <p:cNvPr id="287" name="Text 284"/>
          <p:cNvSpPr txBox="1"/>
          <p:nvPr/>
        </p:nvSpPr>
        <p:spPr>
          <a:xfrm>
            <a:off x="10460736" y="73334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len</a:t>
            </a:r>
            <a:endParaRPr lang="en-US" sz="850" dirty="0"/>
          </a:p>
        </p:txBody>
      </p:sp>
      <p:sp>
        <p:nvSpPr>
          <p:cNvPr id="288" name="Text 285"/>
          <p:cNvSpPr txBox="1"/>
          <p:nvPr/>
        </p:nvSpPr>
        <p:spPr>
          <a:xfrm>
            <a:off x="10863072" y="9253728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ES" sz="8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dosis (mg/día)</a:t>
            </a:r>
            <a:endParaRPr lang="en-US" sz="800" dirty="0"/>
          </a:p>
        </p:txBody>
      </p:sp>
      <p:sp>
        <p:nvSpPr>
          <p:cNvPr id="289" name="Shape 286"/>
          <p:cNvSpPr/>
          <p:nvPr/>
        </p:nvSpPr>
        <p:spPr>
          <a:xfrm>
            <a:off x="10479024" y="9509760"/>
            <a:ext cx="3172968" cy="841248"/>
          </a:xfrm>
          <a:prstGeom prst="roundRect">
            <a:avLst>
              <a:gd name="adj" fmla="val 6522"/>
            </a:avLst>
          </a:prstGeom>
          <a:solidFill>
            <a:srgbClr val="FCEEDF"/>
          </a:solidFill>
          <a:ln w="9525">
            <a:solidFill>
              <a:srgbClr val="D9731E"/>
            </a:solidFill>
            <a:prstDash val="solid"/>
          </a:ln>
        </p:spPr>
      </p:sp>
      <p:sp>
        <p:nvSpPr>
          <p:cNvPr id="290" name="Text 287"/>
          <p:cNvSpPr txBox="1"/>
          <p:nvPr/>
        </p:nvSpPr>
        <p:spPr>
          <a:xfrm>
            <a:off x="10570464" y="9573768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OJO  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Las pruebas pareadas emparejan las filas por su </a:t>
            </a:r>
            <a:pPr indent="0" marL="0">
              <a:buNone/>
            </a:pPr>
            <a:r>
              <a:rPr lang="es-E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orden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 Añade </a:t>
            </a:r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= "ID"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para emparejar por sujeto. Con las filas de sleep desordenadas una vez: p = 0.12 sin id, p = 0.003 con id.</a:t>
            </a:r>
            <a:endParaRPr lang="en-US" sz="950" dirty="0"/>
          </a:p>
        </p:txBody>
      </p:sp>
      <p:sp>
        <p:nvSpPr>
          <p:cNvPr id="291" name="Text 288"/>
          <p:cNvSpPr txBox="1"/>
          <p:nvPr/>
        </p:nvSpPr>
        <p:spPr>
          <a:xfrm>
            <a:off x="411480" y="10415016"/>
            <a:ext cx="1314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SA</a:t>
            </a:r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Anthony Romero-Cerdán  •  </a:t>
            </a:r>
            <a:pPr algn="r" indent="0" marL="0">
              <a:buNone/>
            </a:pPr>
            <a:r>
              <a:rPr lang="en-US" sz="900" u="sng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anthonyromero.netlify.app</a:t>
            </a:r>
            <a:pPr algn="r" indent="0" marL="0">
              <a:buNone/>
            </a:pPr>
            <a:r>
              <a:rPr lang="es-E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•  Más información en </a:t>
            </a:r>
            <a:pPr algn="r" indent="0" marL="0">
              <a:buNone/>
            </a:pPr>
            <a:r>
              <a:rPr lang="en-US" sz="900" u="sng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rpkgs.datanovia.com/rstatix</a:t>
            </a:r>
            <a:pPr algn="r" indent="0" marL="0">
              <a:buNone/>
            </a:pPr>
            <a:r>
              <a:rPr lang="es-E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•  versión de rstatix 1.1.0  •  Actualizado: 2026-10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10680192" y="0"/>
            <a:ext cx="3291840" cy="1965960"/>
          </a:xfrm>
          <a:prstGeom prst="rtTriangle">
            <a:avLst/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s-ES" sz="4000" dirty="0">
                <a:solidFill>
                  <a:srgbClr val="4B2C82"/>
                </a:solidFill>
                <a:latin typeface="Source Sans Pro Light" pitchFamily="34" charset="0"/>
                <a:ea typeface="Source Sans Pro Light" pitchFamily="34" charset="-122"/>
                <a:cs typeface="Source Sans Pro Light" pitchFamily="34" charset="-120"/>
              </a:rPr>
              <a:t>Pruebas estadísticas con rstatix</a:t>
            </a:r>
            <a:pPr indent="0" marL="0">
              <a:buNone/>
            </a:pPr>
            <a:r>
              <a:rPr lang="en-US" sz="4000" dirty="0">
                <a:solidFill>
                  <a:srgbClr val="5F6675"/>
                </a:solidFill>
                <a:latin typeface="Source Sans Pro Light" pitchFamily="34" charset="0"/>
                <a:ea typeface="Source Sans Pro Light" pitchFamily="34" charset="-122"/>
                <a:cs typeface="Source Sans Pro Light" pitchFamily="34" charset="-120"/>
              </a:rPr>
              <a:t>  ::  </a:t>
            </a:r>
            <a:pPr indent="0" marL="0">
              <a:buNone/>
            </a:pPr>
            <a:r>
              <a:rPr lang="en-US" sz="30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CHEAT SHEET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29768" y="104241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3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Compara grupos, identifica cuáles difieren, mide el efecto y pasa a diseños factoriales, tablas de frecuencias y correlaciones.</a:t>
            </a:r>
            <a:endParaRPr lang="en-US" sz="1300" dirty="0"/>
          </a:p>
        </p:txBody>
      </p:sp>
      <p:pic>
        <p:nvPicPr>
          <p:cNvPr id="5" name="Image 0" descr="/home/claude/sheets/rstatix/h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9264" y="182880"/>
            <a:ext cx="118872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645920"/>
            <a:ext cx="402336" cy="402336"/>
          </a:xfrm>
          <a:prstGeom prst="ellipse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23544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0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Dos grupos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11480" y="2194560"/>
            <a:ext cx="3172968" cy="598932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" y="2258568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supp, detailed = TRUE)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wilcox_test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supp,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detailed = TRUE)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" y="2884932"/>
            <a:ext cx="3172968" cy="219456"/>
          </a:xfrm>
          <a:prstGeom prst="rect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38912" y="2884932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prueba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216152" y="2884932"/>
            <a:ext cx="630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OJ − VC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901952" y="2884932"/>
            <a:ext cx="1106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IC 95%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288493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438912" y="3104388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 de Welch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216152" y="3104388"/>
            <a:ext cx="630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3.7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901952" y="3104388"/>
            <a:ext cx="1106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−0.17 a 7.57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3063240" y="310438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0.061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11480" y="3323844"/>
            <a:ext cx="3172968" cy="219456"/>
          </a:xfrm>
          <a:prstGeom prst="rect">
            <a:avLst/>
          </a:prstGeom>
          <a:solidFill>
            <a:srgbClr val="F7F5FB"/>
          </a:solidFill>
          <a:ln w="12700">
            <a:solidFill>
              <a:srgbClr val="F7F5F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38912" y="3323844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Wilcoxon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216152" y="3323844"/>
            <a:ext cx="630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4.0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901952" y="3323844"/>
            <a:ext cx="1106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−0.10 a 8.50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3063240" y="332384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0.064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092708" y="3616452"/>
            <a:ext cx="0" cy="566928"/>
          </a:xfrm>
          <a:prstGeom prst="line">
            <a:avLst/>
          </a:prstGeom>
          <a:noFill/>
          <a:ln w="12700">
            <a:solidFill>
              <a:srgbClr val="D9731E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1054235" y="3762756"/>
            <a:ext cx="1751670" cy="0"/>
          </a:xfrm>
          <a:prstGeom prst="line">
            <a:avLst/>
          </a:prstGeom>
          <a:noFill/>
          <a:ln w="25400">
            <a:solidFill>
              <a:srgbClr val="4B2C8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75206" y="3707892"/>
            <a:ext cx="109728" cy="109728"/>
          </a:xfrm>
          <a:prstGeom prst="ellipse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860769" y="368046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8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 de Welch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1070077" y="4000500"/>
            <a:ext cx="1946300" cy="0"/>
          </a:xfrm>
          <a:prstGeom prst="line">
            <a:avLst/>
          </a:prstGeom>
          <a:noFill/>
          <a:ln w="25400">
            <a:solidFill>
              <a:srgbClr val="A48FC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943100" y="3945636"/>
            <a:ext cx="109728" cy="109728"/>
          </a:xfrm>
          <a:prstGeom prst="ellipse">
            <a:avLst/>
          </a:prstGeom>
          <a:solidFill>
            <a:srgbClr val="A48FCF"/>
          </a:solidFill>
          <a:ln w="12700">
            <a:solidFill>
              <a:srgbClr val="A48FC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071241" y="391820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48FC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Wilcoxon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955548" y="416509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411480" y="4347972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Ambos intervalos incluyen el 0: </a:t>
            </a:r>
            <a:pPr indent="0" marL="0">
              <a:buNone/>
            </a:pPr>
            <a:r>
              <a:rPr lang="es-E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sin diferencia clara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pero los datos son compatibles con una diferencia considerable. Reporta el IC, no solo el valor p.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411480" y="4914900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Estimación de Wilcoxon = desplazamiento de Hodges–Lehmann, no diferencia de medianas.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411480" y="52806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TAMAÑO DEL EFECTO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11480" y="5527548"/>
            <a:ext cx="3172968" cy="448056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84632" y="5591556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cohens_d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supp)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wilcox_effsize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supp)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411480" y="6012180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pPr indent="0" marL="0">
              <a:buNone/>
            </a:pPr>
            <a:r>
              <a:rPr lang="es-E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 = 0.49 · r = 0.24, ambos pequeños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57200" y="6377940"/>
            <a:ext cx="513588" cy="219456"/>
          </a:xfrm>
          <a:prstGeom prst="rect">
            <a:avLst/>
          </a:prstGeom>
          <a:solidFill>
            <a:srgbClr val="F1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57200" y="6377940"/>
            <a:ext cx="5135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8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trivial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970788" y="6377940"/>
            <a:ext cx="770382" cy="219456"/>
          </a:xfrm>
          <a:prstGeom prst="rect">
            <a:avLst/>
          </a:prstGeom>
          <a:solidFill>
            <a:srgbClr val="DCD3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70788" y="6377940"/>
            <a:ext cx="7703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8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pequeño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741170" y="6377940"/>
            <a:ext cx="770382" cy="219456"/>
          </a:xfrm>
          <a:prstGeom prst="rect">
            <a:avLst/>
          </a:prstGeom>
          <a:solidFill>
            <a:srgbClr val="B9A8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741170" y="6377940"/>
            <a:ext cx="7703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8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moderado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2511552" y="6377940"/>
            <a:ext cx="1027176" cy="219456"/>
          </a:xfrm>
          <a:prstGeom prst="rect">
            <a:avLst/>
          </a:prstGeom>
          <a:solidFill>
            <a:srgbClr val="7A5D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2511552" y="6377940"/>
            <a:ext cx="102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8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grande</a:t>
            </a:r>
            <a:endParaRPr lang="en-US" sz="800" dirty="0"/>
          </a:p>
        </p:txBody>
      </p:sp>
      <p:sp>
        <p:nvSpPr>
          <p:cNvPr id="47" name="Text 44"/>
          <p:cNvSpPr txBox="1"/>
          <p:nvPr/>
        </p:nvSpPr>
        <p:spPr>
          <a:xfrm>
            <a:off x="833628" y="660654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0.2</a:t>
            </a:r>
            <a:endParaRPr lang="en-US" sz="750" dirty="0"/>
          </a:p>
        </p:txBody>
      </p:sp>
      <p:sp>
        <p:nvSpPr>
          <p:cNvPr id="48" name="Text 45"/>
          <p:cNvSpPr txBox="1"/>
          <p:nvPr/>
        </p:nvSpPr>
        <p:spPr>
          <a:xfrm>
            <a:off x="1604010" y="660654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0.5</a:t>
            </a:r>
            <a:endParaRPr lang="en-US" sz="750" dirty="0"/>
          </a:p>
        </p:txBody>
      </p:sp>
      <p:sp>
        <p:nvSpPr>
          <p:cNvPr id="49" name="Text 46"/>
          <p:cNvSpPr txBox="1"/>
          <p:nvPr/>
        </p:nvSpPr>
        <p:spPr>
          <a:xfrm>
            <a:off x="2374392" y="660654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0.8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 flipV="1">
            <a:off x="1651483" y="6259068"/>
            <a:ext cx="128016" cy="100584"/>
          </a:xfrm>
          <a:prstGeom prst="triangle">
            <a:avLst/>
          </a:prstGeom>
          <a:solidFill>
            <a:srgbClr val="D9731E"/>
          </a:solidFill>
          <a:ln w="12700">
            <a:solidFill>
              <a:srgbClr val="D9731E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64408" y="660654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|d|</a:t>
            </a:r>
            <a:endParaRPr lang="en-US" sz="750" dirty="0"/>
          </a:p>
        </p:txBody>
      </p:sp>
      <p:sp>
        <p:nvSpPr>
          <p:cNvPr id="52" name="Text 49"/>
          <p:cNvSpPr txBox="1"/>
          <p:nvPr/>
        </p:nvSpPr>
        <p:spPr>
          <a:xfrm>
            <a:off x="411480" y="6835140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Etiquetas de Cohen (1992), en la columna magnitude. O usa effect.size = TRUE en la prueba.</a:t>
            </a:r>
            <a:endParaRPr lang="en-US" sz="900" dirty="0"/>
          </a:p>
        </p:txBody>
      </p:sp>
      <p:sp>
        <p:nvSpPr>
          <p:cNvPr id="53" name="Text 50"/>
          <p:cNvSpPr txBox="1"/>
          <p:nvPr/>
        </p:nvSpPr>
        <p:spPr>
          <a:xfrm>
            <a:off x="411480" y="725576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PAREADOS  (sleep: 10 personas, dos fármacos)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411480" y="7502652"/>
            <a:ext cx="3172968" cy="749808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484632" y="7566660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(extra ~ group,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paired = TRUE, id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detailed = TRUE)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cohens_d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(extra ~ group,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paired = TRUE, id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411480" y="8307324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Diferencia de medias −1.58 (−2.46 a −0.70), t(9) = −4.06, p = 0.003; </a:t>
            </a:r>
            <a:pPr indent="0" marL="0">
              <a:buNone/>
            </a:pPr>
            <a:r>
              <a:rPr lang="es-E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 = −1.28, grande.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411480" y="8764524"/>
            <a:ext cx="3172968" cy="694944"/>
          </a:xfrm>
          <a:prstGeom prst="roundRect">
            <a:avLst>
              <a:gd name="adj" fmla="val 7895"/>
            </a:avLst>
          </a:prstGeom>
          <a:solidFill>
            <a:srgbClr val="FCEEDF"/>
          </a:solidFill>
          <a:ln w="9525">
            <a:solidFill>
              <a:srgbClr val="D9731E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502920" y="8828532"/>
            <a:ext cx="29900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CONSEJO  </a:t>
            </a:r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alternative = "greater"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da una prueba unilateral (OJ &gt; VC: p = 0.030). Elige la dirección </a:t>
            </a:r>
            <a:pPr indent="0" marL="0">
              <a:buNone/>
            </a:pPr>
            <a:r>
              <a:rPr lang="es-E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antes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de ver los datos, nunca para rescatar un valor p.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3767328" y="1645920"/>
            <a:ext cx="402336" cy="402336"/>
          </a:xfrm>
          <a:prstGeom prst="ellipse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3767328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</a:t>
            </a:r>
            <a:endParaRPr lang="en-US" sz="1600" dirty="0"/>
          </a:p>
        </p:txBody>
      </p:sp>
      <p:sp>
        <p:nvSpPr>
          <p:cNvPr id="61" name="Text 58"/>
          <p:cNvSpPr txBox="1"/>
          <p:nvPr/>
        </p:nvSpPr>
        <p:spPr>
          <a:xfrm>
            <a:off x="4279392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0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Tres o más grupos</a:t>
            </a:r>
            <a:endParaRPr lang="en-US" sz="2000" dirty="0"/>
          </a:p>
        </p:txBody>
      </p:sp>
      <p:sp>
        <p:nvSpPr>
          <p:cNvPr id="62" name="Shape 59"/>
          <p:cNvSpPr/>
          <p:nvPr/>
        </p:nvSpPr>
        <p:spPr>
          <a:xfrm>
            <a:off x="3767328" y="2194560"/>
            <a:ext cx="1449324" cy="475488"/>
          </a:xfrm>
          <a:prstGeom prst="roundRect">
            <a:avLst>
              <a:gd name="adj" fmla="val 11538"/>
            </a:avLst>
          </a:prstGeom>
          <a:solidFill>
            <a:srgbClr val="EEE9F7"/>
          </a:solidFill>
          <a:ln w="9525">
            <a:solidFill>
              <a:srgbClr val="4B2C82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3767328" y="2231136"/>
            <a:ext cx="14493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ES" sz="850" b="1" spc="100" kern="0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GLOBAL</a:t>
            </a:r>
            <a:endParaRPr lang="en-US" sz="850" dirty="0"/>
          </a:p>
        </p:txBody>
      </p:sp>
      <p:sp>
        <p:nvSpPr>
          <p:cNvPr id="64" name="Text 61"/>
          <p:cNvSpPr txBox="1"/>
          <p:nvPr/>
        </p:nvSpPr>
        <p:spPr>
          <a:xfrm>
            <a:off x="3767328" y="2414016"/>
            <a:ext cx="14493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¿Algún grupo difiere?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5490972" y="2194560"/>
            <a:ext cx="1449324" cy="475488"/>
          </a:xfrm>
          <a:prstGeom prst="roundRect">
            <a:avLst>
              <a:gd name="adj" fmla="val 11538"/>
            </a:avLst>
          </a:prstGeom>
          <a:solidFill>
            <a:srgbClr val="FCEEDF"/>
          </a:solidFill>
          <a:ln w="9525">
            <a:solidFill>
              <a:srgbClr val="D9731E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5490972" y="2231136"/>
            <a:ext cx="14493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POST HOC</a:t>
            </a:r>
            <a:endParaRPr lang="en-US" sz="850" dirty="0"/>
          </a:p>
        </p:txBody>
      </p:sp>
      <p:sp>
        <p:nvSpPr>
          <p:cNvPr id="67" name="Text 64"/>
          <p:cNvSpPr txBox="1"/>
          <p:nvPr/>
        </p:nvSpPr>
        <p:spPr>
          <a:xfrm>
            <a:off x="5490972" y="2414016"/>
            <a:ext cx="14493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¿Qué pares difieren?</a:t>
            </a:r>
            <a:endParaRPr lang="en-US" sz="950" dirty="0"/>
          </a:p>
        </p:txBody>
      </p:sp>
      <p:sp>
        <p:nvSpPr>
          <p:cNvPr id="68" name="Text 65"/>
          <p:cNvSpPr txBox="1"/>
          <p:nvPr/>
        </p:nvSpPr>
        <p:spPr>
          <a:xfrm>
            <a:off x="5216652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</a:t>
            </a:r>
            <a:endParaRPr lang="en-US" sz="1600" dirty="0"/>
          </a:p>
        </p:txBody>
      </p:sp>
      <p:sp>
        <p:nvSpPr>
          <p:cNvPr id="69" name="Text 66"/>
          <p:cNvSpPr txBox="1"/>
          <p:nvPr/>
        </p:nvSpPr>
        <p:spPr>
          <a:xfrm>
            <a:off x="3767328" y="279806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ANOVA DE UNA VÍA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3767328" y="3044952"/>
            <a:ext cx="3172968" cy="297180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3840480" y="3108960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anova_test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dose)</a:t>
            </a:r>
            <a:endParaRPr lang="en-US" sz="1100" dirty="0"/>
          </a:p>
        </p:txBody>
      </p:sp>
      <p:sp>
        <p:nvSpPr>
          <p:cNvPr id="72" name="Shape 69"/>
          <p:cNvSpPr/>
          <p:nvPr/>
        </p:nvSpPr>
        <p:spPr>
          <a:xfrm>
            <a:off x="3767328" y="3415284"/>
            <a:ext cx="3172968" cy="219456"/>
          </a:xfrm>
          <a:prstGeom prst="rect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3794760" y="3415284"/>
            <a:ext cx="539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Efecto</a:t>
            </a:r>
            <a:endParaRPr lang="en-US" sz="900" dirty="0"/>
          </a:p>
        </p:txBody>
      </p:sp>
      <p:sp>
        <p:nvSpPr>
          <p:cNvPr id="74" name="Text 71"/>
          <p:cNvSpPr txBox="1"/>
          <p:nvPr/>
        </p:nvSpPr>
        <p:spPr>
          <a:xfrm>
            <a:off x="4389120" y="3415284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DFn</a:t>
            </a:r>
            <a:endParaRPr lang="en-US" sz="900" dirty="0"/>
          </a:p>
        </p:txBody>
      </p:sp>
      <p:sp>
        <p:nvSpPr>
          <p:cNvPr id="75" name="Text 72"/>
          <p:cNvSpPr txBox="1"/>
          <p:nvPr/>
        </p:nvSpPr>
        <p:spPr>
          <a:xfrm>
            <a:off x="4800600" y="3415284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DFd</a:t>
            </a:r>
            <a:endParaRPr lang="en-US" sz="900" dirty="0"/>
          </a:p>
        </p:txBody>
      </p:sp>
      <p:sp>
        <p:nvSpPr>
          <p:cNvPr id="76" name="Text 73"/>
          <p:cNvSpPr txBox="1"/>
          <p:nvPr/>
        </p:nvSpPr>
        <p:spPr>
          <a:xfrm>
            <a:off x="5212080" y="341528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</a:t>
            </a:r>
            <a:endParaRPr lang="en-US" sz="900" dirty="0"/>
          </a:p>
        </p:txBody>
      </p:sp>
      <p:sp>
        <p:nvSpPr>
          <p:cNvPr id="77" name="Text 74"/>
          <p:cNvSpPr txBox="1"/>
          <p:nvPr/>
        </p:nvSpPr>
        <p:spPr>
          <a:xfrm>
            <a:off x="5760720" y="341528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</a:t>
            </a:r>
            <a:endParaRPr lang="en-US" sz="900" dirty="0"/>
          </a:p>
        </p:txBody>
      </p:sp>
      <p:sp>
        <p:nvSpPr>
          <p:cNvPr id="78" name="Text 75"/>
          <p:cNvSpPr txBox="1"/>
          <p:nvPr/>
        </p:nvSpPr>
        <p:spPr>
          <a:xfrm>
            <a:off x="6419088" y="341528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ges</a:t>
            </a:r>
            <a:endParaRPr lang="en-US" sz="900" dirty="0"/>
          </a:p>
        </p:txBody>
      </p:sp>
      <p:sp>
        <p:nvSpPr>
          <p:cNvPr id="79" name="Text 76"/>
          <p:cNvSpPr txBox="1"/>
          <p:nvPr/>
        </p:nvSpPr>
        <p:spPr>
          <a:xfrm>
            <a:off x="3794760" y="3634740"/>
            <a:ext cx="539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dose</a:t>
            </a:r>
            <a:endParaRPr lang="en-US" sz="900" dirty="0"/>
          </a:p>
        </p:txBody>
      </p:sp>
      <p:sp>
        <p:nvSpPr>
          <p:cNvPr id="80" name="Text 77"/>
          <p:cNvSpPr txBox="1"/>
          <p:nvPr/>
        </p:nvSpPr>
        <p:spPr>
          <a:xfrm>
            <a:off x="4389120" y="3634740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</a:t>
            </a:r>
            <a:endParaRPr lang="en-US" sz="900" dirty="0"/>
          </a:p>
        </p:txBody>
      </p:sp>
      <p:sp>
        <p:nvSpPr>
          <p:cNvPr id="81" name="Text 78"/>
          <p:cNvSpPr txBox="1"/>
          <p:nvPr/>
        </p:nvSpPr>
        <p:spPr>
          <a:xfrm>
            <a:off x="4800600" y="3634740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57</a:t>
            </a:r>
            <a:endParaRPr lang="en-US" sz="900" dirty="0"/>
          </a:p>
        </p:txBody>
      </p:sp>
      <p:sp>
        <p:nvSpPr>
          <p:cNvPr id="82" name="Text 79"/>
          <p:cNvSpPr txBox="1"/>
          <p:nvPr/>
        </p:nvSpPr>
        <p:spPr>
          <a:xfrm>
            <a:off x="5212080" y="363474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67.4</a:t>
            </a:r>
            <a:endParaRPr lang="en-US" sz="900" dirty="0"/>
          </a:p>
        </p:txBody>
      </p:sp>
      <p:sp>
        <p:nvSpPr>
          <p:cNvPr id="83" name="Text 80"/>
          <p:cNvSpPr txBox="1"/>
          <p:nvPr/>
        </p:nvSpPr>
        <p:spPr>
          <a:xfrm>
            <a:off x="5760720" y="363474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&lt; 0.001</a:t>
            </a:r>
            <a:endParaRPr lang="en-US" sz="900" dirty="0"/>
          </a:p>
        </p:txBody>
      </p:sp>
      <p:sp>
        <p:nvSpPr>
          <p:cNvPr id="84" name="Text 81"/>
          <p:cNvSpPr txBox="1"/>
          <p:nvPr/>
        </p:nvSpPr>
        <p:spPr>
          <a:xfrm>
            <a:off x="6419088" y="363474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0.70</a:t>
            </a:r>
            <a:endParaRPr lang="en-US" sz="900" dirty="0"/>
          </a:p>
        </p:txBody>
      </p:sp>
      <p:sp>
        <p:nvSpPr>
          <p:cNvPr id="85" name="Text 82"/>
          <p:cNvSpPr txBox="1"/>
          <p:nvPr/>
        </p:nvSpPr>
        <p:spPr>
          <a:xfrm>
            <a:off x="3767328" y="3909060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ges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= eta² generalizado, la proporción de varianza debida a la dosis. </a:t>
            </a:r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effect.size = "pes"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da eta² parcial.</a:t>
            </a:r>
            <a:endParaRPr lang="en-US" sz="950" dirty="0"/>
          </a:p>
        </p:txBody>
      </p:sp>
      <p:sp>
        <p:nvSpPr>
          <p:cNvPr id="86" name="Shape 83"/>
          <p:cNvSpPr/>
          <p:nvPr/>
        </p:nvSpPr>
        <p:spPr>
          <a:xfrm>
            <a:off x="3767328" y="4366260"/>
            <a:ext cx="3172968" cy="297180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3840480" y="4430268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tukey_hsd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dose)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3767328" y="4736592"/>
            <a:ext cx="3172968" cy="219456"/>
          </a:xfrm>
          <a:prstGeom prst="rect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3794760" y="4736592"/>
            <a:ext cx="630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</a:t>
            </a:r>
            <a:endParaRPr lang="en-US" sz="900" dirty="0"/>
          </a:p>
        </p:txBody>
      </p:sp>
      <p:sp>
        <p:nvSpPr>
          <p:cNvPr id="90" name="Text 87"/>
          <p:cNvSpPr txBox="1"/>
          <p:nvPr/>
        </p:nvSpPr>
        <p:spPr>
          <a:xfrm>
            <a:off x="4480560" y="4736592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diferencia</a:t>
            </a:r>
            <a:endParaRPr lang="en-US" sz="900" dirty="0"/>
          </a:p>
        </p:txBody>
      </p:sp>
      <p:sp>
        <p:nvSpPr>
          <p:cNvPr id="91" name="Text 88"/>
          <p:cNvSpPr txBox="1"/>
          <p:nvPr/>
        </p:nvSpPr>
        <p:spPr>
          <a:xfrm>
            <a:off x="5212080" y="4736592"/>
            <a:ext cx="92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IC 95%</a:t>
            </a:r>
            <a:endParaRPr lang="en-US" sz="900" dirty="0"/>
          </a:p>
        </p:txBody>
      </p:sp>
      <p:sp>
        <p:nvSpPr>
          <p:cNvPr id="92" name="Text 89"/>
          <p:cNvSpPr txBox="1"/>
          <p:nvPr/>
        </p:nvSpPr>
        <p:spPr>
          <a:xfrm>
            <a:off x="6190488" y="4736592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p.adj</a:t>
            </a:r>
            <a:endParaRPr lang="en-US" sz="900" dirty="0"/>
          </a:p>
        </p:txBody>
      </p:sp>
      <p:sp>
        <p:nvSpPr>
          <p:cNvPr id="93" name="Text 90"/>
          <p:cNvSpPr txBox="1"/>
          <p:nvPr/>
        </p:nvSpPr>
        <p:spPr>
          <a:xfrm>
            <a:off x="3794760" y="4956048"/>
            <a:ext cx="630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1 − 0.5</a:t>
            </a:r>
            <a:endParaRPr lang="en-US" sz="900" dirty="0"/>
          </a:p>
        </p:txBody>
      </p:sp>
      <p:sp>
        <p:nvSpPr>
          <p:cNvPr id="94" name="Text 91"/>
          <p:cNvSpPr txBox="1"/>
          <p:nvPr/>
        </p:nvSpPr>
        <p:spPr>
          <a:xfrm>
            <a:off x="4480560" y="4956048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9.1</a:t>
            </a:r>
            <a:endParaRPr lang="en-US" sz="900" dirty="0"/>
          </a:p>
        </p:txBody>
      </p:sp>
      <p:sp>
        <p:nvSpPr>
          <p:cNvPr id="95" name="Text 92"/>
          <p:cNvSpPr txBox="1"/>
          <p:nvPr/>
        </p:nvSpPr>
        <p:spPr>
          <a:xfrm>
            <a:off x="5212080" y="4956048"/>
            <a:ext cx="92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5.9 a 12.4</a:t>
            </a:r>
            <a:endParaRPr lang="en-US" sz="900" dirty="0"/>
          </a:p>
        </p:txBody>
      </p:sp>
      <p:sp>
        <p:nvSpPr>
          <p:cNvPr id="96" name="Text 93"/>
          <p:cNvSpPr txBox="1"/>
          <p:nvPr/>
        </p:nvSpPr>
        <p:spPr>
          <a:xfrm>
            <a:off x="6190488" y="4956048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&lt; 0.0001</a:t>
            </a:r>
            <a:endParaRPr lang="en-US" sz="900" dirty="0"/>
          </a:p>
        </p:txBody>
      </p:sp>
      <p:sp>
        <p:nvSpPr>
          <p:cNvPr id="97" name="Shape 94"/>
          <p:cNvSpPr/>
          <p:nvPr/>
        </p:nvSpPr>
        <p:spPr>
          <a:xfrm>
            <a:off x="3767328" y="5175504"/>
            <a:ext cx="3172968" cy="219456"/>
          </a:xfrm>
          <a:prstGeom prst="rect">
            <a:avLst/>
          </a:prstGeom>
          <a:solidFill>
            <a:srgbClr val="F7F5FB"/>
          </a:solidFill>
          <a:ln w="12700">
            <a:solidFill>
              <a:srgbClr val="F7F5FB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3794760" y="5175504"/>
            <a:ext cx="630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2 − 0.5</a:t>
            </a:r>
            <a:endParaRPr lang="en-US" sz="900" dirty="0"/>
          </a:p>
        </p:txBody>
      </p:sp>
      <p:sp>
        <p:nvSpPr>
          <p:cNvPr id="99" name="Text 96"/>
          <p:cNvSpPr txBox="1"/>
          <p:nvPr/>
        </p:nvSpPr>
        <p:spPr>
          <a:xfrm>
            <a:off x="4480560" y="5175504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15.5</a:t>
            </a:r>
            <a:endParaRPr lang="en-US" sz="900" dirty="0"/>
          </a:p>
        </p:txBody>
      </p:sp>
      <p:sp>
        <p:nvSpPr>
          <p:cNvPr id="100" name="Text 97"/>
          <p:cNvSpPr txBox="1"/>
          <p:nvPr/>
        </p:nvSpPr>
        <p:spPr>
          <a:xfrm>
            <a:off x="5212080" y="5175504"/>
            <a:ext cx="92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12.3 a 18.7</a:t>
            </a:r>
            <a:endParaRPr lang="en-US" sz="900" dirty="0"/>
          </a:p>
        </p:txBody>
      </p:sp>
      <p:sp>
        <p:nvSpPr>
          <p:cNvPr id="101" name="Text 98"/>
          <p:cNvSpPr txBox="1"/>
          <p:nvPr/>
        </p:nvSpPr>
        <p:spPr>
          <a:xfrm>
            <a:off x="6190488" y="5175504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&lt; 0.0001</a:t>
            </a:r>
            <a:endParaRPr lang="en-US" sz="900" dirty="0"/>
          </a:p>
        </p:txBody>
      </p:sp>
      <p:sp>
        <p:nvSpPr>
          <p:cNvPr id="102" name="Text 99"/>
          <p:cNvSpPr txBox="1"/>
          <p:nvPr/>
        </p:nvSpPr>
        <p:spPr>
          <a:xfrm>
            <a:off x="3794760" y="5394960"/>
            <a:ext cx="630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2 − 1</a:t>
            </a:r>
            <a:endParaRPr lang="en-US" sz="900" dirty="0"/>
          </a:p>
        </p:txBody>
      </p:sp>
      <p:sp>
        <p:nvSpPr>
          <p:cNvPr id="103" name="Text 100"/>
          <p:cNvSpPr txBox="1"/>
          <p:nvPr/>
        </p:nvSpPr>
        <p:spPr>
          <a:xfrm>
            <a:off x="4480560" y="5394960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6.4</a:t>
            </a:r>
            <a:endParaRPr lang="en-US" sz="900" dirty="0"/>
          </a:p>
        </p:txBody>
      </p:sp>
      <p:sp>
        <p:nvSpPr>
          <p:cNvPr id="104" name="Text 101"/>
          <p:cNvSpPr txBox="1"/>
          <p:nvPr/>
        </p:nvSpPr>
        <p:spPr>
          <a:xfrm>
            <a:off x="5212080" y="5394960"/>
            <a:ext cx="92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3.1 a 9.6</a:t>
            </a:r>
            <a:endParaRPr lang="en-US" sz="900" dirty="0"/>
          </a:p>
        </p:txBody>
      </p:sp>
      <p:sp>
        <p:nvSpPr>
          <p:cNvPr id="105" name="Text 102"/>
          <p:cNvSpPr txBox="1"/>
          <p:nvPr/>
        </p:nvSpPr>
        <p:spPr>
          <a:xfrm>
            <a:off x="6190488" y="5394960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&lt; 0.0001</a:t>
            </a:r>
            <a:endParaRPr lang="en-US" sz="900" dirty="0"/>
          </a:p>
        </p:txBody>
      </p:sp>
      <p:sp>
        <p:nvSpPr>
          <p:cNvPr id="106" name="Text 103"/>
          <p:cNvSpPr txBox="1"/>
          <p:nvPr/>
        </p:nvSpPr>
        <p:spPr>
          <a:xfrm>
            <a:off x="3767328" y="5669280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Cada paso 0.5 → 1 → 2 mg/día aumenta la longitud.</a:t>
            </a:r>
            <a:endParaRPr lang="en-US" sz="900" dirty="0"/>
          </a:p>
        </p:txBody>
      </p:sp>
      <p:sp>
        <p:nvSpPr>
          <p:cNvPr id="107" name="Text 104"/>
          <p:cNvSpPr txBox="1"/>
          <p:nvPr/>
        </p:nvSpPr>
        <p:spPr>
          <a:xfrm>
            <a:off x="3767328" y="5980176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VARIANZAS DISTINTAS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3767328" y="6227064"/>
            <a:ext cx="3172968" cy="448056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3840480" y="6291072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welch_anova_test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dose)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games_howell_test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dose)</a:t>
            </a:r>
            <a:endParaRPr lang="en-US" sz="1100" dirty="0"/>
          </a:p>
        </p:txBody>
      </p:sp>
      <p:sp>
        <p:nvSpPr>
          <p:cNvPr id="110" name="Text 107"/>
          <p:cNvSpPr txBox="1"/>
          <p:nvPr/>
        </p:nvSpPr>
        <p:spPr>
          <a:xfrm>
            <a:off x="3767328" y="671169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Welch: F(2, 37.7) = 68.4; luego pares de Games–Howell.</a:t>
            </a:r>
            <a:endParaRPr lang="en-US" sz="900" dirty="0"/>
          </a:p>
        </p:txBody>
      </p:sp>
      <p:sp>
        <p:nvSpPr>
          <p:cNvPr id="111" name="Text 108"/>
          <p:cNvSpPr txBox="1"/>
          <p:nvPr/>
        </p:nvSpPr>
        <p:spPr>
          <a:xfrm>
            <a:off x="3767328" y="700430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BASADAS EN RANGOS</a:t>
            </a:r>
            <a:endParaRPr lang="en-US" sz="1000" dirty="0"/>
          </a:p>
        </p:txBody>
      </p:sp>
      <p:sp>
        <p:nvSpPr>
          <p:cNvPr id="112" name="Shape 109"/>
          <p:cNvSpPr/>
          <p:nvPr/>
        </p:nvSpPr>
        <p:spPr>
          <a:xfrm>
            <a:off x="3767328" y="7251192"/>
            <a:ext cx="3172968" cy="598932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13" name="Text 110"/>
          <p:cNvSpPr txBox="1"/>
          <p:nvPr/>
        </p:nvSpPr>
        <p:spPr>
          <a:xfrm>
            <a:off x="3840480" y="7315200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kruskal_test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dose)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kruskal_effsize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dose)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dunn_test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dose)   </a:t>
            </a:r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Holm</a:t>
            </a:r>
            <a:endParaRPr lang="en-US" sz="1100" dirty="0"/>
          </a:p>
        </p:txBody>
      </p:sp>
      <p:sp>
        <p:nvSpPr>
          <p:cNvPr id="114" name="Text 111"/>
          <p:cNvSpPr txBox="1"/>
          <p:nvPr/>
        </p:nvSpPr>
        <p:spPr>
          <a:xfrm>
            <a:off x="3767328" y="7886700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H(2) = 40.7, p &lt; 0.001; eta²[H] = 0.68, grande.</a:t>
            </a:r>
            <a:endParaRPr lang="en-US" sz="900" dirty="0"/>
          </a:p>
        </p:txBody>
      </p:sp>
      <p:sp>
        <p:nvSpPr>
          <p:cNvPr id="115" name="Shape 112"/>
          <p:cNvSpPr/>
          <p:nvPr/>
        </p:nvSpPr>
        <p:spPr>
          <a:xfrm>
            <a:off x="3767328" y="8124444"/>
            <a:ext cx="3172968" cy="219456"/>
          </a:xfrm>
          <a:prstGeom prst="rect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116" name="Text 113"/>
          <p:cNvSpPr txBox="1"/>
          <p:nvPr/>
        </p:nvSpPr>
        <p:spPr>
          <a:xfrm>
            <a:off x="3794760" y="8124444"/>
            <a:ext cx="630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</a:t>
            </a:r>
            <a:endParaRPr lang="en-US" sz="900" dirty="0"/>
          </a:p>
        </p:txBody>
      </p:sp>
      <p:sp>
        <p:nvSpPr>
          <p:cNvPr id="117" name="Text 114"/>
          <p:cNvSpPr txBox="1"/>
          <p:nvPr/>
        </p:nvSpPr>
        <p:spPr>
          <a:xfrm>
            <a:off x="4480560" y="812444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0.5 vs 1</a:t>
            </a:r>
            <a:endParaRPr lang="en-US" sz="900" dirty="0"/>
          </a:p>
        </p:txBody>
      </p:sp>
      <p:sp>
        <p:nvSpPr>
          <p:cNvPr id="118" name="Text 115"/>
          <p:cNvSpPr txBox="1"/>
          <p:nvPr/>
        </p:nvSpPr>
        <p:spPr>
          <a:xfrm>
            <a:off x="5303520" y="812444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0.5 vs 2</a:t>
            </a:r>
            <a:endParaRPr lang="en-US" sz="900" dirty="0"/>
          </a:p>
        </p:txBody>
      </p:sp>
      <p:sp>
        <p:nvSpPr>
          <p:cNvPr id="119" name="Text 116"/>
          <p:cNvSpPr txBox="1"/>
          <p:nvPr/>
        </p:nvSpPr>
        <p:spPr>
          <a:xfrm>
            <a:off x="6144768" y="812444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 vs 2</a:t>
            </a:r>
            <a:endParaRPr lang="en-US" sz="900" dirty="0"/>
          </a:p>
        </p:txBody>
      </p:sp>
      <p:sp>
        <p:nvSpPr>
          <p:cNvPr id="120" name="Text 117"/>
          <p:cNvSpPr txBox="1"/>
          <p:nvPr/>
        </p:nvSpPr>
        <p:spPr>
          <a:xfrm>
            <a:off x="3794760" y="8343900"/>
            <a:ext cx="630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p.adj</a:t>
            </a:r>
            <a:endParaRPr lang="en-US" sz="900" dirty="0"/>
          </a:p>
        </p:txBody>
      </p:sp>
      <p:sp>
        <p:nvSpPr>
          <p:cNvPr id="121" name="Text 118"/>
          <p:cNvSpPr txBox="1"/>
          <p:nvPr/>
        </p:nvSpPr>
        <p:spPr>
          <a:xfrm>
            <a:off x="4480560" y="834390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0.0008</a:t>
            </a:r>
            <a:endParaRPr lang="en-US" sz="900" dirty="0"/>
          </a:p>
        </p:txBody>
      </p:sp>
      <p:sp>
        <p:nvSpPr>
          <p:cNvPr id="122" name="Text 119"/>
          <p:cNvSpPr txBox="1"/>
          <p:nvPr/>
        </p:nvSpPr>
        <p:spPr>
          <a:xfrm>
            <a:off x="5303520" y="834390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&lt; 0.0001</a:t>
            </a:r>
            <a:endParaRPr lang="en-US" sz="900" dirty="0"/>
          </a:p>
        </p:txBody>
      </p:sp>
      <p:sp>
        <p:nvSpPr>
          <p:cNvPr id="123" name="Text 120"/>
          <p:cNvSpPr txBox="1"/>
          <p:nvPr/>
        </p:nvSpPr>
        <p:spPr>
          <a:xfrm>
            <a:off x="6144768" y="834390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0.005</a:t>
            </a:r>
            <a:endParaRPr lang="en-US" sz="900" dirty="0"/>
          </a:p>
        </p:txBody>
      </p:sp>
      <p:sp>
        <p:nvSpPr>
          <p:cNvPr id="124" name="Shape 121"/>
          <p:cNvSpPr/>
          <p:nvPr/>
        </p:nvSpPr>
        <p:spPr>
          <a:xfrm>
            <a:off x="3767328" y="8563356"/>
            <a:ext cx="3172968" cy="219456"/>
          </a:xfrm>
          <a:prstGeom prst="rect">
            <a:avLst/>
          </a:prstGeom>
          <a:solidFill>
            <a:srgbClr val="F7F5FB"/>
          </a:solidFill>
          <a:ln w="12700">
            <a:solidFill>
              <a:srgbClr val="F7F5FB"/>
            </a:solidFill>
            <a:prstDash val="solid"/>
          </a:ln>
        </p:spPr>
      </p:sp>
      <p:sp>
        <p:nvSpPr>
          <p:cNvPr id="125" name="Text 122"/>
          <p:cNvSpPr txBox="1"/>
          <p:nvPr/>
        </p:nvSpPr>
        <p:spPr>
          <a:xfrm>
            <a:off x="3794760" y="8563356"/>
            <a:ext cx="630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signif</a:t>
            </a:r>
            <a:endParaRPr lang="en-US" sz="900" dirty="0"/>
          </a:p>
        </p:txBody>
      </p:sp>
      <p:sp>
        <p:nvSpPr>
          <p:cNvPr id="126" name="Text 123"/>
          <p:cNvSpPr txBox="1"/>
          <p:nvPr/>
        </p:nvSpPr>
        <p:spPr>
          <a:xfrm>
            <a:off x="4480560" y="856335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***</a:t>
            </a:r>
            <a:endParaRPr lang="en-US" sz="900" dirty="0"/>
          </a:p>
        </p:txBody>
      </p:sp>
      <p:sp>
        <p:nvSpPr>
          <p:cNvPr id="127" name="Text 124"/>
          <p:cNvSpPr txBox="1"/>
          <p:nvPr/>
        </p:nvSpPr>
        <p:spPr>
          <a:xfrm>
            <a:off x="5303520" y="856335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****</a:t>
            </a:r>
            <a:endParaRPr lang="en-US" sz="900" dirty="0"/>
          </a:p>
        </p:txBody>
      </p:sp>
      <p:sp>
        <p:nvSpPr>
          <p:cNvPr id="128" name="Text 125"/>
          <p:cNvSpPr txBox="1"/>
          <p:nvPr/>
        </p:nvSpPr>
        <p:spPr>
          <a:xfrm>
            <a:off x="6144768" y="856335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**</a:t>
            </a:r>
            <a:endParaRPr lang="en-US" sz="900" dirty="0"/>
          </a:p>
        </p:txBody>
      </p:sp>
      <p:sp>
        <p:nvSpPr>
          <p:cNvPr id="129" name="Shape 126"/>
          <p:cNvSpPr/>
          <p:nvPr/>
        </p:nvSpPr>
        <p:spPr>
          <a:xfrm>
            <a:off x="3767328" y="8910828"/>
            <a:ext cx="3172968" cy="676656"/>
          </a:xfrm>
          <a:prstGeom prst="roundRect">
            <a:avLst>
              <a:gd name="adj" fmla="val 8108"/>
            </a:avLst>
          </a:prstGeom>
          <a:solidFill>
            <a:srgbClr val="FCEEDF"/>
          </a:solidFill>
          <a:ln w="9525">
            <a:solidFill>
              <a:srgbClr val="D9731E"/>
            </a:solidFill>
            <a:prstDash val="solid"/>
          </a:ln>
        </p:spPr>
      </p:sp>
      <p:sp>
        <p:nvSpPr>
          <p:cNvPr id="130" name="Text 127"/>
          <p:cNvSpPr txBox="1"/>
          <p:nvPr/>
        </p:nvSpPr>
        <p:spPr>
          <a:xfrm>
            <a:off x="3858768" y="8974836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CONSEJO  </a:t>
            </a:r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pairwise_t_test(pool.sd = TRUE)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combina la DE de todos los grupos, como el ANOVA.</a:t>
            </a:r>
            <a:endParaRPr lang="en-US" sz="950" dirty="0"/>
          </a:p>
        </p:txBody>
      </p:sp>
      <p:sp>
        <p:nvSpPr>
          <p:cNvPr id="131" name="Shape 128"/>
          <p:cNvSpPr/>
          <p:nvPr/>
        </p:nvSpPr>
        <p:spPr>
          <a:xfrm>
            <a:off x="7123176" y="1645920"/>
            <a:ext cx="402336" cy="402336"/>
          </a:xfrm>
          <a:prstGeom prst="ellipse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132" name="Text 129"/>
          <p:cNvSpPr txBox="1"/>
          <p:nvPr/>
        </p:nvSpPr>
        <p:spPr>
          <a:xfrm>
            <a:off x="7123176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7</a:t>
            </a:r>
            <a:endParaRPr lang="en-US" sz="1600" dirty="0"/>
          </a:p>
        </p:txBody>
      </p:sp>
      <p:sp>
        <p:nvSpPr>
          <p:cNvPr id="133" name="Text 130"/>
          <p:cNvSpPr txBox="1"/>
          <p:nvPr/>
        </p:nvSpPr>
        <p:spPr>
          <a:xfrm>
            <a:off x="7635240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0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Factoriales y repetidas</a:t>
            </a:r>
            <a:endParaRPr lang="en-US" sz="2000" dirty="0"/>
          </a:p>
        </p:txBody>
      </p:sp>
      <p:sp>
        <p:nvSpPr>
          <p:cNvPr id="134" name="Text 131"/>
          <p:cNvSpPr txBox="1"/>
          <p:nvPr/>
        </p:nvSpPr>
        <p:spPr>
          <a:xfrm>
            <a:off x="7123176" y="21945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ANOVA DE DOS VÍAS</a:t>
            </a:r>
            <a:endParaRPr lang="en-US" sz="1000" dirty="0"/>
          </a:p>
        </p:txBody>
      </p:sp>
      <p:sp>
        <p:nvSpPr>
          <p:cNvPr id="135" name="Shape 132"/>
          <p:cNvSpPr/>
          <p:nvPr/>
        </p:nvSpPr>
        <p:spPr>
          <a:xfrm>
            <a:off x="7123176" y="2441448"/>
            <a:ext cx="3172968" cy="297180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36" name="Text 133"/>
          <p:cNvSpPr txBox="1"/>
          <p:nvPr/>
        </p:nvSpPr>
        <p:spPr>
          <a:xfrm>
            <a:off x="7196328" y="2505456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anova_test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supp * dose)</a:t>
            </a:r>
            <a:endParaRPr lang="en-US" sz="1100" dirty="0"/>
          </a:p>
        </p:txBody>
      </p:sp>
      <p:sp>
        <p:nvSpPr>
          <p:cNvPr id="137" name="Shape 134"/>
          <p:cNvSpPr/>
          <p:nvPr/>
        </p:nvSpPr>
        <p:spPr>
          <a:xfrm>
            <a:off x="7123176" y="2811780"/>
            <a:ext cx="3172968" cy="219456"/>
          </a:xfrm>
          <a:prstGeom prst="rect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138" name="Text 135"/>
          <p:cNvSpPr txBox="1"/>
          <p:nvPr/>
        </p:nvSpPr>
        <p:spPr>
          <a:xfrm>
            <a:off x="7150608" y="2811780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Efecto</a:t>
            </a:r>
            <a:endParaRPr lang="en-US" sz="900" dirty="0"/>
          </a:p>
        </p:txBody>
      </p:sp>
      <p:sp>
        <p:nvSpPr>
          <p:cNvPr id="139" name="Text 136"/>
          <p:cNvSpPr txBox="1"/>
          <p:nvPr/>
        </p:nvSpPr>
        <p:spPr>
          <a:xfrm>
            <a:off x="7927848" y="28117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DFn</a:t>
            </a:r>
            <a:endParaRPr lang="en-US" sz="900" dirty="0"/>
          </a:p>
        </p:txBody>
      </p:sp>
      <p:sp>
        <p:nvSpPr>
          <p:cNvPr id="140" name="Text 137"/>
          <p:cNvSpPr txBox="1"/>
          <p:nvPr/>
        </p:nvSpPr>
        <p:spPr>
          <a:xfrm>
            <a:off x="8311896" y="28117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DFd</a:t>
            </a:r>
            <a:endParaRPr lang="en-US" sz="900" dirty="0"/>
          </a:p>
        </p:txBody>
      </p:sp>
      <p:sp>
        <p:nvSpPr>
          <p:cNvPr id="141" name="Text 138"/>
          <p:cNvSpPr txBox="1"/>
          <p:nvPr/>
        </p:nvSpPr>
        <p:spPr>
          <a:xfrm>
            <a:off x="8695944" y="2811780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</a:t>
            </a:r>
            <a:endParaRPr lang="en-US" sz="900" dirty="0"/>
          </a:p>
        </p:txBody>
      </p:sp>
      <p:sp>
        <p:nvSpPr>
          <p:cNvPr id="142" name="Text 139"/>
          <p:cNvSpPr txBox="1"/>
          <p:nvPr/>
        </p:nvSpPr>
        <p:spPr>
          <a:xfrm>
            <a:off x="9198864" y="2811780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</a:t>
            </a:r>
            <a:endParaRPr lang="en-US" sz="900" dirty="0"/>
          </a:p>
        </p:txBody>
      </p:sp>
      <p:sp>
        <p:nvSpPr>
          <p:cNvPr id="143" name="Text 140"/>
          <p:cNvSpPr txBox="1"/>
          <p:nvPr/>
        </p:nvSpPr>
        <p:spPr>
          <a:xfrm>
            <a:off x="9838944" y="2811780"/>
            <a:ext cx="429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ges</a:t>
            </a:r>
            <a:endParaRPr lang="en-US" sz="900" dirty="0"/>
          </a:p>
        </p:txBody>
      </p:sp>
      <p:sp>
        <p:nvSpPr>
          <p:cNvPr id="144" name="Text 141"/>
          <p:cNvSpPr txBox="1"/>
          <p:nvPr/>
        </p:nvSpPr>
        <p:spPr>
          <a:xfrm>
            <a:off x="7150608" y="3031236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supp</a:t>
            </a:r>
            <a:endParaRPr lang="en-US" sz="900" dirty="0"/>
          </a:p>
        </p:txBody>
      </p:sp>
      <p:sp>
        <p:nvSpPr>
          <p:cNvPr id="145" name="Text 142"/>
          <p:cNvSpPr txBox="1"/>
          <p:nvPr/>
        </p:nvSpPr>
        <p:spPr>
          <a:xfrm>
            <a:off x="7927848" y="303123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</a:t>
            </a:r>
            <a:endParaRPr lang="en-US" sz="900" dirty="0"/>
          </a:p>
        </p:txBody>
      </p:sp>
      <p:sp>
        <p:nvSpPr>
          <p:cNvPr id="146" name="Text 143"/>
          <p:cNvSpPr txBox="1"/>
          <p:nvPr/>
        </p:nvSpPr>
        <p:spPr>
          <a:xfrm>
            <a:off x="8311896" y="303123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54</a:t>
            </a:r>
            <a:endParaRPr lang="en-US" sz="900" dirty="0"/>
          </a:p>
        </p:txBody>
      </p:sp>
      <p:sp>
        <p:nvSpPr>
          <p:cNvPr id="147" name="Text 144"/>
          <p:cNvSpPr txBox="1"/>
          <p:nvPr/>
        </p:nvSpPr>
        <p:spPr>
          <a:xfrm>
            <a:off x="8695944" y="3031236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15.6</a:t>
            </a:r>
            <a:endParaRPr lang="en-US" sz="900" dirty="0"/>
          </a:p>
        </p:txBody>
      </p:sp>
      <p:sp>
        <p:nvSpPr>
          <p:cNvPr id="148" name="Text 145"/>
          <p:cNvSpPr txBox="1"/>
          <p:nvPr/>
        </p:nvSpPr>
        <p:spPr>
          <a:xfrm>
            <a:off x="9198864" y="3031236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&lt; 0.001</a:t>
            </a:r>
            <a:endParaRPr lang="en-US" sz="900" dirty="0"/>
          </a:p>
        </p:txBody>
      </p:sp>
      <p:sp>
        <p:nvSpPr>
          <p:cNvPr id="149" name="Text 146"/>
          <p:cNvSpPr txBox="1"/>
          <p:nvPr/>
        </p:nvSpPr>
        <p:spPr>
          <a:xfrm>
            <a:off x="9838944" y="3031236"/>
            <a:ext cx="429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0.22</a:t>
            </a:r>
            <a:endParaRPr lang="en-US" sz="900" dirty="0"/>
          </a:p>
        </p:txBody>
      </p:sp>
      <p:sp>
        <p:nvSpPr>
          <p:cNvPr id="150" name="Shape 147"/>
          <p:cNvSpPr/>
          <p:nvPr/>
        </p:nvSpPr>
        <p:spPr>
          <a:xfrm>
            <a:off x="7123176" y="3250692"/>
            <a:ext cx="3172968" cy="219456"/>
          </a:xfrm>
          <a:prstGeom prst="rect">
            <a:avLst/>
          </a:prstGeom>
          <a:solidFill>
            <a:srgbClr val="F7F5FB"/>
          </a:solidFill>
          <a:ln w="12700">
            <a:solidFill>
              <a:srgbClr val="F7F5FB"/>
            </a:solidFill>
            <a:prstDash val="solid"/>
          </a:ln>
        </p:spPr>
      </p:sp>
      <p:sp>
        <p:nvSpPr>
          <p:cNvPr id="151" name="Text 148"/>
          <p:cNvSpPr txBox="1"/>
          <p:nvPr/>
        </p:nvSpPr>
        <p:spPr>
          <a:xfrm>
            <a:off x="7150608" y="3250692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dose</a:t>
            </a:r>
            <a:endParaRPr lang="en-US" sz="900" dirty="0"/>
          </a:p>
        </p:txBody>
      </p:sp>
      <p:sp>
        <p:nvSpPr>
          <p:cNvPr id="152" name="Text 149"/>
          <p:cNvSpPr txBox="1"/>
          <p:nvPr/>
        </p:nvSpPr>
        <p:spPr>
          <a:xfrm>
            <a:off x="7927848" y="325069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</a:t>
            </a:r>
            <a:endParaRPr lang="en-US" sz="900" dirty="0"/>
          </a:p>
        </p:txBody>
      </p:sp>
      <p:sp>
        <p:nvSpPr>
          <p:cNvPr id="153" name="Text 150"/>
          <p:cNvSpPr txBox="1"/>
          <p:nvPr/>
        </p:nvSpPr>
        <p:spPr>
          <a:xfrm>
            <a:off x="8311896" y="325069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54</a:t>
            </a:r>
            <a:endParaRPr lang="en-US" sz="900" dirty="0"/>
          </a:p>
        </p:txBody>
      </p:sp>
      <p:sp>
        <p:nvSpPr>
          <p:cNvPr id="154" name="Text 151"/>
          <p:cNvSpPr txBox="1"/>
          <p:nvPr/>
        </p:nvSpPr>
        <p:spPr>
          <a:xfrm>
            <a:off x="8695944" y="3250692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92.0</a:t>
            </a:r>
            <a:endParaRPr lang="en-US" sz="900" dirty="0"/>
          </a:p>
        </p:txBody>
      </p:sp>
      <p:sp>
        <p:nvSpPr>
          <p:cNvPr id="155" name="Text 152"/>
          <p:cNvSpPr txBox="1"/>
          <p:nvPr/>
        </p:nvSpPr>
        <p:spPr>
          <a:xfrm>
            <a:off x="9198864" y="3250692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&lt; 0.001</a:t>
            </a:r>
            <a:endParaRPr lang="en-US" sz="900" dirty="0"/>
          </a:p>
        </p:txBody>
      </p:sp>
      <p:sp>
        <p:nvSpPr>
          <p:cNvPr id="156" name="Text 153"/>
          <p:cNvSpPr txBox="1"/>
          <p:nvPr/>
        </p:nvSpPr>
        <p:spPr>
          <a:xfrm>
            <a:off x="9838944" y="3250692"/>
            <a:ext cx="429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0.77</a:t>
            </a:r>
            <a:endParaRPr lang="en-US" sz="900" dirty="0"/>
          </a:p>
        </p:txBody>
      </p:sp>
      <p:sp>
        <p:nvSpPr>
          <p:cNvPr id="157" name="Text 154"/>
          <p:cNvSpPr txBox="1"/>
          <p:nvPr/>
        </p:nvSpPr>
        <p:spPr>
          <a:xfrm>
            <a:off x="7150608" y="3470148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supp:dose</a:t>
            </a:r>
            <a:endParaRPr lang="en-US" sz="900" dirty="0"/>
          </a:p>
        </p:txBody>
      </p:sp>
      <p:sp>
        <p:nvSpPr>
          <p:cNvPr id="158" name="Text 155"/>
          <p:cNvSpPr txBox="1"/>
          <p:nvPr/>
        </p:nvSpPr>
        <p:spPr>
          <a:xfrm>
            <a:off x="7927848" y="347014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</a:t>
            </a:r>
            <a:endParaRPr lang="en-US" sz="900" dirty="0"/>
          </a:p>
        </p:txBody>
      </p:sp>
      <p:sp>
        <p:nvSpPr>
          <p:cNvPr id="159" name="Text 156"/>
          <p:cNvSpPr txBox="1"/>
          <p:nvPr/>
        </p:nvSpPr>
        <p:spPr>
          <a:xfrm>
            <a:off x="8311896" y="347014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54</a:t>
            </a:r>
            <a:endParaRPr lang="en-US" sz="900" dirty="0"/>
          </a:p>
        </p:txBody>
      </p:sp>
      <p:sp>
        <p:nvSpPr>
          <p:cNvPr id="160" name="Text 157"/>
          <p:cNvSpPr txBox="1"/>
          <p:nvPr/>
        </p:nvSpPr>
        <p:spPr>
          <a:xfrm>
            <a:off x="8695944" y="3470148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4.1</a:t>
            </a:r>
            <a:endParaRPr lang="en-US" sz="900" dirty="0"/>
          </a:p>
        </p:txBody>
      </p:sp>
      <p:sp>
        <p:nvSpPr>
          <p:cNvPr id="161" name="Text 158"/>
          <p:cNvSpPr txBox="1"/>
          <p:nvPr/>
        </p:nvSpPr>
        <p:spPr>
          <a:xfrm>
            <a:off x="9198864" y="3470148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0.022</a:t>
            </a:r>
            <a:endParaRPr lang="en-US" sz="900" dirty="0"/>
          </a:p>
        </p:txBody>
      </p:sp>
      <p:sp>
        <p:nvSpPr>
          <p:cNvPr id="162" name="Text 159"/>
          <p:cNvSpPr txBox="1"/>
          <p:nvPr/>
        </p:nvSpPr>
        <p:spPr>
          <a:xfrm>
            <a:off x="9838944" y="3470148"/>
            <a:ext cx="429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0.13</a:t>
            </a:r>
            <a:endParaRPr lang="en-US" sz="900" dirty="0"/>
          </a:p>
        </p:txBody>
      </p:sp>
      <p:sp>
        <p:nvSpPr>
          <p:cNvPr id="163" name="Text 160"/>
          <p:cNvSpPr txBox="1"/>
          <p:nvPr/>
        </p:nvSpPr>
        <p:spPr>
          <a:xfrm>
            <a:off x="7123176" y="3744468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Sumas de cuadrados tipo II por defecto; type = 3 para tipo III.</a:t>
            </a:r>
            <a:endParaRPr lang="en-US" sz="900" dirty="0"/>
          </a:p>
        </p:txBody>
      </p:sp>
      <p:sp>
        <p:nvSpPr>
          <p:cNvPr id="164" name="Shape 161"/>
          <p:cNvSpPr/>
          <p:nvPr/>
        </p:nvSpPr>
        <p:spPr>
          <a:xfrm>
            <a:off x="7488936" y="5116068"/>
            <a:ext cx="2121408" cy="0"/>
          </a:xfrm>
          <a:prstGeom prst="line">
            <a:avLst/>
          </a:prstGeom>
          <a:noFill/>
          <a:ln w="6350">
            <a:solidFill>
              <a:srgbClr val="ECE8F3"/>
            </a:solidFill>
            <a:prstDash val="solid"/>
          </a:ln>
        </p:spPr>
      </p:sp>
      <p:sp>
        <p:nvSpPr>
          <p:cNvPr id="165" name="Text 162"/>
          <p:cNvSpPr txBox="1"/>
          <p:nvPr/>
        </p:nvSpPr>
        <p:spPr>
          <a:xfrm>
            <a:off x="7178040" y="503377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</a:t>
            </a:r>
            <a:endParaRPr lang="en-US" sz="800" dirty="0"/>
          </a:p>
        </p:txBody>
      </p:sp>
      <p:sp>
        <p:nvSpPr>
          <p:cNvPr id="166" name="Shape 163"/>
          <p:cNvSpPr/>
          <p:nvPr/>
        </p:nvSpPr>
        <p:spPr>
          <a:xfrm>
            <a:off x="7488936" y="4695444"/>
            <a:ext cx="2121408" cy="0"/>
          </a:xfrm>
          <a:prstGeom prst="line">
            <a:avLst/>
          </a:prstGeom>
          <a:noFill/>
          <a:ln w="6350">
            <a:solidFill>
              <a:srgbClr val="ECE8F3"/>
            </a:solidFill>
            <a:prstDash val="solid"/>
          </a:ln>
        </p:spPr>
      </p:sp>
      <p:sp>
        <p:nvSpPr>
          <p:cNvPr id="167" name="Text 164"/>
          <p:cNvSpPr txBox="1"/>
          <p:nvPr/>
        </p:nvSpPr>
        <p:spPr>
          <a:xfrm>
            <a:off x="7178040" y="461314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15</a:t>
            </a:r>
            <a:endParaRPr lang="en-US" sz="800" dirty="0"/>
          </a:p>
        </p:txBody>
      </p:sp>
      <p:sp>
        <p:nvSpPr>
          <p:cNvPr id="168" name="Shape 165"/>
          <p:cNvSpPr/>
          <p:nvPr/>
        </p:nvSpPr>
        <p:spPr>
          <a:xfrm>
            <a:off x="7488936" y="4274820"/>
            <a:ext cx="2121408" cy="0"/>
          </a:xfrm>
          <a:prstGeom prst="line">
            <a:avLst/>
          </a:prstGeom>
          <a:noFill/>
          <a:ln w="6350">
            <a:solidFill>
              <a:srgbClr val="ECE8F3"/>
            </a:solidFill>
            <a:prstDash val="solid"/>
          </a:ln>
        </p:spPr>
      </p:sp>
      <p:sp>
        <p:nvSpPr>
          <p:cNvPr id="169" name="Text 166"/>
          <p:cNvSpPr txBox="1"/>
          <p:nvPr/>
        </p:nvSpPr>
        <p:spPr>
          <a:xfrm>
            <a:off x="7178040" y="41925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25</a:t>
            </a:r>
            <a:endParaRPr lang="en-US" sz="800" dirty="0"/>
          </a:p>
        </p:txBody>
      </p:sp>
      <p:sp>
        <p:nvSpPr>
          <p:cNvPr id="170" name="Shape 167"/>
          <p:cNvSpPr/>
          <p:nvPr/>
        </p:nvSpPr>
        <p:spPr>
          <a:xfrm>
            <a:off x="7488936" y="4064508"/>
            <a:ext cx="2121408" cy="1051560"/>
          </a:xfrm>
          <a:custGeom>
            <a:avLst/>
            <a:gdLst/>
            <a:ahLst/>
            <a:cxnLst/>
            <a:rect l="l" t="t" r="r" b="b"/>
            <a:pathLst>
              <a:path w="2121408" h="1051560">
                <a:moveTo>
                  <a:pt x="137160" y="706648"/>
                </a:moveTo>
                <a:lnTo>
                  <a:pt x="1060704" y="307056"/>
                </a:lnTo>
                <a:lnTo>
                  <a:pt x="1984248" y="164043"/>
                </a:lnTo>
              </a:path>
            </a:pathLst>
          </a:custGeom>
          <a:ln w="25400">
            <a:solidFill>
              <a:srgbClr val="4B2C82"/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7580376" y="4725436"/>
            <a:ext cx="91440" cy="91440"/>
          </a:xfrm>
          <a:prstGeom prst="ellipse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8503920" y="4325844"/>
            <a:ext cx="91440" cy="91440"/>
          </a:xfrm>
          <a:prstGeom prst="ellipse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9427464" y="4182831"/>
            <a:ext cx="91440" cy="91440"/>
          </a:xfrm>
          <a:prstGeom prst="ellipse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7488936" y="4064508"/>
            <a:ext cx="2121408" cy="1051560"/>
          </a:xfrm>
          <a:custGeom>
            <a:avLst/>
            <a:gdLst/>
            <a:ahLst/>
            <a:cxnLst/>
            <a:rect l="l" t="t" r="r" b="b"/>
            <a:pathLst>
              <a:path w="2121408" h="1051560">
                <a:moveTo>
                  <a:pt x="137160" y="925373"/>
                </a:moveTo>
                <a:lnTo>
                  <a:pt x="1060704" y="555224"/>
                </a:lnTo>
                <a:lnTo>
                  <a:pt x="1984248" y="164043"/>
                </a:lnTo>
              </a:path>
            </a:pathLst>
          </a:custGeom>
          <a:ln w="25400">
            <a:solidFill>
              <a:srgbClr val="A48FCF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7580376" y="4944161"/>
            <a:ext cx="91440" cy="91440"/>
          </a:xfrm>
          <a:prstGeom prst="ellipse">
            <a:avLst/>
          </a:prstGeom>
          <a:solidFill>
            <a:srgbClr val="A48FCF"/>
          </a:solidFill>
          <a:ln w="12700">
            <a:solidFill>
              <a:srgbClr val="A48FCF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8503920" y="4574012"/>
            <a:ext cx="91440" cy="91440"/>
          </a:xfrm>
          <a:prstGeom prst="ellipse">
            <a:avLst/>
          </a:prstGeom>
          <a:solidFill>
            <a:srgbClr val="A48FCF"/>
          </a:solidFill>
          <a:ln w="12700">
            <a:solidFill>
              <a:srgbClr val="A48FCF"/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9427464" y="4182831"/>
            <a:ext cx="91440" cy="91440"/>
          </a:xfrm>
          <a:prstGeom prst="ellipse">
            <a:avLst/>
          </a:prstGeom>
          <a:solidFill>
            <a:srgbClr val="A48FCF"/>
          </a:solidFill>
          <a:ln w="12700">
            <a:solidFill>
              <a:srgbClr val="A48FCF"/>
            </a:solidFill>
            <a:prstDash val="solid"/>
          </a:ln>
        </p:spPr>
      </p:sp>
      <p:sp>
        <p:nvSpPr>
          <p:cNvPr id="178" name="Text 175"/>
          <p:cNvSpPr txBox="1"/>
          <p:nvPr/>
        </p:nvSpPr>
        <p:spPr>
          <a:xfrm>
            <a:off x="9683496" y="43388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OJ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A48FC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VC</a:t>
            </a:r>
            <a:endParaRPr lang="en-US" sz="900" dirty="0"/>
          </a:p>
        </p:txBody>
      </p:sp>
      <p:sp>
        <p:nvSpPr>
          <p:cNvPr id="179" name="Text 176"/>
          <p:cNvSpPr txBox="1"/>
          <p:nvPr/>
        </p:nvSpPr>
        <p:spPr>
          <a:xfrm>
            <a:off x="8513064" y="400141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ES" sz="800" i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las líneas convergen en 2 mg</a:t>
            </a:r>
            <a:endParaRPr lang="en-US" sz="800" dirty="0"/>
          </a:p>
        </p:txBody>
      </p:sp>
      <p:sp>
        <p:nvSpPr>
          <p:cNvPr id="180" name="Shape 177"/>
          <p:cNvSpPr/>
          <p:nvPr/>
        </p:nvSpPr>
        <p:spPr>
          <a:xfrm>
            <a:off x="7488936" y="5116068"/>
            <a:ext cx="2121408" cy="0"/>
          </a:xfrm>
          <a:prstGeom prst="line">
            <a:avLst/>
          </a:prstGeom>
          <a:noFill/>
          <a:ln w="9525">
            <a:solidFill>
              <a:srgbClr val="5F6675"/>
            </a:solidFill>
            <a:prstDash val="solid"/>
          </a:ln>
        </p:spPr>
      </p:sp>
      <p:sp>
        <p:nvSpPr>
          <p:cNvPr id="181" name="Text 178"/>
          <p:cNvSpPr txBox="1"/>
          <p:nvPr/>
        </p:nvSpPr>
        <p:spPr>
          <a:xfrm>
            <a:off x="7443216" y="513435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0.5</a:t>
            </a:r>
            <a:endParaRPr lang="en-US" sz="800" dirty="0"/>
          </a:p>
        </p:txBody>
      </p:sp>
      <p:sp>
        <p:nvSpPr>
          <p:cNvPr id="182" name="Text 179"/>
          <p:cNvSpPr txBox="1"/>
          <p:nvPr/>
        </p:nvSpPr>
        <p:spPr>
          <a:xfrm>
            <a:off x="8366760" y="513435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</a:t>
            </a:r>
            <a:endParaRPr lang="en-US" sz="800" dirty="0"/>
          </a:p>
        </p:txBody>
      </p:sp>
      <p:sp>
        <p:nvSpPr>
          <p:cNvPr id="183" name="Text 180"/>
          <p:cNvSpPr txBox="1"/>
          <p:nvPr/>
        </p:nvSpPr>
        <p:spPr>
          <a:xfrm>
            <a:off x="9290304" y="513435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</a:t>
            </a:r>
            <a:endParaRPr lang="en-US" sz="800" dirty="0"/>
          </a:p>
        </p:txBody>
      </p:sp>
      <p:sp>
        <p:nvSpPr>
          <p:cNvPr id="184" name="Text 181"/>
          <p:cNvSpPr txBox="1"/>
          <p:nvPr/>
        </p:nvSpPr>
        <p:spPr>
          <a:xfrm>
            <a:off x="7104888" y="389991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8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len media</a:t>
            </a:r>
            <a:endParaRPr lang="en-US" sz="800" dirty="0"/>
          </a:p>
        </p:txBody>
      </p:sp>
      <p:sp>
        <p:nvSpPr>
          <p:cNvPr id="185" name="Text 182"/>
          <p:cNvSpPr txBox="1"/>
          <p:nvPr/>
        </p:nvSpPr>
        <p:spPr>
          <a:xfrm>
            <a:off x="7123176" y="535381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¿INTERACCIÓN? EVALÚA EFECTOS SIMPLES</a:t>
            </a:r>
            <a:endParaRPr lang="en-US" sz="1000" dirty="0"/>
          </a:p>
        </p:txBody>
      </p:sp>
      <p:sp>
        <p:nvSpPr>
          <p:cNvPr id="186" name="Shape 183"/>
          <p:cNvSpPr/>
          <p:nvPr/>
        </p:nvSpPr>
        <p:spPr>
          <a:xfrm>
            <a:off x="7123176" y="5600700"/>
            <a:ext cx="3172968" cy="598932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87" name="Text 184"/>
          <p:cNvSpPr txBox="1"/>
          <p:nvPr/>
        </p:nvSpPr>
        <p:spPr>
          <a:xfrm>
            <a:off x="7196328" y="5664708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group_by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(dose) %&gt;%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emmeans_test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supp,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p.adjust.method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"bonferroni"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88" name="Text 185"/>
          <p:cNvSpPr txBox="1"/>
          <p:nvPr/>
        </p:nvSpPr>
        <p:spPr>
          <a:xfrm>
            <a:off x="7123176" y="6254496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OJ &gt; VC con 0.5 mg (p = 0.002) y 1 mg (p &lt; 0.001), </a:t>
            </a:r>
            <a:pPr indent="0" marL="0">
              <a:buNone/>
            </a:pPr>
            <a:r>
              <a:rPr lang="es-E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con 2 mg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(p = 0.96).</a:t>
            </a:r>
            <a:endParaRPr lang="en-US" sz="950" dirty="0"/>
          </a:p>
        </p:txBody>
      </p:sp>
      <p:sp>
        <p:nvSpPr>
          <p:cNvPr id="189" name="Text 186"/>
          <p:cNvSpPr txBox="1"/>
          <p:nvPr/>
        </p:nvSpPr>
        <p:spPr>
          <a:xfrm>
            <a:off x="7123176" y="672998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MEDIDAS REPETIDAS</a:t>
            </a:r>
            <a:endParaRPr lang="en-US" sz="1000" dirty="0"/>
          </a:p>
        </p:txBody>
      </p:sp>
      <p:sp>
        <p:nvSpPr>
          <p:cNvPr id="190" name="Shape 187"/>
          <p:cNvSpPr/>
          <p:nvPr/>
        </p:nvSpPr>
        <p:spPr>
          <a:xfrm>
            <a:off x="7123176" y="6976872"/>
            <a:ext cx="3172968" cy="598932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91" name="Text 188"/>
          <p:cNvSpPr txBox="1"/>
          <p:nvPr/>
        </p:nvSpPr>
        <p:spPr>
          <a:xfrm>
            <a:off x="7196328" y="7040880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&lt;- sleep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anova_test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(dv = extra,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 = ID, within = group)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get_anova_table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(res)   </a:t>
            </a:r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F(1, 9) = 16.5</a:t>
            </a:r>
            <a:endParaRPr lang="en-US" sz="1100" dirty="0"/>
          </a:p>
        </p:txBody>
      </p:sp>
      <p:sp>
        <p:nvSpPr>
          <p:cNvPr id="192" name="Text 189"/>
          <p:cNvSpPr txBox="1"/>
          <p:nvPr/>
        </p:nvSpPr>
        <p:spPr>
          <a:xfrm>
            <a:off x="7123176" y="7630668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Esfericidad: Mauchly y la corrección de Greenhouse–Geisser se aplican </a:t>
            </a:r>
            <a:pPr indent="0" marL="0">
              <a:buNone/>
            </a:pPr>
            <a:r>
              <a:rPr lang="es-E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automáticamente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si hace falta (3+ niveles). Diseño mixto: añade </a:t>
            </a:r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between =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 Por rangos:</a:t>
            </a:r>
            <a:endParaRPr lang="en-US" sz="950" dirty="0"/>
          </a:p>
        </p:txBody>
      </p:sp>
      <p:sp>
        <p:nvSpPr>
          <p:cNvPr id="193" name="Shape 190"/>
          <p:cNvSpPr/>
          <p:nvPr/>
        </p:nvSpPr>
        <p:spPr>
          <a:xfrm>
            <a:off x="7123176" y="8215884"/>
            <a:ext cx="3172968" cy="297180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94" name="Text 191"/>
          <p:cNvSpPr txBox="1"/>
          <p:nvPr/>
        </p:nvSpPr>
        <p:spPr>
          <a:xfrm>
            <a:off x="7196328" y="8279892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friedman_test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(extra ~ group | ID)</a:t>
            </a:r>
            <a:endParaRPr lang="en-US" sz="1100" dirty="0"/>
          </a:p>
        </p:txBody>
      </p:sp>
      <p:sp>
        <p:nvSpPr>
          <p:cNvPr id="195" name="Text 192"/>
          <p:cNvSpPr txBox="1"/>
          <p:nvPr/>
        </p:nvSpPr>
        <p:spPr>
          <a:xfrm>
            <a:off x="7123176" y="864108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MUCHOS DESENLACES A LA VEZ</a:t>
            </a:r>
            <a:endParaRPr lang="en-US" sz="1000" dirty="0"/>
          </a:p>
        </p:txBody>
      </p:sp>
      <p:sp>
        <p:nvSpPr>
          <p:cNvPr id="196" name="Shape 193"/>
          <p:cNvSpPr/>
          <p:nvPr/>
        </p:nvSpPr>
        <p:spPr>
          <a:xfrm>
            <a:off x="7123176" y="8887968"/>
            <a:ext cx="3172968" cy="900684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97" name="Text 194"/>
          <p:cNvSpPr txBox="1"/>
          <p:nvPr/>
        </p:nvSpPr>
        <p:spPr>
          <a:xfrm>
            <a:off x="7196328" y="8951976"/>
            <a:ext cx="3044952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iris %&gt;% tidyr::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pivot_longer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(-Species,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names_to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"measure"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%&gt;%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group_by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(measure) %&gt;%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kruskal_test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 ~ Species) %&gt;%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adjust_pvalue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(method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"holm"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98" name="Text 195"/>
          <p:cNvSpPr txBox="1"/>
          <p:nvPr/>
        </p:nvSpPr>
        <p:spPr>
          <a:xfrm>
            <a:off x="7123176" y="9843516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llames “variable” a la columna: </a:t>
            </a:r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get_summary_stats()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falla.</a:t>
            </a:r>
            <a:endParaRPr lang="en-US" sz="950" dirty="0"/>
          </a:p>
        </p:txBody>
      </p:sp>
      <p:sp>
        <p:nvSpPr>
          <p:cNvPr id="199" name="Shape 196"/>
          <p:cNvSpPr/>
          <p:nvPr/>
        </p:nvSpPr>
        <p:spPr>
          <a:xfrm>
            <a:off x="10479024" y="1645920"/>
            <a:ext cx="402336" cy="402336"/>
          </a:xfrm>
          <a:prstGeom prst="ellipse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200" name="Text 197"/>
          <p:cNvSpPr txBox="1"/>
          <p:nvPr/>
        </p:nvSpPr>
        <p:spPr>
          <a:xfrm>
            <a:off x="10479024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8</a:t>
            </a:r>
            <a:endParaRPr lang="en-US" sz="1600" dirty="0"/>
          </a:p>
        </p:txBody>
      </p:sp>
      <p:sp>
        <p:nvSpPr>
          <p:cNvPr id="201" name="Text 198"/>
          <p:cNvSpPr txBox="1"/>
          <p:nvPr/>
        </p:nvSpPr>
        <p:spPr>
          <a:xfrm>
            <a:off x="10991088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0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Tablas y correlación</a:t>
            </a:r>
            <a:endParaRPr lang="en-US" sz="2000" dirty="0"/>
          </a:p>
        </p:txBody>
      </p:sp>
      <p:sp>
        <p:nvSpPr>
          <p:cNvPr id="202" name="Shape 199"/>
          <p:cNvSpPr/>
          <p:nvPr/>
        </p:nvSpPr>
        <p:spPr>
          <a:xfrm>
            <a:off x="10479024" y="2194560"/>
            <a:ext cx="3172968" cy="448056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03" name="Text 200"/>
          <p:cNvSpPr txBox="1"/>
          <p:nvPr/>
        </p:nvSpPr>
        <p:spPr>
          <a:xfrm>
            <a:off x="10552176" y="2258568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bw &lt;- MASS::birthwt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xtabs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(~ smoke + low, data = bw)</a:t>
            </a:r>
            <a:endParaRPr lang="en-US" sz="1100" dirty="0"/>
          </a:p>
        </p:txBody>
      </p:sp>
      <p:sp>
        <p:nvSpPr>
          <p:cNvPr id="204" name="Text 201"/>
          <p:cNvSpPr txBox="1"/>
          <p:nvPr/>
        </p:nvSpPr>
        <p:spPr>
          <a:xfrm>
            <a:off x="11301984" y="27340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ES" sz="8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bajo peso al nacer</a:t>
            </a:r>
            <a:endParaRPr lang="en-US" sz="850" dirty="0"/>
          </a:p>
        </p:txBody>
      </p:sp>
      <p:sp>
        <p:nvSpPr>
          <p:cNvPr id="205" name="Shape 202"/>
          <p:cNvSpPr/>
          <p:nvPr/>
        </p:nvSpPr>
        <p:spPr>
          <a:xfrm>
            <a:off x="11301984" y="2916936"/>
            <a:ext cx="822960" cy="246888"/>
          </a:xfrm>
          <a:prstGeom prst="rect">
            <a:avLst/>
          </a:prstGeom>
          <a:solidFill>
            <a:srgbClr val="4B2C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6" name="Text 203"/>
          <p:cNvSpPr txBox="1"/>
          <p:nvPr/>
        </p:nvSpPr>
        <p:spPr>
          <a:xfrm>
            <a:off x="11301984" y="291693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</a:t>
            </a:r>
            <a:endParaRPr lang="en-US" sz="900" dirty="0"/>
          </a:p>
        </p:txBody>
      </p:sp>
      <p:sp>
        <p:nvSpPr>
          <p:cNvPr id="207" name="Shape 204"/>
          <p:cNvSpPr/>
          <p:nvPr/>
        </p:nvSpPr>
        <p:spPr>
          <a:xfrm>
            <a:off x="12124944" y="2916936"/>
            <a:ext cx="822960" cy="246888"/>
          </a:xfrm>
          <a:prstGeom prst="rect">
            <a:avLst/>
          </a:prstGeom>
          <a:solidFill>
            <a:srgbClr val="4B2C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8" name="Text 205"/>
          <p:cNvSpPr txBox="1"/>
          <p:nvPr/>
        </p:nvSpPr>
        <p:spPr>
          <a:xfrm>
            <a:off x="12124944" y="291693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sí</a:t>
            </a:r>
            <a:endParaRPr lang="en-US" sz="900" dirty="0"/>
          </a:p>
        </p:txBody>
      </p:sp>
      <p:sp>
        <p:nvSpPr>
          <p:cNvPr id="209" name="Text 206"/>
          <p:cNvSpPr txBox="1"/>
          <p:nvPr/>
        </p:nvSpPr>
        <p:spPr>
          <a:xfrm>
            <a:off x="10479024" y="3163824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90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fumadora</a:t>
            </a:r>
            <a:endParaRPr lang="en-US" sz="900" dirty="0"/>
          </a:p>
        </p:txBody>
      </p:sp>
      <p:sp>
        <p:nvSpPr>
          <p:cNvPr id="210" name="Shape 207"/>
          <p:cNvSpPr/>
          <p:nvPr/>
        </p:nvSpPr>
        <p:spPr>
          <a:xfrm>
            <a:off x="11301984" y="3163824"/>
            <a:ext cx="822960" cy="246888"/>
          </a:xfrm>
          <a:prstGeom prst="rect">
            <a:avLst/>
          </a:prstGeom>
          <a:solidFill>
            <a:srgbClr val="F7F5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1" name="Text 208"/>
          <p:cNvSpPr txBox="1"/>
          <p:nvPr/>
        </p:nvSpPr>
        <p:spPr>
          <a:xfrm>
            <a:off x="11301984" y="3163824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86</a:t>
            </a:r>
            <a:endParaRPr lang="en-US" sz="950" dirty="0"/>
          </a:p>
        </p:txBody>
      </p:sp>
      <p:sp>
        <p:nvSpPr>
          <p:cNvPr id="212" name="Shape 209"/>
          <p:cNvSpPr/>
          <p:nvPr/>
        </p:nvSpPr>
        <p:spPr>
          <a:xfrm>
            <a:off x="12124944" y="3163824"/>
            <a:ext cx="822960" cy="246888"/>
          </a:xfrm>
          <a:prstGeom prst="rect">
            <a:avLst/>
          </a:prstGeom>
          <a:solidFill>
            <a:srgbClr val="FCEE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3" name="Text 210"/>
          <p:cNvSpPr txBox="1"/>
          <p:nvPr/>
        </p:nvSpPr>
        <p:spPr>
          <a:xfrm>
            <a:off x="12124944" y="3163824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29</a:t>
            </a:r>
            <a:endParaRPr lang="en-US" sz="950" dirty="0"/>
          </a:p>
        </p:txBody>
      </p:sp>
      <p:sp>
        <p:nvSpPr>
          <p:cNvPr id="214" name="Text 211"/>
          <p:cNvSpPr txBox="1"/>
          <p:nvPr/>
        </p:nvSpPr>
        <p:spPr>
          <a:xfrm>
            <a:off x="12993624" y="3163824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25.2%</a:t>
            </a:r>
            <a:endParaRPr lang="en-US" sz="950" dirty="0"/>
          </a:p>
        </p:txBody>
      </p:sp>
      <p:sp>
        <p:nvSpPr>
          <p:cNvPr id="215" name="Text 212"/>
          <p:cNvSpPr txBox="1"/>
          <p:nvPr/>
        </p:nvSpPr>
        <p:spPr>
          <a:xfrm>
            <a:off x="10479024" y="3410712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90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fumadora</a:t>
            </a:r>
            <a:endParaRPr lang="en-US" sz="900" dirty="0"/>
          </a:p>
        </p:txBody>
      </p:sp>
      <p:sp>
        <p:nvSpPr>
          <p:cNvPr id="216" name="Shape 213"/>
          <p:cNvSpPr/>
          <p:nvPr/>
        </p:nvSpPr>
        <p:spPr>
          <a:xfrm>
            <a:off x="11301984" y="3410712"/>
            <a:ext cx="822960" cy="246888"/>
          </a:xfrm>
          <a:prstGeom prst="rect">
            <a:avLst/>
          </a:prstGeom>
          <a:solidFill>
            <a:srgbClr val="F7F5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7" name="Text 214"/>
          <p:cNvSpPr txBox="1"/>
          <p:nvPr/>
        </p:nvSpPr>
        <p:spPr>
          <a:xfrm>
            <a:off x="11301984" y="341071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44</a:t>
            </a:r>
            <a:endParaRPr lang="en-US" sz="950" dirty="0"/>
          </a:p>
        </p:txBody>
      </p:sp>
      <p:sp>
        <p:nvSpPr>
          <p:cNvPr id="218" name="Shape 215"/>
          <p:cNvSpPr/>
          <p:nvPr/>
        </p:nvSpPr>
        <p:spPr>
          <a:xfrm>
            <a:off x="12124944" y="3410712"/>
            <a:ext cx="822960" cy="246888"/>
          </a:xfrm>
          <a:prstGeom prst="rect">
            <a:avLst/>
          </a:prstGeom>
          <a:solidFill>
            <a:srgbClr val="FCEE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9" name="Text 216"/>
          <p:cNvSpPr txBox="1"/>
          <p:nvPr/>
        </p:nvSpPr>
        <p:spPr>
          <a:xfrm>
            <a:off x="12124944" y="341071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30</a:t>
            </a:r>
            <a:endParaRPr lang="en-US" sz="950" dirty="0"/>
          </a:p>
        </p:txBody>
      </p:sp>
      <p:sp>
        <p:nvSpPr>
          <p:cNvPr id="220" name="Text 217"/>
          <p:cNvSpPr txBox="1"/>
          <p:nvPr/>
        </p:nvSpPr>
        <p:spPr>
          <a:xfrm>
            <a:off x="12993624" y="3410712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40.5%</a:t>
            </a:r>
            <a:endParaRPr lang="en-US" sz="950" dirty="0"/>
          </a:p>
        </p:txBody>
      </p:sp>
      <p:sp>
        <p:nvSpPr>
          <p:cNvPr id="221" name="Text 218"/>
          <p:cNvSpPr txBox="1"/>
          <p:nvPr/>
        </p:nvSpPr>
        <p:spPr>
          <a:xfrm>
            <a:off x="12993624" y="2916936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8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% bajo</a:t>
            </a:r>
            <a:endParaRPr lang="en-US" sz="850" dirty="0"/>
          </a:p>
        </p:txBody>
      </p:sp>
      <p:sp>
        <p:nvSpPr>
          <p:cNvPr id="222" name="Shape 219"/>
          <p:cNvSpPr/>
          <p:nvPr/>
        </p:nvSpPr>
        <p:spPr>
          <a:xfrm>
            <a:off x="10479024" y="3767328"/>
            <a:ext cx="3172968" cy="297180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23" name="Text 220"/>
          <p:cNvSpPr txBox="1"/>
          <p:nvPr/>
        </p:nvSpPr>
        <p:spPr>
          <a:xfrm>
            <a:off x="10552176" y="3831336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chisq_test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(xt)</a:t>
            </a:r>
            <a:endParaRPr lang="en-US" sz="1100" dirty="0"/>
          </a:p>
        </p:txBody>
      </p:sp>
      <p:sp>
        <p:nvSpPr>
          <p:cNvPr id="224" name="Text 221"/>
          <p:cNvSpPr txBox="1"/>
          <p:nvPr/>
        </p:nvSpPr>
        <p:spPr>
          <a:xfrm>
            <a:off x="10479024" y="408279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pPr indent="0" marL="0">
              <a:buNone/>
            </a:pPr>
            <a:r>
              <a:rPr lang="es-E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χ²(1) = 4.24, p = 0.040 (con corrección de Yates)</a:t>
            </a:r>
            <a:endParaRPr lang="en-US" sz="950" dirty="0"/>
          </a:p>
        </p:txBody>
      </p:sp>
      <p:sp>
        <p:nvSpPr>
          <p:cNvPr id="225" name="Shape 222"/>
          <p:cNvSpPr/>
          <p:nvPr/>
        </p:nvSpPr>
        <p:spPr>
          <a:xfrm>
            <a:off x="10479024" y="4329684"/>
            <a:ext cx="3172968" cy="297180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26" name="Text 223"/>
          <p:cNvSpPr txBox="1"/>
          <p:nvPr/>
        </p:nvSpPr>
        <p:spPr>
          <a:xfrm>
            <a:off x="10552176" y="4393692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expected_freq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(chisq_test(xt))</a:t>
            </a:r>
            <a:endParaRPr lang="en-US" sz="1100" dirty="0"/>
          </a:p>
        </p:txBody>
      </p:sp>
      <p:sp>
        <p:nvSpPr>
          <p:cNvPr id="227" name="Text 224"/>
          <p:cNvSpPr txBox="1"/>
          <p:nvPr/>
        </p:nvSpPr>
        <p:spPr>
          <a:xfrm>
            <a:off x="10479024" y="4645152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pPr indent="0" marL="0">
              <a:buNone/>
            </a:pPr>
            <a:r>
              <a:rPr lang="es-E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todas ≥ 23: χ² es válido</a:t>
            </a:r>
            <a:endParaRPr lang="en-US" sz="950" dirty="0"/>
          </a:p>
        </p:txBody>
      </p:sp>
      <p:sp>
        <p:nvSpPr>
          <p:cNvPr id="228" name="Shape 225"/>
          <p:cNvSpPr/>
          <p:nvPr/>
        </p:nvSpPr>
        <p:spPr>
          <a:xfrm>
            <a:off x="10479024" y="4892040"/>
            <a:ext cx="3172968" cy="297180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29" name="Text 226"/>
          <p:cNvSpPr txBox="1"/>
          <p:nvPr/>
        </p:nvSpPr>
        <p:spPr>
          <a:xfrm>
            <a:off x="10552176" y="4956048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fisher_test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(xt, detailed = TRUE)</a:t>
            </a:r>
            <a:endParaRPr lang="en-US" sz="1100" dirty="0"/>
          </a:p>
        </p:txBody>
      </p:sp>
      <p:sp>
        <p:nvSpPr>
          <p:cNvPr id="230" name="Text 227"/>
          <p:cNvSpPr txBox="1"/>
          <p:nvPr/>
        </p:nvSpPr>
        <p:spPr>
          <a:xfrm>
            <a:off x="10479024" y="5207508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pPr indent="0" marL="0">
              <a:buNone/>
            </a:pPr>
            <a:r>
              <a:rPr lang="en-U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OR 2.01 (1.03–3.96), p = 0.036</a:t>
            </a:r>
            <a:endParaRPr lang="en-US" sz="950" dirty="0"/>
          </a:p>
        </p:txBody>
      </p:sp>
      <p:sp>
        <p:nvSpPr>
          <p:cNvPr id="231" name="Shape 228"/>
          <p:cNvSpPr/>
          <p:nvPr/>
        </p:nvSpPr>
        <p:spPr>
          <a:xfrm>
            <a:off x="10479024" y="5454396"/>
            <a:ext cx="3172968" cy="297180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32" name="Text 229"/>
          <p:cNvSpPr txBox="1"/>
          <p:nvPr/>
        </p:nvSpPr>
        <p:spPr>
          <a:xfrm>
            <a:off x="10552176" y="5518404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cramer_v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(xt)</a:t>
            </a:r>
            <a:endParaRPr lang="en-US" sz="1100" dirty="0"/>
          </a:p>
        </p:txBody>
      </p:sp>
      <p:sp>
        <p:nvSpPr>
          <p:cNvPr id="233" name="Text 230"/>
          <p:cNvSpPr txBox="1"/>
          <p:nvPr/>
        </p:nvSpPr>
        <p:spPr>
          <a:xfrm>
            <a:off x="10479024" y="5769864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pPr indent="0" marL="0">
              <a:buNone/>
            </a:pPr>
            <a:r>
              <a:rPr lang="en-U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0.16</a:t>
            </a:r>
            <a:endParaRPr lang="en-US" sz="950" dirty="0"/>
          </a:p>
        </p:txBody>
      </p:sp>
      <p:sp>
        <p:nvSpPr>
          <p:cNvPr id="234" name="Text 231"/>
          <p:cNvSpPr txBox="1"/>
          <p:nvPr/>
        </p:nvSpPr>
        <p:spPr>
          <a:xfrm>
            <a:off x="10479024" y="6016752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¿Qué celdas lo explican? </a:t>
            </a:r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chisq_descriptives()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da los residuos estandarizados (aquí ±2.22; más allá de ±2 destaca).</a:t>
            </a:r>
            <a:endParaRPr lang="en-US" sz="950" dirty="0"/>
          </a:p>
        </p:txBody>
      </p:sp>
      <p:sp>
        <p:nvSpPr>
          <p:cNvPr id="235" name="Text 232"/>
          <p:cNvSpPr txBox="1"/>
          <p:nvPr/>
        </p:nvSpPr>
        <p:spPr>
          <a:xfrm>
            <a:off x="10479024" y="6473952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Fisher si las frecuencias esperadas son pequeñas (&lt; 5); mcnemar_test() para sí/no pareado.</a:t>
            </a:r>
            <a:endParaRPr lang="en-US" sz="900" dirty="0"/>
          </a:p>
        </p:txBody>
      </p:sp>
      <p:sp>
        <p:nvSpPr>
          <p:cNvPr id="236" name="Text 233"/>
          <p:cNvSpPr txBox="1"/>
          <p:nvPr/>
        </p:nvSpPr>
        <p:spPr>
          <a:xfrm>
            <a:off x="10479024" y="6894576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CORRELACIÓN</a:t>
            </a:r>
            <a:endParaRPr lang="en-US" sz="1000" dirty="0"/>
          </a:p>
        </p:txBody>
      </p:sp>
      <p:sp>
        <p:nvSpPr>
          <p:cNvPr id="237" name="Shape 234"/>
          <p:cNvSpPr/>
          <p:nvPr/>
        </p:nvSpPr>
        <p:spPr>
          <a:xfrm>
            <a:off x="10479024" y="7141464"/>
            <a:ext cx="3172968" cy="297180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38" name="Text 235"/>
          <p:cNvSpPr txBox="1"/>
          <p:nvPr/>
        </p:nvSpPr>
        <p:spPr>
          <a:xfrm>
            <a:off x="10552176" y="7205472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mtcars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(mpg, wt)</a:t>
            </a:r>
            <a:endParaRPr lang="en-US" sz="1100" dirty="0"/>
          </a:p>
        </p:txBody>
      </p:sp>
      <p:sp>
        <p:nvSpPr>
          <p:cNvPr id="239" name="Text 236"/>
          <p:cNvSpPr txBox="1"/>
          <p:nvPr/>
        </p:nvSpPr>
        <p:spPr>
          <a:xfrm>
            <a:off x="10479024" y="747522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pPr indent="0" marL="0">
              <a:buNone/>
            </a:pPr>
            <a:r>
              <a:rPr lang="es-E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 = −0.87 (−0.93 a −0.74), p &lt; 0.001</a:t>
            </a:r>
            <a:pPr indent="0" marL="0">
              <a:buNone/>
            </a:pP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· Spearman ρ = −0.89</a:t>
            </a:r>
            <a:endParaRPr lang="en-US" sz="950" dirty="0"/>
          </a:p>
        </p:txBody>
      </p:sp>
      <p:sp>
        <p:nvSpPr>
          <p:cNvPr id="240" name="Shape 237"/>
          <p:cNvSpPr/>
          <p:nvPr/>
        </p:nvSpPr>
        <p:spPr>
          <a:xfrm>
            <a:off x="10479024" y="7877556"/>
            <a:ext cx="3172968" cy="448056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41" name="Text 238"/>
          <p:cNvSpPr txBox="1"/>
          <p:nvPr/>
        </p:nvSpPr>
        <p:spPr>
          <a:xfrm>
            <a:off x="10552176" y="7941564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mtcars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(mpg, wt, hp, qsec) %&gt;%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cor_mat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cor_mark_significant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</p:txBody>
      </p:sp>
      <p:sp>
        <p:nvSpPr>
          <p:cNvPr id="242" name="Text 239"/>
          <p:cNvSpPr txBox="1"/>
          <p:nvPr/>
        </p:nvSpPr>
        <p:spPr>
          <a:xfrm>
            <a:off x="10936224" y="8398764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mpg</a:t>
            </a:r>
            <a:endParaRPr lang="en-US" sz="850" dirty="0"/>
          </a:p>
        </p:txBody>
      </p:sp>
      <p:sp>
        <p:nvSpPr>
          <p:cNvPr id="243" name="Text 240"/>
          <p:cNvSpPr txBox="1"/>
          <p:nvPr/>
        </p:nvSpPr>
        <p:spPr>
          <a:xfrm>
            <a:off x="11841480" y="8398764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wt</a:t>
            </a:r>
            <a:endParaRPr lang="en-US" sz="850" dirty="0"/>
          </a:p>
        </p:txBody>
      </p:sp>
      <p:sp>
        <p:nvSpPr>
          <p:cNvPr id="244" name="Text 241"/>
          <p:cNvSpPr txBox="1"/>
          <p:nvPr/>
        </p:nvSpPr>
        <p:spPr>
          <a:xfrm>
            <a:off x="12746736" y="8398764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hp</a:t>
            </a:r>
            <a:endParaRPr lang="en-US" sz="850" dirty="0"/>
          </a:p>
        </p:txBody>
      </p:sp>
      <p:sp>
        <p:nvSpPr>
          <p:cNvPr id="245" name="Text 242"/>
          <p:cNvSpPr txBox="1"/>
          <p:nvPr/>
        </p:nvSpPr>
        <p:spPr>
          <a:xfrm>
            <a:off x="10479024" y="858164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wt</a:t>
            </a:r>
            <a:endParaRPr lang="en-US" sz="850" dirty="0"/>
          </a:p>
        </p:txBody>
      </p:sp>
      <p:sp>
        <p:nvSpPr>
          <p:cNvPr id="246" name="Shape 243"/>
          <p:cNvSpPr/>
          <p:nvPr/>
        </p:nvSpPr>
        <p:spPr>
          <a:xfrm>
            <a:off x="10936224" y="8581644"/>
            <a:ext cx="868680" cy="237744"/>
          </a:xfrm>
          <a:prstGeom prst="rect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247" name="Text 244"/>
          <p:cNvSpPr txBox="1"/>
          <p:nvPr/>
        </p:nvSpPr>
        <p:spPr>
          <a:xfrm>
            <a:off x="10936224" y="858164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−0.87 ****</a:t>
            </a:r>
            <a:endParaRPr lang="en-US" sz="900" dirty="0"/>
          </a:p>
        </p:txBody>
      </p:sp>
      <p:sp>
        <p:nvSpPr>
          <p:cNvPr id="248" name="Text 245"/>
          <p:cNvSpPr txBox="1"/>
          <p:nvPr/>
        </p:nvSpPr>
        <p:spPr>
          <a:xfrm>
            <a:off x="10479024" y="885596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hp</a:t>
            </a:r>
            <a:endParaRPr lang="en-US" sz="850" dirty="0"/>
          </a:p>
        </p:txBody>
      </p:sp>
      <p:sp>
        <p:nvSpPr>
          <p:cNvPr id="249" name="Shape 246"/>
          <p:cNvSpPr/>
          <p:nvPr/>
        </p:nvSpPr>
        <p:spPr>
          <a:xfrm>
            <a:off x="10936224" y="8855964"/>
            <a:ext cx="868680" cy="237744"/>
          </a:xfrm>
          <a:prstGeom prst="rect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250" name="Text 247"/>
          <p:cNvSpPr txBox="1"/>
          <p:nvPr/>
        </p:nvSpPr>
        <p:spPr>
          <a:xfrm>
            <a:off x="10936224" y="88559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−0.78 ****</a:t>
            </a:r>
            <a:endParaRPr lang="en-US" sz="900" dirty="0"/>
          </a:p>
        </p:txBody>
      </p:sp>
      <p:sp>
        <p:nvSpPr>
          <p:cNvPr id="251" name="Shape 248"/>
          <p:cNvSpPr/>
          <p:nvPr/>
        </p:nvSpPr>
        <p:spPr>
          <a:xfrm>
            <a:off x="11841480" y="8855964"/>
            <a:ext cx="868680" cy="237744"/>
          </a:xfrm>
          <a:prstGeom prst="rect">
            <a:avLst/>
          </a:prstGeom>
          <a:solidFill>
            <a:srgbClr val="D9731E"/>
          </a:solidFill>
          <a:ln w="12700">
            <a:solidFill>
              <a:srgbClr val="D9731E"/>
            </a:solidFill>
            <a:prstDash val="solid"/>
          </a:ln>
        </p:spPr>
      </p:sp>
      <p:sp>
        <p:nvSpPr>
          <p:cNvPr id="252" name="Text 249"/>
          <p:cNvSpPr txBox="1"/>
          <p:nvPr/>
        </p:nvSpPr>
        <p:spPr>
          <a:xfrm>
            <a:off x="11841480" y="88559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0.66 ****</a:t>
            </a:r>
            <a:endParaRPr lang="en-US" sz="900" dirty="0"/>
          </a:p>
        </p:txBody>
      </p:sp>
      <p:sp>
        <p:nvSpPr>
          <p:cNvPr id="253" name="Text 250"/>
          <p:cNvSpPr txBox="1"/>
          <p:nvPr/>
        </p:nvSpPr>
        <p:spPr>
          <a:xfrm>
            <a:off x="10479024" y="913028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qsec</a:t>
            </a:r>
            <a:endParaRPr lang="en-US" sz="850" dirty="0"/>
          </a:p>
        </p:txBody>
      </p:sp>
      <p:sp>
        <p:nvSpPr>
          <p:cNvPr id="254" name="Shape 251"/>
          <p:cNvSpPr/>
          <p:nvPr/>
        </p:nvSpPr>
        <p:spPr>
          <a:xfrm>
            <a:off x="10936224" y="9130284"/>
            <a:ext cx="868680" cy="237744"/>
          </a:xfrm>
          <a:prstGeom prst="rect">
            <a:avLst/>
          </a:prstGeom>
          <a:solidFill>
            <a:srgbClr val="F4C9A1"/>
          </a:solidFill>
          <a:ln w="12700">
            <a:solidFill>
              <a:srgbClr val="F4C9A1"/>
            </a:solidFill>
            <a:prstDash val="solid"/>
          </a:ln>
        </p:spPr>
      </p:sp>
      <p:sp>
        <p:nvSpPr>
          <p:cNvPr id="255" name="Text 252"/>
          <p:cNvSpPr txBox="1"/>
          <p:nvPr/>
        </p:nvSpPr>
        <p:spPr>
          <a:xfrm>
            <a:off x="10936224" y="913028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0.42 *</a:t>
            </a:r>
            <a:endParaRPr lang="en-US" sz="900" dirty="0"/>
          </a:p>
        </p:txBody>
      </p:sp>
      <p:sp>
        <p:nvSpPr>
          <p:cNvPr id="256" name="Shape 253"/>
          <p:cNvSpPr/>
          <p:nvPr/>
        </p:nvSpPr>
        <p:spPr>
          <a:xfrm>
            <a:off x="11841480" y="9130284"/>
            <a:ext cx="868680" cy="237744"/>
          </a:xfrm>
          <a:prstGeom prst="rect">
            <a:avLst/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257" name="Text 254"/>
          <p:cNvSpPr txBox="1"/>
          <p:nvPr/>
        </p:nvSpPr>
        <p:spPr>
          <a:xfrm>
            <a:off x="11841480" y="913028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−0.17</a:t>
            </a:r>
            <a:endParaRPr lang="en-US" sz="900" dirty="0"/>
          </a:p>
        </p:txBody>
      </p:sp>
      <p:sp>
        <p:nvSpPr>
          <p:cNvPr id="258" name="Shape 255"/>
          <p:cNvSpPr/>
          <p:nvPr/>
        </p:nvSpPr>
        <p:spPr>
          <a:xfrm>
            <a:off x="12746736" y="9130284"/>
            <a:ext cx="868680" cy="237744"/>
          </a:xfrm>
          <a:prstGeom prst="rect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259" name="Text 256"/>
          <p:cNvSpPr txBox="1"/>
          <p:nvPr/>
        </p:nvSpPr>
        <p:spPr>
          <a:xfrm>
            <a:off x="12746736" y="913028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−0.71 ****</a:t>
            </a:r>
            <a:endParaRPr lang="en-US" sz="900" dirty="0"/>
          </a:p>
        </p:txBody>
      </p:sp>
      <p:sp>
        <p:nvSpPr>
          <p:cNvPr id="260" name="Text 257"/>
          <p:cNvSpPr txBox="1"/>
          <p:nvPr/>
        </p:nvSpPr>
        <p:spPr>
          <a:xfrm>
            <a:off x="10479024" y="9459468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Violeta: negativa · naranja: positiva. Valores p: cor_get_pval().</a:t>
            </a:r>
            <a:endParaRPr lang="en-US" sz="900" dirty="0"/>
          </a:p>
        </p:txBody>
      </p:sp>
      <p:sp>
        <p:nvSpPr>
          <p:cNvPr id="261" name="Shape 258"/>
          <p:cNvSpPr/>
          <p:nvPr/>
        </p:nvSpPr>
        <p:spPr>
          <a:xfrm>
            <a:off x="10479024" y="9733788"/>
            <a:ext cx="3172968" cy="566928"/>
          </a:xfrm>
          <a:prstGeom prst="roundRect">
            <a:avLst>
              <a:gd name="adj" fmla="val 9677"/>
            </a:avLst>
          </a:prstGeom>
          <a:solidFill>
            <a:srgbClr val="FCEEDF"/>
          </a:solidFill>
          <a:ln w="9525">
            <a:solidFill>
              <a:srgbClr val="D9731E"/>
            </a:solidFill>
            <a:prstDash val="solid"/>
          </a:ln>
        </p:spPr>
      </p:sp>
      <p:sp>
        <p:nvSpPr>
          <p:cNvPr id="262" name="Text 259"/>
          <p:cNvSpPr txBox="1"/>
          <p:nvPr/>
        </p:nvSpPr>
        <p:spPr>
          <a:xfrm>
            <a:off x="10570464" y="9797796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CHECKLIST  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Reporta la prueba, estadístico, gl, valor p exacto, </a:t>
            </a:r>
            <a:pPr indent="0" marL="0">
              <a:buNone/>
            </a:pPr>
            <a:r>
              <a:rPr lang="es-E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tamaño del efecto con su IC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y n. Un valor p por sí solo no indica el tamaño.</a:t>
            </a:r>
            <a:endParaRPr lang="en-US" sz="950" dirty="0"/>
          </a:p>
        </p:txBody>
      </p:sp>
      <p:sp>
        <p:nvSpPr>
          <p:cNvPr id="263" name="Text 260"/>
          <p:cNvSpPr txBox="1"/>
          <p:nvPr/>
        </p:nvSpPr>
        <p:spPr>
          <a:xfrm>
            <a:off x="411480" y="10415016"/>
            <a:ext cx="1314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SA</a:t>
            </a:r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Anthony Romero-Cerdán  •  </a:t>
            </a:r>
            <a:pPr algn="r" indent="0" marL="0">
              <a:buNone/>
            </a:pPr>
            <a:r>
              <a:rPr lang="en-US" sz="900" u="sng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anthonyromero.netlify.app</a:t>
            </a:r>
            <a:pPr algn="r" indent="0" marL="0">
              <a:buNone/>
            </a:pPr>
            <a:r>
              <a:rPr lang="es-E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•  Más información en </a:t>
            </a:r>
            <a:pPr algn="r" indent="0" marL="0">
              <a:buNone/>
            </a:pPr>
            <a:r>
              <a:rPr lang="en-US" sz="900" u="sng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rpkgs.datanovia.com/rstatix</a:t>
            </a:r>
            <a:pPr algn="r" indent="0" marL="0">
              <a:buNone/>
            </a:pPr>
            <a:r>
              <a:rPr lang="es-E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•  versión de rstatix 1.1.0  •  Actualizado: 2026-10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urce Sans Pr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Pr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tests with rstatix :: CHEAT SHEET</dc:title>
  <dc:subject>PptxGenJS Presentation</dc:subject>
  <dc:creator>Anthony Romero-Cerdán</dc:creator>
  <cp:lastModifiedBy>Anthony Romero-Cerdán</cp:lastModifiedBy>
  <cp:revision>1</cp:revision>
  <dcterms:created xsi:type="dcterms:W3CDTF">2026-10-12T20:36:41Z</dcterms:created>
  <dcterms:modified xsi:type="dcterms:W3CDTF">2026-10-12T20:36:41Z</dcterms:modified>
</cp:coreProperties>
</file>